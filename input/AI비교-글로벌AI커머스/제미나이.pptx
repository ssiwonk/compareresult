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3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bal-ai-commerce-w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lobal-ai-commerce-w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90500" y="190500"/>
            <a:ext cx="10287000" cy="7429500"/>
            <a:chOff x="190500" y="190500"/>
            <a:chExt cx="10287000" cy="7429500"/>
          </a:xfrm>
        </p:grpSpPr>
        <p:sp>
          <p:nvSpPr>
            <p:cNvPr id="2" name="Ellipse 2"/>
            <p:cNvSpPr/>
            <p:nvPr/>
          </p:nvSpPr>
          <p:spPr>
            <a:xfrm>
              <a:off x="7048500" y="190500"/>
              <a:ext cx="2667000" cy="2667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048500" y="4191000"/>
              <a:ext cx="3429000" cy="3429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" y="5334000"/>
              <a:ext cx="1905000" cy="1905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66750" y="1047750"/>
            <a:ext cx="8420100" cy="5219700"/>
            <a:chOff x="666750" y="1047750"/>
            <a:chExt cx="8420100" cy="5219700"/>
          </a:xfrm>
        </p:grpSpPr>
        <p:sp>
          <p:nvSpPr>
            <p:cNvPr id="6" name="Rectangle 6"/>
            <p:cNvSpPr/>
            <p:nvPr/>
          </p:nvSpPr>
          <p:spPr>
            <a:xfrm>
              <a:off x="666750" y="1047750"/>
              <a:ext cx="8420100" cy="5219700"/>
            </a:xfrm>
            <a:prstGeom prst="roundRect">
              <a:avLst>
                <a:gd name="adj" fmla="val 438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047750"/>
              <a:ext cx="84201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238250" y="171450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14288">
              <a:solidFill>
                <a:srgbClr val="F8DA9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88763" y="1809750"/>
              <a:ext cx="121347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1주차 강의 자료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9200" y="2436495"/>
              <a:ext cx="4813818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9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238250" y="3238500"/>
              <a:ext cx="7277100" cy="1047750"/>
            </a:xfrm>
            <a:prstGeom prst="roundRect">
              <a:avLst>
                <a:gd name="adj" fmla="val 14545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14856" y="3472815"/>
              <a:ext cx="3795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시대에 글로벌 고객이 상품을 발견하고,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3834765"/>
              <a:ext cx="40972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판매자가 신뢰를 구축하는 새로운 커머스 전략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238250" y="4953000"/>
              <a:ext cx="7277100" cy="9525"/>
            </a:xfrm>
            <a:custGeom>
              <a:avLst/>
              <a:gdLst/>
              <a:ahLst/>
              <a:cxnLst/>
              <a:rect l="l" t="t" r="r" b="b"/>
              <a:pathLst>
                <a:path w="7277100" h="9525">
                  <a:moveTo>
                    <a:pt x="0" y="0"/>
                  </a:moveTo>
                  <a:lnTo>
                    <a:pt x="72771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238250" y="5334000"/>
              <a:ext cx="3723527" cy="381000"/>
              <a:chOff x="1238250" y="5334000"/>
              <a:chExt cx="3723527" cy="381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1238250" y="53340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5512" y="5419725"/>
                <a:ext cx="3064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W1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63268" y="5413058"/>
                <a:ext cx="142667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글로벌 AI 커머스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15868" y="5413058"/>
                <a:ext cx="144590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| 1주차 정규 강의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1888941" cy="784860"/>
            <a:chOff x="558546" y="372428"/>
            <a:chExt cx="1888941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112851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들어가기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8851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학습목표 &amp; 학습내용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1381125"/>
            <a:ext cx="4152900" cy="5429250"/>
            <a:chOff x="571500" y="1381125"/>
            <a:chExt cx="4152900" cy="5429250"/>
          </a:xfrm>
        </p:grpSpPr>
        <p:sp>
          <p:nvSpPr>
            <p:cNvPr id="6" name="Rectangle 6"/>
            <p:cNvSpPr/>
            <p:nvPr/>
          </p:nvSpPr>
          <p:spPr>
            <a:xfrm>
              <a:off x="571500" y="1381125"/>
              <a:ext cx="4152900" cy="5429250"/>
            </a:xfrm>
            <a:prstGeom prst="roundRect">
              <a:avLst>
                <a:gd name="adj" fmla="val 412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81125"/>
              <a:ext cx="4152900" cy="523875"/>
            </a:xfrm>
            <a:prstGeom prst="roundRect">
              <a:avLst>
                <a:gd name="adj" fmla="val 32727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41529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539240"/>
              <a:ext cx="1170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🎯 학습목표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095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76300" y="2276475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9365" y="2340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7780" y="2238375"/>
              <a:ext cx="20181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개념과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7780" y="2505075"/>
              <a:ext cx="210634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이커머스와의 차이를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7780" y="2771775"/>
              <a:ext cx="11589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설명할 수 있다.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238500"/>
              <a:ext cx="3771900" cy="952500"/>
            </a:xfrm>
            <a:prstGeom prst="roundRect">
              <a:avLst>
                <a:gd name="adj" fmla="val 12000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76300" y="3419475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9365" y="3483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7780" y="3438525"/>
              <a:ext cx="235160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AI가 커머스 가치사슬에 미치는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7780" y="3743325"/>
              <a:ext cx="17120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영향을 설명할 수 있다.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4333875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" y="4514850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9365" y="4578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780" y="4486275"/>
              <a:ext cx="240450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주요 사례를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87780" y="4752975"/>
              <a:ext cx="184435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분석하여 AI 활용 방식을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7780" y="5019675"/>
              <a:ext cx="115897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설명할 수 있다.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5476875"/>
              <a:ext cx="3771900" cy="1190625"/>
            </a:xfrm>
            <a:prstGeom prst="roundRect">
              <a:avLst>
                <a:gd name="adj" fmla="val 9600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76300" y="5705475"/>
              <a:ext cx="304800" cy="3048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9365" y="5769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87780" y="5648325"/>
              <a:ext cx="237885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해외 시장에서 판매할 상품 또는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7780" y="5953125"/>
              <a:ext cx="215924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서비스를 선정하고 향후 분석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87780" y="6257925"/>
              <a:ext cx="17120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계획을 수립할 수 있다.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029200" y="1381125"/>
            <a:ext cx="4152900" cy="5429250"/>
            <a:chOff x="5029200" y="1381125"/>
            <a:chExt cx="4152900" cy="5429250"/>
          </a:xfrm>
        </p:grpSpPr>
        <p:sp>
          <p:nvSpPr>
            <p:cNvPr id="34" name="Rectangle 34"/>
            <p:cNvSpPr/>
            <p:nvPr/>
          </p:nvSpPr>
          <p:spPr>
            <a:xfrm>
              <a:off x="5029200" y="1381125"/>
              <a:ext cx="4152900" cy="5429250"/>
            </a:xfrm>
            <a:prstGeom prst="roundRect">
              <a:avLst>
                <a:gd name="adj" fmla="val 412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029200" y="1381125"/>
              <a:ext cx="4152900" cy="523875"/>
            </a:xfrm>
            <a:prstGeom prst="roundRect">
              <a:avLst>
                <a:gd name="adj" fmla="val 3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29200" y="1714500"/>
              <a:ext cx="4152900" cy="190500"/>
            </a:xfrm>
            <a:prstGeom prst="rect">
              <a:avLst/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05806" y="1539240"/>
              <a:ext cx="1170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📚 학습내용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19700" y="2095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10200" y="2333625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47230" y="2441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53887" y="2337911"/>
              <a:ext cx="1777731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53887" y="2642711"/>
              <a:ext cx="1676741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커머스로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19700" y="3238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10200" y="3476625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47230" y="3584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53887" y="3480911"/>
              <a:ext cx="2058256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53887" y="3785711"/>
              <a:ext cx="1530868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어떻게 바꾸는가?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19700" y="4381500"/>
              <a:ext cx="3771900" cy="1000125"/>
            </a:xfrm>
            <a:prstGeom prst="roundRect">
              <a:avLst>
                <a:gd name="adj" fmla="val 1142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10200" y="4619625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47230" y="47272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53887" y="4623911"/>
              <a:ext cx="897682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53887" y="4928711"/>
              <a:ext cx="2561599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주요 사례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19700" y="5524500"/>
              <a:ext cx="3771900" cy="1143000"/>
            </a:xfrm>
            <a:prstGeom prst="roundRect">
              <a:avLst>
                <a:gd name="adj" fmla="val 10000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10200" y="5810250"/>
              <a:ext cx="419100" cy="419100"/>
            </a:xfrm>
            <a:prstGeom prst="roundRect">
              <a:avLst>
                <a:gd name="adj" fmla="val 22727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47230" y="5917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53887" y="5814536"/>
              <a:ext cx="1973297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53887" y="6119336"/>
              <a:ext cx="1899559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 또는 서비스 선정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8546" y="448628"/>
            <a:ext cx="3128164" cy="484822"/>
            <a:chOff x="558546" y="448628"/>
            <a:chExt cx="3128164" cy="484822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448628"/>
              <a:ext cx="312816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953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333500"/>
            <a:ext cx="8610600" cy="2095500"/>
            <a:chOff x="571500" y="1333500"/>
            <a:chExt cx="8610600" cy="2095500"/>
          </a:xfrm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86106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57250" y="16192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01796" y="1711642"/>
              <a:ext cx="64440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정의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7725" y="2131219"/>
              <a:ext cx="4639090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단순히 해외 플랫폼에 상품을 올리는 것이 아니라,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963" y="2524601"/>
              <a:ext cx="7409080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AI를 활용해 해외 고객을 이해하고, 상품을 발견되게 하며, 신뢰를 만들고,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" y="2924651"/>
              <a:ext cx="4861908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결제·배송·CS까지 연결하는 </a:t>
              </a:r>
              <a:r>
                <a:rPr lang="ko-KR" sz="202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새로운 커머스 방식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3118" y="3679508"/>
            <a:ext cx="8618982" cy="2797492"/>
            <a:chOff x="563118" y="3679508"/>
            <a:chExt cx="8618982" cy="2797492"/>
          </a:xfrm>
        </p:grpSpPr>
        <p:sp>
          <p:nvSpPr>
            <p:cNvPr id="12" name="TextBox 12"/>
            <p:cNvSpPr txBox="1"/>
            <p:nvPr/>
          </p:nvSpPr>
          <p:spPr>
            <a:xfrm>
              <a:off x="563118" y="3679508"/>
              <a:ext cx="226985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기반 5대 핵심 연결 영역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571500" y="4095750"/>
              <a:ext cx="8610600" cy="2381250"/>
              <a:chOff x="571500" y="4095750"/>
              <a:chExt cx="8610600" cy="2381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1049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412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🔍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4061" y="5013008"/>
                <a:ext cx="121507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해외 고객 이해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06729" y="5449729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데이터 기반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94093" y="5783104"/>
                <a:ext cx="75501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니즈 파악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2395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3241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3241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28575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9938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729060" y="5013008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 발견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710624" y="5449729"/>
                <a:ext cx="827150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검색 및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746693" y="5783104"/>
                <a:ext cx="75501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추천 노출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921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0767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0767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6101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7464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🤝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81660" y="5013008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신뢰 구축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383876" y="5449729"/>
                <a:ext cx="98584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요약 및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99293" y="5783104"/>
                <a:ext cx="75501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신뢰 정보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7447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8293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8293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F8DA92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362700" y="4352925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4990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💳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28649" y="5013008"/>
                <a:ext cx="80150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결제·배송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069151" y="5449729"/>
                <a:ext cx="112049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글로벌 물류 &amp;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164529" y="5783104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결제 자동화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497318" y="5155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581900" y="4095750"/>
                <a:ext cx="1600200" cy="23812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DA796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7581900" y="4095750"/>
                <a:ext cx="16002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DA796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115300" y="4352925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251698" y="450151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022927" y="5013008"/>
                <a:ext cx="71814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CS 연결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821751" y="5449729"/>
                <a:ext cx="112049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다국어 챗봇 &amp;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829764" y="5783104"/>
                <a:ext cx="1104470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고객경험 관리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613773" cy="784860"/>
            <a:chOff x="558546" y="372428"/>
            <a:chExt cx="361377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1402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6099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해외판매를 어떻게 바꾸고 있는가?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1524000"/>
            <a:ext cx="8610600" cy="5048250"/>
            <a:chOff x="571500" y="1524000"/>
            <a:chExt cx="8610600" cy="50482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4152900" cy="5048250"/>
            </a:xfrm>
            <a:prstGeom prst="roundRect">
              <a:avLst>
                <a:gd name="adj" fmla="val 4587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524000"/>
              <a:ext cx="4152900" cy="571500"/>
            </a:xfrm>
            <a:prstGeom prst="roundRect">
              <a:avLst>
                <a:gd name="adj" fmla="val 33333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809750"/>
              <a:ext cx="4152900" cy="285750"/>
            </a:xfrm>
            <a:prstGeom prst="rect">
              <a:avLst/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710690"/>
              <a:ext cx="14555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과거의 패러다임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2219325" y="2428875"/>
              <a:ext cx="857250" cy="85725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30780" y="2647950"/>
              <a:ext cx="4343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524250"/>
              <a:ext cx="3390900" cy="1143000"/>
            </a:xfrm>
            <a:prstGeom prst="roundRect">
              <a:avLst>
                <a:gd name="adj" fmla="val 11667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52810" y="3822382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질문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6837" y="4170998"/>
              <a:ext cx="204222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"어디에 팔 것인가?"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9368" y="4965382"/>
              <a:ext cx="243656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단순 해외 플랫폼 입점 중심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9368" y="5346382"/>
              <a:ext cx="303512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판매 채널 확보와 물류 처리에 집중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9368" y="5727382"/>
              <a:ext cx="285238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 키워드 기반 단순 노출 경쟁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29200" y="1524000"/>
              <a:ext cx="4152900" cy="5048250"/>
            </a:xfrm>
            <a:prstGeom prst="roundRect">
              <a:avLst>
                <a:gd name="adj" fmla="val 4587"/>
              </a:avLst>
            </a:prstGeom>
            <a:solidFill>
              <a:srgbClr val="FFFFFF"/>
            </a:solidFill>
            <a:ln w="23812">
              <a:solidFill>
                <a:srgbClr val="F8DA9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29200" y="1524000"/>
              <a:ext cx="4152900" cy="571500"/>
            </a:xfrm>
            <a:prstGeom prst="roundRect">
              <a:avLst>
                <a:gd name="adj" fmla="val 33333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29200" y="1809750"/>
              <a:ext cx="415290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01056" y="1710690"/>
              <a:ext cx="2289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현재: AI 커머스 패러다임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677025" y="2428875"/>
              <a:ext cx="857250" cy="857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8480" y="2647950"/>
              <a:ext cx="4343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🤖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10200" y="3524250"/>
              <a:ext cx="3390900" cy="1428750"/>
            </a:xfrm>
            <a:prstGeom prst="roundRect">
              <a:avLst>
                <a:gd name="adj" fmla="val 9333"/>
              </a:avLst>
            </a:prstGeom>
            <a:solidFill>
              <a:srgbClr val="FEF7E6"/>
            </a:solidFill>
            <a:ln w="14288">
              <a:solidFill>
                <a:srgbClr val="F8DA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0510" y="3708082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질문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14243" y="4072890"/>
              <a:ext cx="27828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"AI와 고객이 내 상품을 어떻게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97462" y="4415790"/>
              <a:ext cx="36163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발견하고, 왜 믿고 구매하게 할 것인가?"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7068" y="5251132"/>
              <a:ext cx="289021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rgbClr val="4B4535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기반 상품 발견 메커니즘 구축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7068" y="5632132"/>
              <a:ext cx="297581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고객과의 디지털 신뢰 형성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7068" y="6013132"/>
              <a:ext cx="29934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데이터와 AI를 활용한 운영 최적화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140283" cy="784860"/>
            <a:chOff x="558546" y="372428"/>
            <a:chExt cx="314028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1402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강의 핵심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524000"/>
            <a:ext cx="8610600" cy="5143500"/>
            <a:chOff x="571500" y="1524000"/>
            <a:chExt cx="8610600" cy="514350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86106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85737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9172" y="1949768"/>
              <a:ext cx="99065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배우지 않는 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832" y="2440305"/>
              <a:ext cx="382476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커머스는 단순한 입점이나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1832" y="2868930"/>
              <a:ext cx="413254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활용법만을 배우는 과목이 아닙니다.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4000500"/>
              <a:ext cx="8610600" cy="2667000"/>
            </a:xfrm>
            <a:prstGeom prst="roundRect">
              <a:avLst>
                <a:gd name="adj" fmla="val 7143"/>
              </a:avLst>
            </a:prstGeom>
            <a:solidFill>
              <a:srgbClr val="FEF7E6"/>
            </a:solidFill>
            <a:ln w="23812">
              <a:solidFill>
                <a:srgbClr val="F8DA9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433387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19172" y="4426268"/>
              <a:ext cx="99065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본 강의의 핵심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1070" y="4900612"/>
              <a:ext cx="47705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시대에 글로벌 고객이 상품을 발견하고,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1070" y="5329238"/>
              <a:ext cx="37414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판매자가 신뢰를 구축하는 방법을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070" y="5757862"/>
              <a:ext cx="2991203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이해하는 것이 핵심입니다.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140283" cy="784860"/>
            <a:chOff x="558546" y="372428"/>
            <a:chExt cx="314028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1402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3118" y="1333500"/>
            <a:ext cx="8618982" cy="1933174"/>
            <a:chOff x="563118" y="1333500"/>
            <a:chExt cx="8618982" cy="1933174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95250" cy="142875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2594" y="1646872"/>
              <a:ext cx="552875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여러분이 한국 상품 하나를 해외에 판다고 생각해 봅시다.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832" y="2059305"/>
              <a:ext cx="325569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가장 먼저 무엇을 해야 할까요?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118" y="3012758"/>
              <a:ext cx="37045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아마 많은 분들이 이렇게 생각할 수 있습니다.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3429000"/>
            <a:ext cx="8610600" cy="3048000"/>
            <a:chOff x="571500" y="3429000"/>
            <a:chExt cx="8610600" cy="3048000"/>
          </a:xfrm>
        </p:grpSpPr>
        <p:sp>
          <p:nvSpPr>
            <p:cNvPr id="12" name="Rectangle 12"/>
            <p:cNvSpPr/>
            <p:nvPr/>
          </p:nvSpPr>
          <p:spPr>
            <a:xfrm>
              <a:off x="5715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049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412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487" y="434625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영어로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8857" y="463200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번역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370" y="5172075"/>
              <a:ext cx="8864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영문 상품명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013" y="5457825"/>
              <a:ext cx="105317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및 상세페이지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1725" y="5743575"/>
              <a:ext cx="719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번역 필요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241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8575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938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0087" y="434625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1457" y="463200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입점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07419" y="5172075"/>
              <a:ext cx="8335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아마존이나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7387" y="5457825"/>
              <a:ext cx="12936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쇼피(Shopee)에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64325" y="5743575"/>
              <a:ext cx="719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입점 등록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767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6101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464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1660" y="4346258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 방법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94057" y="463200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확인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07120" y="5172075"/>
              <a:ext cx="9393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국제 특송 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6925" y="5457825"/>
              <a:ext cx="719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현지 배송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6925" y="5743575"/>
              <a:ext cx="719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방법 탐색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293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3627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90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6657" y="434625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광고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6657" y="463200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집행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95600" y="5172075"/>
              <a:ext cx="10676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소셜 미디어 &amp;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86170" y="5457825"/>
              <a:ext cx="8864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 광고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69525" y="5743575"/>
              <a:ext cx="719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운영 준비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81900" y="3429000"/>
              <a:ext cx="1600200" cy="30480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115300" y="3638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51698" y="3787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99257" y="434625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결제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99257" y="463200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연동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57016" y="5172075"/>
              <a:ext cx="104996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해외 결제 PG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12320" y="5457825"/>
              <a:ext cx="9393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및 정산 계좌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15287" y="5743575"/>
              <a:ext cx="3334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연결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140283" cy="784860"/>
            <a:chOff x="558546" y="372428"/>
            <a:chExt cx="314028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1402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285875"/>
            <a:ext cx="8610600" cy="857250"/>
            <a:chOff x="571500" y="1285875"/>
            <a:chExt cx="8610600" cy="857250"/>
          </a:xfrm>
        </p:grpSpPr>
        <p:sp>
          <p:nvSpPr>
            <p:cNvPr id="6" name="Rectangle 6"/>
            <p:cNvSpPr/>
            <p:nvPr/>
          </p:nvSpPr>
          <p:spPr>
            <a:xfrm>
              <a:off x="571500" y="1285875"/>
              <a:ext cx="8610600" cy="857250"/>
            </a:xfrm>
            <a:prstGeom prst="roundRect">
              <a:avLst>
                <a:gd name="adj" fmla="val 17778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737" y="1452086"/>
              <a:ext cx="1518044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물론 다 맞습니다.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2975" y="1740694"/>
              <a:ext cx="5331588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그런데 실제로는 그보다 먼저 물어야 할 질문이 있습니다.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2333625"/>
            <a:ext cx="8610600" cy="4429125"/>
            <a:chOff x="571500" y="2333625"/>
            <a:chExt cx="8610600" cy="4429125"/>
          </a:xfrm>
        </p:grpSpPr>
        <p:sp>
          <p:nvSpPr>
            <p:cNvPr id="10" name="Rectangle 10"/>
            <p:cNvSpPr/>
            <p:nvPr/>
          </p:nvSpPr>
          <p:spPr>
            <a:xfrm>
              <a:off x="571500" y="2333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09625" y="2571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887" y="2667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5118" y="2631758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수요 검증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118" y="3012758"/>
              <a:ext cx="182261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해외 고객이 이 상품을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5118" y="3298508"/>
              <a:ext cx="12856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정말 원하는가?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29200" y="2333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67325" y="2571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4587" y="2667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82818" y="2631758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경쟁 강도 파악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82818" y="3012758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비슷한 상품은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82818" y="3298508"/>
              <a:ext cx="17104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이미 얼마나 많은가?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3857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9625" y="4095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6887" y="4191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5118" y="4155758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차별화 요소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5118" y="4536758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내 상품은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5118" y="4822508"/>
              <a:ext cx="12856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무엇이 다른가?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29200" y="3857625"/>
              <a:ext cx="41529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67325" y="4095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04587" y="4191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Q4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82818" y="4155758"/>
              <a:ext cx="182261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가격 및 배송비 타당성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82818" y="4536758"/>
              <a:ext cx="15212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배송비를 포함해도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82818" y="4822508"/>
              <a:ext cx="15276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살 만한 가격인가?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38162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9625" y="5619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6887" y="5715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DA796"/>
                  </a:solidFill>
                  <a:latin typeface="Arial"/>
                  <a:ea typeface="Arial"/>
                  <a:cs typeface="Arial"/>
                </a:rPr>
                <a:t>Q5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5118" y="5679758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초기 신뢰도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5118" y="6060758"/>
              <a:ext cx="218810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리뷰가 없는 신규 판매자를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5118" y="6346508"/>
              <a:ext cx="195245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믿을 수 있는가?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029200" y="538162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267325" y="56197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304587" y="5715000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DA796"/>
                  </a:solidFill>
                  <a:latin typeface="Arial"/>
                  <a:ea typeface="Arial"/>
                  <a:cs typeface="Arial"/>
                </a:rPr>
                <a:t>Q6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82818" y="5679758"/>
              <a:ext cx="16799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검색·추천 최적화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82818" y="6060758"/>
              <a:ext cx="179215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검색이나 추천에서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82818" y="6346508"/>
              <a:ext cx="26193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내 상품이 잘 설명될 수 있는가?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140283" cy="784860"/>
            <a:chOff x="558546" y="372428"/>
            <a:chExt cx="314028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1402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1333500"/>
            <a:ext cx="8610600" cy="1047750"/>
            <a:chOff x="571500" y="1333500"/>
            <a:chExt cx="8610600" cy="10477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047750"/>
            </a:xfrm>
            <a:prstGeom prst="roundRect">
              <a:avLst>
                <a:gd name="adj" fmla="val 16364"/>
              </a:avLst>
            </a:prstGeom>
            <a:solidFill>
              <a:srgbClr val="FBEEEC"/>
            </a:solidFill>
            <a:ln w="19050">
              <a:solidFill>
                <a:srgbClr val="EDA79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1832" y="1725930"/>
              <a:ext cx="557364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 질문을 하지 않고 상품부터 올리면 어떻게 될까요?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2667000"/>
            <a:ext cx="8610600" cy="3714750"/>
            <a:chOff x="571500" y="2667000"/>
            <a:chExt cx="8610600" cy="3714750"/>
          </a:xfrm>
        </p:grpSpPr>
        <p:sp>
          <p:nvSpPr>
            <p:cNvPr id="9" name="Rectangle 9"/>
            <p:cNvSpPr/>
            <p:nvPr/>
          </p:nvSpPr>
          <p:spPr>
            <a:xfrm>
              <a:off x="571500" y="2667000"/>
              <a:ext cx="1962150" cy="3714750"/>
            </a:xfrm>
            <a:prstGeom prst="roundRect">
              <a:avLst>
                <a:gd name="adj" fmla="val 873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285875" y="2876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2273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9625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82281" y="3664268"/>
              <a:ext cx="74058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1단계 실패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8461" y="4298632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미노출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8461" y="4870132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5718" y="5203508"/>
              <a:ext cx="9137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올라갔는데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3665" y="5584508"/>
              <a:ext cx="13978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아무도 보지 않음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9944" y="43138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81300" y="2667000"/>
              <a:ext cx="1962150" cy="3714750"/>
            </a:xfrm>
            <a:prstGeom prst="roundRect">
              <a:avLst>
                <a:gd name="adj" fmla="val 873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495675" y="2876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32073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19425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92081" y="3664268"/>
              <a:ext cx="74058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2단계 실패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9632" y="429863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불신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96890" y="5060632"/>
              <a:ext cx="73096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보더라도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7235" y="5441632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믿지 않음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9744" y="43138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91100" y="2667000"/>
              <a:ext cx="1962150" cy="3714750"/>
            </a:xfrm>
            <a:prstGeom prst="roundRect">
              <a:avLst>
                <a:gd name="adj" fmla="val 8738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705475" y="2876550"/>
              <a:ext cx="533400" cy="5334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41873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💸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29225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01881" y="3664268"/>
              <a:ext cx="74058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3단계 실패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77035" y="4298632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비용 이탈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98061" y="4870132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믿어도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94292" y="5203508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배송비 때문에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8061" y="558450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이탈함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9544" y="431387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00900" y="2667000"/>
              <a:ext cx="1981200" cy="3714750"/>
            </a:xfrm>
            <a:prstGeom prst="roundRect">
              <a:avLst>
                <a:gd name="adj" fmla="val 865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924800" y="2876550"/>
              <a:ext cx="533400" cy="5334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61198" y="3025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⚠️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448550" y="3571875"/>
              <a:ext cx="1485900" cy="342900"/>
            </a:xfrm>
            <a:prstGeom prst="roundRect">
              <a:avLst>
                <a:gd name="adj" fmla="val 50000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21206" y="3664268"/>
              <a:ext cx="74058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4단계 실패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96360" y="4298632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구매 포기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30875" y="4870132"/>
              <a:ext cx="15212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배송비를 넘어서도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3617" y="5203508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리뷰가 없어서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17387" y="558450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망설임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3140283" cy="784860"/>
            <a:chOff x="558546" y="372428"/>
            <a:chExt cx="3140283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314028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생각해 봅시다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285875"/>
            <a:ext cx="8610600" cy="1428750"/>
            <a:chOff x="571500" y="1285875"/>
            <a:chExt cx="8610600" cy="1428750"/>
          </a:xfrm>
        </p:grpSpPr>
        <p:sp>
          <p:nvSpPr>
            <p:cNvPr id="6" name="Rectangle 6"/>
            <p:cNvSpPr/>
            <p:nvPr/>
          </p:nvSpPr>
          <p:spPr>
            <a:xfrm>
              <a:off x="571500" y="1285875"/>
              <a:ext cx="8610600" cy="1428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57162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3922" y="1664018"/>
              <a:ext cx="99065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결론 및 방향성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820" y="2043112"/>
              <a:ext cx="492974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커머스는 </a:t>
              </a:r>
              <a:r>
                <a:rPr lang="ko-KR" sz="22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단순한 판매기술이 아님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2905125"/>
            <a:ext cx="8610600" cy="3905250"/>
            <a:chOff x="571500" y="2905125"/>
            <a:chExt cx="8610600" cy="3905250"/>
          </a:xfrm>
        </p:grpSpPr>
        <p:sp>
          <p:nvSpPr>
            <p:cNvPr id="11" name="Rectangle 11"/>
            <p:cNvSpPr/>
            <p:nvPr/>
          </p:nvSpPr>
          <p:spPr>
            <a:xfrm>
              <a:off x="571500" y="2905125"/>
              <a:ext cx="8610600" cy="3905250"/>
            </a:xfrm>
            <a:prstGeom prst="roundRect">
              <a:avLst>
                <a:gd name="adj" fmla="val 4878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975" y="3178969"/>
              <a:ext cx="4013919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5대 요소를 유기적으로 연결하는 종합 전략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857250" y="3714750"/>
              <a:ext cx="8029575" cy="2667000"/>
              <a:chOff x="857250" y="3714750"/>
              <a:chExt cx="8029575" cy="2667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3239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4603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9160" y="4671536"/>
                <a:ext cx="763029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고객발견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47444" y="51720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글로벌 타깃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0801" y="5505450"/>
                <a:ext cx="71974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 니즈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0801" y="5838825"/>
                <a:ext cx="71974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정밀 발굴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4955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29622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0986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🛡️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17003" y="4671536"/>
                <a:ext cx="823944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신뢰 설계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59295" y="5172075"/>
                <a:ext cx="9393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투명한 정보,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842651" y="5505450"/>
                <a:ext cx="77264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요약,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869101" y="5838825"/>
                <a:ext cx="71974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인증 확보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1338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6005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369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🏢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59924" y="4671536"/>
                <a:ext cx="1014701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플랫폼 이해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371145" y="5172075"/>
                <a:ext cx="9922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아마존, 쇼피,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24044" y="5505450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쇼피파이 등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24044" y="583882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생태계 분석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7721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2388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3752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174554" y="4671536"/>
                <a:ext cx="662041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활용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62345" y="51720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상세페이지,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009445" y="5505450"/>
                <a:ext cx="99225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번역, 콘텐츠,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062345" y="583882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데이터 분석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410450" y="3714750"/>
                <a:ext cx="1476375" cy="2667000"/>
              </a:xfrm>
              <a:prstGeom prst="roundRect">
                <a:avLst>
                  <a:gd name="adj" fmla="val 103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7877175" y="39243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013573" y="40728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⚙️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731903" y="4671536"/>
                <a:ext cx="823944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운영 관리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763963" y="5172075"/>
                <a:ext cx="75982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물류, CS,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757551" y="5505450"/>
                <a:ext cx="77264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재고 예측,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700645" y="583882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리스크 관리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519443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487" y="4004786"/>
              <a:ext cx="5285101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글로벌 이커머스의 한계를 넘어 AI 중심 커머스로의 전환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5346382"/>
              <a:ext cx="20792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06554" cy="784860"/>
            <a:chOff x="558546" y="372428"/>
            <a:chExt cx="520655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0655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5776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글로벌 이커머스의 특징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71500" y="1381125"/>
            <a:ext cx="8610600" cy="5429250"/>
            <a:chOff x="571500" y="1381125"/>
            <a:chExt cx="8610600" cy="5429250"/>
          </a:xfrm>
        </p:grpSpPr>
        <p:sp>
          <p:nvSpPr>
            <p:cNvPr id="6" name="Rectangle 6"/>
            <p:cNvSpPr/>
            <p:nvPr/>
          </p:nvSpPr>
          <p:spPr>
            <a:xfrm>
              <a:off x="571500" y="1381125"/>
              <a:ext cx="8610600" cy="542925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81125"/>
              <a:ext cx="8610600" cy="571500"/>
            </a:xfrm>
            <a:prstGeom prst="roundRect">
              <a:avLst>
                <a:gd name="adj" fmla="val 33333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8610600" cy="238125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4737" y="1547336"/>
              <a:ext cx="381515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737" y="1547336"/>
              <a:ext cx="1838645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글로벌 이커머스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71500" y="1952625"/>
              <a:ext cx="8610600" cy="962025"/>
              <a:chOff x="571500" y="1952625"/>
              <a:chExt cx="8610600" cy="9620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952625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952500" y="22193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76485" y="2317432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핵심 활동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48356" y="2310765"/>
                <a:ext cx="35586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해외 플랫폼 입점, 상품 등록, 배송, 결제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2905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2905125"/>
              <a:ext cx="8610600" cy="962025"/>
              <a:chOff x="571500" y="2905125"/>
              <a:chExt cx="8610600" cy="9620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2905125"/>
                <a:ext cx="86106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952500" y="31718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76485" y="3269932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판매 방식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848356" y="3263265"/>
                <a:ext cx="13208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 기반 판매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571500" y="3857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3857625"/>
              <a:ext cx="8610600" cy="962025"/>
              <a:chOff x="571500" y="3857625"/>
              <a:chExt cx="8610600" cy="9620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3857625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952500" y="41243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76485" y="4222432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 접점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848356" y="4215765"/>
                <a:ext cx="20454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상품페이지, 리뷰, 광고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71500" y="4810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4810125"/>
              <a:ext cx="8610600" cy="962025"/>
              <a:chOff x="571500" y="4810125"/>
              <a:chExt cx="8610600" cy="9620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4810125"/>
                <a:ext cx="86106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952500" y="50768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76485" y="5174932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주요 역량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48356" y="5168265"/>
                <a:ext cx="316753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플랫폼 이해, 가격경쟁력, 물류 처리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571500" y="5762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71500" y="5762625"/>
              <a:ext cx="8610600" cy="1047750"/>
              <a:chOff x="571500" y="5762625"/>
              <a:chExt cx="8610600" cy="1047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71500" y="5762625"/>
                <a:ext cx="8610600" cy="1047750"/>
              </a:xfrm>
              <a:prstGeom prst="roundRect">
                <a:avLst>
                  <a:gd name="adj" fmla="val 18182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1500" y="5762625"/>
                <a:ext cx="8610600" cy="28575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52500" y="6067425"/>
                <a:ext cx="123825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2ECE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85114" y="6165532"/>
                <a:ext cx="97302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판매자 고민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848356" y="6158865"/>
                <a:ext cx="396262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EDA796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어디에 입점할 것인가, 어떻게 배송할 것인가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06554" cy="784860"/>
            <a:chOff x="558546" y="372428"/>
            <a:chExt cx="520655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0655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5776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글로벌 이커머스의 특징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333500"/>
            <a:ext cx="8610600" cy="1714500"/>
            <a:chOff x="571500" y="1333500"/>
            <a:chExt cx="8610600" cy="1714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7145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571625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8672" y="1664018"/>
              <a:ext cx="99065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핵심 구조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725" y="2035969"/>
              <a:ext cx="833562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기존에는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" y="2400776"/>
              <a:ext cx="3023264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“해외 플랫폼에 상품을 올리고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6963" y="2715101"/>
              <a:ext cx="5623334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검색해서 들어오게 만드는 구조”</a:t>
              </a:r>
              <a:r>
                <a:rPr lang="ko-KR" sz="202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 중심이었음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3238500"/>
            <a:ext cx="8610600" cy="3571875"/>
            <a:chOff x="571500" y="3238500"/>
            <a:chExt cx="8610600" cy="3571875"/>
          </a:xfrm>
        </p:grpSpPr>
        <p:sp>
          <p:nvSpPr>
            <p:cNvPr id="13" name="Rectangle 13"/>
            <p:cNvSpPr/>
            <p:nvPr/>
          </p:nvSpPr>
          <p:spPr>
            <a:xfrm>
              <a:off x="571500" y="3238500"/>
              <a:ext cx="8610600" cy="3571875"/>
            </a:xfrm>
            <a:prstGeom prst="roundRect">
              <a:avLst>
                <a:gd name="adj" fmla="val 5333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3425190"/>
              <a:ext cx="4603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대표 사례: Amazon 검색 기반 노출 경쟁 메커니즘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952500" y="3952875"/>
              <a:ext cx="8147260" cy="2428875"/>
              <a:chOff x="952500" y="3952875"/>
              <a:chExt cx="8147260" cy="242887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3952875"/>
                <a:ext cx="3524250" cy="2428875"/>
              </a:xfrm>
              <a:prstGeom prst="roundRect">
                <a:avLst>
                  <a:gd name="adj" fmla="val 6275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285875" y="4191000"/>
                <a:ext cx="476250" cy="47625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04556" y="4327208"/>
                <a:ext cx="2388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👤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96237" y="4319111"/>
                <a:ext cx="1014701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고객의 행동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238250" y="4857750"/>
                <a:ext cx="2952750" cy="666750"/>
              </a:xfrm>
              <a:prstGeom prst="roundRect">
                <a:avLst>
                  <a:gd name="adj" fmla="val 17143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21130" y="5105400"/>
                <a:ext cx="334226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검색어 입력: “Stainless Steel Tumbler”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0249" y="5735479"/>
                <a:ext cx="3248646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0561" indent="-170561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명확한 목적을 가지고 직접 키워드 검색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02683" y="4979670"/>
                <a:ext cx="2020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143500" y="3952875"/>
                <a:ext cx="3657600" cy="2428875"/>
              </a:xfrm>
              <a:prstGeom prst="roundRect">
                <a:avLst>
                  <a:gd name="adj" fmla="val 6275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476875" y="4191000"/>
                <a:ext cx="476250" cy="47625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95556" y="4327208"/>
                <a:ext cx="2388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🏪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87237" y="4319111"/>
                <a:ext cx="1899559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판매자의 대응 및 경쟁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20868" y="4822508"/>
                <a:ext cx="24173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 키워드 최적화 (SEO)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20868" y="5184458"/>
                <a:ext cx="188833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수 및 평점 확보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20868" y="5546408"/>
                <a:ext cx="158697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가격 경쟁력 설정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20868" y="5908358"/>
                <a:ext cx="367889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배송 조건(FBA 등)을 통한 상위 노출 경쟁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194435" cy="784860"/>
            <a:chOff x="558546" y="372428"/>
            <a:chExt cx="519443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19443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2121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63118" y="1203008"/>
            <a:ext cx="8618982" cy="5654992"/>
            <a:chOff x="563118" y="1203008"/>
            <a:chExt cx="8618982" cy="5654992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31899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AI가 들어오면서 구조가 달라지고 있음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71625"/>
              <a:ext cx="8610600" cy="5286375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71625"/>
              <a:ext cx="8610600" cy="523875"/>
            </a:xfrm>
            <a:prstGeom prst="roundRect">
              <a:avLst>
                <a:gd name="adj" fmla="val 32727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8610600" cy="238125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4618" y="17268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구분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4368" y="1726882"/>
              <a:ext cx="176330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글로벌 이커머스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118" y="1726882"/>
              <a:ext cx="203421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71500" y="2095500"/>
              <a:ext cx="8610600" cy="962025"/>
              <a:chOff x="571500" y="2095500"/>
              <a:chExt cx="8610600" cy="9620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095500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44499" y="2449354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핵심 활동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468499" y="2344579"/>
                <a:ext cx="225863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해외 플랫폼 입점, 상품 등록,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68499" y="2630329"/>
                <a:ext cx="81111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배송, 결제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524500" y="2190750"/>
                <a:ext cx="352425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659374" y="2344579"/>
                <a:ext cx="228588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기반 시장조사, 상품 기획,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59374" y="2630329"/>
                <a:ext cx="162223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현지화, 추천, 자동화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71500" y="3048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3048000"/>
              <a:ext cx="8610600" cy="914400"/>
              <a:chOff x="571500" y="3048000"/>
              <a:chExt cx="86106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048000"/>
                <a:ext cx="8610600" cy="9048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44499" y="3401854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판매 방식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68499" y="3401854"/>
                <a:ext cx="116057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 기반 판매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524500" y="3143250"/>
                <a:ext cx="3524250" cy="714375"/>
              </a:xfrm>
              <a:prstGeom prst="roundRect">
                <a:avLst>
                  <a:gd name="adj" fmla="val 13333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59374" y="3401854"/>
                <a:ext cx="2963953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검색형 + 추천형 + 대화형 + 콘텐츠형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71500" y="3952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3952875"/>
              <a:ext cx="8610600" cy="962025"/>
              <a:chOff x="571500" y="3952875"/>
              <a:chExt cx="8610600" cy="9620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3952875"/>
                <a:ext cx="8610600" cy="952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44499" y="4306729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 접점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468499" y="4306729"/>
                <a:ext cx="179696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상품페이지, 리뷰, 광고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524500" y="4048125"/>
                <a:ext cx="352425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659374" y="4201954"/>
                <a:ext cx="1936428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쇼핑비서, 숏폼, 챗봇,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659374" y="4487704"/>
                <a:ext cx="179696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개인화 추천, 리뷰 요약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71500" y="49053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4905375"/>
              <a:ext cx="8610600" cy="962025"/>
              <a:chOff x="571500" y="4905375"/>
              <a:chExt cx="8610600" cy="96202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4905375"/>
                <a:ext cx="86106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44499" y="5259229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주요 역량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468499" y="5154454"/>
                <a:ext cx="197169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플랫폼 이해, 가격경쟁력,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468499" y="5440204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물류 처리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5524500" y="5000625"/>
                <a:ext cx="352425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EF7E6"/>
              </a:solidFill>
              <a:ln w="9525">
                <a:solidFill>
                  <a:srgbClr val="F8DA9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59374" y="5154454"/>
                <a:ext cx="170559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데이터 이해, AI 활용,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659374" y="5440204"/>
                <a:ext cx="197169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고객경험 설계, 신뢰 관리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571500" y="5857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571500" y="5857875"/>
              <a:ext cx="8610600" cy="1000125"/>
              <a:chOff x="571500" y="5857875"/>
              <a:chExt cx="8610600" cy="1000125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5857875"/>
                <a:ext cx="8610600" cy="1000125"/>
              </a:xfrm>
              <a:prstGeom prst="roundRect">
                <a:avLst>
                  <a:gd name="adj" fmla="val 17143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" y="5857875"/>
                <a:ext cx="8610600" cy="28575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44499" y="6211729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판매자 고민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68499" y="6106954"/>
                <a:ext cx="1740861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어디에 입점할 것인가,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468499" y="6392704"/>
                <a:ext cx="168475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어떻게 배송할 것인가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5524500" y="5953125"/>
                <a:ext cx="3524250" cy="809625"/>
              </a:xfrm>
              <a:prstGeom prst="roundRect">
                <a:avLst>
                  <a:gd name="adj" fmla="val 11765"/>
                </a:avLst>
              </a:prstGeom>
              <a:solidFill>
                <a:srgbClr val="FEF7E6"/>
              </a:solidFill>
              <a:ln w="14288">
                <a:solidFill>
                  <a:srgbClr val="F8DA92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659374" y="6106954"/>
                <a:ext cx="1768113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EDA796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AI와 고객이 내 상품을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659374" y="6392704"/>
                <a:ext cx="2090316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EDA796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어떻게 이해하게 할 것인가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06554" cy="784860"/>
            <a:chOff x="558546" y="372428"/>
            <a:chExt cx="520655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0655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2121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등장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63118" y="1203008"/>
            <a:ext cx="8618982" cy="1892617"/>
            <a:chOff x="563118" y="1203008"/>
            <a:chExt cx="8618982" cy="1892617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32492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질문 예시 (대화형·상황 기반 검색)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1500" y="1571625"/>
              <a:ext cx="8610600" cy="1524000"/>
              <a:chOff x="571500" y="1571625"/>
              <a:chExt cx="8610600" cy="1524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571625"/>
                <a:ext cx="27432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09625" y="1762125"/>
                <a:ext cx="381000" cy="3810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02398" y="18735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77874" y="1849279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텀블러 검색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01624" y="2258854"/>
                <a:ext cx="113813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"여행 갈 때 쓸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1624" y="2544604"/>
                <a:ext cx="168475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가볍고 튼튼한 텀블러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1624" y="2830354"/>
                <a:ext cx="85119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추천해줘."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3505200" y="1571625"/>
                <a:ext cx="27432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743325" y="1762125"/>
                <a:ext cx="381000" cy="3810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836098" y="18735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11574" y="1849279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백팩 검색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35324" y="2258854"/>
                <a:ext cx="136255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"100달러 이하의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735324" y="2544604"/>
                <a:ext cx="179696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방수 백팩 중 리뷰 좋은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35324" y="2830354"/>
                <a:ext cx="108202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제품 알려줘."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438900" y="1571625"/>
                <a:ext cx="27432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4288">
                <a:solidFill>
                  <a:srgbClr val="EDA796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6677025" y="1762125"/>
                <a:ext cx="381000" cy="3810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69798" y="18735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💬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45274" y="1849279"/>
                <a:ext cx="1104470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스킨케어 검색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69024" y="2258854"/>
                <a:ext cx="160620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"민감성 피부에 맞는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669024" y="2544604"/>
                <a:ext cx="151002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한국 스킨케어 제품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69024" y="2830354"/>
                <a:ext cx="85119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추천해줘."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71500" y="3286125"/>
            <a:ext cx="8610600" cy="2000250"/>
            <a:chOff x="571500" y="3286125"/>
            <a:chExt cx="86106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571500" y="3286125"/>
              <a:ext cx="8610600" cy="2000250"/>
            </a:xfrm>
            <a:prstGeom prst="roundRect">
              <a:avLst>
                <a:gd name="adj" fmla="val 8571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7250" y="3571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70093" y="3664268"/>
              <a:ext cx="1288814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판매자의 핵심 과제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8106" y="4044315"/>
              <a:ext cx="31034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중요한 것은 단순히 키워드가 아닌,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344" y="4409122"/>
              <a:ext cx="497251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AI가 내 상품의 용도, 장점, 가격, 리뷰, 신뢰 요소를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344" y="4790122"/>
              <a:ext cx="265617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제대로 이해할 수 있어야 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5476875"/>
            <a:ext cx="8610600" cy="1381125"/>
            <a:chOff x="571500" y="5476875"/>
            <a:chExt cx="8610600" cy="1381125"/>
          </a:xfrm>
        </p:grpSpPr>
        <p:sp>
          <p:nvSpPr>
            <p:cNvPr id="37" name="Rectangle 37"/>
            <p:cNvSpPr/>
            <p:nvPr/>
          </p:nvSpPr>
          <p:spPr>
            <a:xfrm>
              <a:off x="571500" y="547687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8868" y="5727382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과거의 검색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8106" y="6187440"/>
              <a:ext cx="32380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직접 검색어를 입력하여 탐색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029200" y="5476875"/>
              <a:ext cx="4152900" cy="1381125"/>
            </a:xfrm>
            <a:prstGeom prst="roundRect">
              <a:avLst>
                <a:gd name="adj" fmla="val 11034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306568" y="5727382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현재의 검색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05806" y="6187440"/>
              <a:ext cx="29986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AI에게 물어보고 추천받음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06554" cy="784860"/>
            <a:chOff x="558546" y="372428"/>
            <a:chExt cx="520655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0655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8600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검색형 · 추천형 · 대화형 · 콘텐츠형 커머스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71500" y="1428750"/>
            <a:ext cx="8610600" cy="5381625"/>
            <a:chOff x="571500" y="1428750"/>
            <a:chExt cx="8610600" cy="5381625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200025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3742" y="1631632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검색형 커머스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266825" y="2219325"/>
              <a:ext cx="609600" cy="6096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9606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11750" y="3219450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유형 설명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8394" y="3648075"/>
              <a:ext cx="8864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직접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1681" y="3981450"/>
              <a:ext cx="121988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검색어를 입력해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8394" y="4314825"/>
              <a:ext cx="8864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상품을 찾음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1750" y="5076825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대표 예시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1242" y="5536882"/>
              <a:ext cx="8407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Amazon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768" y="5965508"/>
              <a:ext cx="9137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네이버쇼핑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71775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71775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1775" y="1714500"/>
              <a:ext cx="200025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94017" y="1631632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추천형 커머스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467100" y="2219325"/>
              <a:ext cx="609600" cy="6096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9881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962275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12025" y="3219450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유형 설명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38475" y="3648075"/>
              <a:ext cx="6668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5508" y="3981450"/>
              <a:ext cx="12727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데이터 기반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28670" y="4314825"/>
              <a:ext cx="8864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상품을 추천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962275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12025" y="5076825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대표 예시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76760" y="5536882"/>
              <a:ext cx="7902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쿠팡 추천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8332" y="5965508"/>
              <a:ext cx="124713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 추천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72050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F8DA9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72050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72050" y="1714500"/>
              <a:ext cx="2000250" cy="28575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94292" y="1631632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대화형 커머스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667375" y="2219325"/>
              <a:ext cx="609600" cy="6096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20156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🤖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2550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EF7E6"/>
            </a:solidFill>
            <a:ln w="9525">
              <a:solidFill>
                <a:srgbClr val="F8DA9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12300" y="3219450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유형 설명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21731" y="3648075"/>
              <a:ext cx="90088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AI나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62232" y="3981450"/>
              <a:ext cx="121988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챗봇과 대화하며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28945" y="4314825"/>
              <a:ext cx="8864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상품을 탐색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2550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12300" y="5076825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대표 예시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06929" y="5536882"/>
              <a:ext cx="13304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ChatGPT 쇼핑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71236" y="5965508"/>
              <a:ext cx="10018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쇼핑비서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81850" y="1428750"/>
              <a:ext cx="2000250" cy="5381625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81850" y="1428750"/>
              <a:ext cx="2000250" cy="571500"/>
            </a:xfrm>
            <a:prstGeom prst="roundRect">
              <a:avLst>
                <a:gd name="adj" fmla="val 30000"/>
              </a:avLst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81850" y="1714500"/>
              <a:ext cx="2000250" cy="285750"/>
            </a:xfrm>
            <a:prstGeom prst="rect">
              <a:avLst/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12721" y="1631632"/>
              <a:ext cx="13385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콘텐츠형 커머스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877175" y="2219325"/>
              <a:ext cx="609600" cy="6096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29956" y="2392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📱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72350" y="304800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BEEEC"/>
            </a:solidFill>
            <a:ln w="9525">
              <a:solidFill>
                <a:srgbClr val="EDA79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22100" y="3219450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유형 설명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85845" y="3648075"/>
              <a:ext cx="99225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숏폼, 라이브,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88676" y="3981450"/>
              <a:ext cx="13865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인플루언서 콘텐츠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22101" y="4314825"/>
              <a:ext cx="71974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보고 구매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72350" y="4857750"/>
              <a:ext cx="16192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9525">
              <a:solidFill>
                <a:srgbClr val="E8DDD7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22100" y="5076825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대표 예시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43696" y="5497354"/>
              <a:ext cx="12765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TikTok Shop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3363" y="5830729"/>
              <a:ext cx="11172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Instagram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07276" y="6116479"/>
              <a:ext cx="9493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Shopping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194435" cy="784860"/>
            <a:chOff x="558546" y="372428"/>
            <a:chExt cx="5194435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194435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8600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검색형 · 추천형 · 대화형 · 콘텐츠형 커머스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428750"/>
            <a:ext cx="8610600" cy="5429250"/>
            <a:chOff x="571500" y="1428750"/>
            <a:chExt cx="8610600" cy="54292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86106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04875" y="17145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756E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0132" y="1806892"/>
              <a:ext cx="79348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과거 커머스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4207" y="2297430"/>
              <a:ext cx="449001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“필요해서 검색하는 방식”이 강했음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3333750"/>
              <a:ext cx="8610600" cy="2190750"/>
            </a:xfrm>
            <a:prstGeom prst="roundRect">
              <a:avLst>
                <a:gd name="adj" fmla="val 7826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04875" y="36195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0132" y="3711892"/>
              <a:ext cx="79348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현재 커머스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4969" y="4218622"/>
              <a:ext cx="287258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콘텐츠를 보다가 사고,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4969" y="4599622"/>
              <a:ext cx="369331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AI의 추천을 받고, 챗봇에게 질문하고,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4969" y="4980622"/>
              <a:ext cx="237084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리뷰 요약을 보고 결정함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5715000"/>
              <a:ext cx="8610600" cy="1143000"/>
            </a:xfrm>
            <a:prstGeom prst="roundRect">
              <a:avLst>
                <a:gd name="adj" fmla="val 15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34199" y="6138862"/>
              <a:ext cx="448520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25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“판매자는 이제 상품만 잘 올리면 안 됨”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06554" cy="784860"/>
            <a:chOff x="558546" y="372428"/>
            <a:chExt cx="5206554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0655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이커머스에서 글로벌 AI 커머스로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8600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검색형 · 추천형 · 대화형 · 콘텐츠형 커머스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63118" y="1203008"/>
            <a:ext cx="8618982" cy="5654992"/>
            <a:chOff x="563118" y="1203008"/>
            <a:chExt cx="8618982" cy="5654992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356668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커머스의 출발점 (4대 필수 요건)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1571625"/>
              <a:ext cx="8610600" cy="5286375"/>
              <a:chOff x="571500" y="1571625"/>
              <a:chExt cx="8610600" cy="5286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571625"/>
                <a:ext cx="4152900" cy="2476500"/>
              </a:xfrm>
              <a:prstGeom prst="roundRect">
                <a:avLst>
                  <a:gd name="adj" fmla="val 69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28675" y="182880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65073" y="1977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🔍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476375" y="19050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42640" y="200025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91106" y="1967865"/>
                <a:ext cx="10579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 최적화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2594" y="2694622"/>
                <a:ext cx="2439770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검색에 잘 걸리게 해야 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4118" y="3155632"/>
                <a:ext cx="279307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글로벌 플랫폼 및 검색 엔진에서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4118" y="3489008"/>
                <a:ext cx="279307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타깃 고객 검색어에 정확히 노출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029200" y="1571625"/>
                <a:ext cx="4152900" cy="2476500"/>
              </a:xfrm>
              <a:prstGeom prst="roundRect">
                <a:avLst>
                  <a:gd name="adj" fmla="val 6923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5286375" y="182880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422773" y="1977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🎯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934075" y="190500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000340" y="200025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48806" y="1967865"/>
                <a:ext cx="151964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추천 데이터 설계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00294" y="2694622"/>
                <a:ext cx="2872581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추천될 만한 정보가 있어야 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401818" y="3155632"/>
                <a:ext cx="291650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알고리즘이 상품의 속성과 강점을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401818" y="3489008"/>
                <a:ext cx="315855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인식할 수 있는 구조화된 메타데이터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71500" y="4333875"/>
                <a:ext cx="4152900" cy="2524125"/>
              </a:xfrm>
              <a:prstGeom prst="roundRect">
                <a:avLst>
                  <a:gd name="adj" fmla="val 679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28675" y="4591050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65073" y="47396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📱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476375" y="46672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DA796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542640" y="47625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991106" y="4730115"/>
                <a:ext cx="125675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콘텐츠 시각화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2594" y="5456872"/>
                <a:ext cx="2872581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콘텐츠로 보여줄 수 있어야 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4118" y="5917882"/>
                <a:ext cx="272254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숏폼, 3초 후킹 영상, 라이브 등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44118" y="6251258"/>
                <a:ext cx="297581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직관적으로 매력 전달 가능한 포맷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029200" y="4333875"/>
                <a:ext cx="4152900" cy="2524125"/>
              </a:xfrm>
              <a:prstGeom prst="roundRect">
                <a:avLst>
                  <a:gd name="adj" fmla="val 679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286375" y="45910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422773" y="47396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🤖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934075" y="4667250"/>
                <a:ext cx="3810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4B4535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000340" y="47625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48806" y="4730115"/>
                <a:ext cx="135293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해석 친화성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00294" y="5456872"/>
                <a:ext cx="190276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AI가 이해하기 쉬운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00294" y="5790248"/>
                <a:ext cx="230191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9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상품정보를 만들어야 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401818" y="6251258"/>
                <a:ext cx="304153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33332F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용도, 장단점, FAQ, 리뷰의 정밀성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54069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487" y="4004786"/>
              <a:ext cx="6019277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시장조사부터 리뷰관리까지 전 과정의 데이터 기반 의사결정 및 자동화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5346382"/>
              <a:ext cx="20792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8546" y="448628"/>
            <a:ext cx="5406929" cy="484822"/>
            <a:chOff x="558546" y="448628"/>
            <a:chExt cx="5406929" cy="484822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448628"/>
              <a:ext cx="54069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953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8610600" cy="1809750"/>
            <a:chOff x="571500" y="1333500"/>
            <a:chExt cx="8610600" cy="1809750"/>
          </a:xfrm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8610600" cy="180975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57250" y="16192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01796" y="1711642"/>
              <a:ext cx="64440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명제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7344" y="2123122"/>
              <a:ext cx="469679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커머스의 특정 한 부분만 바꾸는 것이 아닌,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820" y="2519362"/>
              <a:ext cx="5902257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상품기획부터 고객관리까지 </a:t>
              </a:r>
              <a:r>
                <a:rPr lang="ko-KR" sz="22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전체 흐름을 바꾸고 있음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3118" y="3393758"/>
            <a:ext cx="8618982" cy="3083242"/>
            <a:chOff x="563118" y="3393758"/>
            <a:chExt cx="8618982" cy="3083242"/>
          </a:xfrm>
        </p:grpSpPr>
        <p:sp>
          <p:nvSpPr>
            <p:cNvPr id="11" name="TextBox 11"/>
            <p:cNvSpPr txBox="1"/>
            <p:nvPr/>
          </p:nvSpPr>
          <p:spPr>
            <a:xfrm>
              <a:off x="563118" y="3393758"/>
              <a:ext cx="176330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가치사슬 전주기 혁신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3810000"/>
              <a:ext cx="8610600" cy="2667000"/>
              <a:chOff x="571500" y="3810000"/>
              <a:chExt cx="8610600" cy="2667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304925" y="40195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441323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📊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70687" y="4727258"/>
                <a:ext cx="100187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기획 &amp; 조사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8200" y="5172075"/>
                <a:ext cx="6668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시장조사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5233" y="5505450"/>
                <a:ext cx="127278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데이터 기반 기획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45039" y="5838825"/>
                <a:ext cx="105317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경쟁상품 분석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20518" y="5013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771775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505200" y="40195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41598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✍️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179590" y="4727258"/>
                <a:ext cx="11846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제작 &amp; 현지화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78600" y="5172075"/>
                <a:ext cx="138659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생성형 상세페이지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18864" y="550545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상황 맞춤 번역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245313" y="5838825"/>
                <a:ext cx="105317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문화적 현지화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20793" y="5013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972050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5705475" y="4019550"/>
                <a:ext cx="533400" cy="5334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841873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415932" y="4727258"/>
                <a:ext cx="111248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마케팅 &amp; CS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495282" y="5172075"/>
                <a:ext cx="95378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숏폼 대본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419139" y="550545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광고 문구 생성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68644" y="5838825"/>
                <a:ext cx="120706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다국어 챗봇 CS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21068" y="501300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756E5F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181850" y="3810000"/>
                <a:ext cx="2000250" cy="2667000"/>
              </a:xfrm>
              <a:prstGeom prst="roundRect">
                <a:avLst>
                  <a:gd name="adj" fmla="val 8571"/>
                </a:avLst>
              </a:prstGeom>
              <a:solidFill>
                <a:srgbClr val="FFFFFF"/>
              </a:solidFill>
              <a:ln w="14288">
                <a:solidFill>
                  <a:srgbClr val="EDA796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915275" y="4019550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051673" y="4168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81037" y="4727258"/>
                <a:ext cx="100187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운영 &amp; 분석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19134" y="5172075"/>
                <a:ext cx="132568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수요 및 재고 예측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55389" y="5505450"/>
                <a:ext cx="105317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이상거래 탐지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8939" y="5838825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감성 분석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428372" cy="784860"/>
            <a:chOff x="558546" y="372428"/>
            <a:chExt cx="5428372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4069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54245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커머스 가치사슬: 기존 방식에서 AI 활용 방식으로의 전환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571500" y="1333500"/>
            <a:ext cx="8610600" cy="4714875"/>
            <a:chOff x="571500" y="1333500"/>
            <a:chExt cx="8610600" cy="471487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4714875"/>
            </a:xfrm>
            <a:prstGeom prst="roundRect">
              <a:avLst>
                <a:gd name="adj" fmla="val 3232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8610600" cy="428625"/>
            </a:xfrm>
            <a:prstGeom prst="roundRect">
              <a:avLst>
                <a:gd name="adj" fmla="val 35556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71625"/>
              <a:ext cx="86106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40130" y="1457325"/>
              <a:ext cx="3334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단계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457325"/>
              <a:ext cx="7197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기존 방식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9380" y="1457325"/>
              <a:ext cx="9650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활용 방식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571500" y="1762125"/>
              <a:ext cx="8610600" cy="4286250"/>
              <a:chOff x="571500" y="1762125"/>
              <a:chExt cx="8610600" cy="4286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17621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9630" y="1905000"/>
                <a:ext cx="8800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1. 시장조사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68880" y="1905000"/>
                <a:ext cx="199253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사람이 검색하고 자료 수집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516880" y="1905000"/>
                <a:ext cx="251030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AI로 트렌드, 경쟁상품, 리뷰 요약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571500" y="22193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71500" y="22193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49630" y="2362200"/>
                <a:ext cx="8800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2. 상품기획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68880" y="2362200"/>
                <a:ext cx="127278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경험과 감에 의존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516880" y="2362200"/>
                <a:ext cx="259846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 데이터와 리뷰 분석 기반 기획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571500" y="26765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71500" y="26765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49630" y="2819400"/>
                <a:ext cx="104676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3. 상품페이지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68880" y="2819400"/>
                <a:ext cx="127278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사람이 직접 작성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16880" y="2819400"/>
                <a:ext cx="302166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생성형 AI로 제목, 설명, FAQ 초안 작성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71500" y="31337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" y="31337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9630" y="3276600"/>
                <a:ext cx="111088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4. 번역·현지화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468880" y="3276600"/>
                <a:ext cx="7197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단순 번역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516880" y="3276600"/>
                <a:ext cx="237885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문화와 사용 장면에 맞춘 현지화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571500" y="35909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" y="35909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9630" y="3733800"/>
                <a:ext cx="111088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5. 광고·콘텐츠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468880" y="3733800"/>
                <a:ext cx="160620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사람이 광고문구 작성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16880" y="3733800"/>
                <a:ext cx="328295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AI로 숏폼 대본, 광고문구, 이미지 문구 생성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571500" y="4048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71500" y="40481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49630" y="4191000"/>
                <a:ext cx="8800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6. 고객응대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468880" y="4191000"/>
                <a:ext cx="165910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사람이 반복 문의 처리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516880" y="4191000"/>
                <a:ext cx="203260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챗봇, 자동응답, 다국어 CS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571500" y="45053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71500" y="4505325"/>
                <a:ext cx="8610600" cy="4572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49630" y="4648200"/>
                <a:ext cx="94416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7. 물류·재고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68880" y="464820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경험 기반 예측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516880" y="4648200"/>
                <a:ext cx="187871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수요예측, 재고 부족 예측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571500" y="49625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" y="4962525"/>
                <a:ext cx="861060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49630" y="5105400"/>
                <a:ext cx="94416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8. 결제·보안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68880" y="5105400"/>
                <a:ext cx="105317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수동 모니터링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516880" y="5105400"/>
                <a:ext cx="187871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이상거래 탐지, 사기 방지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571500" y="54197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571500" y="5419725"/>
                <a:ext cx="8610600" cy="628650"/>
              </a:xfrm>
              <a:prstGeom prst="roundRect">
                <a:avLst>
                  <a:gd name="adj" fmla="val 24242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571500" y="5419725"/>
                <a:ext cx="8610600" cy="1905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49630" y="5600700"/>
                <a:ext cx="88004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9. 리뷰관리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468880" y="560070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개별 리뷰 확인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516880" y="5600700"/>
                <a:ext cx="221214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감성분석, 불만요인 분석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71500" y="6143625"/>
            <a:ext cx="8610600" cy="809625"/>
            <a:chOff x="571500" y="6143625"/>
            <a:chExt cx="8610600" cy="809625"/>
          </a:xfrm>
        </p:grpSpPr>
        <p:sp>
          <p:nvSpPr>
            <p:cNvPr id="59" name="Rectangle 59"/>
            <p:cNvSpPr/>
            <p:nvPr/>
          </p:nvSpPr>
          <p:spPr>
            <a:xfrm>
              <a:off x="571500" y="6143625"/>
              <a:ext cx="8610600" cy="809625"/>
            </a:xfrm>
            <a:prstGeom prst="roundRect">
              <a:avLst>
                <a:gd name="adj" fmla="val 16471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9630" y="6315075"/>
              <a:ext cx="95058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메시지: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897380" y="6315075"/>
              <a:ext cx="39578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커머스는 시장조사부터 리뷰관리까지 전 과정에서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97380" y="6600825"/>
              <a:ext cx="326531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데이터 기반 의사결정과 자동화를 강화한다.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406929" cy="784860"/>
            <a:chOff x="558546" y="372428"/>
            <a:chExt cx="540692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4069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4109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AI가 판매자에게 주는 기회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63118" y="1203008"/>
            <a:ext cx="8618982" cy="4797742"/>
            <a:chOff x="563118" y="1203008"/>
            <a:chExt cx="8618982" cy="4797742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53075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특히 소규모 판매자, 1인 창업자, 성인학습자에게 기회를 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71500" y="1571625"/>
              <a:ext cx="8610600" cy="4429125"/>
            </a:xfrm>
            <a:prstGeom prst="roundRect">
              <a:avLst>
                <a:gd name="adj" fmla="val 3871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71625"/>
              <a:ext cx="8610600" cy="523875"/>
            </a:xfrm>
            <a:prstGeom prst="roundRect">
              <a:avLst>
                <a:gd name="adj" fmla="val 32727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57375"/>
              <a:ext cx="8610600" cy="238125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5118" y="17268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3618" y="17268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설명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" y="2095500"/>
              <a:ext cx="8610600" cy="3905250"/>
              <a:chOff x="571500" y="2095500"/>
              <a:chExt cx="8610600" cy="3905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2095500"/>
                <a:ext cx="8610600" cy="7620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4118" y="2374582"/>
                <a:ext cx="158056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시장조사 시간 단축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10737" y="2366486"/>
                <a:ext cx="3044103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해외시장과 경쟁상품을 빠르게 파악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2857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2857500"/>
                <a:ext cx="86106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44118" y="3136582"/>
                <a:ext cx="158056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콘텐츠 제작 효율화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0737" y="3128486"/>
                <a:ext cx="3348674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상품명, 설명, 광고문구, 숏폼 대본 작성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571500" y="3619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71500" y="3619500"/>
                <a:ext cx="8610600" cy="76200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4118" y="3898582"/>
                <a:ext cx="121507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언어 장벽 완화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0737" y="3890486"/>
                <a:ext cx="3539430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영어, 일본어, 중국어 등 다국어 초안 작성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71500" y="4381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71500" y="4381500"/>
                <a:ext cx="86106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44118" y="4660582"/>
                <a:ext cx="133850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고객응대 자동화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610737" y="4652486"/>
                <a:ext cx="2090316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반복 문의에 빠르게 대응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571500" y="5143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71500" y="5143500"/>
                <a:ext cx="8610600" cy="857250"/>
              </a:xfrm>
              <a:prstGeom prst="roundRect">
                <a:avLst>
                  <a:gd name="adj" fmla="val 20000"/>
                </a:avLst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5143500"/>
                <a:ext cx="8610600" cy="285750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44118" y="5460682"/>
                <a:ext cx="176330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데이터 기반 의사결정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10737" y="5452586"/>
                <a:ext cx="3356688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감이 아니라 근거를 바탕으로 상품 개선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71500" y="6143625"/>
            <a:ext cx="8610600" cy="714375"/>
            <a:chOff x="571500" y="6143625"/>
            <a:chExt cx="8610600" cy="714375"/>
          </a:xfrm>
        </p:grpSpPr>
        <p:sp>
          <p:nvSpPr>
            <p:cNvPr id="34" name="Rectangle 34"/>
            <p:cNvSpPr/>
            <p:nvPr/>
          </p:nvSpPr>
          <p:spPr>
            <a:xfrm>
              <a:off x="571500" y="6143625"/>
              <a:ext cx="8610600" cy="714375"/>
            </a:xfrm>
            <a:prstGeom prst="roundRect">
              <a:avLst>
                <a:gd name="adj" fmla="val 18667"/>
              </a:avLst>
            </a:prstGeom>
            <a:solidFill>
              <a:srgbClr val="FEF7E6"/>
            </a:solidFill>
            <a:ln w="14288">
              <a:solidFill>
                <a:srgbClr val="F8DA9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8868" y="6394132"/>
              <a:ext cx="60547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* AI는 업무를 지원하는 도구이며, 최종 검토와 판단은 사람이 수행해야 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406929" cy="784860"/>
            <a:chOff x="558546" y="372428"/>
            <a:chExt cx="540692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4069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3529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활용의 위험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63118" y="1203008"/>
            <a:ext cx="8618982" cy="5607367"/>
            <a:chOff x="563118" y="1203008"/>
            <a:chExt cx="8618982" cy="5607367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203008"/>
              <a:ext cx="441627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커머스에는 기회만 있는 것이 아님 (6대 위험 요인)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1571625"/>
              <a:ext cx="8610600" cy="5238750"/>
              <a:chOff x="571500" y="1571625"/>
              <a:chExt cx="8610600" cy="5238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5716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90575" y="17907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91540" y="19050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⚠️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24737" y="1880711"/>
                <a:ext cx="1014701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잘못된 정보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96874" y="2401729"/>
                <a:ext cx="171200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AI가 틀린 시장정보나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6874" y="2716054"/>
                <a:ext cx="2321148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허위 데이터를 제시할 수 있음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029200" y="15716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5248275" y="17907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349240" y="19050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📢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782437" y="1880711"/>
                <a:ext cx="763029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과장광고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54574" y="2401729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 효능을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54574" y="2716054"/>
                <a:ext cx="168475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지나치게 부풀릴 위험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338137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90575" y="360045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91540" y="371475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24737" y="3690461"/>
                <a:ext cx="823944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가짜 리뷰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96874" y="4211479"/>
                <a:ext cx="136255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AI로 허위 리뷰를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6874" y="4525804"/>
                <a:ext cx="985847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만들 수 있음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5029200" y="338137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248275" y="360045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349240" y="371475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⚖️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82437" y="3690461"/>
                <a:ext cx="1014701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저작권 문제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354574" y="4211479"/>
                <a:ext cx="162223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이미지, 문구, 디자인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54574" y="4525804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침해 가능성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71500" y="51911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90575" y="54102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91540" y="55245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324737" y="5500211"/>
                <a:ext cx="1205458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개인정보 문제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6874" y="6021229"/>
                <a:ext cx="2090316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 데이터 수집과 활용의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6874" y="6335554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윤리 문제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5029200" y="5191125"/>
                <a:ext cx="41529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248275" y="5410200"/>
                <a:ext cx="419100" cy="4191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349240" y="55245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📉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782437" y="5500211"/>
                <a:ext cx="1014701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플랫폼 의존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354574" y="6021229"/>
                <a:ext cx="1279196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알고리즘 변화와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54574" y="6335554"/>
                <a:ext cx="116057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계정 정지 위험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406929" cy="784860"/>
            <a:chOff x="558546" y="372428"/>
            <a:chExt cx="5406929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4069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커머스 가치사슬을 어떻게 바꾸는가?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3529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활용의 위험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428750"/>
            <a:ext cx="8610600" cy="1714500"/>
            <a:chOff x="571500" y="1428750"/>
            <a:chExt cx="8610600" cy="17145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1529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57250" y="1666875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5073" y="17868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7231" y="1786890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속도의 관점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207" y="2392680"/>
              <a:ext cx="2122376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AI를 잘 쓰는 사람은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2683" y="2693670"/>
              <a:ext cx="5321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빠름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29200" y="1428750"/>
              <a:ext cx="4152900" cy="1714500"/>
            </a:xfrm>
            <a:prstGeom prst="roundRect">
              <a:avLst>
                <a:gd name="adj" fmla="val 10000"/>
              </a:avLst>
            </a:prstGeom>
            <a:solidFill>
              <a:srgbClr val="FBEEEC"/>
            </a:solidFill>
            <a:ln w="19050">
              <a:solidFill>
                <a:srgbClr val="EDA79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314950" y="1666875"/>
              <a:ext cx="476250" cy="476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22773" y="17868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⚠️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4931" y="1786890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검증의 관점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51907" y="2392680"/>
              <a:ext cx="267541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BUT AI를 검증하지 않는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50383" y="2693670"/>
              <a:ext cx="22987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사람은 빠르게 틀림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381375"/>
            <a:ext cx="8610600" cy="1905000"/>
            <a:chOff x="571500" y="3381375"/>
            <a:chExt cx="86106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571500" y="3381375"/>
              <a:ext cx="8610600" cy="1905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7250" y="366712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4843" y="3759518"/>
              <a:ext cx="1288814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커머스 경고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344" y="4218622"/>
              <a:ext cx="559768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커머스에서는 한 번의 과장광고, 한 번의 허위정보,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582" y="4631055"/>
              <a:ext cx="461985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한 번의 CS 실패가 신뢰를 무너뜨릴 수 있음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5524500"/>
            <a:ext cx="8610600" cy="1285875"/>
            <a:chOff x="571500" y="5524500"/>
            <a:chExt cx="8610600" cy="1285875"/>
          </a:xfrm>
        </p:grpSpPr>
        <p:sp>
          <p:nvSpPr>
            <p:cNvPr id="25" name="Rectangle 25"/>
            <p:cNvSpPr/>
            <p:nvPr/>
          </p:nvSpPr>
          <p:spPr>
            <a:xfrm>
              <a:off x="571500" y="5524500"/>
              <a:ext cx="8610600" cy="1285875"/>
            </a:xfrm>
            <a:prstGeom prst="roundRect">
              <a:avLst>
                <a:gd name="adj" fmla="val 13333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15952" y="5995988"/>
              <a:ext cx="4321696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25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(AI 활용 → 신뢰 / 윤리 / 리스크 관리)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520405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868" y="3870008"/>
              <a:ext cx="55127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Amazon, Shopify, TikTok Shop, ChatGPT, Shopee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0868" y="4184332"/>
              <a:ext cx="288380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플랫폼별 AI 커머스 전략 심층 분석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5118" y="5346382"/>
              <a:ext cx="208711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16172" cy="784860"/>
            <a:chOff x="558546" y="372428"/>
            <a:chExt cx="5216172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8212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 : 검색과 추천의 결합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333500"/>
            <a:ext cx="8610600" cy="2000250"/>
            <a:chOff x="571500" y="1333500"/>
            <a:chExt cx="8610600" cy="200025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20002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7757" y="1711642"/>
              <a:ext cx="79348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 특성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344" y="2123122"/>
              <a:ext cx="402353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전통적인 검색 기반 커머스의 대표 플랫폼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2567940"/>
              <a:ext cx="61433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고객은 검색어를 입력하고, 상품명, 리뷰, 가격, 배송 조건을 비교함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2901315"/>
              <a:ext cx="35464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Amazon은 </a:t>
              </a:r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단순 검색 플랫폼이 아님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524250"/>
            <a:ext cx="8610600" cy="3333750"/>
            <a:chOff x="571500" y="3524250"/>
            <a:chExt cx="8610600" cy="3333750"/>
          </a:xfrm>
        </p:grpSpPr>
        <p:sp>
          <p:nvSpPr>
            <p:cNvPr id="13" name="Rectangle 13"/>
            <p:cNvSpPr/>
            <p:nvPr/>
          </p:nvSpPr>
          <p:spPr>
            <a:xfrm>
              <a:off x="571500" y="3524250"/>
              <a:ext cx="8610600" cy="3333750"/>
            </a:xfrm>
            <a:prstGeom prst="roundRect">
              <a:avLst>
                <a:gd name="adj" fmla="val 5714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3758565"/>
              <a:ext cx="42255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판매자와 고객을 정교하게 연결하는 4대 시스템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952500" y="4238625"/>
              <a:ext cx="7762875" cy="2190750"/>
              <a:chOff x="952500" y="4238625"/>
              <a:chExt cx="7762875" cy="2190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56210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69849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50917" y="5155882"/>
                <a:ext cx="115576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추천 알고리즘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75764" y="560070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고객 행동 기반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85569" y="59340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개인화 추천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95275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56235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69874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📝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33910" y="5155882"/>
                <a:ext cx="79028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요약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68800" y="5600700"/>
                <a:ext cx="112050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기반 방대한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219107" y="5934075"/>
                <a:ext cx="121988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리뷰 하이라이트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95300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556260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69899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📦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03606" y="5155882"/>
                <a:ext cx="85138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FBA 물류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86070" y="5600700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풀필먼트 및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86070" y="59340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초고속 배송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53250" y="4238625"/>
                <a:ext cx="1762125" cy="2190750"/>
              </a:xfrm>
              <a:prstGeom prst="roundRect">
                <a:avLst>
                  <a:gd name="adj" fmla="val 8649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7562850" y="4448175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99248" y="4596765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📢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43039" y="5155882"/>
                <a:ext cx="97302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광고 시스템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19607" y="5600700"/>
                <a:ext cx="121988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키워드 스폰서드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386320" y="59340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광고 타깃팅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5204053" cy="970597"/>
            <a:chOff x="558546" y="315278"/>
            <a:chExt cx="5204053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520405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259205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 : 검색과 추천의 결합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202138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Amazon에서 중요한 요소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428750"/>
            <a:chOff x="571500" y="1428750"/>
            <a:chExt cx="86106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7145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1796" y="1806892"/>
              <a:ext cx="64440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원칙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" y="2210276"/>
              <a:ext cx="4443524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Amazon에서는 “좋은 상품”도 중요하지만,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6963" y="2543651"/>
              <a:ext cx="4776949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검색되고 비교되고 신뢰받는 상품정보가 중요함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048000"/>
            <a:ext cx="8610600" cy="3619500"/>
            <a:chOff x="571500" y="3048000"/>
            <a:chExt cx="8610600" cy="3619500"/>
          </a:xfrm>
        </p:grpSpPr>
        <p:sp>
          <p:nvSpPr>
            <p:cNvPr id="13" name="Rectangle 13"/>
            <p:cNvSpPr/>
            <p:nvPr/>
          </p:nvSpPr>
          <p:spPr>
            <a:xfrm>
              <a:off x="571500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81050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75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0249" y="3325654"/>
              <a:ext cx="92974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검색 키워드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005" y="3790950"/>
              <a:ext cx="16062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의도에 부합하는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005" y="4124325"/>
              <a:ext cx="14394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정밀 키워드 최적화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71775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81325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00033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30524" y="3325654"/>
              <a:ext cx="92974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상품명 구조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02280" y="3790950"/>
              <a:ext cx="151483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명확한 브랜드·스펙·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2280" y="4124325"/>
              <a:ext cx="14394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특장점 가독성 설계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72050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181600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0030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0799" y="3325654"/>
              <a:ext cx="116057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리뷰 수와 평점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02555" y="3790950"/>
              <a:ext cx="149239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초기 사회적 증거 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2555" y="4124325"/>
              <a:ext cx="12727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신뢰도 구축 관리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81850" y="3048000"/>
              <a:ext cx="20002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391400" y="3257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010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0599" y="3325654"/>
              <a:ext cx="755015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 속도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2355" y="3790950"/>
              <a:ext cx="113550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FBA 등을 통한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2355" y="4124325"/>
              <a:ext cx="167032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신속·정확한 물류 배송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81050" y="5162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9758" y="5271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30249" y="5230654"/>
              <a:ext cx="92974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가격 경쟁력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005" y="5695950"/>
              <a:ext cx="16062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경쟁상품 대비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2005" y="6029325"/>
              <a:ext cx="160620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합리적 가격 포지셔닝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052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714750" y="5162550"/>
              <a:ext cx="342900" cy="3429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33458" y="5271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B4535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63949" y="5230654"/>
              <a:ext cx="755015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광고 운영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35705" y="5695950"/>
              <a:ext cx="12727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스폰서드 광고 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35705" y="6029325"/>
              <a:ext cx="18258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효율적 유료 트래픽 확보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648450" y="5162550"/>
              <a:ext cx="342900" cy="3429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67158" y="5271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DA796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7649" y="5230654"/>
              <a:ext cx="69890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반품정책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9405" y="5695950"/>
              <a:ext cx="18258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명확하고 안심할 수 있는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9405" y="6029325"/>
              <a:ext cx="200375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반품·교환 프로세스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16172" cy="784860"/>
            <a:chOff x="558546" y="372428"/>
            <a:chExt cx="5216172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260327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Shopify : 독립몰과 AI 운영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8610600" cy="1524000"/>
            <a:chOff x="571500" y="1333500"/>
            <a:chExt cx="8610600" cy="15240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2507" y="1711642"/>
              <a:ext cx="79348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 정의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582" y="2106930"/>
              <a:ext cx="564096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판매자가 자기 브랜드몰을 만들 수 있게 해주는 플랫폼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3048000"/>
            <a:ext cx="8610600" cy="3714750"/>
            <a:chOff x="571500" y="3048000"/>
            <a:chExt cx="8610600" cy="3714750"/>
          </a:xfrm>
        </p:grpSpPr>
        <p:sp>
          <p:nvSpPr>
            <p:cNvPr id="11" name="Rectangle 11"/>
            <p:cNvSpPr/>
            <p:nvPr/>
          </p:nvSpPr>
          <p:spPr>
            <a:xfrm>
              <a:off x="571500" y="3048000"/>
              <a:ext cx="4152900" cy="371475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314575" y="3286125"/>
              <a:ext cx="666750" cy="66675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74214" y="345567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68277" y="4091940"/>
              <a:ext cx="13593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Amazon 방식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04875" y="4619625"/>
              <a:ext cx="3486150" cy="952500"/>
            </a:xfrm>
            <a:prstGeom prst="roundRect">
              <a:avLst>
                <a:gd name="adj" fmla="val 12000"/>
              </a:avLst>
            </a:prstGeom>
            <a:solidFill>
              <a:srgbClr val="FDF6F4"/>
            </a:solidFill>
            <a:ln w="9525">
              <a:solidFill>
                <a:srgbClr val="E8DDD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74926" y="4870132"/>
              <a:ext cx="194604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거대한 오픈마켓 안에서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70067" y="5174932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경쟁하는 방식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9749" y="5783104"/>
              <a:ext cx="325986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수많은 경쟁 상품과의 가격·키워드 경쟁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749" y="6164104"/>
              <a:ext cx="226279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rgbClr val="33332F"/>
                </a:buClr>
                <a:buSzTx/>
                <a:buFontTx/>
                <a:buChar char="•"/>
              </a:pPr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플랫폼 트래픽 의존도 높음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29200" y="3048000"/>
              <a:ext cx="4152900" cy="3714750"/>
            </a:xfrm>
            <a:prstGeom prst="roundRect">
              <a:avLst>
                <a:gd name="adj" fmla="val 4615"/>
              </a:avLst>
            </a:prstGeom>
            <a:solidFill>
              <a:srgbClr val="FEF7E6"/>
            </a:solidFill>
            <a:ln w="23812">
              <a:solidFill>
                <a:srgbClr val="F8DA9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772275" y="3286125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31914" y="345567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1625" y="4091940"/>
              <a:ext cx="13080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Shopify 방식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62575" y="4619625"/>
              <a:ext cx="348615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F8DA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1256" y="4870132"/>
              <a:ext cx="212878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자신만의 독자적인 매장을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784" y="5174932"/>
              <a:ext cx="177773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구축하는 방식 (D2C)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7449" y="5783104"/>
              <a:ext cx="3138360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9089" indent="-179089" algn="l">
                <a:buClr>
                  <a:srgbClr val="4B4535"/>
                </a:buClr>
                <a:buSzTx/>
                <a:buFontTx/>
                <a:buChar char="•"/>
              </a:pPr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고유한 브랜드 가치 및 고객 경험 전달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7449" y="6164104"/>
              <a:ext cx="3074240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9089" indent="-179089" algn="l">
                <a:buClr>
                  <a:srgbClr val="4B4535"/>
                </a:buClr>
                <a:buSzTx/>
                <a:buFontTx/>
                <a:buChar char="•"/>
              </a:pPr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자체 고객 데이터 확보 및 CRM 구축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5216172" cy="970597"/>
            <a:chOff x="558546" y="315278"/>
            <a:chExt cx="5216172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238546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Shopify : 독립몰과 AI 운영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9650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활용 영역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381125"/>
            <a:chOff x="571500" y="1428750"/>
            <a:chExt cx="8610600" cy="1381125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6687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3922" y="1759268"/>
              <a:ext cx="99065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핵심 운영 철학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170748"/>
              <a:ext cx="39353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Shopify형 커머스에서는 단순 판매보다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7344" y="2475548"/>
              <a:ext cx="409246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브랜드 스토리, 고객관계, 재구매가 중요함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000375"/>
            <a:ext cx="8610600" cy="3667125"/>
            <a:chOff x="571500" y="3000375"/>
            <a:chExt cx="8610600" cy="3667125"/>
          </a:xfrm>
        </p:grpSpPr>
        <p:sp>
          <p:nvSpPr>
            <p:cNvPr id="13" name="Rectangle 13"/>
            <p:cNvSpPr/>
            <p:nvPr/>
          </p:nvSpPr>
          <p:spPr>
            <a:xfrm>
              <a:off x="5715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15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✍️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118" y="3317558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 설명 작성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3830479"/>
              <a:ext cx="135133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기반 매력적인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24" y="4163854"/>
              <a:ext cx="203421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브랜드 스토리 카피라이팅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52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✉️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818" y="3317558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이메일 마케팅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3830479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개인화된 뉴스레터 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5324" y="4163854"/>
              <a:ext cx="191558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구매 유도 이메일 자동화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389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579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2518" y="3317558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세분화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3830479"/>
              <a:ext cx="133530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행동 데이터 기반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9024" y="4163854"/>
              <a:ext cx="174086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정밀 고객 타깃팅 분류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🏷️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5118" y="5222558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할인 캠페인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5735479"/>
              <a:ext cx="163826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기반 동적 할인 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624" y="6068854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프로모션 시점 최적화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052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7242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252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8818" y="5222558"/>
              <a:ext cx="10547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FAQ 자동화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5735479"/>
              <a:ext cx="1784143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24/7 글로벌 고객 문의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5324" y="6068854"/>
              <a:ext cx="174086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실시간 챗봇 자동 응대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57975" y="5124450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89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2518" y="5222558"/>
              <a:ext cx="13978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재구매 유도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5735479"/>
              <a:ext cx="197169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개인 맞춤 리오더 제안 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9024" y="6068854"/>
              <a:ext cx="174086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충성 고객 리텐션 강화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16172" cy="784860"/>
            <a:chOff x="558546" y="372428"/>
            <a:chExt cx="5216172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9477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TikTok Shop : 콘텐츠가 매장이 되는 구조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333500"/>
            <a:ext cx="8610600" cy="1905000"/>
            <a:chOff x="571500" y="1333500"/>
            <a:chExt cx="8610600" cy="19050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9050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2507" y="1711642"/>
              <a:ext cx="79348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커머스 유형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582" y="2106930"/>
              <a:ext cx="301524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콘텐츠형 커머스의 대표 사례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599372"/>
              <a:ext cx="373820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고객이 상품을 검색해서 들어오기보다,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7344" y="2932748"/>
              <a:ext cx="330539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영상을 보다가 흥미를 느끼고 구매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476625"/>
            <a:ext cx="8610600" cy="3381375"/>
            <a:chOff x="571500" y="3476625"/>
            <a:chExt cx="8610600" cy="3381375"/>
          </a:xfrm>
        </p:grpSpPr>
        <p:sp>
          <p:nvSpPr>
            <p:cNvPr id="13" name="Rectangle 13"/>
            <p:cNvSpPr/>
            <p:nvPr/>
          </p:nvSpPr>
          <p:spPr>
            <a:xfrm>
              <a:off x="571500" y="3476625"/>
              <a:ext cx="8610600" cy="3381375"/>
            </a:xfrm>
            <a:prstGeom prst="roundRect">
              <a:avLst>
                <a:gd name="adj" fmla="val 5634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4856" y="3710940"/>
              <a:ext cx="44948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콘텐츠 기반 즉시 구매 여정 (Impulse Journey)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4238625"/>
              <a:ext cx="2333625" cy="2238375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828800" y="4429125"/>
              <a:ext cx="571500" cy="5715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73390" y="45996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7011" y="5155882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숏폼 영상 시청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250" y="5600700"/>
              <a:ext cx="13865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알고리즘 피드에서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28089" y="5934075"/>
              <a:ext cx="177292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자연스러운 콘텐츠 노출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18332" y="515493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14750" y="4238625"/>
              <a:ext cx="2333625" cy="2238375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591050" y="4429125"/>
              <a:ext cx="571500" cy="571500"/>
            </a:xfrm>
            <a:prstGeom prst="ellipse">
              <a:avLst/>
            </a:prstGeom>
            <a:solidFill>
              <a:srgbClr val="FDF6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35640" y="45996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63463" y="5155882"/>
              <a:ext cx="142667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흥미 &amp; 공감 유발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3958" y="5600700"/>
              <a:ext cx="13256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사용 상황 공감 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40408" y="5934075"/>
              <a:ext cx="127278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시각적 효능 체험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0582" y="515493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756E5F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4238625"/>
              <a:ext cx="2333625" cy="2238375"/>
            </a:xfrm>
            <a:prstGeom prst="roundRect">
              <a:avLst>
                <a:gd name="adj" fmla="val 680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353300" y="4429125"/>
              <a:ext cx="571500" cy="5715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7890" y="45996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🛍️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40140" y="5155882"/>
              <a:ext cx="13978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원클릭 인앱 구매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69370" y="5600700"/>
              <a:ext cx="93936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앱 이탈 없이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9496" y="5934075"/>
              <a:ext cx="165910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영상 내에서 즉시 결제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5216172" cy="970597"/>
            <a:chOff x="558546" y="315278"/>
            <a:chExt cx="5216172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6304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TikTok Shop : 콘텐츠가 매장이 되는 구조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170399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TikTok Shop의 특징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428750"/>
            <a:ext cx="8610600" cy="1428750"/>
            <a:chOff x="571500" y="1428750"/>
            <a:chExt cx="86106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9249" y="1639729"/>
              <a:ext cx="2229778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3초의 법칙 &amp; 매장의 재정의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725" y="2035969"/>
              <a:ext cx="7332135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TikTok Shop에서는 상품페이지보다 처음 3초의 관심 유도가 중요할 수 있음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408872"/>
              <a:ext cx="368851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(이제 콘텐츠는 광고가 아니라 매장임)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3048000"/>
            <a:ext cx="8610600" cy="3619500"/>
            <a:chOff x="571500" y="3048000"/>
            <a:chExt cx="8610600" cy="3619500"/>
          </a:xfrm>
        </p:grpSpPr>
        <p:sp>
          <p:nvSpPr>
            <p:cNvPr id="12" name="Rectangle 12"/>
            <p:cNvSpPr/>
            <p:nvPr/>
          </p:nvSpPr>
          <p:spPr>
            <a:xfrm>
              <a:off x="571500" y="3048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90575" y="3267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154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5118" y="3365182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숏폼 영상 중심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1624" y="3878104"/>
              <a:ext cx="133530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짧고 몰입도 높은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4211479"/>
              <a:ext cx="145392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비주얼 스토리텔링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05200" y="3048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24275" y="3267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2524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8818" y="3365182"/>
              <a:ext cx="15212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크리에이터 영향력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35324" y="3878104"/>
              <a:ext cx="180337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신뢰받는 인플루언서의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4211479"/>
              <a:ext cx="133530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생생한 사용 후기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38900" y="3048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657975" y="3267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894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2518" y="3365182"/>
              <a:ext cx="13385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충동구매 가능성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9024" y="3878104"/>
              <a:ext cx="191558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감정적 즉시 자극을 통한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4211479"/>
              <a:ext cx="116057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빠른 구매 전환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90575" y="5172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1540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5118" y="5270182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실시간 반응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624" y="5783104"/>
              <a:ext cx="151002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시청자 인터랙션 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6116479"/>
              <a:ext cx="151002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즉각적인 반응 측정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5052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724275" y="5172075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25240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58818" y="5270182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댓글/리뷰 확산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35324" y="5783104"/>
              <a:ext cx="116057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바이럴 댓글 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6116479"/>
              <a:ext cx="191558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사용자 생성 콘텐츠 확산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38900" y="4953000"/>
              <a:ext cx="27432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57975" y="5172075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58940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92518" y="5270182"/>
              <a:ext cx="15212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라이브커머스 연계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9024" y="5783104"/>
              <a:ext cx="151002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실시간 방송을 통한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6116479"/>
              <a:ext cx="133530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대규모 판매 유도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216172" cy="784860"/>
            <a:chOff x="558546" y="372428"/>
            <a:chExt cx="5216172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3727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333500"/>
            <a:ext cx="8610600" cy="1524000"/>
            <a:chOff x="571500" y="1333500"/>
            <a:chExt cx="8610600" cy="15240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619250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2610" y="1711642"/>
              <a:ext cx="116378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쇼핑 에이전트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344" y="2123122"/>
              <a:ext cx="477534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쇼핑 에이전트는 고객이 원하는 조건을 말하면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456498"/>
              <a:ext cx="488915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상품을 비교하고 추천하는 방식으로 발전하고 있음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3048000"/>
            <a:ext cx="8610600" cy="3810000"/>
            <a:chOff x="571500" y="3048000"/>
            <a:chExt cx="8610600" cy="3810000"/>
          </a:xfrm>
        </p:grpSpPr>
        <p:sp>
          <p:nvSpPr>
            <p:cNvPr id="12" name="Rectangle 12"/>
            <p:cNvSpPr/>
            <p:nvPr/>
          </p:nvSpPr>
          <p:spPr>
            <a:xfrm>
              <a:off x="571500" y="3048000"/>
              <a:ext cx="8610600" cy="3810000"/>
            </a:xfrm>
            <a:prstGeom prst="roundRect">
              <a:avLst>
                <a:gd name="adj" fmla="val 5000"/>
              </a:avLst>
            </a:prstGeom>
            <a:solidFill>
              <a:srgbClr val="FEF7E6"/>
            </a:solidFill>
            <a:ln w="19050">
              <a:solidFill>
                <a:srgbClr val="F8DA9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118" y="3298508"/>
              <a:ext cx="26128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실제 대화형 상품 추천 시나리오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52500" y="3714750"/>
              <a:ext cx="78486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23950" y="3933825"/>
              <a:ext cx="419100" cy="419100"/>
            </a:xfrm>
            <a:prstGeom prst="ellipse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3765" y="407384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User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5356" y="3949065"/>
              <a:ext cx="9361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고객 발화: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4594" y="4313872"/>
              <a:ext cx="674704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“50달러 이하의 여행용 보조가방 추천해줘. 가볍고 방수되면 좋겠어.”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5048250"/>
              <a:ext cx="7848600" cy="1571625"/>
            </a:xfrm>
            <a:prstGeom prst="roundRect">
              <a:avLst>
                <a:gd name="adj" fmla="val 9697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23950" y="5314950"/>
              <a:ext cx="419100" cy="419100"/>
            </a:xfrm>
            <a:prstGeom prst="ellipse">
              <a:avLst/>
            </a:prstGeom>
            <a:solidFill>
              <a:srgbClr val="EDA79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40951" y="5454968"/>
              <a:ext cx="185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5356" y="5282565"/>
              <a:ext cx="2289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에이전트의 작동 방식: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4975" y="5655469"/>
              <a:ext cx="5390899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AI는 여러 상품의 스펙·가격·리뷰 데이터를 실시간 비교해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4975" y="6036469"/>
              <a:ext cx="4639090" cy="289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가장 적합한 상품을 조건별로 비교 추천할 수 있음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5216172" cy="970597"/>
            <a:chOff x="558546" y="315278"/>
            <a:chExt cx="5216172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1002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190436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 쇼핑 시대의 준비 요소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428750"/>
            <a:chOff x="571500" y="1428750"/>
            <a:chExt cx="86106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8677" y="1759268"/>
              <a:ext cx="10916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패러다임의 변화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123122"/>
              <a:ext cx="633859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앞으로는 고객뿐 아니라 </a:t>
              </a:r>
              <a:r>
                <a:rPr lang="ko-KR" sz="19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AI도 내 상품을 이해해야 하는 시대</a:t>
              </a:r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 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2472690"/>
              <a:ext cx="62388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상품정보는 사람이 읽기 좋아야 하고, 동시에 AI가 해석하기 쉬워야 함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000375"/>
            <a:ext cx="8610600" cy="3667125"/>
            <a:chOff x="571500" y="3000375"/>
            <a:chExt cx="8610600" cy="3667125"/>
          </a:xfrm>
        </p:grpSpPr>
        <p:sp>
          <p:nvSpPr>
            <p:cNvPr id="13" name="Rectangle 13"/>
            <p:cNvSpPr/>
            <p:nvPr/>
          </p:nvSpPr>
          <p:spPr>
            <a:xfrm>
              <a:off x="5715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15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118" y="3317558"/>
              <a:ext cx="15212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상품정보의 명확성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3830479"/>
              <a:ext cx="156613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모호하지 않은 규격,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24" y="4163854"/>
              <a:ext cx="197169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정확한 소재 및 용도 명시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52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818" y="3317558"/>
              <a:ext cx="121507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사용 상황 설명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3830479"/>
              <a:ext cx="179696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언제, 어디서, 누구에게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5324" y="4163854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필요한지 구체적 기술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389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579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⚖️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2518" y="3317558"/>
              <a:ext cx="158056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장점/한계의 구체성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3830479"/>
              <a:ext cx="1859483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장점뿐 아니라 적합하지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9024" y="4163854"/>
              <a:ext cx="191558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않은 조건도 솔직히 기술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6974" y="52387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5118" y="5222558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리뷰의 신뢰성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5735479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실제 구매자의 생생한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624" y="6068854"/>
              <a:ext cx="156613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평가 및 피드백 축적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052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7242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252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8818" y="5222558"/>
              <a:ext cx="13978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가격과 배송 조건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5735479"/>
              <a:ext cx="197169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국가별 최종 구매 비용 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5324" y="6068854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 소요기간 투명화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57975" y="5124450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89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2518" y="5222558"/>
              <a:ext cx="147957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FAQ와 비교 정보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5735479"/>
              <a:ext cx="139140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자주 묻는 질문 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9024" y="6068854"/>
              <a:ext cx="174086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타사 대비 차별점 정리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5216172" cy="970597"/>
            <a:chOff x="558546" y="315278"/>
            <a:chExt cx="5216172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1002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24702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Shopee : 동남아 모바일 커머스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428750"/>
            <a:ext cx="8610600" cy="1524000"/>
            <a:chOff x="571500" y="1428750"/>
            <a:chExt cx="86106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714500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44632" y="1806892"/>
              <a:ext cx="113973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지역 플랫폼 특성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582" y="2202180"/>
              <a:ext cx="432810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동남아 시장에서 강한 모바일 중심 플랫폼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3118" y="3108008"/>
            <a:ext cx="8618982" cy="3654742"/>
            <a:chOff x="563118" y="3108008"/>
            <a:chExt cx="8618982" cy="3654742"/>
          </a:xfrm>
        </p:grpSpPr>
        <p:sp>
          <p:nvSpPr>
            <p:cNvPr id="12" name="TextBox 12"/>
            <p:cNvSpPr txBox="1"/>
            <p:nvPr/>
          </p:nvSpPr>
          <p:spPr>
            <a:xfrm>
              <a:off x="563118" y="3108008"/>
              <a:ext cx="355385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Shopee 커머스를 움직이는 5대 핵심 동력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71500" y="3524250"/>
              <a:ext cx="8610600" cy="3238500"/>
              <a:chOff x="571500" y="3524250"/>
              <a:chExt cx="8610600" cy="3238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1049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412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💰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88857" y="4489132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가격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8564" y="502920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현지 소득 수준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1656" y="5362575"/>
                <a:ext cx="121988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맞춤형 초가성비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1725" y="5695950"/>
                <a:ext cx="71974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가격 정책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3241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28575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9938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🎟️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941457" y="4489132"/>
                <a:ext cx="36548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쿠폰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80970" y="5029200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플랫폼 차원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80970" y="53625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대규모 할인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680970" y="5695950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바우처 활용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0767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6101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464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🚚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11315" y="4489132"/>
                <a:ext cx="73096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무료배송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350213" y="5029200"/>
                <a:ext cx="105317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무료배송 쿠폰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33570" y="5362575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연계를 통한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323764" y="5695950"/>
                <a:ext cx="110607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구매 장벽 제거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8293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362700" y="3733800"/>
                <a:ext cx="533400" cy="533400"/>
              </a:xfrm>
              <a:prstGeom prst="ellipse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4990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📱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142889" y="4489132"/>
                <a:ext cx="97302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모바일 결제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21060" y="5029200"/>
                <a:ext cx="121667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ShopeePay 등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02814" y="5362575"/>
                <a:ext cx="1053173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간편 전자지갑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86170" y="5695950"/>
                <a:ext cx="8864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결제 생태계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581900" y="3524250"/>
                <a:ext cx="1600200" cy="323850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9050">
                <a:solidFill>
                  <a:srgbClr val="EDA796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115300" y="3733800"/>
                <a:ext cx="533400" cy="533400"/>
              </a:xfrm>
              <a:prstGeom prst="ellipse">
                <a:avLst/>
              </a:prstGeom>
              <a:solidFill>
                <a:srgbClr val="FBEEEC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251698" y="388239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📹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107887" y="4489132"/>
                <a:ext cx="54822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EDA796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라이브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732784" y="5029200"/>
                <a:ext cx="129843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Shopee Live를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745608" y="5362575"/>
                <a:ext cx="127278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통한 실시간 소통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912320" y="5695950"/>
                <a:ext cx="93936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및 즉시 판매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8546" y="315278"/>
            <a:ext cx="5216172" cy="970597"/>
            <a:chOff x="558546" y="315278"/>
            <a:chExt cx="5216172" cy="970597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15278"/>
              <a:ext cx="521617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사례 분석: 글로벌 AI 커머스의 주요 사례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3118" y="717232"/>
              <a:ext cx="31002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ChatGPT형 쇼핑 : 대화형 상품 탐색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000125"/>
              <a:ext cx="19668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Shopee에서 중요한 요소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257300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8610600" cy="1428750"/>
            <a:chOff x="571500" y="1428750"/>
            <a:chExt cx="86106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8610600" cy="14287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43216" y="1759268"/>
              <a:ext cx="94256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국가별 다양성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344" y="2123122"/>
              <a:ext cx="302005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커머스는 국가마다 다름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2472690"/>
              <a:ext cx="54309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(미국 고객, 일본 고객, 동남아 고객은 같은 상품도 다르게 봄)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000375"/>
            <a:ext cx="8610600" cy="3667125"/>
            <a:chOff x="571500" y="3000375"/>
            <a:chExt cx="8610600" cy="3667125"/>
          </a:xfrm>
        </p:grpSpPr>
        <p:sp>
          <p:nvSpPr>
            <p:cNvPr id="13" name="Rectangle 13"/>
            <p:cNvSpPr/>
            <p:nvPr/>
          </p:nvSpPr>
          <p:spPr>
            <a:xfrm>
              <a:off x="5715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15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118" y="3317558"/>
              <a:ext cx="9730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가격 경쟁력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624" y="3830479"/>
              <a:ext cx="133530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현지 시장 맞춤형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624" y="4163854"/>
              <a:ext cx="174086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가성비 중심 가격 책정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242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252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818" y="331755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배송비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5324" y="3830479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국가별 물류비 최적화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5324" y="4163854"/>
              <a:ext cx="1566134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및 배송비 지원 전략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38900" y="3000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657975" y="3219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0" y="3333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🎟️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2518" y="3317558"/>
              <a:ext cx="13385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쿠폰과 프로모션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9024" y="3830479"/>
              <a:ext cx="201818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메가 세일(9.9, 11.11 등)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9024" y="4163854"/>
              <a:ext cx="151002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프로모션 적극 참여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905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5118" y="5222558"/>
              <a:ext cx="11557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모바일 친화성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24" y="5735479"/>
              <a:ext cx="151002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모바일 화면 최적화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624" y="6068854"/>
              <a:ext cx="1740861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이미지 및 텍스트 구성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052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724275" y="51244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252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58818" y="5222558"/>
              <a:ext cx="109645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라이브커머스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35324" y="5735479"/>
              <a:ext cx="1684757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현지 인플루언서 연계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5324" y="6068854"/>
              <a:ext cx="1335302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33332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라이브 방송 활용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4905375"/>
              <a:ext cx="2743200" cy="1762125"/>
            </a:xfrm>
            <a:prstGeom prst="roundRect">
              <a:avLst>
                <a:gd name="adj" fmla="val 8649"/>
              </a:avLst>
            </a:prstGeom>
            <a:solidFill>
              <a:srgbClr val="FFFFFF"/>
            </a:solidFill>
            <a:ln w="19050">
              <a:solidFill>
                <a:srgbClr val="EDA79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657975" y="5124450"/>
              <a:ext cx="419100" cy="41910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8940" y="5238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2518" y="5222558"/>
              <a:ext cx="13978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현지 언어와 문화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9024" y="5735479"/>
              <a:ext cx="141384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국가별 종교·문화·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9024" y="6068854"/>
              <a:ext cx="151002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언어 맞춤형 현지화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0668000" cy="7810500"/>
            <a:chOff x="0" y="0"/>
            <a:chExt cx="10668000" cy="7810500"/>
          </a:xfrm>
        </p:grpSpPr>
        <p:sp>
          <p:nvSpPr>
            <p:cNvPr id="2" name="Ellipse 2"/>
            <p:cNvSpPr/>
            <p:nvPr/>
          </p:nvSpPr>
          <p:spPr>
            <a:xfrm>
              <a:off x="6858000" y="0"/>
              <a:ext cx="3048000" cy="3048000"/>
            </a:xfrm>
            <a:prstGeom prst="ellipse">
              <a:avLst/>
            </a:prstGeom>
            <a:solidFill>
              <a:srgbClr val="FEF7E6">
                <a:alpha val="80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6858000" y="4000500"/>
              <a:ext cx="3810000" cy="3810000"/>
            </a:xfrm>
            <a:prstGeom prst="ellipse">
              <a:avLst/>
            </a:prstGeom>
            <a:solidFill>
              <a:srgbClr val="FBEEEC">
                <a:alpha val="7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5143500"/>
              <a:ext cx="2286000" cy="2286000"/>
            </a:xfrm>
            <a:prstGeom prst="ellipse">
              <a:avLst/>
            </a:prstGeom>
            <a:solidFill>
              <a:srgbClr val="FEF7E6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8229600" cy="4648200"/>
            <a:chOff x="762000" y="1333500"/>
            <a:chExt cx="8229600" cy="46482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8229600" cy="4648200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33500"/>
              <a:ext cx="8229600" cy="114300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5056" y="2114550"/>
              <a:ext cx="119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CHAPTER 04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0546" y="2820352"/>
              <a:ext cx="582691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3619500"/>
              <a:ext cx="7086600" cy="952500"/>
            </a:xfrm>
            <a:prstGeom prst="roundRect">
              <a:avLst>
                <a:gd name="adj" fmla="val 16000"/>
              </a:avLst>
            </a:prstGeom>
            <a:solidFill>
              <a:srgbClr val="FDF6F4"/>
            </a:solidFill>
            <a:ln w="14288">
              <a:solidFill>
                <a:srgbClr val="E8DDD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487" y="4004786"/>
              <a:ext cx="5304337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15주 분석 과제 아이템 발굴, 예시 탐색 및 실습 워크시트 작성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5143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14288">
              <a:solidFill>
                <a:srgbClr val="E8DDD7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5118" y="5346382"/>
              <a:ext cx="20792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AI 커머스 | 1주차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826916" cy="784860"/>
            <a:chOff x="558546" y="372428"/>
            <a:chExt cx="5826916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82691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1268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나의 글로벌 AI 커머스 아이템 찾기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333500"/>
            <a:ext cx="8610600" cy="1333500"/>
            <a:chOff x="571500" y="1333500"/>
            <a:chExt cx="8610600" cy="1333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1333500"/>
            </a:xfrm>
            <a:prstGeom prst="roundRect">
              <a:avLst>
                <a:gd name="adj" fmla="val 12857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571625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2281" y="1664018"/>
              <a:ext cx="103393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15주 실습 과제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6963" y="2067401"/>
              <a:ext cx="5802871" cy="3108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0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앞으로 15주 동안 분석할 상품 또는 서비스를 하나 선정함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3118" y="2822258"/>
            <a:ext cx="8618982" cy="3892867"/>
            <a:chOff x="563118" y="2822258"/>
            <a:chExt cx="8618982" cy="3892867"/>
          </a:xfrm>
        </p:grpSpPr>
        <p:sp>
          <p:nvSpPr>
            <p:cNvPr id="11" name="TextBox 11"/>
            <p:cNvSpPr txBox="1"/>
            <p:nvPr/>
          </p:nvSpPr>
          <p:spPr>
            <a:xfrm>
              <a:off x="563118" y="2822258"/>
              <a:ext cx="26305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다음 중 하나를 선택 (선택 기준)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71500" y="3190875"/>
              <a:ext cx="8610600" cy="3524250"/>
              <a:chOff x="571500" y="3190875"/>
              <a:chExt cx="8610600" cy="3524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319087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81050" y="341947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4774" y="352139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77493" y="3489008"/>
                <a:ext cx="200535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실제 판매하고 싶은 상품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029200" y="319087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5238750" y="341947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312474" y="352139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735193" y="3489008"/>
                <a:ext cx="163987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현재 관심 있는 상품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571500" y="4095750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81050" y="4324350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54774" y="44262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7493" y="4393882"/>
                <a:ext cx="163987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내가 잘 아는 상품군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029200" y="4095750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238750" y="4324350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312474" y="44262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735193" y="4393882"/>
                <a:ext cx="200535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한국적 특성이 있는 상품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71500" y="500062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781050" y="522922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54774" y="533114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77493" y="5298758"/>
                <a:ext cx="255358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온라인으로 판매 가능한 서비스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029200" y="5000625"/>
                <a:ext cx="41529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FFFFF"/>
              </a:solidFill>
              <a:ln w="14288">
                <a:solidFill>
                  <a:srgbClr val="E8DDD7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238750" y="5229225"/>
                <a:ext cx="342900" cy="342900"/>
              </a:xfrm>
              <a:prstGeom prst="ellipse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312474" y="5331142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35193" y="5298758"/>
                <a:ext cx="218810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디지털 콘텐츠 또는 템플릿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571500" y="5905500"/>
                <a:ext cx="8610600" cy="809625"/>
              </a:xfrm>
              <a:prstGeom prst="roundRect">
                <a:avLst>
                  <a:gd name="adj" fmla="val 16471"/>
                </a:avLst>
              </a:prstGeom>
              <a:solidFill>
                <a:srgbClr val="FEF7E6"/>
              </a:solidFill>
              <a:ln w="19050">
                <a:solidFill>
                  <a:srgbClr val="F8DA92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81050" y="6134100"/>
                <a:ext cx="342900" cy="342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54774" y="623601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4B4535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77493" y="6203632"/>
                <a:ext cx="439383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창업 아이디어 수준의 상품 (초기 단계 아이템도 가능)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826916" cy="784860"/>
            <a:chOff x="558546" y="372428"/>
            <a:chExt cx="5826916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82691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예시 상품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71500" y="1428750"/>
            <a:ext cx="8652258" cy="5381625"/>
            <a:chOff x="571500" y="1428750"/>
            <a:chExt cx="8652258" cy="5381625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9625" y="1666875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8307" y="18030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9606" y="1786890"/>
              <a:ext cx="6412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K-뷰티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737" y="2337911"/>
              <a:ext cx="2975173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마스크팩, 선크림, 저자극 스킨케어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499" y="2687479"/>
              <a:ext cx="3537828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인지도 및 수요가 가장 높은 대표 품목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29200" y="142875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267325" y="1666875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386006" y="18030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77306" y="1786890"/>
              <a:ext cx="3975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식품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01437" y="2337911"/>
              <a:ext cx="2212144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김부각, 전통차, 건강 간식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2199" y="2687479"/>
              <a:ext cx="3270126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K-Food 트렌드 및 고유한 맛과 건강 가치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286125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09625" y="3524250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307" y="3660458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9606" y="3644265"/>
              <a:ext cx="7950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생활용품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3737" y="4195286"/>
              <a:ext cx="2341988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텀블러, 주방용품, 수납용품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499" y="4544854"/>
              <a:ext cx="3188373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우수한 품질, 실용적 디자인, 일상 필수재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3286125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67325" y="3524250"/>
              <a:ext cx="476250" cy="47625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86006" y="3660458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77306" y="3644265"/>
              <a:ext cx="7950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반려동물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1437" y="4195286"/>
              <a:ext cx="2151230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강아지 의류, 펫케어 용품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2199" y="4544854"/>
              <a:ext cx="3250890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반려동물 프리미엄 케어 시장의 빠른 성장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514350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8DDD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09625" y="5381625"/>
              <a:ext cx="476250" cy="47625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307" y="55178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9606" y="5501640"/>
              <a:ext cx="3975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캠핑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3737" y="6052661"/>
              <a:ext cx="2341988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캠핑 소품, 차량용 정리용품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499" y="6402229"/>
              <a:ext cx="3132268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감성 캠핑 소품 및 아웃도어 편의 아이템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29200" y="5143500"/>
              <a:ext cx="4152900" cy="1666875"/>
            </a:xfrm>
            <a:prstGeom prst="roundRect">
              <a:avLst>
                <a:gd name="adj" fmla="val 10286"/>
              </a:avLst>
            </a:prstGeom>
            <a:solidFill>
              <a:srgbClr val="FFFFFF"/>
            </a:solidFill>
            <a:ln w="14288">
              <a:solidFill>
                <a:srgbClr val="EDA79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267325" y="5381625"/>
              <a:ext cx="476250" cy="476250"/>
            </a:xfrm>
            <a:prstGeom prst="ellipse">
              <a:avLst/>
            </a:prstGeom>
            <a:solidFill>
              <a:srgbClr val="FBEEE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86006" y="55178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77306" y="5501640"/>
              <a:ext cx="3975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패션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01437" y="6052661"/>
              <a:ext cx="1899559" cy="264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72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기능성 의류, 액세서리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02199" y="6402229"/>
              <a:ext cx="382155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80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K-Fashion 트렌드 및 기능성 라이프스타일 웨어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826916" cy="784860"/>
            <a:chOff x="558546" y="372428"/>
            <a:chExt cx="5826916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82691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 워크시트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1333500"/>
            <a:ext cx="8610600" cy="5476875"/>
            <a:chOff x="571500" y="1333500"/>
            <a:chExt cx="8610600" cy="547687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5476875"/>
            </a:xfrm>
            <a:prstGeom prst="roundRect">
              <a:avLst>
                <a:gd name="adj" fmla="val 313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8610600" cy="476250"/>
            </a:xfrm>
            <a:prstGeom prst="roundRect">
              <a:avLst>
                <a:gd name="adj" fmla="val 36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86106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5118" y="14601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항목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5618" y="1460182"/>
              <a:ext cx="153888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작성 내용 (가이드)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71500" y="1809750"/>
              <a:ext cx="8610600" cy="5000625"/>
              <a:chOff x="571500" y="1809750"/>
              <a:chExt cx="8610600" cy="50006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8097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9249" y="2068354"/>
                <a:ext cx="254556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1. 내가 선택한 상품 또는 서비스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4572000" y="192405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754880" y="2066925"/>
                <a:ext cx="259846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[상품/서비스명을 구체적으로 작성]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571500" y="2524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25241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9249" y="2782729"/>
                <a:ext cx="196528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2. 이 상품을 선택한 이유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572000" y="2638425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754880" y="2781300"/>
                <a:ext cx="198451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[선정 배경 및 관심도 작성]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71500" y="3238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71500" y="323850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49249" y="3497104"/>
                <a:ext cx="2720296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3. 해외에서 관심을 가질 만한 고객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572000" y="335280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54880" y="3495675"/>
                <a:ext cx="209833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[목표 타깃 고객군 페르소나]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571500" y="3952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71500" y="395287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49249" y="4211479"/>
                <a:ext cx="2720296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4. 판매해보고 싶은 국가 또는 지역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572000" y="4067175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54880" y="4210050"/>
                <a:ext cx="214321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[미국, 동남아, 일본, 유럽 등]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71500" y="466725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46672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9249" y="4925854"/>
                <a:ext cx="138499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5. 이 상품의 장점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4572000" y="478155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754880" y="4924425"/>
                <a:ext cx="2317942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[차별화 포인트 및 핵심 경쟁력]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71500" y="5381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1500" y="53816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49249" y="5640229"/>
                <a:ext cx="2196114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6. 해외 판매 시 걱정되는 점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4572000" y="5495925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DF6F4"/>
              </a:solidFill>
              <a:ln w="9525">
                <a:solidFill>
                  <a:srgbClr val="E8DDD7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754880" y="5638800"/>
                <a:ext cx="246381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756E5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[물류, 인증, CS, 언어 등 리스크]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571500" y="6096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571500" y="6096000"/>
                <a:ext cx="8610600" cy="714375"/>
              </a:xfrm>
              <a:prstGeom prst="roundRect">
                <a:avLst>
                  <a:gd name="adj" fmla="val 24000"/>
                </a:avLst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571500" y="6096000"/>
                <a:ext cx="8610600" cy="190500"/>
              </a:xfrm>
              <a:prstGeom prst="rect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49249" y="6354604"/>
                <a:ext cx="2341988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7. AI를 활용해보고 싶은 부분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572000" y="6210300"/>
                <a:ext cx="438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14288">
                <a:solidFill>
                  <a:srgbClr val="F8DA9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755261" y="6361271"/>
                <a:ext cx="3901709" cy="218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시장조사 / 번역 / 상품페이지 / 광고 / CS / 리뷰분석 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826916" cy="784860"/>
            <a:chOff x="558546" y="372428"/>
            <a:chExt cx="5826916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82691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 예시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333500"/>
            <a:ext cx="8610600" cy="5476875"/>
            <a:chOff x="571500" y="1333500"/>
            <a:chExt cx="8610600" cy="5476875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8610600" cy="5476875"/>
            </a:xfrm>
            <a:prstGeom prst="roundRect">
              <a:avLst>
                <a:gd name="adj" fmla="val 3130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8610600" cy="476250"/>
            </a:xfrm>
            <a:prstGeom prst="roundRect">
              <a:avLst>
                <a:gd name="adj" fmla="val 36000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8610600" cy="190500"/>
            </a:xfrm>
            <a:prstGeom prst="rect">
              <a:avLst/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5118" y="14601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5618" y="1460182"/>
              <a:ext cx="163987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키워드 및 작성 내용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71500" y="1809750"/>
              <a:ext cx="8610600" cy="5000625"/>
              <a:chOff x="571500" y="1809750"/>
              <a:chExt cx="8610600" cy="50006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8097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9249" y="2068354"/>
                <a:ext cx="34945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상품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039237" y="2052161"/>
                <a:ext cx="1838645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한국 저자극 마스크팩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571500" y="25241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71500" y="25241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49249" y="2782729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선택 이유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39618" y="2774632"/>
                <a:ext cx="574997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K-뷰티에 대한 해외 관심이 높고, 비교적 소형 상품이라 배송이 가능함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571500" y="32385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71500" y="323850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49249" y="3497104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예상 고객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39618" y="3489008"/>
                <a:ext cx="283891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민감성 피부를 가진 20~40대 여성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571500" y="395287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" y="395287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49249" y="4211479"/>
                <a:ext cx="75501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타깃 국가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039237" y="4195286"/>
                <a:ext cx="381515" cy="264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72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미국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71500" y="466725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" y="4667250"/>
                <a:ext cx="8610600" cy="714375"/>
              </a:xfrm>
              <a:prstGeom prst="rect">
                <a:avLst/>
              </a:prstGeom>
              <a:solidFill>
                <a:srgbClr val="FDF6F4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9249" y="4925854"/>
                <a:ext cx="349455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장점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039618" y="4917758"/>
                <a:ext cx="376385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33332F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한국 화장품 이미지, 사용 편의성, 선물 가능성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71500" y="5381625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" y="5381625"/>
                <a:ext cx="8610600" cy="714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9249" y="5640229"/>
                <a:ext cx="929742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걱정되는 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39618" y="5632132"/>
                <a:ext cx="30328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EDA796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인증, 성분표기, 리뷰 부족, 경쟁 심화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571500" y="6096000"/>
                <a:ext cx="861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10600" h="9525">
                    <a:moveTo>
                      <a:pt x="0" y="0"/>
                    </a:moveTo>
                    <a:lnTo>
                      <a:pt x="8610600" y="0"/>
                    </a:lnTo>
                  </a:path>
                </a:pathLst>
              </a:custGeom>
              <a:noFill/>
              <a:ln w="9525">
                <a:solidFill>
                  <a:srgbClr val="E8DDD7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71500" y="6096000"/>
                <a:ext cx="8610600" cy="714375"/>
              </a:xfrm>
              <a:prstGeom prst="roundRect">
                <a:avLst>
                  <a:gd name="adj" fmla="val 24000"/>
                </a:avLst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71500" y="6096000"/>
                <a:ext cx="8610600" cy="190500"/>
              </a:xfrm>
              <a:prstGeom prst="rect">
                <a:avLst/>
              </a:prstGeom>
              <a:solidFill>
                <a:srgbClr val="FEF7E6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49249" y="6354604"/>
                <a:ext cx="607539" cy="2431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8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AI 활용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039618" y="6346508"/>
                <a:ext cx="412933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rgbClr val="4B4535"/>
                    </a:solidFill>
                    <a:latin typeface="Arial"/>
                    <a:ea typeface="Pretendard Variable" panose="02000003000000020004" pitchFamily="2" charset="-127"/>
                    <a:cs typeface="Arial"/>
                  </a:rPr>
                  <a:t>시장조사, 상품명 작성, 영문 상세페이지, 광고문구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8546" y="372428"/>
            <a:ext cx="5826916" cy="784860"/>
            <a:chOff x="558546" y="372428"/>
            <a:chExt cx="5826916" cy="784860"/>
          </a:xfrm>
        </p:grpSpPr>
        <p:sp>
          <p:nvSpPr>
            <p:cNvPr id="2" name="TextBox 2"/>
            <p:cNvSpPr txBox="1"/>
            <p:nvPr/>
          </p:nvSpPr>
          <p:spPr>
            <a:xfrm>
              <a:off x="558546" y="372428"/>
              <a:ext cx="582691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5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실습: 해외에 팔고 싶은 상품 또는 서비스 선정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2356" y="796290"/>
              <a:ext cx="3975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756E5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결언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571500" cy="33338"/>
            </a:xfrm>
            <a:prstGeom prst="roundRect">
              <a:avLst>
                <a:gd name="adj" fmla="val 50000"/>
              </a:avLst>
            </a:prstGeom>
            <a:solidFill>
              <a:srgbClr val="F8DA92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1428750"/>
            <a:ext cx="8610600" cy="5095875"/>
            <a:chOff x="571500" y="1428750"/>
            <a:chExt cx="8610600" cy="5095875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8610600" cy="1571625"/>
            </a:xfrm>
            <a:prstGeom prst="roundRect">
              <a:avLst>
                <a:gd name="adj" fmla="val 10909"/>
              </a:avLst>
            </a:prstGeom>
            <a:solidFill>
              <a:srgbClr val="4B453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647825"/>
              <a:ext cx="419100" cy="419100"/>
            </a:xfrm>
            <a:prstGeom prst="ellipse">
              <a:avLst/>
            </a:prstGeom>
            <a:solidFill>
              <a:srgbClr val="F8DA9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9165" y="17621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71981" y="172974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F8DA92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학습 핵심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594" y="2265998"/>
              <a:ext cx="332943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AI로 고객 이해 및 판매 구조 설계,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594" y="2599372"/>
              <a:ext cx="308898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FFFFFF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신뢰 기반의 글로벌 커머스 구축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3190875"/>
              <a:ext cx="8610600" cy="1571625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9050">
              <a:solidFill>
                <a:srgbClr val="E8DDD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38200" y="3409950"/>
              <a:ext cx="419100" cy="419100"/>
            </a:xfrm>
            <a:prstGeom prst="ellipse">
              <a:avLst/>
            </a:prstGeom>
            <a:solidFill>
              <a:srgbClr val="FEF7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165" y="35242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1981" y="3491865"/>
              <a:ext cx="17376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이번 주 학습 (과제)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2594" y="4028122"/>
              <a:ext cx="243977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해외에 판매할 상품 선정,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594" y="4361498"/>
              <a:ext cx="208550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상품 아이디어 구체화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953000"/>
              <a:ext cx="8610600" cy="1571625"/>
            </a:xfrm>
            <a:prstGeom prst="roundRect">
              <a:avLst>
                <a:gd name="adj" fmla="val 10909"/>
              </a:avLst>
            </a:prstGeom>
            <a:solidFill>
              <a:srgbClr val="FBEEEC"/>
            </a:solidFill>
            <a:ln w="19050">
              <a:solidFill>
                <a:srgbClr val="EDA79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38200" y="5172075"/>
              <a:ext cx="419100" cy="419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165" y="5286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71981" y="5253990"/>
              <a:ext cx="17376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다음 주 학습 (예고)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2594" y="5790248"/>
              <a:ext cx="222336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4B4535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국가별 목표 고객 분석,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2594" y="6123622"/>
              <a:ext cx="237084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EDA796"/>
                  </a:solidFill>
                  <a:latin typeface="Arial"/>
                  <a:ea typeface="Pretendard Variable" panose="02000003000000020004" pitchFamily="2" charset="-127"/>
                  <a:cs typeface="Arial"/>
                </a:rPr>
                <a:t>글로벌 소비자 특성 이해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global-ai-commerce-w01">
  <a:themeElements>
    <a:clrScheme name="global-ai-commerce-w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lobal-ai-commerce-w0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bal-ai-commerce-w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3123</Words>
  <Application>Microsoft Office PowerPoint</Application>
  <PresentationFormat>와이드스크린</PresentationFormat>
  <Paragraphs>867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Pretendard Variable</vt:lpstr>
      <vt:lpstr>Arial</vt:lpstr>
      <vt:lpstr>Calibri</vt:lpstr>
      <vt:lpstr>global-ai-commerce-w01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ssiwonk</cp:lastModifiedBy>
  <cp:revision>2</cp:revision>
  <dcterms:created xsi:type="dcterms:W3CDTF">2026-08-29T15:20:00Z</dcterms:created>
  <dcterms:modified xsi:type="dcterms:W3CDTF">2026-09-03T09:47:49Z</dcterms:modified>
  <cp:category/>
  <cp:contentStatus/>
  <dc:language/>
</cp:coreProperties>
</file>