
<file path=[Content_Types].xml><?xml version="1.0" encoding="utf-8"?>
<Types xmlns="http://schemas.openxmlformats.org/package/2006/content-types">
  <Default Extension="png" ContentType="image/png"/>
  <Default Extension="jpeg" ContentType="image/jpeg"/>
  <Default Extension="do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7" r:id="rId1"/>
    <p:sldMasterId id="2147483985" r:id="rId2"/>
    <p:sldMasterId id="2147483989" r:id="rId3"/>
  </p:sldMasterIdLst>
  <p:notesMasterIdLst>
    <p:notesMasterId r:id="rId17"/>
  </p:notesMasterIdLst>
  <p:handoutMasterIdLst>
    <p:handoutMasterId r:id="rId18"/>
  </p:handoutMasterIdLst>
  <p:sldIdLst>
    <p:sldId id="256" r:id="rId4"/>
    <p:sldId id="482" r:id="rId5"/>
    <p:sldId id="432" r:id="rId6"/>
    <p:sldId id="636" r:id="rId7"/>
    <p:sldId id="1104" r:id="rId8"/>
    <p:sldId id="1105" r:id="rId9"/>
    <p:sldId id="1106" r:id="rId10"/>
    <p:sldId id="1107" r:id="rId11"/>
    <p:sldId id="1108" r:id="rId12"/>
    <p:sldId id="1109" r:id="rId13"/>
    <p:sldId id="1110" r:id="rId14"/>
    <p:sldId id="1111" r:id="rId15"/>
    <p:sldId id="1112" r:id="rId16"/>
  </p:sldIdLst>
  <p:sldSz cx="12192000" cy="6858000"/>
  <p:notesSz cx="6797675" cy="9926638"/>
  <p:defaultTextStyle>
    <a:defPPr>
      <a:defRPr lang="en-US"/>
    </a:defPPr>
    <a:lvl1pPr marL="0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67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35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02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870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38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805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272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741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CEAF"/>
    <a:srgbClr val="2D2D2D"/>
    <a:srgbClr val="F7BD3B"/>
    <a:srgbClr val="65BADB"/>
    <a:srgbClr val="8CBC4C"/>
    <a:srgbClr val="B4C935"/>
    <a:srgbClr val="D1DE86"/>
    <a:srgbClr val="E7EEC0"/>
    <a:srgbClr val="DC640A"/>
    <a:srgbClr val="DDF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5390" autoAdjust="0"/>
  </p:normalViewPr>
  <p:slideViewPr>
    <p:cSldViewPr snapToGrid="0" showGuides="1">
      <p:cViewPr varScale="1">
        <p:scale>
          <a:sx n="62" d="100"/>
          <a:sy n="62" d="100"/>
        </p:scale>
        <p:origin x="78" y="9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3402"/>
    </p:cViewPr>
  </p:sorterViewPr>
  <p:notesViewPr>
    <p:cSldViewPr snapToGrid="0" showGuides="1">
      <p:cViewPr varScale="1">
        <p:scale>
          <a:sx n="77" d="100"/>
          <a:sy n="77" d="100"/>
        </p:scale>
        <p:origin x="400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C2F8A-2F4E-4618-BF2C-CB48712AFAE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FB777-0D6A-46D2-ADEE-FB4A78177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99787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8DC9A-9C96-42E2-AE11-6E5999F342E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7612"/>
            <a:ext cx="5438775" cy="3907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CF3C5-26C2-45DB-BD26-4E2C1CD6CE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65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137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893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16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026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641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010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8242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506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436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811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546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#1 : https://arte.or.kr/index.do, 2026.08.25 </a:t>
            </a:r>
            <a:r>
              <a:rPr lang="ko-KR" altLang="en-US" dirty="0"/>
              <a:t>접속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8CF3C5-26C2-45DB-BD26-4E2C1CD6CE6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5083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 17">
            <a:extLst>
              <a:ext uri="{FF2B5EF4-FFF2-40B4-BE49-F238E27FC236}">
                <a16:creationId xmlns:a16="http://schemas.microsoft.com/office/drawing/2014/main" id="{A8BEB6E3-7DD1-4E12-B26B-ECF1EF502A90}"/>
              </a:ext>
            </a:extLst>
          </p:cNvPr>
          <p:cNvSpPr/>
          <p:nvPr userDrawn="1"/>
        </p:nvSpPr>
        <p:spPr>
          <a:xfrm>
            <a:off x="0" y="0"/>
            <a:ext cx="12193200" cy="6858000"/>
          </a:xfrm>
          <a:custGeom>
            <a:avLst/>
            <a:gdLst>
              <a:gd name="connsiteX0" fmla="*/ 0 w 12193200"/>
              <a:gd name="connsiteY0" fmla="*/ 0 h 6102350"/>
              <a:gd name="connsiteX1" fmla="*/ 12193200 w 12193200"/>
              <a:gd name="connsiteY1" fmla="*/ 0 h 6102350"/>
              <a:gd name="connsiteX2" fmla="*/ 12193200 w 12193200"/>
              <a:gd name="connsiteY2" fmla="*/ 700768 h 6102350"/>
              <a:gd name="connsiteX3" fmla="*/ 12192000 w 12193200"/>
              <a:gd name="connsiteY3" fmla="*/ 700768 h 6102350"/>
              <a:gd name="connsiteX4" fmla="*/ 12192000 w 12193200"/>
              <a:gd name="connsiteY4" fmla="*/ 6102350 h 6102350"/>
              <a:gd name="connsiteX5" fmla="*/ 0 w 12193200"/>
              <a:gd name="connsiteY5" fmla="*/ 6102350 h 6102350"/>
              <a:gd name="connsiteX6" fmla="*/ 0 w 12193200"/>
              <a:gd name="connsiteY6" fmla="*/ 700768 h 6102350"/>
              <a:gd name="connsiteX7" fmla="*/ 0 w 12193200"/>
              <a:gd name="connsiteY7" fmla="*/ 9526 h 610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3200" h="6102350">
                <a:moveTo>
                  <a:pt x="0" y="0"/>
                </a:moveTo>
                <a:lnTo>
                  <a:pt x="12193200" y="0"/>
                </a:lnTo>
                <a:lnTo>
                  <a:pt x="12193200" y="700768"/>
                </a:lnTo>
                <a:lnTo>
                  <a:pt x="12192000" y="700768"/>
                </a:lnTo>
                <a:lnTo>
                  <a:pt x="12192000" y="6102350"/>
                </a:lnTo>
                <a:lnTo>
                  <a:pt x="0" y="6102350"/>
                </a:lnTo>
                <a:lnTo>
                  <a:pt x="0" y="700768"/>
                </a:lnTo>
                <a:lnTo>
                  <a:pt x="0" y="95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 latinLnBrk="1"/>
            <a:endParaRPr lang="ko-KR" altLang="en-US" sz="20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한쪽 모서리가 둥근 사각형 22">
            <a:extLst>
              <a:ext uri="{FF2B5EF4-FFF2-40B4-BE49-F238E27FC236}">
                <a16:creationId xmlns:a16="http://schemas.microsoft.com/office/drawing/2014/main" id="{44E9B0DE-8FD8-4B4C-B1CA-356AC7577593}"/>
              </a:ext>
            </a:extLst>
          </p:cNvPr>
          <p:cNvSpPr/>
          <p:nvPr userDrawn="1"/>
        </p:nvSpPr>
        <p:spPr>
          <a:xfrm rot="5400000" flipH="1">
            <a:off x="3829050" y="1428749"/>
            <a:ext cx="1600200" cy="9258300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 latinLnBrk="1"/>
            <a:endParaRPr lang="x-none" altLang="en-US" sz="2000" noProof="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제목 1"/>
          <p:cNvSpPr>
            <a:spLocks noGrp="1"/>
          </p:cNvSpPr>
          <p:nvPr userDrawn="1">
            <p:ph type="title" hasCustomPrompt="1"/>
          </p:nvPr>
        </p:nvSpPr>
        <p:spPr>
          <a:xfrm>
            <a:off x="9398000" y="-511175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B5C319-99D8-414B-B5FD-6CB8CF0D6DA2}"/>
              </a:ext>
            </a:extLst>
          </p:cNvPr>
          <p:cNvSpPr/>
          <p:nvPr userDrawn="1"/>
        </p:nvSpPr>
        <p:spPr>
          <a:xfrm>
            <a:off x="0" y="6229350"/>
            <a:ext cx="12193200" cy="628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914400" latinLnBrk="1"/>
            <a:endParaRPr lang="ko-KR" altLang="en-US" sz="1800" noProof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90C284-4B76-4456-935A-18BE8D5AA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74" b="8800"/>
          <a:stretch/>
        </p:blipFill>
        <p:spPr>
          <a:xfrm>
            <a:off x="6578459" y="735769"/>
            <a:ext cx="5036399" cy="5036381"/>
          </a:xfrm>
          <a:prstGeom prst="ellipse">
            <a:avLst/>
          </a:prstGeom>
        </p:spPr>
      </p:pic>
      <p:sp>
        <p:nvSpPr>
          <p:cNvPr id="19" name="텍스트 개체 틀 3">
            <a:extLst>
              <a:ext uri="{FF2B5EF4-FFF2-40B4-BE49-F238E27FC236}">
                <a16:creationId xmlns:a16="http://schemas.microsoft.com/office/drawing/2014/main" id="{B6093730-699A-C263-2771-E33295C4745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74190" y="2485571"/>
            <a:ext cx="6931604" cy="1130300"/>
          </a:xfrm>
          <a:prstGeom prst="rect">
            <a:avLst/>
          </a:prstGeom>
        </p:spPr>
        <p:txBody>
          <a:bodyPr anchor="ctr"/>
          <a:lstStyle>
            <a:lvl1pPr marL="0" indent="0" algn="l" defTabSz="914400" latinLnBrk="0">
              <a:lnSpc>
                <a:spcPct val="110000"/>
              </a:lnSpc>
              <a:buNone/>
              <a:defRPr lang="ko-KR" altLang="en-US" sz="6000" b="0" kern="1200" spc="-15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D2D2D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유닛명</a:t>
            </a:r>
          </a:p>
        </p:txBody>
      </p:sp>
      <p:sp>
        <p:nvSpPr>
          <p:cNvPr id="39" name="타원 38"/>
          <p:cNvSpPr/>
          <p:nvPr userDrawn="1"/>
        </p:nvSpPr>
        <p:spPr>
          <a:xfrm>
            <a:off x="6578459" y="735750"/>
            <a:ext cx="5036400" cy="5036400"/>
          </a:xfrm>
          <a:prstGeom prst="ellipse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5F4CC55-0804-44DD-B476-16CD3ACC87DC}"/>
              </a:ext>
            </a:extLst>
          </p:cNvPr>
          <p:cNvSpPr/>
          <p:nvPr userDrawn="1"/>
        </p:nvSpPr>
        <p:spPr>
          <a:xfrm>
            <a:off x="10142958" y="377194"/>
            <a:ext cx="1714501" cy="1714501"/>
          </a:xfrm>
          <a:prstGeom prst="ellipse">
            <a:avLst/>
          </a:prstGeom>
          <a:solidFill>
            <a:srgbClr val="5DCE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dole"/>
              <a:ea typeface="맑은 고딕"/>
              <a:cs typeface="+mn-cs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F4CC55-0804-44DD-B476-16CD3ACC87DC}"/>
              </a:ext>
            </a:extLst>
          </p:cNvPr>
          <p:cNvSpPr/>
          <p:nvPr userDrawn="1"/>
        </p:nvSpPr>
        <p:spPr>
          <a:xfrm>
            <a:off x="7136221" y="4992461"/>
            <a:ext cx="739145" cy="739145"/>
          </a:xfrm>
          <a:prstGeom prst="ellipse">
            <a:avLst/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91440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dole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48069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26B43"/>
          </p15:clr>
        </p15:guide>
        <p15:guide id="2" pos="597">
          <p15:clr>
            <a:srgbClr val="FBAE40"/>
          </p15:clr>
        </p15:guide>
        <p15:guide id="3" pos="778">
          <p15:clr>
            <a:srgbClr val="FBAE40"/>
          </p15:clr>
        </p15:guide>
        <p15:guide id="4" orient="horz" pos="127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 17">
            <a:extLst>
              <a:ext uri="{FF2B5EF4-FFF2-40B4-BE49-F238E27FC236}">
                <a16:creationId xmlns:a16="http://schemas.microsoft.com/office/drawing/2014/main" id="{A8BEB6E3-7DD1-4E12-B26B-ECF1EF502A90}"/>
              </a:ext>
            </a:extLst>
          </p:cNvPr>
          <p:cNvSpPr/>
          <p:nvPr userDrawn="1"/>
        </p:nvSpPr>
        <p:spPr>
          <a:xfrm>
            <a:off x="-1201" y="0"/>
            <a:ext cx="12193200" cy="6858000"/>
          </a:xfrm>
          <a:custGeom>
            <a:avLst/>
            <a:gdLst>
              <a:gd name="connsiteX0" fmla="*/ 0 w 12193200"/>
              <a:gd name="connsiteY0" fmla="*/ 0 h 6102350"/>
              <a:gd name="connsiteX1" fmla="*/ 12193200 w 12193200"/>
              <a:gd name="connsiteY1" fmla="*/ 0 h 6102350"/>
              <a:gd name="connsiteX2" fmla="*/ 12193200 w 12193200"/>
              <a:gd name="connsiteY2" fmla="*/ 700768 h 6102350"/>
              <a:gd name="connsiteX3" fmla="*/ 12192000 w 12193200"/>
              <a:gd name="connsiteY3" fmla="*/ 700768 h 6102350"/>
              <a:gd name="connsiteX4" fmla="*/ 12192000 w 12193200"/>
              <a:gd name="connsiteY4" fmla="*/ 6102350 h 6102350"/>
              <a:gd name="connsiteX5" fmla="*/ 0 w 12193200"/>
              <a:gd name="connsiteY5" fmla="*/ 6102350 h 6102350"/>
              <a:gd name="connsiteX6" fmla="*/ 0 w 12193200"/>
              <a:gd name="connsiteY6" fmla="*/ 700768 h 6102350"/>
              <a:gd name="connsiteX7" fmla="*/ 0 w 12193200"/>
              <a:gd name="connsiteY7" fmla="*/ 9526 h 610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3200" h="6102350">
                <a:moveTo>
                  <a:pt x="0" y="0"/>
                </a:moveTo>
                <a:lnTo>
                  <a:pt x="12193200" y="0"/>
                </a:lnTo>
                <a:lnTo>
                  <a:pt x="12193200" y="700768"/>
                </a:lnTo>
                <a:lnTo>
                  <a:pt x="12192000" y="700768"/>
                </a:lnTo>
                <a:lnTo>
                  <a:pt x="12192000" y="6102350"/>
                </a:lnTo>
                <a:lnTo>
                  <a:pt x="0" y="6102350"/>
                </a:lnTo>
                <a:lnTo>
                  <a:pt x="0" y="700768"/>
                </a:lnTo>
                <a:lnTo>
                  <a:pt x="0" y="95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 latinLnBrk="1"/>
            <a:endParaRPr lang="ko-KR" altLang="en-US" sz="20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제목 1"/>
          <p:cNvSpPr>
            <a:spLocks noGrp="1"/>
          </p:cNvSpPr>
          <p:nvPr userDrawn="1">
            <p:ph type="title" hasCustomPrompt="1"/>
          </p:nvPr>
        </p:nvSpPr>
        <p:spPr>
          <a:xfrm>
            <a:off x="9398000" y="-511175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  <p:sp>
        <p:nvSpPr>
          <p:cNvPr id="15" name="텍스트 개체 틀 9">
            <a:extLst>
              <a:ext uri="{FF2B5EF4-FFF2-40B4-BE49-F238E27FC236}">
                <a16:creationId xmlns:a16="http://schemas.microsoft.com/office/drawing/2014/main" id="{E4B32A95-0410-4CA0-A26F-28D13B2AB6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6799" y="169659"/>
            <a:ext cx="11231107" cy="5810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Font typeface="Arial" panose="020B0604020202020204" pitchFamily="34" charset="0"/>
              <a:buNone/>
              <a:defRPr lang="ko-KR" altLang="en-US" sz="3200" b="0" kern="1200" spc="-15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D2D2D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  <a:lvl2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2pPr>
            <a:lvl3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3pPr>
            <a:lvl4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4pPr>
            <a:lvl5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5pPr>
          </a:lstStyle>
          <a:p>
            <a:pPr marL="0" lv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Font typeface="Arial" panose="020B0604020202020204" pitchFamily="34" charset="0"/>
              <a:buNone/>
            </a:pPr>
            <a:r>
              <a:rPr lang="ko-KR" altLang="en-US" dirty="0"/>
              <a:t>페이지명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B5C319-99D8-414B-B5FD-6CB8CF0D6DA2}"/>
              </a:ext>
            </a:extLst>
          </p:cNvPr>
          <p:cNvSpPr/>
          <p:nvPr userDrawn="1"/>
        </p:nvSpPr>
        <p:spPr>
          <a:xfrm>
            <a:off x="0" y="6229350"/>
            <a:ext cx="12193200" cy="628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914400" latinLnBrk="1"/>
            <a:endParaRPr lang="ko-KR" altLang="en-US" sz="1800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A6E6DE-2438-4970-8D30-604DC0AE3D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2" y="-1"/>
            <a:ext cx="2830287" cy="622935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7E23C40-188B-4C5E-B074-37FAFE07D996}"/>
              </a:ext>
            </a:extLst>
          </p:cNvPr>
          <p:cNvSpPr/>
          <p:nvPr userDrawn="1"/>
        </p:nvSpPr>
        <p:spPr>
          <a:xfrm>
            <a:off x="9360511" y="0"/>
            <a:ext cx="2830287" cy="6858000"/>
          </a:xfrm>
          <a:prstGeom prst="rect">
            <a:avLst/>
          </a:prstGeom>
          <a:solidFill>
            <a:srgbClr val="F2F2F2">
              <a:alpha val="33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914400" latinLnBrk="1"/>
            <a:endParaRPr lang="ko-KR" altLang="en-US" sz="1800" noProof="0"/>
          </a:p>
        </p:txBody>
      </p:sp>
    </p:spTree>
    <p:extLst>
      <p:ext uri="{BB962C8B-B14F-4D97-AF65-F5344CB8AC3E}">
        <p14:creationId xmlns:p14="http://schemas.microsoft.com/office/powerpoint/2010/main" val="3841638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26B43"/>
          </p15:clr>
        </p15:guide>
        <p15:guide id="2" pos="597">
          <p15:clr>
            <a:srgbClr val="FBAE40"/>
          </p15:clr>
        </p15:guide>
        <p15:guide id="3" pos="778">
          <p15:clr>
            <a:srgbClr val="FBAE40"/>
          </p15:clr>
        </p15:guide>
        <p15:guide id="4" orient="horz" pos="1275">
          <p15:clr>
            <a:srgbClr val="FBAE40"/>
          </p15:clr>
        </p15:guide>
        <p15:guide id="5" orient="horz" pos="10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-1-3.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>
            <a:extLst>
              <a:ext uri="{FF2B5EF4-FFF2-40B4-BE49-F238E27FC236}">
                <a16:creationId xmlns:a16="http://schemas.microsoft.com/office/drawing/2014/main" id="{A8BEB6E3-7DD1-4E12-B26B-ECF1EF502A90}"/>
              </a:ext>
            </a:extLst>
          </p:cNvPr>
          <p:cNvSpPr/>
          <p:nvPr userDrawn="1"/>
        </p:nvSpPr>
        <p:spPr>
          <a:xfrm>
            <a:off x="0" y="0"/>
            <a:ext cx="12193200" cy="6858000"/>
          </a:xfrm>
          <a:custGeom>
            <a:avLst/>
            <a:gdLst>
              <a:gd name="connsiteX0" fmla="*/ 0 w 12193200"/>
              <a:gd name="connsiteY0" fmla="*/ 0 h 6102350"/>
              <a:gd name="connsiteX1" fmla="*/ 12193200 w 12193200"/>
              <a:gd name="connsiteY1" fmla="*/ 0 h 6102350"/>
              <a:gd name="connsiteX2" fmla="*/ 12193200 w 12193200"/>
              <a:gd name="connsiteY2" fmla="*/ 700768 h 6102350"/>
              <a:gd name="connsiteX3" fmla="*/ 12192000 w 12193200"/>
              <a:gd name="connsiteY3" fmla="*/ 700768 h 6102350"/>
              <a:gd name="connsiteX4" fmla="*/ 12192000 w 12193200"/>
              <a:gd name="connsiteY4" fmla="*/ 6102350 h 6102350"/>
              <a:gd name="connsiteX5" fmla="*/ 0 w 12193200"/>
              <a:gd name="connsiteY5" fmla="*/ 6102350 h 6102350"/>
              <a:gd name="connsiteX6" fmla="*/ 0 w 12193200"/>
              <a:gd name="connsiteY6" fmla="*/ 700768 h 6102350"/>
              <a:gd name="connsiteX7" fmla="*/ 0 w 12193200"/>
              <a:gd name="connsiteY7" fmla="*/ 9526 h 610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3200" h="6102350">
                <a:moveTo>
                  <a:pt x="0" y="0"/>
                </a:moveTo>
                <a:lnTo>
                  <a:pt x="12193200" y="0"/>
                </a:lnTo>
                <a:lnTo>
                  <a:pt x="12193200" y="700768"/>
                </a:lnTo>
                <a:lnTo>
                  <a:pt x="12192000" y="700768"/>
                </a:lnTo>
                <a:lnTo>
                  <a:pt x="12192000" y="6102350"/>
                </a:lnTo>
                <a:lnTo>
                  <a:pt x="0" y="6102350"/>
                </a:lnTo>
                <a:lnTo>
                  <a:pt x="0" y="700768"/>
                </a:lnTo>
                <a:lnTo>
                  <a:pt x="0" y="95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00" latinLnBrk="1"/>
            <a:endParaRPr lang="ko-KR" altLang="en-US" sz="20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C0E187-BFFC-4EC6-984F-63A4EA1D2B19}"/>
              </a:ext>
            </a:extLst>
          </p:cNvPr>
          <p:cNvSpPr/>
          <p:nvPr userDrawn="1"/>
        </p:nvSpPr>
        <p:spPr>
          <a:xfrm>
            <a:off x="0" y="-8038"/>
            <a:ext cx="12192000" cy="773213"/>
          </a:xfrm>
          <a:prstGeom prst="rect">
            <a:avLst/>
          </a:prstGeom>
          <a:solidFill>
            <a:srgbClr val="C4C4C4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latinLnBrk="1"/>
            <a:endParaRPr lang="ko-KR" altLang="en-US" sz="1800">
              <a:solidFill>
                <a:schemeClr val="lt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C0E187-BFFC-4EC6-984F-63A4EA1D2B19}"/>
              </a:ext>
            </a:extLst>
          </p:cNvPr>
          <p:cNvSpPr/>
          <p:nvPr userDrawn="1"/>
        </p:nvSpPr>
        <p:spPr>
          <a:xfrm>
            <a:off x="0" y="765175"/>
            <a:ext cx="12192000" cy="60928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4" name="텍스트 개체 틀 9">
            <a:extLst>
              <a:ext uri="{FF2B5EF4-FFF2-40B4-BE49-F238E27FC236}">
                <a16:creationId xmlns:a16="http://schemas.microsoft.com/office/drawing/2014/main" id="{E4B32A95-0410-4CA0-A26F-28D13B2AB6EB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26799" y="169659"/>
            <a:ext cx="11231107" cy="5810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Font typeface="Arial" panose="020B0604020202020204" pitchFamily="34" charset="0"/>
              <a:buNone/>
              <a:defRPr lang="ko-KR" altLang="en-US" sz="3200" b="0" kern="1200" spc="-15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D2D2D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  <a:lvl2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2pPr>
            <a:lvl3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3pPr>
            <a:lvl4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4pPr>
            <a:lvl5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5pPr>
          </a:lstStyle>
          <a:p>
            <a:pPr marL="0" lv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Font typeface="Arial" panose="020B0604020202020204" pitchFamily="34" charset="0"/>
              <a:buNone/>
            </a:pPr>
            <a:r>
              <a:rPr lang="ko-KR" altLang="en-US" dirty="0"/>
              <a:t>페이지명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5FFAEBFA-4317-AD0D-042F-5438965D0C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0" y="778265"/>
            <a:ext cx="7804150" cy="59848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tabLst/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타이틀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5AFFB45A-9B3B-466B-C5C2-732FF95872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98000" y="-511175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2490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26B43"/>
          </p15:clr>
        </p15:guide>
        <p15:guide id="2" pos="597">
          <p15:clr>
            <a:srgbClr val="FBAE40"/>
          </p15:clr>
        </p15:guide>
        <p15:guide id="3" pos="778">
          <p15:clr>
            <a:srgbClr val="FBAE40"/>
          </p15:clr>
        </p15:guide>
        <p15:guide id="4" orient="horz" pos="1264">
          <p15:clr>
            <a:srgbClr val="FBAE40"/>
          </p15:clr>
        </p15:guide>
        <p15:guide id="5" orient="horz" pos="90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1.SB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098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1.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891953" y="6537715"/>
            <a:ext cx="661156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eaLnBrk="0" fontAlgn="base" latinLnBrk="1" hangingPunct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위 사항에 대해 </a:t>
            </a:r>
            <a:r>
              <a:rPr lang="en-US" altLang="ko-KR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SB</a:t>
            </a:r>
            <a:r>
              <a:rPr lang="ko-KR" altLang="en-US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 검수를 진행하여</a:t>
            </a:r>
            <a:r>
              <a:rPr lang="en-US" altLang="ko-KR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오류 사항을 수정하였습니다</a:t>
            </a:r>
            <a:r>
              <a:rPr lang="en-US" altLang="ko-KR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kumimoji="1" lang="en-US" altLang="ko-KR" sz="11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 userDrawn="1"/>
        </p:nvGraphicFramePr>
        <p:xfrm>
          <a:off x="193675" y="713794"/>
          <a:ext cx="11795307" cy="579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267">
                  <a:extLst>
                    <a:ext uri="{9D8B030D-6E8A-4147-A177-3AD203B41FA5}">
                      <a16:colId xmlns:a16="http://schemas.microsoft.com/office/drawing/2014/main" val="1678077644"/>
                    </a:ext>
                  </a:extLst>
                </a:gridCol>
                <a:gridCol w="9818182">
                  <a:extLst>
                    <a:ext uri="{9D8B030D-6E8A-4147-A177-3AD203B41FA5}">
                      <a16:colId xmlns:a16="http://schemas.microsoft.com/office/drawing/2014/main" val="962460237"/>
                    </a:ext>
                  </a:extLst>
                </a:gridCol>
                <a:gridCol w="727858">
                  <a:extLst>
                    <a:ext uri="{9D8B030D-6E8A-4147-A177-3AD203B41FA5}">
                      <a16:colId xmlns:a16="http://schemas.microsoft.com/office/drawing/2014/main" val="2088860671"/>
                    </a:ext>
                  </a:extLst>
                </a:gridCol>
              </a:tblGrid>
              <a:tr h="289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확인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(O)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682759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기본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스토리보드의 파일명 작성 규칙을 준수하였는가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(SB_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과목명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주차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버전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(v1)_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날짜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altLang="ko-KR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yymmdd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))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866406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과목명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주차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주차명</a:t>
                      </a:r>
                      <a:r>
                        <a:rPr lang="en-US" altLang="ko-KR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정보가 정확히 작성되었는가</a:t>
                      </a:r>
                      <a:r>
                        <a:rPr lang="en-US" altLang="ko-KR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241120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유닛명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학습목차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학습내용에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오탈자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띄어쓰기 오류가 없고 영상파일명이 오류없이 작성되었는가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683325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학습개요에서 제시하는 학습내용은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유닛정보와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일치하며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학습목표는 구체적인 행동 동사를 사용하여 기술되어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789691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학습목차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페이지에 외부 영상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경로와 편집 시간 값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있을 시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),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내용만 전체화면으로 제시되어야 하는 슬라이드 번호를 누락없이 작성하였는가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66860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개발용 페이지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페이지 번호 작성 규칙을 준수하여 작성되었는가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(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유닛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목차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주차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432977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출처 상세 정보가 저작물 유형별 명시 형식에 맞게 작성되어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423365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각 페이지별 영상에 포함된 저작물의 출처 정보가 누락없이 목록화 되어있는가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61788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각 페이지별 해당 목차에 오류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누락없이 하이라이트 표시가 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362126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지시문이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누락되었거나 불완전하게 기술된 것은 없는가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(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학습개요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학습정리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학습평가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페이지 등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124602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퀴즈의 문항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보기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정답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피드백을 누락없이 작성하였는가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(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학습평가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페이지 등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362981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유닛 단위로</a:t>
                      </a:r>
                      <a:r>
                        <a:rPr lang="ko-KR" altLang="en-US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정리하기 내용을 제시하고 있는가</a:t>
                      </a:r>
                      <a:r>
                        <a:rPr lang="en-US" altLang="ko-KR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en-US" altLang="ko-KR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794129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촬영용 페이지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폰트 규정을 준수하여 작성되었는가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87908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유닛별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간지는 오류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누락없이 제시되어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055241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슬라이드명은 학습목차명과 동일하게 작성되어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665067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가독성과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심미성을 고려하여</a:t>
                      </a:r>
                      <a:r>
                        <a:rPr lang="ko-KR" altLang="en-US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화면 설계가 되어 있는가</a:t>
                      </a:r>
                      <a:r>
                        <a:rPr lang="en-US" altLang="ko-KR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en-US" altLang="ko-KR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852552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학습자가 학습내용을 쉽게 이해할 수 있도록 구조화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조직화되어 제시되었는가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632479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위계</a:t>
                      </a:r>
                      <a:r>
                        <a:rPr lang="ko-KR" altLang="en-US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구분을 위한 적절한 </a:t>
                      </a:r>
                      <a:r>
                        <a:rPr lang="ko-KR" altLang="en-US" sz="1100" baseline="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블릿</a:t>
                      </a:r>
                      <a:r>
                        <a:rPr lang="ko-KR" altLang="en-US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사용과 들여쓰기를 하였는가</a:t>
                      </a:r>
                      <a:r>
                        <a:rPr lang="en-US" altLang="ko-KR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en-US" altLang="ko-KR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13422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모든 저작물에 대해 출처 번호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(#1, #2, ...)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 누락없이 표시되어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835434"/>
                  </a:ext>
                </a:extLst>
              </a:tr>
            </a:tbl>
          </a:graphicData>
        </a:graphic>
      </p:graphicFrame>
      <p:sp>
        <p:nvSpPr>
          <p:cNvPr id="9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11467329" y="1038526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0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11467329" y="1328779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11467329" y="1619032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2" name="텍스트 개체 틀 8"/>
          <p:cNvSpPr>
            <a:spLocks noGrp="1"/>
          </p:cNvSpPr>
          <p:nvPr>
            <p:ph type="body" sz="quarter" idx="13" hasCustomPrompt="1"/>
          </p:nvPr>
        </p:nvSpPr>
        <p:spPr>
          <a:xfrm>
            <a:off x="11467329" y="1909285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3" name="텍스트 개체 틀 8"/>
          <p:cNvSpPr>
            <a:spLocks noGrp="1"/>
          </p:cNvSpPr>
          <p:nvPr>
            <p:ph type="body" sz="quarter" idx="14" hasCustomPrompt="1"/>
          </p:nvPr>
        </p:nvSpPr>
        <p:spPr>
          <a:xfrm>
            <a:off x="11467329" y="2199538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4" name="텍스트 개체 틀 8"/>
          <p:cNvSpPr>
            <a:spLocks noGrp="1"/>
          </p:cNvSpPr>
          <p:nvPr>
            <p:ph type="body" sz="quarter" idx="15" hasCustomPrompt="1"/>
          </p:nvPr>
        </p:nvSpPr>
        <p:spPr>
          <a:xfrm>
            <a:off x="11467329" y="2489791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텍스트 개체 틀 8"/>
          <p:cNvSpPr>
            <a:spLocks noGrp="1"/>
          </p:cNvSpPr>
          <p:nvPr>
            <p:ph type="body" sz="quarter" idx="16" hasCustomPrompt="1"/>
          </p:nvPr>
        </p:nvSpPr>
        <p:spPr>
          <a:xfrm>
            <a:off x="11467329" y="2780044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텍스트 개체 틀 8"/>
          <p:cNvSpPr>
            <a:spLocks noGrp="1"/>
          </p:cNvSpPr>
          <p:nvPr>
            <p:ph type="body" sz="quarter" idx="17" hasCustomPrompt="1"/>
          </p:nvPr>
        </p:nvSpPr>
        <p:spPr>
          <a:xfrm>
            <a:off x="11467329" y="3070297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7" name="텍스트 개체 틀 8"/>
          <p:cNvSpPr>
            <a:spLocks noGrp="1"/>
          </p:cNvSpPr>
          <p:nvPr>
            <p:ph type="body" sz="quarter" idx="18" hasCustomPrompt="1"/>
          </p:nvPr>
        </p:nvSpPr>
        <p:spPr>
          <a:xfrm>
            <a:off x="11467329" y="3360550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8" name="텍스트 개체 틀 8"/>
          <p:cNvSpPr>
            <a:spLocks noGrp="1"/>
          </p:cNvSpPr>
          <p:nvPr>
            <p:ph type="body" sz="quarter" idx="19" hasCustomPrompt="1"/>
          </p:nvPr>
        </p:nvSpPr>
        <p:spPr>
          <a:xfrm>
            <a:off x="11467329" y="3650803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9" name="텍스트 개체 틀 8"/>
          <p:cNvSpPr>
            <a:spLocks noGrp="1"/>
          </p:cNvSpPr>
          <p:nvPr>
            <p:ph type="body" sz="quarter" idx="20" hasCustomPrompt="1"/>
          </p:nvPr>
        </p:nvSpPr>
        <p:spPr>
          <a:xfrm>
            <a:off x="11467329" y="3941056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0" name="텍스트 개체 틀 8"/>
          <p:cNvSpPr>
            <a:spLocks noGrp="1"/>
          </p:cNvSpPr>
          <p:nvPr>
            <p:ph type="body" sz="quarter" idx="21" hasCustomPrompt="1"/>
          </p:nvPr>
        </p:nvSpPr>
        <p:spPr>
          <a:xfrm>
            <a:off x="11467329" y="4231309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1" name="텍스트 개체 틀 8"/>
          <p:cNvSpPr>
            <a:spLocks noGrp="1"/>
          </p:cNvSpPr>
          <p:nvPr>
            <p:ph type="body" sz="quarter" idx="22" hasCustomPrompt="1"/>
          </p:nvPr>
        </p:nvSpPr>
        <p:spPr>
          <a:xfrm>
            <a:off x="11467329" y="4521562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23" hasCustomPrompt="1"/>
          </p:nvPr>
        </p:nvSpPr>
        <p:spPr>
          <a:xfrm>
            <a:off x="11467329" y="4811815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3" name="텍스트 개체 틀 8"/>
          <p:cNvSpPr>
            <a:spLocks noGrp="1"/>
          </p:cNvSpPr>
          <p:nvPr>
            <p:ph type="body" sz="quarter" idx="24" hasCustomPrompt="1"/>
          </p:nvPr>
        </p:nvSpPr>
        <p:spPr>
          <a:xfrm>
            <a:off x="11467329" y="5102068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4" name="텍스트 개체 틀 8"/>
          <p:cNvSpPr>
            <a:spLocks noGrp="1"/>
          </p:cNvSpPr>
          <p:nvPr>
            <p:ph type="body" sz="quarter" idx="25" hasCustomPrompt="1"/>
          </p:nvPr>
        </p:nvSpPr>
        <p:spPr>
          <a:xfrm>
            <a:off x="11467329" y="5392321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7" name="텍스트 개체 틀 8"/>
          <p:cNvSpPr>
            <a:spLocks noGrp="1"/>
          </p:cNvSpPr>
          <p:nvPr>
            <p:ph type="body" sz="quarter" idx="27" hasCustomPrompt="1"/>
          </p:nvPr>
        </p:nvSpPr>
        <p:spPr>
          <a:xfrm>
            <a:off x="11467329" y="5682574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5" name="텍스트 개체 틀 8">
            <a:extLst>
              <a:ext uri="{FF2B5EF4-FFF2-40B4-BE49-F238E27FC236}">
                <a16:creationId xmlns:a16="http://schemas.microsoft.com/office/drawing/2014/main" id="{8CF5B91C-DB2C-44A7-8F99-A0B0463EE5D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67329" y="5972827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8" name="텍스트 개체 틀 8">
            <a:extLst>
              <a:ext uri="{FF2B5EF4-FFF2-40B4-BE49-F238E27FC236}">
                <a16:creationId xmlns:a16="http://schemas.microsoft.com/office/drawing/2014/main" id="{9201DD42-0D40-47A5-8851-EBACF7D5B8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67329" y="6263073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180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-488157"/>
            <a:ext cx="3004457" cy="4048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85673" tIns="42836" rIns="85673" bIns="4283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ko-KR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교수</a:t>
            </a:r>
            <a:r>
              <a:rPr lang="ko-KR" altLang="en-US" sz="1600" b="1" spc="-150" baseline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우측 위치</a:t>
            </a:r>
            <a:r>
              <a:rPr lang="en-US" altLang="ko-KR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600" b="1" spc="-15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전자칠판형</a:t>
            </a:r>
            <a:r>
              <a:rPr lang="en-US" altLang="ko-KR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b="1" spc="-15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크로마형</a:t>
            </a:r>
            <a:endParaRPr lang="ko-KR" altLang="en-US" sz="1600" b="1" spc="-15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334964" y="836613"/>
            <a:ext cx="8101011" cy="5653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ko-KR" altLang="en-US" sz="1499" dirty="0">
              <a:solidFill>
                <a:srgbClr val="0000FF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334964" y="188913"/>
            <a:ext cx="8101011" cy="576262"/>
          </a:xfrm>
          <a:prstGeom prst="rect">
            <a:avLst/>
          </a:prstGeom>
          <a:solidFill>
            <a:schemeClr val="bg1">
              <a:lumMod val="75000"/>
              <a:alpha val="50196"/>
            </a:schemeClr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슬라이드명이 위치 가능한 범위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좌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16,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6.5,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9.0,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7.4)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626290" y="-49211"/>
            <a:ext cx="3401206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상단 타이틀 디자인 범위</a:t>
            </a:r>
            <a:endParaRPr lang="en-US" altLang="ko-KR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좌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7.8)</a:t>
            </a:r>
            <a:endParaRPr lang="ko-KR" altLang="en-US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6756602" y="4231330"/>
            <a:ext cx="3401206" cy="689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 크기</a:t>
            </a:r>
            <a:endParaRPr lang="en-US" altLang="ko-KR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너비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33.867cm,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높이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19.05cm)</a:t>
            </a:r>
            <a:endParaRPr lang="ko-KR" altLang="en-US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6768501" y="4980549"/>
            <a:ext cx="3401206" cy="689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 전체 디자인 범위</a:t>
            </a:r>
            <a:endParaRPr lang="en-US" altLang="ko-KR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 크기 전체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1361691" y="1566593"/>
            <a:ext cx="6095256" cy="7017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학습 내용 위치 가능한 범위</a:t>
            </a:r>
            <a:endParaRPr kumimoji="0" lang="en-US" altLang="ko-KR" sz="1800" b="1" i="0" u="none" strike="noStrike" kern="1200" cap="none" spc="-141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marL="0" marR="0" lvl="0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좌 </a:t>
            </a:r>
            <a:r>
              <a:rPr kumimoji="0" lang="en-US" altLang="ko-KR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: 16, </a:t>
            </a:r>
            <a:r>
              <a:rPr kumimoji="0" lang="ko-KR" altLang="en-US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우 </a:t>
            </a:r>
            <a:r>
              <a:rPr kumimoji="0" lang="en-US" altLang="ko-KR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: 6.5, </a:t>
            </a:r>
            <a:r>
              <a:rPr kumimoji="0" lang="ko-KR" altLang="en-US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상 </a:t>
            </a:r>
            <a:r>
              <a:rPr kumimoji="0" lang="en-US" altLang="ko-KR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: 7.2, </a:t>
            </a:r>
            <a:r>
              <a:rPr kumimoji="0" lang="ko-KR" altLang="en-US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하 </a:t>
            </a:r>
            <a:r>
              <a:rPr kumimoji="0" lang="en-US" altLang="ko-KR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: 8.5)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8626290" y="1860103"/>
            <a:ext cx="3401206" cy="384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교수 영상이 위치하는 범위</a:t>
            </a:r>
          </a:p>
        </p:txBody>
      </p:sp>
    </p:spTree>
    <p:extLst>
      <p:ext uri="{BB962C8B-B14F-4D97-AF65-F5344CB8AC3E}">
        <p14:creationId xmlns:p14="http://schemas.microsoft.com/office/powerpoint/2010/main" val="114873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</p:sldLayoutIdLst>
  <p:txStyles>
    <p:titleStyle>
      <a:lvl1pPr algn="l" defTabSz="913801" rtl="0" eaLnBrk="1" latinLnBrk="1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50" indent="-228450" algn="l" defTabSz="913801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3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1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0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29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698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6752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3652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00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302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202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F26B43"/>
          </p15:clr>
        </p15:guide>
        <p15:guide id="2" orient="horz" pos="527">
          <p15:clr>
            <a:srgbClr val="F26B43"/>
          </p15:clr>
        </p15:guide>
        <p15:guide id="3" pos="7240">
          <p15:clr>
            <a:srgbClr val="F26B43"/>
          </p15:clr>
        </p15:guide>
        <p15:guide id="4" orient="horz" pos="482">
          <p15:clr>
            <a:srgbClr val="F26B43"/>
          </p15:clr>
        </p15:guide>
        <p15:guide id="5" pos="5314">
          <p15:clr>
            <a:srgbClr val="F26B43"/>
          </p15:clr>
        </p15:guide>
        <p15:guide id="6" orient="horz" pos="4088">
          <p15:clr>
            <a:srgbClr val="F26B43"/>
          </p15:clr>
        </p15:guide>
        <p15:guide id="7" orient="horz" pos="1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scu_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092" y="6087209"/>
            <a:ext cx="2579992" cy="41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ChangeArrowheads="1"/>
          </p:cNvSpPr>
          <p:nvPr userDrawn="1"/>
        </p:nvSpPr>
        <p:spPr bwMode="auto">
          <a:xfrm>
            <a:off x="0" y="2"/>
            <a:ext cx="12192000" cy="265746"/>
          </a:xfrm>
          <a:prstGeom prst="rect">
            <a:avLst/>
          </a:prstGeom>
          <a:solidFill>
            <a:srgbClr val="000000">
              <a:alpha val="7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145048" tIns="72524" rIns="145048" bIns="72524" anchor="ctr"/>
          <a:lstStyle/>
          <a:p>
            <a:pPr defTabSz="1450402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412">
              <a:latin typeface="+mn-lt"/>
              <a:ea typeface="+mn-ea"/>
            </a:endParaRPr>
          </a:p>
        </p:txBody>
      </p:sp>
      <p:sp>
        <p:nvSpPr>
          <p:cNvPr id="9" name="Rectangle 51"/>
          <p:cNvSpPr>
            <a:spLocks noChangeArrowheads="1"/>
          </p:cNvSpPr>
          <p:nvPr userDrawn="1"/>
        </p:nvSpPr>
        <p:spPr bwMode="auto">
          <a:xfrm>
            <a:off x="0" y="6700546"/>
            <a:ext cx="12192000" cy="157456"/>
          </a:xfrm>
          <a:prstGeom prst="rect">
            <a:avLst/>
          </a:prstGeom>
          <a:solidFill>
            <a:srgbClr val="000000">
              <a:alpha val="83136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145048" tIns="72524" rIns="145048" bIns="72524" anchor="ctr"/>
          <a:lstStyle/>
          <a:p>
            <a:pPr defTabSz="1450402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412">
              <a:latin typeface="+mn-lt"/>
              <a:ea typeface="+mn-ea"/>
            </a:endParaRPr>
          </a:p>
        </p:txBody>
      </p:sp>
      <p:grpSp>
        <p:nvGrpSpPr>
          <p:cNvPr id="10" name="Group 6"/>
          <p:cNvGrpSpPr>
            <a:grpSpLocks/>
          </p:cNvGrpSpPr>
          <p:nvPr userDrawn="1"/>
        </p:nvGrpSpPr>
        <p:grpSpPr bwMode="auto">
          <a:xfrm>
            <a:off x="0" y="1153762"/>
            <a:ext cx="12192000" cy="1523296"/>
            <a:chOff x="2400" y="1522"/>
            <a:chExt cx="4320" cy="272"/>
          </a:xfrm>
        </p:grpSpPr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2400" y="1522"/>
              <a:ext cx="432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145040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3412">
                <a:latin typeface="+mn-lt"/>
                <a:ea typeface="+mn-ea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2400" y="1794"/>
              <a:ext cx="432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145040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3412">
                <a:latin typeface="+mn-lt"/>
                <a:ea typeface="+mn-ea"/>
              </a:endParaRPr>
            </a:p>
          </p:txBody>
        </p:sp>
      </p:grpSp>
      <p:sp>
        <p:nvSpPr>
          <p:cNvPr id="13" name="Text Box 9"/>
          <p:cNvSpPr txBox="1">
            <a:spLocks noChangeArrowheads="1"/>
          </p:cNvSpPr>
          <p:nvPr userDrawn="1"/>
        </p:nvSpPr>
        <p:spPr bwMode="auto">
          <a:xfrm>
            <a:off x="2" y="1338863"/>
            <a:ext cx="3418339" cy="514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8223" tIns="64111" rIns="128223" bIns="64111">
            <a:spAutoFit/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defTabSz="1281692">
              <a:spcBef>
                <a:spcPct val="50000"/>
              </a:spcBef>
              <a:defRPr/>
            </a:pPr>
            <a:r>
              <a:rPr lang="en-US" altLang="ko-KR" sz="2500" dirty="0">
                <a:latin typeface="HY헤드라인M" pitchFamily="18" charset="-127"/>
                <a:ea typeface="HY헤드라인M" pitchFamily="18" charset="-127"/>
              </a:rPr>
              <a:t> 2026</a:t>
            </a:r>
            <a:r>
              <a:rPr lang="ko-KR" altLang="en-US" sz="2500" dirty="0">
                <a:latin typeface="HY헤드라인M" pitchFamily="18" charset="-127"/>
                <a:ea typeface="HY헤드라인M" pitchFamily="18" charset="-127"/>
              </a:rPr>
              <a:t>학년도 </a:t>
            </a:r>
            <a:r>
              <a:rPr lang="en-US" altLang="ko-KR" sz="2500" dirty="0">
                <a:latin typeface="HY헤드라인M" pitchFamily="18" charset="-127"/>
                <a:ea typeface="HY헤드라인M" pitchFamily="18" charset="-127"/>
              </a:rPr>
              <a:t>2</a:t>
            </a:r>
            <a:r>
              <a:rPr lang="ko-KR" altLang="en-US" sz="2500" dirty="0">
                <a:latin typeface="HY헤드라인M" pitchFamily="18" charset="-127"/>
                <a:ea typeface="HY헤드라인M" pitchFamily="18" charset="-127"/>
              </a:rPr>
              <a:t>학기</a:t>
            </a:r>
            <a:endParaRPr lang="en-US" altLang="ko-KR" sz="2500" dirty="0"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683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0" y="-1"/>
            <a:ext cx="12192000" cy="593826"/>
          </a:xfrm>
          <a:prstGeom prst="rect">
            <a:avLst/>
          </a:prstGeom>
          <a:solidFill>
            <a:srgbClr val="000000">
              <a:alpha val="7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145048" tIns="72524" rIns="145048" bIns="72524" anchor="ctr"/>
          <a:lstStyle/>
          <a:p>
            <a:pPr marR="0" lvl="0" indent="0" defTabSz="1450402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SB </a:t>
            </a:r>
            <a:r>
              <a:rPr kumimoji="0" lang="ko-KR" altLang="en-US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검수</a:t>
            </a:r>
            <a:r>
              <a:rPr kumimoji="0" lang="en-US" altLang="ko-KR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(1</a:t>
            </a:r>
            <a:r>
              <a:rPr kumimoji="0" lang="ko-KR" altLang="en-US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차</a:t>
            </a:r>
            <a:r>
              <a:rPr kumimoji="0" lang="en-US" altLang="ko-KR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)</a:t>
            </a:r>
            <a:r>
              <a:rPr kumimoji="0" lang="ko-KR" altLang="en-US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 체크리스트</a:t>
            </a:r>
          </a:p>
        </p:txBody>
      </p:sp>
    </p:spTree>
    <p:extLst>
      <p:ext uri="{BB962C8B-B14F-4D97-AF65-F5344CB8AC3E}">
        <p14:creationId xmlns:p14="http://schemas.microsoft.com/office/powerpoint/2010/main" val="2056909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2">
          <p15:clr>
            <a:srgbClr val="F26B43"/>
          </p15:clr>
        </p15:guide>
        <p15:guide id="2" pos="755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do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do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098762"/>
              </p:ext>
            </p:extLst>
          </p:nvPr>
        </p:nvGraphicFramePr>
        <p:xfrm>
          <a:off x="1435315" y="3543301"/>
          <a:ext cx="9321370" cy="2148243"/>
        </p:xfrm>
        <a:graphic>
          <a:graphicData uri="http://schemas.openxmlformats.org/drawingml/2006/table">
            <a:tbl>
              <a:tblPr/>
              <a:tblGrid>
                <a:gridCol w="2226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2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9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주차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주차명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주차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음악치료프로젝트의 이해</a:t>
                      </a: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2026. 08. 26</a:t>
                      </a: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최종</a:t>
                      </a: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6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담당교수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여정윤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6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대학설계자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최지선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6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업체명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19935" marR="119935" marT="51193" marB="511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SCU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 작성</a:t>
                      </a: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719" y="1881758"/>
            <a:ext cx="12184563" cy="706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8223" tIns="64111" rIns="128223" bIns="64111">
            <a:spAutoFit/>
          </a:bodyPr>
          <a:lstStyle>
            <a:lvl1pPr defTabSz="960438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60438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60438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60438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60438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vl="0" algn="ctr" eaLnBrk="1" hangingPunct="1">
              <a:spcBef>
                <a:spcPct val="50000"/>
              </a:spcBef>
              <a:defRPr/>
            </a:pPr>
            <a:r>
              <a:rPr lang="ko-KR" altLang="en-US" sz="3748" dirty="0">
                <a:solidFill>
                  <a:prstClr val="black"/>
                </a:solidFill>
                <a:latin typeface="HY헤드라인M" pitchFamily="18" charset="-127"/>
                <a:ea typeface="HY헤드라인M" pitchFamily="18" charset="-127"/>
              </a:rPr>
              <a:t>음악치료프로젝트</a:t>
            </a:r>
            <a:r>
              <a:rPr kumimoji="1" lang="ko-KR" altLang="en-US" sz="374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+mn-cs"/>
              </a:rPr>
              <a:t> </a:t>
            </a:r>
            <a:r>
              <a:rPr kumimoji="1" lang="en-US" altLang="ko-KR" sz="374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+mn-cs"/>
              </a:rPr>
              <a:t>storyboard</a:t>
            </a:r>
            <a:endParaRPr kumimoji="1" lang="en-US" altLang="ko-KR" sz="374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507638" y="-250167"/>
            <a:ext cx="684361" cy="1811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85673" tIns="42836" rIns="85673" bIns="4283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Ver 251211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869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1C616-388B-40B5-A992-60CDA0F8ED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</a:rPr>
              <a:t>01_02_01</a:t>
            </a:r>
            <a:endParaRPr lang="ko-KR" altLang="en-US" sz="100" dirty="0"/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학습개요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1D645C2-672F-45CF-A002-732740C7F0D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-16510" y="6273800"/>
            <a:ext cx="584200" cy="584200"/>
            <a:chOff x="11607800" y="6273800"/>
            <a:chExt cx="584200" cy="584200"/>
          </a:xfrm>
        </p:grpSpPr>
        <p:sp>
          <p:nvSpPr>
            <p:cNvPr id="31" name="직각 삼각형 30">
              <a:extLst>
                <a:ext uri="{FF2B5EF4-FFF2-40B4-BE49-F238E27FC236}">
                  <a16:creationId xmlns:a16="http://schemas.microsoft.com/office/drawing/2014/main" id="{3BE2AA33-8591-4817-8AB1-2D59D5A31004}"/>
                </a:ext>
              </a:extLst>
            </p:cNvPr>
            <p:cNvSpPr/>
            <p:nvPr/>
          </p:nvSpPr>
          <p:spPr>
            <a:xfrm flipH="1">
              <a:off x="11607800" y="6273800"/>
              <a:ext cx="584200" cy="584200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각 삼각형 31">
              <a:extLst>
                <a:ext uri="{FF2B5EF4-FFF2-40B4-BE49-F238E27FC236}">
                  <a16:creationId xmlns:a16="http://schemas.microsoft.com/office/drawing/2014/main" id="{A34A4230-2114-4178-B80E-0A66049340E7}"/>
                </a:ext>
              </a:extLst>
            </p:cNvPr>
            <p:cNvSpPr/>
            <p:nvPr/>
          </p:nvSpPr>
          <p:spPr>
            <a:xfrm flipV="1">
              <a:off x="11607800" y="6273800"/>
              <a:ext cx="584200" cy="58420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4405DCF-AA04-48D8-8AD5-F36F2A77FCA0}"/>
              </a:ext>
            </a:extLst>
          </p:cNvPr>
          <p:cNvSpPr txBox="1"/>
          <p:nvPr/>
        </p:nvSpPr>
        <p:spPr>
          <a:xfrm>
            <a:off x="1948589" y="334340"/>
            <a:ext cx="7198041" cy="292452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44450" marR="0" lvl="0" indent="0" algn="l" defTabSz="609467" rtl="0" eaLnBrk="1" fontAlgn="base" latinLnBrk="0" hangingPunct="1">
              <a:lnSpc>
                <a:spcPct val="110000"/>
              </a:lnSpc>
              <a:spcBef>
                <a:spcPts val="700"/>
              </a:spcBef>
              <a:spcAft>
                <a:spcPts val="28"/>
              </a:spcAft>
              <a:buClr>
                <a:prstClr val="white">
                  <a:lumMod val="65000"/>
                </a:prstClr>
              </a:buClr>
              <a:buSzPct val="110000"/>
              <a:buFontTx/>
              <a:buNone/>
              <a:tabLst>
                <a:tab pos="508000" algn="l"/>
                <a:tab pos="1016000" algn="l"/>
                <a:tab pos="1524000" algn="l"/>
                <a:tab pos="1996440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이번 시간의 학습목표와 학습내용을 확인하세요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.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CBCD983-40C1-42BB-936F-897EBC626A02}"/>
              </a:ext>
            </a:extLst>
          </p:cNvPr>
          <p:cNvGrpSpPr/>
          <p:nvPr/>
        </p:nvGrpSpPr>
        <p:grpSpPr>
          <a:xfrm>
            <a:off x="744260" y="1282319"/>
            <a:ext cx="7691715" cy="3259239"/>
            <a:chOff x="744260" y="1282319"/>
            <a:chExt cx="7691715" cy="3259239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D48F8A3F-05B8-44F7-9D99-8569C0623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495" y="1393625"/>
              <a:ext cx="6035480" cy="1181606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Font typeface="Arial" charset="0"/>
                <a:buNone/>
                <a:defRPr lang="en-US" altLang="ko-KR" sz="2000" dirty="0" smtClean="0">
                  <a:latin typeface="Microsoft Sans Serif" pitchFamily="34" charset="0"/>
                  <a:ea typeface="+mj-ea"/>
                  <a:cs typeface="Microsoft Sans Serif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latin typeface="+mn-lt"/>
                  <a:ea typeface="+mn-ea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latin typeface="+mn-lt"/>
                  <a:ea typeface="+mn-ea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latin typeface="+mn-lt"/>
                  <a:ea typeface="+mn-ea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latin typeface="+mn-lt"/>
                  <a:ea typeface="+mn-ea"/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  <a:ea typeface="+mn-ea"/>
                </a:defRPr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  <a:ea typeface="+mn-ea"/>
                </a:defRPr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  <a:ea typeface="+mn-ea"/>
                </a:defRPr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  <a:ea typeface="+mn-ea"/>
                </a:defRPr>
              </a:lvl9pPr>
            </a:lstStyle>
            <a:p>
              <a:pPr marL="317500" marR="76200" lvl="1" indent="-317500" eaLnBrk="1" fontAlgn="base" hangingPunct="1">
                <a:lnSpc>
                  <a:spcPct val="110000"/>
                </a:lnSpc>
                <a:spcBef>
                  <a:spcPts val="700"/>
                </a:spcBef>
                <a:spcAft>
                  <a:spcPts val="28"/>
                </a:spcAft>
                <a:buClr>
                  <a:prstClr val="white">
                    <a:lumMod val="65000"/>
                  </a:prstClr>
                </a:buClr>
                <a:buSzPct val="130000"/>
                <a:buBlip>
                  <a:blip r:embed="rId3"/>
                </a:buBlip>
                <a:tabLst>
                  <a:tab pos="508000" algn="l"/>
                  <a:tab pos="1016000" algn="l"/>
                  <a:tab pos="1524000" algn="l"/>
                  <a:tab pos="1996440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교과목의 목표와 학습내용을 설명할 수 있다</a:t>
              </a:r>
              <a:r>
                <a:rPr lang="en-US" altLang="ko-KR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  <a:p>
              <a:pPr marL="317500" marR="76200" lvl="1" indent="-317500" eaLnBrk="1" fontAlgn="base" hangingPunct="1">
                <a:lnSpc>
                  <a:spcPct val="110000"/>
                </a:lnSpc>
                <a:spcBef>
                  <a:spcPts val="700"/>
                </a:spcBef>
                <a:spcAft>
                  <a:spcPts val="28"/>
                </a:spcAft>
                <a:buClr>
                  <a:prstClr val="white">
                    <a:lumMod val="65000"/>
                  </a:prstClr>
                </a:buClr>
                <a:buSzPct val="130000"/>
                <a:buBlip>
                  <a:blip r:embed="rId3"/>
                </a:buBlip>
                <a:tabLst>
                  <a:tab pos="508000" algn="l"/>
                  <a:tab pos="1016000" algn="l"/>
                  <a:tab pos="1524000" algn="l"/>
                  <a:tab pos="1996440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음악치료프로젝트의 기본 요소를 설명할 수 있다</a:t>
              </a:r>
              <a:r>
                <a:rPr lang="en-US" altLang="ko-KR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  <a:p>
              <a:pPr marL="317500" marR="76200" lvl="1" indent="-317500" eaLnBrk="1" fontAlgn="base" hangingPunct="1">
                <a:lnSpc>
                  <a:spcPct val="110000"/>
                </a:lnSpc>
                <a:spcBef>
                  <a:spcPts val="700"/>
                </a:spcBef>
                <a:spcAft>
                  <a:spcPts val="28"/>
                </a:spcAft>
                <a:buClr>
                  <a:prstClr val="white">
                    <a:lumMod val="65000"/>
                  </a:prstClr>
                </a:buClr>
                <a:buSzPct val="130000"/>
                <a:buBlip>
                  <a:blip r:embed="rId3"/>
                </a:buBlip>
                <a:tabLst>
                  <a:tab pos="508000" algn="l"/>
                  <a:tab pos="1016000" algn="l"/>
                  <a:tab pos="1524000" algn="l"/>
                  <a:tab pos="1996440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음악치료프로젝트를 구체적으로 기획할 수 있다</a:t>
              </a:r>
              <a:r>
                <a:rPr lang="en-US" altLang="ko-KR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  <a:endPara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AD4544D7-40D5-4349-946A-95F04E307BDF}"/>
                </a:ext>
              </a:extLst>
            </p:cNvPr>
            <p:cNvSpPr/>
            <p:nvPr/>
          </p:nvSpPr>
          <p:spPr>
            <a:xfrm>
              <a:off x="2363388" y="3273144"/>
              <a:ext cx="270457" cy="270457"/>
            </a:xfrm>
            <a:prstGeom prst="ellipse">
              <a:avLst/>
            </a:prstGeom>
            <a:solidFill>
              <a:srgbClr val="12181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1</a:t>
              </a:r>
              <a:endParaRPr kumimoji="0" lang="ko-KR" altLang="en-US" sz="18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43F0755B-210B-4376-A749-47CB6C901C76}"/>
                </a:ext>
              </a:extLst>
            </p:cNvPr>
            <p:cNvSpPr/>
            <p:nvPr/>
          </p:nvSpPr>
          <p:spPr>
            <a:xfrm>
              <a:off x="2363388" y="3695570"/>
              <a:ext cx="270457" cy="270457"/>
            </a:xfrm>
            <a:prstGeom prst="ellipse">
              <a:avLst/>
            </a:prstGeom>
            <a:solidFill>
              <a:srgbClr val="12181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2</a:t>
              </a:r>
              <a:endParaRPr kumimoji="0" lang="ko-KR" altLang="en-US" sz="18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BDBCCB5-A577-4EC8-B8BD-009C20C0AA36}"/>
                </a:ext>
              </a:extLst>
            </p:cNvPr>
            <p:cNvSpPr txBox="1"/>
            <p:nvPr/>
          </p:nvSpPr>
          <p:spPr>
            <a:xfrm>
              <a:off x="2626395" y="3188887"/>
              <a:ext cx="5071816" cy="8456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algn="l" defTabSz="609467" rtl="0" eaLnBrk="1" fontAlgn="base" latinLnBrk="0" hangingPunct="1">
                <a:lnSpc>
                  <a:spcPct val="110000"/>
                </a:lnSpc>
                <a:spcBef>
                  <a:spcPts val="70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110000"/>
                <a:buFontTx/>
                <a:buNone/>
                <a:tabLst>
                  <a:tab pos="1016000" algn="l"/>
                  <a:tab pos="1524000" algn="l"/>
                  <a:tab pos="1995488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교과목 이해　</a:t>
              </a:r>
              <a:endPara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  <a:p>
              <a:pPr marL="0" marR="0" lvl="1" indent="0" algn="l" defTabSz="609467" rtl="0" eaLnBrk="1" fontAlgn="base" latinLnBrk="0" hangingPunct="1">
                <a:lnSpc>
                  <a:spcPct val="110000"/>
                </a:lnSpc>
                <a:spcBef>
                  <a:spcPts val="70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110000"/>
                <a:buFontTx/>
                <a:buNone/>
                <a:tabLst>
                  <a:tab pos="1016000" algn="l"/>
                  <a:tab pos="1524000" algn="l"/>
                  <a:tab pos="1995488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음악치료프로젝트 기본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8944FD8-EADB-4698-8F47-B7093DD2CF2E}"/>
                </a:ext>
              </a:extLst>
            </p:cNvPr>
            <p:cNvSpPr/>
            <p:nvPr/>
          </p:nvSpPr>
          <p:spPr>
            <a:xfrm>
              <a:off x="744260" y="3123748"/>
              <a:ext cx="1417810" cy="1417810"/>
            </a:xfrm>
            <a:prstGeom prst="ellipse">
              <a:avLst/>
            </a:prstGeom>
            <a:solidFill>
              <a:srgbClr val="5DCEA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dole"/>
                <a:ea typeface="맑은 고딕"/>
                <a:cs typeface="+mn-cs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9FED5D1-B64B-40BB-9F99-B402825585CC}"/>
                </a:ext>
              </a:extLst>
            </p:cNvPr>
            <p:cNvSpPr/>
            <p:nvPr/>
          </p:nvSpPr>
          <p:spPr>
            <a:xfrm>
              <a:off x="758564" y="3812224"/>
              <a:ext cx="1389203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609467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08000" algn="l"/>
                  <a:tab pos="1016000" algn="l"/>
                  <a:tab pos="1524000" algn="l"/>
                  <a:tab pos="1996440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kumimoji="0" lang="ko-KR" altLang="en-US" sz="2200" b="0" i="0" u="none" strike="noStrike" kern="1200" cap="none" spc="-15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+mn-cs"/>
                </a:rPr>
                <a:t>학습내용</a:t>
              </a: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296A160-8495-45A1-A78A-6AAF2C71C46F}"/>
                </a:ext>
              </a:extLst>
            </p:cNvPr>
            <p:cNvSpPr/>
            <p:nvPr/>
          </p:nvSpPr>
          <p:spPr>
            <a:xfrm>
              <a:off x="744260" y="1282319"/>
              <a:ext cx="1417810" cy="1417810"/>
            </a:xfrm>
            <a:prstGeom prst="ellipse">
              <a:avLst/>
            </a:prstGeom>
            <a:solidFill>
              <a:srgbClr val="F6C7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070F326-A676-4D80-898F-E3FC35B5B3E8}"/>
                </a:ext>
              </a:extLst>
            </p:cNvPr>
            <p:cNvSpPr/>
            <p:nvPr/>
          </p:nvSpPr>
          <p:spPr>
            <a:xfrm>
              <a:off x="758564" y="1970795"/>
              <a:ext cx="1389203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609467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08000" algn="l"/>
                  <a:tab pos="1016000" algn="l"/>
                  <a:tab pos="1524000" algn="l"/>
                  <a:tab pos="1996440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kumimoji="0" lang="ko-KR" altLang="en-US" sz="2200" b="0" i="0" u="none" strike="noStrike" kern="1200" cap="none" spc="-15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+mn-cs"/>
                </a:rPr>
                <a:t>학습목표</a:t>
              </a: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67463243-9B83-4F51-88B8-07E86CEC2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46870" y="1543674"/>
              <a:ext cx="412591" cy="412591"/>
            </a:xfrm>
            <a:prstGeom prst="rect">
              <a:avLst/>
            </a:prstGeom>
          </p:spPr>
        </p:pic>
      </p:grpSp>
      <p:pic>
        <p:nvPicPr>
          <p:cNvPr id="42" name="그림 41">
            <a:extLst>
              <a:ext uri="{FF2B5EF4-FFF2-40B4-BE49-F238E27FC236}">
                <a16:creationId xmlns:a16="http://schemas.microsoft.com/office/drawing/2014/main" id="{B09648B5-AECE-4992-A0B1-0DA66C9BC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104" y="3336285"/>
            <a:ext cx="463553" cy="46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68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CFBF9B6-2494-4049-A86E-FF293A59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02_01_01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교과목 이해</a:t>
            </a:r>
          </a:p>
        </p:txBody>
      </p:sp>
    </p:spTree>
    <p:extLst>
      <p:ext uri="{BB962C8B-B14F-4D97-AF65-F5344CB8AC3E}">
        <p14:creationId xmlns:p14="http://schemas.microsoft.com/office/powerpoint/2010/main" val="2069852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음악치료프로젝트 과목 이해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3C98F5-8AA3-4F03-A57F-740C9CA11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</a:rPr>
              <a:t>학생의 수업 목표 </a:t>
            </a:r>
            <a:r>
              <a:rPr lang="en-US" altLang="ko-KR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</a:rPr>
              <a:t>: </a:t>
            </a:r>
            <a:r>
              <a:rPr lang="ko-KR" altLang="en-US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</a:rPr>
              <a:t>한 학기 하나의 임상프로젝트를 완성함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A1C616-388B-40B5-A992-60CDA0F8ED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100" dirty="0"/>
              <a:t>02_01_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</a:rPr>
              <a:t>02_01_01</a:t>
            </a:r>
            <a:r>
              <a:rPr lang="en-US" altLang="ko-KR" sz="100" dirty="0"/>
              <a:t>01</a:t>
            </a:r>
            <a:endParaRPr lang="ko-KR" altLang="en-US" sz="100" dirty="0"/>
          </a:p>
        </p:txBody>
      </p:sp>
      <p:graphicFrame>
        <p:nvGraphicFramePr>
          <p:cNvPr id="21" name="표 5">
            <a:extLst>
              <a:ext uri="{FF2B5EF4-FFF2-40B4-BE49-F238E27FC236}">
                <a16:creationId xmlns:a16="http://schemas.microsoft.com/office/drawing/2014/main" id="{AD1687C7-6FC1-4DB6-B929-D1632A1E4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862989"/>
              </p:ext>
            </p:extLst>
          </p:nvPr>
        </p:nvGraphicFramePr>
        <p:xfrm>
          <a:off x="634447" y="1428751"/>
          <a:ext cx="7801528" cy="4704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451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6118077">
                  <a:extLst>
                    <a:ext uri="{9D8B030D-6E8A-4147-A177-3AD203B41FA5}">
                      <a16:colId xmlns:a16="http://schemas.microsoft.com/office/drawing/2014/main" val="3303217483"/>
                    </a:ext>
                  </a:extLst>
                </a:gridCol>
              </a:tblGrid>
              <a:tr h="2884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구분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D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교과목 개관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44354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대상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BF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음악치료 박사과정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임상연구 및 프로그램 개발 프로젝트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5356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교과목 성격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BF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프로그램 개발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–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평가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–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연구보고서를 연결하는 </a:t>
                      </a:r>
                      <a:b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프로젝트 기반 학습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(PBL)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989816"/>
                  </a:ext>
                </a:extLst>
              </a:tr>
              <a:tr h="5356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핵심 질문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BF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누구의 어떤 임상문제를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어떤 음악치료 기전으로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b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어떻게 평가할 것인가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?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17585"/>
                  </a:ext>
                </a:extLst>
              </a:tr>
              <a:tr h="7577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최종 산출물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BF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프로그램 매뉴얼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연구 프로토콜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평가도구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b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데이터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분석계획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연구보고서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081467"/>
                  </a:ext>
                </a:extLst>
              </a:tr>
              <a:tr h="5356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운영 방식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BF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세미나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설계 스튜디오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동료 피드백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전문가 자문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b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현장 적용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모의수행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397760"/>
                  </a:ext>
                </a:extLst>
              </a:tr>
              <a:tr h="5356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교과목 수준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BF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독립 연구자로서 설계 판단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연구윤리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재현성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b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학술적 확산을 책임지는 수준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B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29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39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음악치료프로젝트 과목 이해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3C98F5-8AA3-4F03-A57F-740C9CA11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endParaRPr lang="en-US" altLang="ko-KR" b="1" dirty="0"/>
          </a:p>
          <a:p>
            <a:r>
              <a:rPr lang="ko-KR" altLang="en-US" dirty="0"/>
              <a:t>교과목 수업 목표 </a:t>
            </a:r>
            <a:r>
              <a:rPr lang="en-US" altLang="ko-KR" dirty="0"/>
              <a:t>: </a:t>
            </a:r>
            <a:r>
              <a:rPr lang="ko-KR" altLang="en-US" dirty="0"/>
              <a:t>개발 평가 보고의 독립적 수행 역량 </a:t>
            </a:r>
            <a:endParaRPr lang="en-US" altLang="ko-KR" dirty="0"/>
          </a:p>
          <a:p>
            <a:pPr fontAlgn="base"/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A1C616-388B-40B5-A992-60CDA0F8ED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100" dirty="0"/>
              <a:t>02_01_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</a:rPr>
              <a:t>02_01_01</a:t>
            </a:r>
            <a:r>
              <a:rPr lang="en-US" altLang="ko-KR" sz="100" dirty="0"/>
              <a:t>01</a:t>
            </a:r>
            <a:endParaRPr lang="ko-KR" altLang="en-US" sz="100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9D6BD88-7F8E-4E89-A872-5ABBC03BD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4435"/>
              </p:ext>
            </p:extLst>
          </p:nvPr>
        </p:nvGraphicFramePr>
        <p:xfrm>
          <a:off x="639959" y="1428751"/>
          <a:ext cx="7804150" cy="5071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153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4412511">
                  <a:extLst>
                    <a:ext uri="{9D8B030D-6E8A-4147-A177-3AD203B41FA5}">
                      <a16:colId xmlns:a16="http://schemas.microsoft.com/office/drawing/2014/main" val="2885941885"/>
                    </a:ext>
                  </a:extLst>
                </a:gridCol>
                <a:gridCol w="2819486">
                  <a:extLst>
                    <a:ext uri="{9D8B030D-6E8A-4147-A177-3AD203B41FA5}">
                      <a16:colId xmlns:a16="http://schemas.microsoft.com/office/drawing/2014/main" val="3303217483"/>
                    </a:ext>
                  </a:extLst>
                </a:gridCol>
              </a:tblGrid>
              <a:tr h="3109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목표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CE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학습성과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CE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확인 가능한 산출물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CE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577454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1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임상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사회적 요구와 근거격차를 분석함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요구분석표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근거지도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문제정의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577454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2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프로그램 이론과 재현 가능한 중재를 설계함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논리모형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매뉴얼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b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충실도 기준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091502"/>
                  </a:ext>
                </a:extLst>
              </a:tr>
              <a:tr h="577454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3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개발단계에 맞는 평가질문과 프로그램 </a:t>
                      </a:r>
                      <a:b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설계를 선택함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타당성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과정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효과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b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실행 평가계획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516895"/>
                  </a:ext>
                </a:extLst>
              </a:tr>
              <a:tr h="816881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연구윤리와 투명성을 프로토콜에 반영함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IRB 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문서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사전등록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b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데이터관리계획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933199"/>
                  </a:ext>
                </a:extLst>
              </a:tr>
              <a:tr h="577454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수행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모니터링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변경관리를 주도함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운영일지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일탈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변경 기록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품질관리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66361"/>
                  </a:ext>
                </a:extLst>
              </a:tr>
              <a:tr h="577454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6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결과를 해석하고 학술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임상적으로 확산함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0988" marR="0" lvl="1" indent="-280988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Blip>
                          <a:blip r:embed="rId3"/>
                        </a:buBlip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연구보고서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발표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b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프로그램 패키지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328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270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음악치료프로젝트 과목 이해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3C98F5-8AA3-4F03-A57F-740C9CA11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fontAlgn="base"/>
            <a:r>
              <a:rPr lang="ko-KR" altLang="en-US" b="1" dirty="0"/>
              <a:t>운영방향 </a:t>
            </a:r>
            <a:r>
              <a:rPr lang="en-US" altLang="ko-KR" b="1" dirty="0"/>
              <a:t>: </a:t>
            </a:r>
            <a:r>
              <a:rPr lang="ko-KR" altLang="en-US" b="1" dirty="0"/>
              <a:t>매주 ‘결정</a:t>
            </a:r>
            <a:r>
              <a:rPr lang="en-US" altLang="ko-KR" b="1" dirty="0"/>
              <a:t>-</a:t>
            </a:r>
            <a:r>
              <a:rPr lang="ko-KR" altLang="en-US" b="1" dirty="0"/>
              <a:t>산출</a:t>
            </a:r>
            <a:r>
              <a:rPr lang="en-US" altLang="ko-KR" b="1" dirty="0"/>
              <a:t>-</a:t>
            </a:r>
            <a:r>
              <a:rPr lang="ko-KR" altLang="en-US" b="1" dirty="0"/>
              <a:t>피드백</a:t>
            </a:r>
            <a:r>
              <a:rPr lang="en-US" altLang="ko-KR" b="1" dirty="0"/>
              <a:t>-</a:t>
            </a:r>
            <a:r>
              <a:rPr lang="ko-KR" altLang="en-US" b="1" dirty="0"/>
              <a:t>수정</a:t>
            </a:r>
            <a:r>
              <a:rPr lang="en-US" altLang="ko-KR" b="1" dirty="0"/>
              <a:t>’</a:t>
            </a:r>
            <a:r>
              <a:rPr lang="ko-KR" altLang="en-US" b="1" dirty="0"/>
              <a:t>을 반복함</a:t>
            </a:r>
            <a:r>
              <a:rPr lang="en-US" altLang="ko-KR" b="1" dirty="0"/>
              <a:t> 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A1C616-388B-40B5-A992-60CDA0F8ED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100" dirty="0"/>
              <a:t>02_01_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</a:rPr>
              <a:t>02_01_01</a:t>
            </a:r>
            <a:r>
              <a:rPr lang="en-US" altLang="ko-KR" sz="100" dirty="0"/>
              <a:t>01</a:t>
            </a:r>
            <a:endParaRPr lang="ko-KR" altLang="en-US" sz="100" dirty="0"/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CA3C8148-A8B3-4A5B-89E8-E3E29CCBE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296343"/>
              </p:ext>
            </p:extLst>
          </p:nvPr>
        </p:nvGraphicFramePr>
        <p:xfrm>
          <a:off x="639959" y="1428750"/>
          <a:ext cx="7804149" cy="5022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994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2918772">
                  <a:extLst>
                    <a:ext uri="{9D8B030D-6E8A-4147-A177-3AD203B41FA5}">
                      <a16:colId xmlns:a16="http://schemas.microsoft.com/office/drawing/2014/main" val="2885941885"/>
                    </a:ext>
                  </a:extLst>
                </a:gridCol>
                <a:gridCol w="2601383">
                  <a:extLst>
                    <a:ext uri="{9D8B030D-6E8A-4147-A177-3AD203B41FA5}">
                      <a16:colId xmlns:a16="http://schemas.microsoft.com/office/drawing/2014/main" val="1781955990"/>
                    </a:ext>
                  </a:extLst>
                </a:gridCol>
              </a:tblGrid>
              <a:tr h="2960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운영 원칙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6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수업 적용 방식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6D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주요 증거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6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프로젝트 기반 학습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학생별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임상문제를 </a:t>
                      </a:r>
                      <a:b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실제 프로젝트로 전환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주차별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버전 산출물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근거기반 음악치료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문헌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임상전문성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대상자 </a:t>
                      </a:r>
                      <a:b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가치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맥락을 통합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근거표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설계근거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단계별 게이트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Go/Amend/Stop </a:t>
                      </a:r>
                      <a:b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기준으로 다음 단계 진입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게이트 </a:t>
                      </a:r>
                      <a:r>
                        <a:rPr lang="ko-KR" altLang="en-US" sz="1900" b="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점검표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056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반복적 공동설계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대상자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임상가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기관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b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동료의 피드백 반영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피드백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변경 이력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윤리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재현성 내재화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IRB·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등록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자료관리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b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보고지침을 사전 설계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프로토콜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·DMP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91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포트폴리오 평가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결과뿐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아니라 판단 근거와 개선과정을 평가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매뉴얼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보고서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발표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A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626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690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음악치료프로젝트 과목 이해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3C98F5-8AA3-4F03-A57F-740C9CA11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altLang="ko-KR" b="1" dirty="0"/>
              <a:t>1-7</a:t>
            </a:r>
            <a:r>
              <a:rPr lang="ko-KR" altLang="en-US" b="1" dirty="0"/>
              <a:t>주차 </a:t>
            </a:r>
            <a:r>
              <a:rPr lang="en-US" altLang="ko-KR" b="1" dirty="0"/>
              <a:t>: </a:t>
            </a:r>
            <a:r>
              <a:rPr lang="ko-KR" altLang="en-US" b="1" dirty="0"/>
              <a:t>임상문제를 실행가능한 프로토콜로 만듦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A1C616-388B-40B5-A992-60CDA0F8ED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100" dirty="0"/>
              <a:t>02_01_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</a:rPr>
              <a:t>02_01_01</a:t>
            </a:r>
            <a:r>
              <a:rPr lang="en-US" altLang="ko-KR" sz="100" dirty="0"/>
              <a:t>01</a:t>
            </a:r>
            <a:endParaRPr lang="ko-KR" altLang="en-US" sz="100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8B1E2B9E-7AAA-4607-B3F0-44CEDC3F0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401548"/>
              </p:ext>
            </p:extLst>
          </p:nvPr>
        </p:nvGraphicFramePr>
        <p:xfrm>
          <a:off x="639959" y="1428750"/>
          <a:ext cx="7804150" cy="451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153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2041451">
                  <a:extLst>
                    <a:ext uri="{9D8B030D-6E8A-4147-A177-3AD203B41FA5}">
                      <a16:colId xmlns:a16="http://schemas.microsoft.com/office/drawing/2014/main" val="2885941885"/>
                    </a:ext>
                  </a:extLst>
                </a:gridCol>
                <a:gridCol w="5190546">
                  <a:extLst>
                    <a:ext uri="{9D8B030D-6E8A-4147-A177-3AD203B41FA5}">
                      <a16:colId xmlns:a16="http://schemas.microsoft.com/office/drawing/2014/main" val="3303217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주차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CE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주제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CE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핵심 내용 및 산출물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CE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1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교과목 개관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PBL 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운영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프로젝트 생애주기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최종 산출물과 평가기준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2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요구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근거격차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사례분석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·Needs Assessment·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대상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b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맥락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초기 근거탐색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091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3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연구질문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변화기전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en-US" altLang="ko-KR" sz="19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PICO+M+Context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연구목적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논리모형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핵심 가정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51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프로그램 설계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회기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음악요소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용량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맞춤화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매뉴얼 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v1·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안전기준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933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공동설계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사전검증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이해관계자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전문가 피드백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협력체계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변경이력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6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6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파일럿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운영계획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모집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수용성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안전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진행기준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일정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자원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예산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32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7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프로토콜 피칭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실행계획 발표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전문가 피드백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윤리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b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타당성 최종 점검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49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10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음악치료프로젝트 과목 이해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3C98F5-8AA3-4F03-A57F-740C9CA11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altLang="ko-KR" b="1" dirty="0"/>
              <a:t>8-14</a:t>
            </a:r>
            <a:r>
              <a:rPr lang="ko-KR" altLang="en-US" b="1" dirty="0"/>
              <a:t>주차 </a:t>
            </a:r>
            <a:r>
              <a:rPr lang="en-US" altLang="ko-KR" b="1" dirty="0"/>
              <a:t>: </a:t>
            </a:r>
            <a:r>
              <a:rPr lang="ko-KR" altLang="en-US" b="1" dirty="0"/>
              <a:t>평가수행과 프로젝트 보고서 완성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A1C616-388B-40B5-A992-60CDA0F8ED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100" dirty="0"/>
              <a:t>02_01_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</a:rPr>
              <a:t>02_01_01</a:t>
            </a:r>
            <a:r>
              <a:rPr lang="en-US" altLang="ko-KR" sz="100" dirty="0"/>
              <a:t>01</a:t>
            </a:r>
            <a:endParaRPr lang="ko-KR" altLang="en-US" sz="100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8B1E2B9E-7AAA-4607-B3F0-44CEDC3F0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529241"/>
              </p:ext>
            </p:extLst>
          </p:nvPr>
        </p:nvGraphicFramePr>
        <p:xfrm>
          <a:off x="639959" y="1428750"/>
          <a:ext cx="7804150" cy="4011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153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2041451">
                  <a:extLst>
                    <a:ext uri="{9D8B030D-6E8A-4147-A177-3AD203B41FA5}">
                      <a16:colId xmlns:a16="http://schemas.microsoft.com/office/drawing/2014/main" val="2885941885"/>
                    </a:ext>
                  </a:extLst>
                </a:gridCol>
                <a:gridCol w="5190546">
                  <a:extLst>
                    <a:ext uri="{9D8B030D-6E8A-4147-A177-3AD203B41FA5}">
                      <a16:colId xmlns:a16="http://schemas.microsoft.com/office/drawing/2014/main" val="3303217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주차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CE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주제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CE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9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핵심 내용 및 산출물</a:t>
                      </a:r>
                    </a:p>
                  </a:txBody>
                  <a:tcPr marL="0" marR="0" marT="54000" marB="54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CE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중간평가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개발 패키지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파일럿 프로토콜 발표 및 설계 평가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연구설계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결과지표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비교조건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·1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차 결과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시점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표본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분석단위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091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10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과정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실행평가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치료충실도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도달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용량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맥락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·RE-AIM 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적용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51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11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윤리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등록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자료관리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IRB·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동의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·CRIS 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사전등록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데이터관리계획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933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12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수행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현장 모니터링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파일럿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모의수행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운영일지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일탈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변경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품질관리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6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13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분석</a:t>
                      </a: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연구보고서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효과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불확실성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기전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맥락 해석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en-US" altLang="ko-KR" sz="19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IMRaD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초안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32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14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최종 발표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–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평가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–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보고 전 과정 발표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동료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전문가 평가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49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en-US" altLang="ko-KR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15</a:t>
                      </a:r>
                      <a:endParaRPr lang="ko-KR" altLang="en-US" sz="1900" b="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01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00" b="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최종평가</a:t>
                      </a:r>
                    </a:p>
                  </a:txBody>
                  <a:tcPr marL="72000" marR="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609467" rtl="0" eaLnBrk="1" fontAlgn="base" latinLnBrk="0" hangingPunct="1">
                        <a:lnSpc>
                          <a:spcPct val="11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+mj-lt"/>
                        <a:buNone/>
                        <a:tabLst>
                          <a:tab pos="2960688" algn="l"/>
                        </a:tabLst>
                        <a:defRPr/>
                      </a:pP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매뉴얼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프로토콜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도구</a:t>
                      </a:r>
                      <a:r>
                        <a:rPr lang="en-US" altLang="ko-KR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9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보고서 포트폴리오 제출</a:t>
                      </a:r>
                    </a:p>
                  </a:txBody>
                  <a:tcPr marL="108000" marR="36000" marT="72000" marB="72000" anchor="ctr">
                    <a:lnL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CE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862311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57495727-09E9-4778-8CCF-F5A28A79CA91}"/>
              </a:ext>
            </a:extLst>
          </p:cNvPr>
          <p:cNvGrpSpPr>
            <a:grpSpLocks/>
          </p:cNvGrpSpPr>
          <p:nvPr/>
        </p:nvGrpSpPr>
        <p:grpSpPr bwMode="auto">
          <a:xfrm>
            <a:off x="11607800" y="6273800"/>
            <a:ext cx="584200" cy="584200"/>
            <a:chOff x="11607800" y="6273800"/>
            <a:chExt cx="584200" cy="584200"/>
          </a:xfrm>
        </p:grpSpPr>
        <p:sp>
          <p:nvSpPr>
            <p:cNvPr id="9" name="직각 삼각형 8">
              <a:extLst>
                <a:ext uri="{FF2B5EF4-FFF2-40B4-BE49-F238E27FC236}">
                  <a16:creationId xmlns:a16="http://schemas.microsoft.com/office/drawing/2014/main" id="{6A9DBE80-57D4-4A6E-B90D-A3F4980ADC9B}"/>
                </a:ext>
              </a:extLst>
            </p:cNvPr>
            <p:cNvSpPr/>
            <p:nvPr/>
          </p:nvSpPr>
          <p:spPr>
            <a:xfrm flipH="1">
              <a:off x="11607800" y="6273800"/>
              <a:ext cx="584200" cy="584200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직각 삼각형 9">
              <a:extLst>
                <a:ext uri="{FF2B5EF4-FFF2-40B4-BE49-F238E27FC236}">
                  <a16:creationId xmlns:a16="http://schemas.microsoft.com/office/drawing/2014/main" id="{BE8C704D-1B3A-46AB-B1C4-A1752031DE0B}"/>
                </a:ext>
              </a:extLst>
            </p:cNvPr>
            <p:cNvSpPr/>
            <p:nvPr/>
          </p:nvSpPr>
          <p:spPr>
            <a:xfrm flipV="1">
              <a:off x="11607800" y="6273800"/>
              <a:ext cx="584200" cy="584200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881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CFBF9B6-2494-4049-A86E-FF293A59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03_01_01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음악치료프로젝트의 기본</a:t>
            </a:r>
          </a:p>
        </p:txBody>
      </p:sp>
    </p:spTree>
    <p:extLst>
      <p:ext uri="{BB962C8B-B14F-4D97-AF65-F5344CB8AC3E}">
        <p14:creationId xmlns:p14="http://schemas.microsoft.com/office/powerpoint/2010/main" val="2143226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음악치료프로젝트의 필요성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3C98F5-8AA3-4F03-A57F-740C9CA11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ko-KR" altLang="en-US" b="1" dirty="0"/>
              <a:t>프로젝트의 사전적 의미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A1C616-388B-40B5-A992-60CDA0F8ED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100" dirty="0"/>
              <a:t>02_01_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</a:rPr>
              <a:t>03_01_01</a:t>
            </a:r>
            <a:r>
              <a:rPr lang="en-US" altLang="ko-KR" sz="100" dirty="0"/>
              <a:t>01</a:t>
            </a:r>
            <a:endParaRPr lang="ko-KR" altLang="en-US" sz="1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8A17EEB-46D0-437A-8A16-0E177A782B2C}"/>
              </a:ext>
            </a:extLst>
          </p:cNvPr>
          <p:cNvSpPr/>
          <p:nvPr/>
        </p:nvSpPr>
        <p:spPr>
          <a:xfrm>
            <a:off x="635000" y="1428750"/>
            <a:ext cx="7793521" cy="540000"/>
          </a:xfrm>
          <a:custGeom>
            <a:avLst/>
            <a:gdLst>
              <a:gd name="connsiteX0" fmla="*/ 0 w 5202754"/>
              <a:gd name="connsiteY0" fmla="*/ 0 h 4572000"/>
              <a:gd name="connsiteX1" fmla="*/ 5202754 w 5202754"/>
              <a:gd name="connsiteY1" fmla="*/ 0 h 4572000"/>
              <a:gd name="connsiteX2" fmla="*/ 5202754 w 5202754"/>
              <a:gd name="connsiteY2" fmla="*/ 4572000 h 4572000"/>
              <a:gd name="connsiteX3" fmla="*/ 0 w 5202754"/>
              <a:gd name="connsiteY3" fmla="*/ 4572000 h 4572000"/>
              <a:gd name="connsiteX4" fmla="*/ 0 w 5202754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2754" h="4572000">
                <a:moveTo>
                  <a:pt x="0" y="0"/>
                </a:moveTo>
                <a:lnTo>
                  <a:pt x="5202754" y="0"/>
                </a:lnTo>
                <a:lnTo>
                  <a:pt x="5202754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12700" dist="38100" dir="2400000" algn="tl" rotWithShape="0">
              <a:srgbClr val="B9B7B7">
                <a:alpha val="83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lvl="1" algn="ctr">
              <a:lnSpc>
                <a:spcPct val="110000"/>
              </a:lnSpc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연구나 사업 또는 그 계획</a:t>
            </a: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pic>
        <p:nvPicPr>
          <p:cNvPr id="9" name="그림 개체 틀 27" descr="사람, 테이블, 실내, 사람들이(가) 표시된 사진&#10;&#10;자동 생성된 설명">
            <a:extLst>
              <a:ext uri="{FF2B5EF4-FFF2-40B4-BE49-F238E27FC236}">
                <a16:creationId xmlns:a16="http://schemas.microsoft.com/office/drawing/2014/main" id="{3A57C635-E352-4298-A126-2ADB3F9A16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4" r="2024"/>
          <a:stretch>
            <a:fillRect/>
          </a:stretch>
        </p:blipFill>
        <p:spPr>
          <a:xfrm>
            <a:off x="1554053" y="2353716"/>
            <a:ext cx="5952976" cy="4135984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3687113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음악치료프로젝트의 필요성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3C98F5-8AA3-4F03-A57F-740C9CA11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ko-KR" altLang="en-US" b="1" dirty="0"/>
              <a:t>음악치료 프로젝트란</a:t>
            </a:r>
            <a:r>
              <a:rPr lang="en-US" altLang="ko-KR" b="1" dirty="0"/>
              <a:t>?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A1C616-388B-40B5-A992-60CDA0F8ED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100" dirty="0"/>
              <a:t>02_01_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</a:rPr>
              <a:t>03_01_01</a:t>
            </a:r>
            <a:r>
              <a:rPr lang="en-US" altLang="ko-KR" sz="100" dirty="0"/>
              <a:t>01</a:t>
            </a:r>
            <a:endParaRPr lang="ko-KR" altLang="en-US" sz="1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8A17EEB-46D0-437A-8A16-0E177A782B2C}"/>
              </a:ext>
            </a:extLst>
          </p:cNvPr>
          <p:cNvSpPr/>
          <p:nvPr/>
        </p:nvSpPr>
        <p:spPr>
          <a:xfrm>
            <a:off x="635000" y="1428750"/>
            <a:ext cx="7793521" cy="900000"/>
          </a:xfrm>
          <a:custGeom>
            <a:avLst/>
            <a:gdLst>
              <a:gd name="connsiteX0" fmla="*/ 0 w 5202754"/>
              <a:gd name="connsiteY0" fmla="*/ 0 h 4572000"/>
              <a:gd name="connsiteX1" fmla="*/ 5202754 w 5202754"/>
              <a:gd name="connsiteY1" fmla="*/ 0 h 4572000"/>
              <a:gd name="connsiteX2" fmla="*/ 5202754 w 5202754"/>
              <a:gd name="connsiteY2" fmla="*/ 4572000 h 4572000"/>
              <a:gd name="connsiteX3" fmla="*/ 0 w 5202754"/>
              <a:gd name="connsiteY3" fmla="*/ 4572000 h 4572000"/>
              <a:gd name="connsiteX4" fmla="*/ 0 w 5202754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2754" h="4572000">
                <a:moveTo>
                  <a:pt x="0" y="0"/>
                </a:moveTo>
                <a:lnTo>
                  <a:pt x="5202754" y="0"/>
                </a:lnTo>
                <a:lnTo>
                  <a:pt x="5202754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12700" dist="38100" dir="2400000" algn="tl" rotWithShape="0">
              <a:srgbClr val="B9B7B7">
                <a:alpha val="83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lvl="1" algn="ctr">
              <a:lnSpc>
                <a:spcPct val="110000"/>
              </a:lnSpc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특정 목표를 가지고 특정 대상에게 </a:t>
            </a:r>
            <a:b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음악치료를 시행을 기획하고 실행하는 것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787ACE-E72D-4734-BACF-BD5DA9E292F4}"/>
              </a:ext>
            </a:extLst>
          </p:cNvPr>
          <p:cNvSpPr/>
          <p:nvPr/>
        </p:nvSpPr>
        <p:spPr>
          <a:xfrm>
            <a:off x="635000" y="2380748"/>
            <a:ext cx="5999716" cy="3222059"/>
          </a:xfrm>
          <a:prstGeom prst="rect">
            <a:avLst/>
          </a:prstGeom>
        </p:spPr>
        <p:txBody>
          <a:bodyPr wrap="square" tIns="144000" bIns="180000">
            <a:spAutoFit/>
          </a:bodyPr>
          <a:lstStyle/>
          <a:p>
            <a:pPr marL="317500" lvl="1" indent="-317500" fontAlgn="base">
              <a:lnSpc>
                <a:spcPct val="110000"/>
              </a:lnSpc>
              <a:spcBef>
                <a:spcPts val="700"/>
              </a:spcBef>
              <a:spcAft>
                <a:spcPts val="28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508000" algn="l"/>
                <a:tab pos="1016000" algn="l"/>
                <a:tab pos="1524000" algn="l"/>
                <a:tab pos="1996440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음악치료 프로젝트 기획에 포함되는 사항</a:t>
            </a:r>
          </a:p>
          <a:p>
            <a:pPr marL="603250" lvl="1" indent="-287338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1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성과목표</a:t>
            </a:r>
          </a:p>
          <a:p>
            <a:pPr marL="603250" lvl="1" indent="-287338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1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프로그램 내용</a:t>
            </a:r>
          </a:p>
          <a:p>
            <a:pPr marL="603250" lvl="1" indent="-287338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1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성과목표 달성방안</a:t>
            </a:r>
          </a:p>
          <a:p>
            <a:pPr marL="603250" lvl="1" indent="-287338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1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평가 계획</a:t>
            </a:r>
          </a:p>
          <a:p>
            <a:pPr marL="603250" lvl="1" indent="-287338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1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예산안</a:t>
            </a:r>
          </a:p>
          <a:p>
            <a:pPr marL="603250" lvl="1" indent="-287338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1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인력구성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D8B55E-D62B-4A37-AF22-1E56981D920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939"/>
          <a:stretch/>
        </p:blipFill>
        <p:spPr>
          <a:xfrm>
            <a:off x="3548690" y="3585635"/>
            <a:ext cx="3967422" cy="3017645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835982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음악치료프로젝트의 필요성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3C98F5-8AA3-4F03-A57F-740C9CA11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음악 및 음악치료 프로젝트의 필요성</a:t>
            </a:r>
            <a:endParaRPr lang="en-US" altLang="ko-KR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A1C616-388B-40B5-A992-60CDA0F8ED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100" dirty="0"/>
              <a:t>02_01_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</a:rPr>
              <a:t>03_01_01</a:t>
            </a:r>
            <a:r>
              <a:rPr lang="en-US" altLang="ko-KR" sz="100" dirty="0"/>
              <a:t>01</a:t>
            </a:r>
            <a:endParaRPr lang="ko-KR" altLang="en-US" sz="1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D82BD73-89E5-4B64-9202-987390A60DAE}"/>
              </a:ext>
            </a:extLst>
          </p:cNvPr>
          <p:cNvGrpSpPr/>
          <p:nvPr/>
        </p:nvGrpSpPr>
        <p:grpSpPr>
          <a:xfrm>
            <a:off x="633848" y="1428750"/>
            <a:ext cx="7798952" cy="432000"/>
            <a:chOff x="633848" y="1428750"/>
            <a:chExt cx="7798952" cy="4320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78B4F71-6CA2-4165-B3C3-E91DEFE1DEFC}"/>
                </a:ext>
              </a:extLst>
            </p:cNvPr>
            <p:cNvSpPr/>
            <p:nvPr/>
          </p:nvSpPr>
          <p:spPr>
            <a:xfrm>
              <a:off x="854968" y="1428750"/>
              <a:ext cx="7577832" cy="432000"/>
            </a:xfrm>
            <a:prstGeom prst="rect">
              <a:avLst/>
            </a:prstGeom>
            <a:solidFill>
              <a:srgbClr val="62A6D0"/>
            </a:solidFill>
            <a:ln w="12700">
              <a:solidFill>
                <a:srgbClr val="62A6D0"/>
              </a:solidFill>
            </a:ln>
            <a:effectLst/>
          </p:spPr>
          <p:txBody>
            <a:bodyPr vert="horz" wrap="square" lIns="324000" tIns="54000" rIns="36000" bIns="54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defTabSz="914400" latinLnBrk="1">
                <a:lnSpc>
                  <a:spcPct val="110000"/>
                </a:lnSpc>
                <a:defRPr/>
              </a:pP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사회적 지원이 필요한 대상에 대한 프로그램 시행의 필요 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8461B78-6163-46E5-9733-691C0E49F7ED}"/>
                </a:ext>
              </a:extLst>
            </p:cNvPr>
            <p:cNvSpPr/>
            <p:nvPr/>
          </p:nvSpPr>
          <p:spPr>
            <a:xfrm>
              <a:off x="633848" y="1428750"/>
              <a:ext cx="432000" cy="43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2A6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1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9559FDA-8A9C-4094-80E3-C125AA7CBD1C}"/>
              </a:ext>
            </a:extLst>
          </p:cNvPr>
          <p:cNvGrpSpPr/>
          <p:nvPr/>
        </p:nvGrpSpPr>
        <p:grpSpPr>
          <a:xfrm>
            <a:off x="637023" y="2006600"/>
            <a:ext cx="7798952" cy="432000"/>
            <a:chOff x="633848" y="1428750"/>
            <a:chExt cx="7798952" cy="43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7401BCC-C99C-472A-AC11-04A01DABEF0D}"/>
                </a:ext>
              </a:extLst>
            </p:cNvPr>
            <p:cNvSpPr/>
            <p:nvPr/>
          </p:nvSpPr>
          <p:spPr>
            <a:xfrm>
              <a:off x="854968" y="1428750"/>
              <a:ext cx="7577832" cy="432000"/>
            </a:xfrm>
            <a:prstGeom prst="rect">
              <a:avLst/>
            </a:prstGeom>
            <a:solidFill>
              <a:srgbClr val="62A6D0"/>
            </a:solidFill>
            <a:ln w="12700">
              <a:solidFill>
                <a:srgbClr val="62A6D0"/>
              </a:solidFill>
            </a:ln>
            <a:effectLst/>
          </p:spPr>
          <p:txBody>
            <a:bodyPr vert="horz" wrap="square" lIns="324000" tIns="54000" rIns="36000" bIns="54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defTabSz="914400" latinLnBrk="1">
                <a:lnSpc>
                  <a:spcPct val="110000"/>
                </a:lnSpc>
                <a:defRPr/>
              </a:pP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특정 대상의 경우 프로젝트만을 통해 음악치료를 만날 수 있음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0B57941-1A3A-41EE-9DFD-86407254D33D}"/>
                </a:ext>
              </a:extLst>
            </p:cNvPr>
            <p:cNvSpPr/>
            <p:nvPr/>
          </p:nvSpPr>
          <p:spPr>
            <a:xfrm>
              <a:off x="633848" y="1428750"/>
              <a:ext cx="432000" cy="43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2A6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2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480307D-AA04-43F7-92AD-5387E7EE4F6C}"/>
              </a:ext>
            </a:extLst>
          </p:cNvPr>
          <p:cNvGrpSpPr/>
          <p:nvPr/>
        </p:nvGrpSpPr>
        <p:grpSpPr>
          <a:xfrm>
            <a:off x="637023" y="2584450"/>
            <a:ext cx="7798952" cy="432000"/>
            <a:chOff x="633848" y="1428750"/>
            <a:chExt cx="7798952" cy="432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1557010-94AF-438A-A345-2D07261104C1}"/>
                </a:ext>
              </a:extLst>
            </p:cNvPr>
            <p:cNvSpPr/>
            <p:nvPr/>
          </p:nvSpPr>
          <p:spPr>
            <a:xfrm>
              <a:off x="854968" y="1428750"/>
              <a:ext cx="7577832" cy="432000"/>
            </a:xfrm>
            <a:prstGeom prst="rect">
              <a:avLst/>
            </a:prstGeom>
            <a:solidFill>
              <a:srgbClr val="62A6D0"/>
            </a:solidFill>
            <a:ln w="12700">
              <a:solidFill>
                <a:srgbClr val="62A6D0"/>
              </a:solidFill>
            </a:ln>
            <a:effectLst/>
          </p:spPr>
          <p:txBody>
            <a:bodyPr vert="horz" wrap="square" lIns="324000" tIns="54000" rIns="36000" bIns="54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defTabSz="914400" latinLnBrk="1">
                <a:lnSpc>
                  <a:spcPct val="110000"/>
                </a:lnSpc>
                <a:defRPr/>
              </a:pP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새로운 </a:t>
              </a:r>
              <a:r>
                <a:rPr lang="ko-KR" altLang="en-US" sz="2000" dirty="0" err="1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대상군</a:t>
              </a: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개발 및 실험적 내용 시도가 가능함</a:t>
              </a: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51A9569-7014-498F-83F3-2C43D4AE4E4C}"/>
                </a:ext>
              </a:extLst>
            </p:cNvPr>
            <p:cNvSpPr/>
            <p:nvPr/>
          </p:nvSpPr>
          <p:spPr>
            <a:xfrm>
              <a:off x="633848" y="1428750"/>
              <a:ext cx="432000" cy="43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2A6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3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E4AB231-FA0F-43A1-86D7-E3DE2E38B064}"/>
              </a:ext>
            </a:extLst>
          </p:cNvPr>
          <p:cNvGrpSpPr/>
          <p:nvPr/>
        </p:nvGrpSpPr>
        <p:grpSpPr>
          <a:xfrm>
            <a:off x="637023" y="3162300"/>
            <a:ext cx="7798952" cy="432000"/>
            <a:chOff x="633848" y="1428750"/>
            <a:chExt cx="7798952" cy="4320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FB58FD8-0F70-455D-872E-9DEF63178226}"/>
                </a:ext>
              </a:extLst>
            </p:cNvPr>
            <p:cNvSpPr/>
            <p:nvPr/>
          </p:nvSpPr>
          <p:spPr>
            <a:xfrm>
              <a:off x="854968" y="1428750"/>
              <a:ext cx="7577832" cy="432000"/>
            </a:xfrm>
            <a:prstGeom prst="rect">
              <a:avLst/>
            </a:prstGeom>
            <a:solidFill>
              <a:srgbClr val="62A6D0"/>
            </a:solidFill>
            <a:ln w="12700">
              <a:solidFill>
                <a:srgbClr val="62A6D0"/>
              </a:solidFill>
            </a:ln>
            <a:effectLst/>
          </p:spPr>
          <p:txBody>
            <a:bodyPr vert="horz" wrap="square" lIns="324000" tIns="54000" rIns="36000" bIns="54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defTabSz="914400" latinLnBrk="1">
                <a:lnSpc>
                  <a:spcPct val="110000"/>
                </a:lnSpc>
                <a:defRPr/>
              </a:pP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음악치료의 외연적 및 </a:t>
              </a:r>
              <a:r>
                <a:rPr lang="ko-KR" altLang="en-US" sz="2000" dirty="0" err="1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내연적</a:t>
              </a: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확장 및 발전 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0DB6AEF3-041E-43DC-A2DB-EE153DB4E448}"/>
                </a:ext>
              </a:extLst>
            </p:cNvPr>
            <p:cNvSpPr/>
            <p:nvPr/>
          </p:nvSpPr>
          <p:spPr>
            <a:xfrm>
              <a:off x="633848" y="1428750"/>
              <a:ext cx="432000" cy="43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2A6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4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191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음악치료프로젝트의 필요성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3C98F5-8AA3-4F03-A57F-740C9CA11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ko-KR" altLang="en-US" dirty="0"/>
              <a:t>프로젝트는 어디에서 시행되나</a:t>
            </a:r>
            <a:r>
              <a:rPr lang="en-US" altLang="ko-KR" dirty="0"/>
              <a:t>?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A1C616-388B-40B5-A992-60CDA0F8ED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100" dirty="0"/>
              <a:t>02_01_</a:t>
            </a:r>
            <a:r>
              <a:rPr lang="en-US" altLang="ko-KR" dirty="0">
                <a:solidFill>
                  <a:prstClr val="black">
                    <a:lumMod val="85000"/>
                    <a:lumOff val="15000"/>
                  </a:prstClr>
                </a:solidFill>
              </a:rPr>
              <a:t>03_01_01</a:t>
            </a:r>
            <a:r>
              <a:rPr lang="en-US" altLang="ko-KR" sz="100" dirty="0"/>
              <a:t>01</a:t>
            </a:r>
            <a:endParaRPr lang="ko-KR" altLang="en-US" sz="100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0753F6A7-9D6F-4A40-85FA-60F0796636E9}"/>
              </a:ext>
            </a:extLst>
          </p:cNvPr>
          <p:cNvSpPr/>
          <p:nvPr/>
        </p:nvSpPr>
        <p:spPr>
          <a:xfrm>
            <a:off x="635000" y="1428750"/>
            <a:ext cx="7793521" cy="540000"/>
          </a:xfrm>
          <a:custGeom>
            <a:avLst/>
            <a:gdLst>
              <a:gd name="connsiteX0" fmla="*/ 0 w 5202754"/>
              <a:gd name="connsiteY0" fmla="*/ 0 h 4572000"/>
              <a:gd name="connsiteX1" fmla="*/ 5202754 w 5202754"/>
              <a:gd name="connsiteY1" fmla="*/ 0 h 4572000"/>
              <a:gd name="connsiteX2" fmla="*/ 5202754 w 5202754"/>
              <a:gd name="connsiteY2" fmla="*/ 4572000 h 4572000"/>
              <a:gd name="connsiteX3" fmla="*/ 0 w 5202754"/>
              <a:gd name="connsiteY3" fmla="*/ 4572000 h 4572000"/>
              <a:gd name="connsiteX4" fmla="*/ 0 w 5202754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2754" h="4572000">
                <a:moveTo>
                  <a:pt x="0" y="0"/>
                </a:moveTo>
                <a:lnTo>
                  <a:pt x="5202754" y="0"/>
                </a:lnTo>
                <a:lnTo>
                  <a:pt x="5202754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12700" dist="38100" dir="2400000" algn="tl" rotWithShape="0">
              <a:srgbClr val="B9B7B7">
                <a:alpha val="83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lvl="1" algn="ctr">
              <a:lnSpc>
                <a:spcPct val="110000"/>
              </a:lnSpc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정부부처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지자체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공익재단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기업체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관공서 등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3DEB940-3A50-4344-99F0-CD1F6CFBEA31}"/>
              </a:ext>
            </a:extLst>
          </p:cNvPr>
          <p:cNvGrpSpPr/>
          <p:nvPr/>
        </p:nvGrpSpPr>
        <p:grpSpPr>
          <a:xfrm>
            <a:off x="1606672" y="2178047"/>
            <a:ext cx="5336389" cy="4510294"/>
            <a:chOff x="1553509" y="2179872"/>
            <a:chExt cx="6135150" cy="5185404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46FD162E-7646-45EE-BB32-FF8EB4DA9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02" t="120" b="83123"/>
            <a:stretch>
              <a:fillRect/>
            </a:stretch>
          </p:blipFill>
          <p:spPr>
            <a:xfrm>
              <a:off x="1553509" y="2180475"/>
              <a:ext cx="1938332" cy="2521817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6AF9D3D-A050-458B-AACC-85C25E88D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2" t="17305" r="516" b="66752"/>
            <a:stretch>
              <a:fillRect/>
            </a:stretch>
          </p:blipFill>
          <p:spPr>
            <a:xfrm>
              <a:off x="3633173" y="2180475"/>
              <a:ext cx="2076477" cy="2495722"/>
            </a:xfrm>
            <a:prstGeom prst="rect">
              <a:avLst/>
            </a:prstGeom>
          </p:spPr>
        </p:pic>
        <p:pic>
          <p:nvPicPr>
            <p:cNvPr id="23" name="그림 22" descr="세부내용 붙임파일 참고">
              <a:extLst>
                <a:ext uri="{FF2B5EF4-FFF2-40B4-BE49-F238E27FC236}">
                  <a16:creationId xmlns:a16="http://schemas.microsoft.com/office/drawing/2014/main" id="{84660A1A-E8D0-4CD4-A90F-81266B0C1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-225" b="82285"/>
            <a:stretch>
              <a:fillRect/>
            </a:stretch>
          </p:blipFill>
          <p:spPr>
            <a:xfrm>
              <a:off x="5850983" y="2179872"/>
              <a:ext cx="1837676" cy="2521819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1701ADA7-9811-49D6-95D4-EB93CB609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35684" y="4794193"/>
              <a:ext cx="2008105" cy="2571083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2E17ECC9-E285-4978-9313-286E288BF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04841" y="4794192"/>
              <a:ext cx="2009582" cy="2571083"/>
            </a:xfrm>
            <a:prstGeom prst="rect">
              <a:avLst/>
            </a:prstGeom>
          </p:spPr>
        </p:pic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4637A15-35D4-4C3D-9614-9E340BC00C86}"/>
              </a:ext>
            </a:extLst>
          </p:cNvPr>
          <p:cNvSpPr/>
          <p:nvPr/>
        </p:nvSpPr>
        <p:spPr>
          <a:xfrm>
            <a:off x="518523" y="6158199"/>
            <a:ext cx="7917452" cy="331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609467" rtl="0" eaLnBrk="1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#1</a:t>
            </a: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01776C0-0C0B-4319-B9BA-5B84FAF3E2F0}"/>
              </a:ext>
            </a:extLst>
          </p:cNvPr>
          <p:cNvGrpSpPr>
            <a:grpSpLocks/>
          </p:cNvGrpSpPr>
          <p:nvPr/>
        </p:nvGrpSpPr>
        <p:grpSpPr bwMode="auto">
          <a:xfrm>
            <a:off x="11607800" y="6273800"/>
            <a:ext cx="584200" cy="584200"/>
            <a:chOff x="11607800" y="6273800"/>
            <a:chExt cx="584200" cy="584200"/>
          </a:xfrm>
        </p:grpSpPr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C448607B-DBAB-44C6-ACFC-D6A26A9CDBD3}"/>
                </a:ext>
              </a:extLst>
            </p:cNvPr>
            <p:cNvSpPr/>
            <p:nvPr/>
          </p:nvSpPr>
          <p:spPr>
            <a:xfrm flipH="1">
              <a:off x="11607800" y="6273800"/>
              <a:ext cx="584200" cy="584200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D157139A-F807-41AE-A731-433A1D34DBA5}"/>
                </a:ext>
              </a:extLst>
            </p:cNvPr>
            <p:cNvSpPr/>
            <p:nvPr/>
          </p:nvSpPr>
          <p:spPr>
            <a:xfrm flipV="1">
              <a:off x="11607800" y="6273800"/>
              <a:ext cx="584200" cy="584200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0430890"/>
      </p:ext>
    </p:extLst>
  </p:cSld>
  <p:clrMapOvr>
    <a:masterClrMapping/>
  </p:clrMapOvr>
</p:sld>
</file>

<file path=ppt/theme/theme1.xml><?xml version="1.0" encoding="utf-8"?>
<a:theme xmlns:a="http://schemas.openxmlformats.org/drawingml/2006/main" name="2_5-1.교수우측위치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.SB표지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.검수체크리스트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14454</TotalTime>
  <Words>780</Words>
  <Application>Microsoft Office PowerPoint</Application>
  <PresentationFormat>와이드스크린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13</vt:i4>
      </vt:variant>
    </vt:vector>
  </HeadingPairs>
  <TitlesOfParts>
    <vt:vector size="26" baseType="lpstr">
      <vt:lpstr>Gidole</vt:lpstr>
      <vt:lpstr>HY헤드라인M</vt:lpstr>
      <vt:lpstr>나눔고딕</vt:lpstr>
      <vt:lpstr>나눔스퀘어</vt:lpstr>
      <vt:lpstr>나눔스퀘어 Bold</vt:lpstr>
      <vt:lpstr>나눔스퀘어 ExtraBold</vt:lpstr>
      <vt:lpstr>맑은 고딕</vt:lpstr>
      <vt:lpstr>Arial</vt:lpstr>
      <vt:lpstr>Calibri</vt:lpstr>
      <vt:lpstr>Tahoma</vt:lpstr>
      <vt:lpstr>2_5-1.교수우측위치</vt:lpstr>
      <vt:lpstr>1.SB표지</vt:lpstr>
      <vt:lpstr>4.검수체크리스트</vt:lpstr>
      <vt:lpstr>PowerPoint 프레젠테이션</vt:lpstr>
      <vt:lpstr>01_02_01</vt:lpstr>
      <vt:lpstr>02_01_01</vt:lpstr>
      <vt:lpstr>02_01_02_01_0101</vt:lpstr>
      <vt:lpstr>02_01_02_01_0101</vt:lpstr>
      <vt:lpstr>02_01_02_01_0101</vt:lpstr>
      <vt:lpstr>02_01_02_01_0101</vt:lpstr>
      <vt:lpstr>02_01_02_01_0101</vt:lpstr>
      <vt:lpstr>03_01_01</vt:lpstr>
      <vt:lpstr>02_01_03_01_0101</vt:lpstr>
      <vt:lpstr>02_01_03_01_0101</vt:lpstr>
      <vt:lpstr>02_01_03_01_0101</vt:lpstr>
      <vt:lpstr>02_01_03_01_0101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HP</dc:creator>
  <cp:lastModifiedBy>ssiwonk</cp:lastModifiedBy>
  <cp:revision>1238</cp:revision>
  <cp:lastPrinted>2019-12-24T09:15:21Z</cp:lastPrinted>
  <dcterms:created xsi:type="dcterms:W3CDTF">2018-12-11T05:40:37Z</dcterms:created>
  <dcterms:modified xsi:type="dcterms:W3CDTF">2026-08-28T06:57:54Z</dcterms:modified>
</cp:coreProperties>
</file>