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3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usic_therapy_w1_ppt43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usic_therapy_w1_ppt43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Pretendard Variable" panose="02000003000000020004" pitchFamily="2" charset="-127"/>
              </a:defRPr>
            </a:lvl1pPr>
          </a:lstStyle>
          <a:p>
            <a:fld id="{5BCAD085-E8A6-8845-BD4E-CB4CCA059FC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Pretendard Variable" panose="02000003000000020004" pitchFamily="2" charset="-12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Pretendard Variable" panose="02000003000000020004" pitchFamily="2" charset="-127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E6DCD5"/>
            </a:solidFill>
          </a:ln>
        </p:spPr>
      </p:sp>
      <p:sp>
        <p:nvSpPr>
          <p:cNvPr id="3" name="Ellipse 3"/>
          <p:cNvSpPr/>
          <p:nvPr/>
        </p:nvSpPr>
        <p:spPr>
          <a:xfrm>
            <a:off x="7429500" y="571500"/>
            <a:ext cx="1524000" cy="1524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096250" y="1333500"/>
            <a:ext cx="952500" cy="952500"/>
          </a:xfrm>
          <a:prstGeom prst="ellipse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334250" y="1619250"/>
            <a:ext cx="762000" cy="762000"/>
          </a:xfrm>
          <a:prstGeom prst="ellipse">
            <a:avLst/>
          </a:prstGeom>
          <a:solidFill>
            <a:schemeClr val="accent2">
              <a:alpha val="15000"/>
            </a:scheme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914400" y="1619250"/>
            <a:ext cx="2857500" cy="4762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64755" y="1755458"/>
            <a:ext cx="2556790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음악치료 박사과정 PBL 세미나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5350" y="2610802"/>
            <a:ext cx="3590727" cy="6232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405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음악치료프로젝트</a:t>
            </a:r>
          </a:p>
        </p:txBody>
      </p:sp>
      <p:sp>
        <p:nvSpPr>
          <p:cNvPr id="9" name="Rectangle 9"/>
          <p:cNvSpPr/>
          <p:nvPr/>
        </p:nvSpPr>
        <p:spPr>
          <a:xfrm>
            <a:off x="914400" y="3352800"/>
            <a:ext cx="1143000" cy="76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2152650" y="3352800"/>
            <a:ext cx="476250" cy="76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2705100" y="3352800"/>
            <a:ext cx="285750" cy="76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00684" y="3804285"/>
            <a:ext cx="3393558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음악치료프로젝트의 이해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14400" y="4953000"/>
            <a:ext cx="7924800" cy="1333500"/>
          </a:xfrm>
          <a:prstGeom prst="roundRect">
            <a:avLst>
              <a:gd name="adj" fmla="val 12857"/>
            </a:avLst>
          </a:prstGeom>
          <a:solidFill>
            <a:schemeClr val="lt1"/>
          </a:solidFill>
          <a:ln w="14288">
            <a:solidFill>
              <a:srgbClr val="E6DCD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286256" y="5234940"/>
            <a:ext cx="3824765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800" b="1" dirty="0">
                <a:solidFill>
                  <a:schemeClr val="accent2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1주차 : 교과목 개관 및 프로젝트 기획 기초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7019" y="5708332"/>
            <a:ext cx="7441346" cy="2539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ko-KR" sz="1650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기반 학습(PBL) · 임상 연구 및 중재 프로그램 개발 · 실전 기획안 작성 가이드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533400"/>
            <a:ext cx="15240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20478" y="621982"/>
            <a:ext cx="119744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3484" y="1022985"/>
            <a:ext cx="1199046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학습목표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8056" y="1472565"/>
            <a:ext cx="493564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800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본 교과목을 통해 달성하고자 하는 3가지 핵심 학습목표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57200" y="2095500"/>
            <a:ext cx="2762250" cy="4572000"/>
            <a:chOff x="457200" y="2095500"/>
            <a:chExt cx="2762250" cy="4572000"/>
          </a:xfrm>
        </p:grpSpPr>
        <p:sp>
          <p:nvSpPr>
            <p:cNvPr id="6" name="Rectangle 6"/>
            <p:cNvSpPr/>
            <p:nvPr/>
          </p:nvSpPr>
          <p:spPr>
            <a:xfrm>
              <a:off x="457200" y="2095500"/>
              <a:ext cx="2762250" cy="4572000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2095500"/>
              <a:ext cx="2762250" cy="114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2428875"/>
              <a:ext cx="533400" cy="533400"/>
            </a:xfrm>
            <a:prstGeom prst="roundRect">
              <a:avLst>
                <a:gd name="adj" fmla="val 50000"/>
              </a:avLst>
            </a:prstGeom>
            <a:solidFill>
              <a:srgbClr val="F9ECE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8229" y="2570798"/>
              <a:ext cx="28854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5132" y="3202305"/>
              <a:ext cx="929742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교과목을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5132" y="3545205"/>
              <a:ext cx="1003480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이해한다.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40481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7418" y="4393882"/>
              <a:ext cx="159178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PBL 교과목 구조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7418" y="4870132"/>
              <a:ext cx="170880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프로젝트 생애주기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7418" y="5346382"/>
              <a:ext cx="152605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포트폴리오 기준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495675" y="2095500"/>
            <a:ext cx="2762250" cy="4572000"/>
            <a:chOff x="3495675" y="2095500"/>
            <a:chExt cx="2762250" cy="4572000"/>
          </a:xfrm>
        </p:grpSpPr>
        <p:sp>
          <p:nvSpPr>
            <p:cNvPr id="17" name="Rectangle 17"/>
            <p:cNvSpPr/>
            <p:nvPr/>
          </p:nvSpPr>
          <p:spPr>
            <a:xfrm>
              <a:off x="3495675" y="2095500"/>
              <a:ext cx="2762250" cy="4572000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495675" y="2095500"/>
              <a:ext cx="2762250" cy="114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724275" y="2428875"/>
              <a:ext cx="533400" cy="533400"/>
            </a:xfrm>
            <a:prstGeom prst="roundRect">
              <a:avLst>
                <a:gd name="adj" fmla="val 50000"/>
              </a:avLst>
            </a:prstGeom>
            <a:solidFill>
              <a:srgbClr val="F8EDE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46704" y="2570798"/>
              <a:ext cx="28854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14369" y="3218498"/>
              <a:ext cx="1800173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음악치료 프로젝트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14369" y="3561398"/>
              <a:ext cx="1651093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기본을 이해한다.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724275" y="40481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15893" y="4393882"/>
              <a:ext cx="152605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프로젝트의 정의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15893" y="4870132"/>
              <a:ext cx="170559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추진의 4대 필요성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15893" y="5346382"/>
              <a:ext cx="170559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6대 기획 구성요소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534150" y="2095500"/>
            <a:ext cx="2762250" cy="4572000"/>
            <a:chOff x="6534150" y="2095500"/>
            <a:chExt cx="2762250" cy="4572000"/>
          </a:xfrm>
        </p:grpSpPr>
        <p:sp>
          <p:nvSpPr>
            <p:cNvPr id="28" name="Rectangle 28"/>
            <p:cNvSpPr/>
            <p:nvPr/>
          </p:nvSpPr>
          <p:spPr>
            <a:xfrm>
              <a:off x="6534150" y="2095500"/>
              <a:ext cx="2762250" cy="4572000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534150" y="2095500"/>
              <a:ext cx="276225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62750" y="2428875"/>
              <a:ext cx="533400" cy="533400"/>
            </a:xfrm>
            <a:prstGeom prst="roundRect">
              <a:avLst>
                <a:gd name="adj" fmla="val 50000"/>
              </a:avLst>
            </a:prstGeom>
            <a:solidFill>
              <a:srgbClr val="F2F4E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85179" y="2570798"/>
              <a:ext cx="28854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52844" y="3218498"/>
              <a:ext cx="2016578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음악치료 프로젝트를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52844" y="3561398"/>
              <a:ext cx="1503617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기획할 수 있다.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762750" y="40481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4368" y="4393882"/>
              <a:ext cx="218765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브레인스토밍 &amp; SWOT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54368" y="4870132"/>
              <a:ext cx="200696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표준 기획안 양식 지침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54368" y="5346382"/>
              <a:ext cx="200696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실전 공모 신청서 작성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857250"/>
            <a:ext cx="8229600" cy="56007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E6DCD5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333500" y="1524000"/>
            <a:ext cx="1524000" cy="4191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504793" y="1631632"/>
            <a:ext cx="118141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SECTION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19784" y="2280285"/>
            <a:ext cx="1594988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교과목 개관</a:t>
            </a:r>
          </a:p>
        </p:txBody>
      </p:sp>
      <p:sp>
        <p:nvSpPr>
          <p:cNvPr id="6" name="Line 6"/>
          <p:cNvSpPr/>
          <p:nvPr/>
        </p:nvSpPr>
        <p:spPr>
          <a:xfrm>
            <a:off x="1333500" y="2857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47625" cap="rnd">
            <a:solidFill>
              <a:schemeClr val="accent1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24356" y="3234690"/>
            <a:ext cx="6059351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800" b="1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한 학기 하나의 임상 프로젝트를 완성하는 프로젝트 기반 학습(PBL)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33500" y="4000500"/>
            <a:ext cx="2190750" cy="1809750"/>
            <a:chOff x="1333500" y="4000500"/>
            <a:chExt cx="2190750" cy="1809750"/>
          </a:xfrm>
        </p:grpSpPr>
        <p:sp>
          <p:nvSpPr>
            <p:cNvPr id="8" name="Rectangle 8"/>
            <p:cNvSpPr/>
            <p:nvPr/>
          </p:nvSpPr>
          <p:spPr>
            <a:xfrm>
              <a:off x="1333500" y="4000500"/>
              <a:ext cx="2190750" cy="1809750"/>
            </a:xfrm>
            <a:prstGeom prst="roundRect">
              <a:avLst>
                <a:gd name="adj" fmla="val 7368"/>
              </a:avLst>
            </a:prstGeom>
            <a:solidFill>
              <a:schemeClr val="lt1"/>
            </a:solidFill>
            <a:ln w="14288">
              <a:solidFill>
                <a:srgbClr val="E6DCD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333500" y="4000500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53718" y="4298632"/>
              <a:ext cx="180818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01. 과목 성격 &amp; 목표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53718" y="4727258"/>
              <a:ext cx="187230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개발-평가-보고서 연결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53718" y="5060632"/>
              <a:ext cx="18178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독립 연구자 수행 역량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53718" y="5394008"/>
              <a:ext cx="175689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6개 주요 산출물 도출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781425" y="4000500"/>
            <a:ext cx="2190750" cy="1809750"/>
            <a:chOff x="3781425" y="4000500"/>
            <a:chExt cx="2190750" cy="1809750"/>
          </a:xfrm>
        </p:grpSpPr>
        <p:sp>
          <p:nvSpPr>
            <p:cNvPr id="15" name="Rectangle 15"/>
            <p:cNvSpPr/>
            <p:nvPr/>
          </p:nvSpPr>
          <p:spPr>
            <a:xfrm>
              <a:off x="3781425" y="4000500"/>
              <a:ext cx="2190750" cy="1809750"/>
            </a:xfrm>
            <a:prstGeom prst="roundRect">
              <a:avLst>
                <a:gd name="adj" fmla="val 7368"/>
              </a:avLst>
            </a:prstGeom>
            <a:solidFill>
              <a:schemeClr val="lt1"/>
            </a:solidFill>
            <a:ln w="14288">
              <a:solidFill>
                <a:srgbClr val="E6DCD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781425" y="4000500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001643" y="4298632"/>
              <a:ext cx="151002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02. 6대 운영 원칙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01643" y="4727258"/>
              <a:ext cx="15773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주차별 애자일 루프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01643" y="5060632"/>
              <a:ext cx="189955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결정-산출-피드백-수정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01643" y="5394008"/>
              <a:ext cx="15773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단계별 게이트 점검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29350" y="4000500"/>
            <a:ext cx="2190750" cy="1809750"/>
            <a:chOff x="6229350" y="4000500"/>
            <a:chExt cx="2190750" cy="1809750"/>
          </a:xfrm>
        </p:grpSpPr>
        <p:sp>
          <p:nvSpPr>
            <p:cNvPr id="22" name="Rectangle 22"/>
            <p:cNvSpPr/>
            <p:nvPr/>
          </p:nvSpPr>
          <p:spPr>
            <a:xfrm>
              <a:off x="6229350" y="4000500"/>
              <a:ext cx="2190750" cy="1809750"/>
            </a:xfrm>
            <a:prstGeom prst="roundRect">
              <a:avLst>
                <a:gd name="adj" fmla="val 7368"/>
              </a:avLst>
            </a:prstGeom>
            <a:solidFill>
              <a:schemeClr val="lt1"/>
            </a:solidFill>
            <a:ln w="14288">
              <a:solidFill>
                <a:srgbClr val="E6DCD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29350" y="4000500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49568" y="4298632"/>
              <a:ext cx="159819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03. 1-15주 로드맵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49568" y="4727258"/>
              <a:ext cx="17536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1-7주: 프로토콜 설계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49568" y="5060632"/>
              <a:ext cx="191238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8-14주: 평가 &amp; 보고서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49568" y="5394008"/>
              <a:ext cx="187871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15주: 포트폴리오 완성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408926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음악치료프로젝트 과목의 이해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5879815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학생의 수업 목표 : 한 학기 하나의 임상프로젝트를 완성한다.</a:t>
            </a:r>
          </a:p>
        </p:txBody>
      </p:sp>
      <p:sp>
        <p:nvSpPr>
          <p:cNvPr id="4" name="Rectangle 4"/>
          <p:cNvSpPr/>
          <p:nvPr/>
        </p:nvSpPr>
        <p:spPr>
          <a:xfrm>
            <a:off x="457200" y="1381125"/>
            <a:ext cx="8839200" cy="104775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3812">
            <a:solidFill>
              <a:schemeClr val="accent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457200" y="1381125"/>
            <a:ext cx="114300" cy="10477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3618" y="1612582"/>
            <a:ext cx="2416495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핵심 질문 (Core Question)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856" y="1977390"/>
            <a:ext cx="6503383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8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누구의 어떤 임상문제를, 어떤 음악치료 기전으로, 어떻게 평가할 것인가?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57200" y="2667000"/>
            <a:ext cx="4286250" cy="4000500"/>
            <a:chOff x="457200" y="2667000"/>
            <a:chExt cx="4286250" cy="4000500"/>
          </a:xfrm>
        </p:grpSpPr>
        <p:sp>
          <p:nvSpPr>
            <p:cNvPr id="8" name="Rectangle 8"/>
            <p:cNvSpPr/>
            <p:nvPr/>
          </p:nvSpPr>
          <p:spPr>
            <a:xfrm>
              <a:off x="457200" y="2667000"/>
              <a:ext cx="4286250" cy="400050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23900" y="2933700"/>
              <a:ext cx="857250" cy="361950"/>
            </a:xfrm>
            <a:prstGeom prst="roundRect">
              <a:avLst>
                <a:gd name="adj" fmla="val 263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9782" y="3012758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대상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3535680"/>
              <a:ext cx="1933222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음악치료 박사과정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23900" y="395287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4756" y="4282440"/>
              <a:ext cx="264880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임상 연구자 및 치료 전문가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4756" y="4758690"/>
              <a:ext cx="344389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중재 프로그램 개발 프로젝트 수행자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5429250"/>
              <a:ext cx="3752850" cy="904875"/>
            </a:xfrm>
            <a:prstGeom prst="roundRect">
              <a:avLst>
                <a:gd name="adj" fmla="val 12632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7918" y="5632132"/>
              <a:ext cx="145232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대상자 역량 강화: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7918" y="5936932"/>
              <a:ext cx="369331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독립적 임상 프로토콜 설계 및 실행 역량 체득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010150" y="2667000"/>
            <a:ext cx="4286250" cy="4000500"/>
            <a:chOff x="5010150" y="2667000"/>
            <a:chExt cx="4286250" cy="4000500"/>
          </a:xfrm>
        </p:grpSpPr>
        <p:sp>
          <p:nvSpPr>
            <p:cNvPr id="19" name="Rectangle 19"/>
            <p:cNvSpPr/>
            <p:nvPr/>
          </p:nvSpPr>
          <p:spPr>
            <a:xfrm>
              <a:off x="5010150" y="2667000"/>
              <a:ext cx="4286250" cy="400050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276850" y="2933700"/>
              <a:ext cx="1333500" cy="361950"/>
            </a:xfrm>
            <a:prstGeom prst="roundRect">
              <a:avLst>
                <a:gd name="adj" fmla="val 263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57890" y="3012758"/>
              <a:ext cx="97142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교과목 성격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66182" y="3535680"/>
              <a:ext cx="2755563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프로젝트 기반 학습 (PBL)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276850" y="395287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7706" y="4282440"/>
              <a:ext cx="329641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프로그램 개발 - 평가 - 연구보고서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67706" y="4615815"/>
              <a:ext cx="28405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전 과정을 직접 유기적으로 연결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67706" y="5092065"/>
              <a:ext cx="304634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chemeClr val="accent2"/>
                </a:buClr>
                <a:buSzTx/>
                <a:buFontTx/>
                <a:buChar char="•"/>
              </a:pPr>
              <a:r>
                <a:rPr lang="ko-KR" sz="180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이론과 임상 현장의 실질적 통합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276850" y="5619750"/>
              <a:ext cx="3752850" cy="714375"/>
            </a:xfrm>
            <a:prstGeom prst="roundRect">
              <a:avLst>
                <a:gd name="adj" fmla="val 16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420868" y="5860732"/>
              <a:ext cx="339516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임상적 가치와 학술적 완성도를 동시 추구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408926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음악치료프로젝트 과목의 이해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5517536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학생의 수업 목표 : 최종 산출물 및 독립 연구자 수행 수준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57200" y="1381125"/>
            <a:ext cx="4286250" cy="5286375"/>
            <a:chOff x="457200" y="1381125"/>
            <a:chExt cx="4286250" cy="5286375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4286250" cy="5286375"/>
            </a:xfrm>
            <a:prstGeom prst="roundRect">
              <a:avLst>
                <a:gd name="adj" fmla="val 3556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723900" y="1647825"/>
              <a:ext cx="1333500" cy="361950"/>
            </a:xfrm>
            <a:prstGeom prst="roundRect">
              <a:avLst>
                <a:gd name="adj" fmla="val 263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4940" y="1726882"/>
              <a:ext cx="97142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최종 산출물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3232" y="2249805"/>
              <a:ext cx="2468625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5대 실질 패키지 산출물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23900" y="2667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23900" y="2952750"/>
              <a:ext cx="3752850" cy="3219450"/>
              <a:chOff x="723900" y="2952750"/>
              <a:chExt cx="3752850" cy="32194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23900" y="2952750"/>
                <a:ext cx="3752850" cy="552450"/>
              </a:xfrm>
              <a:prstGeom prst="roundRect">
                <a:avLst>
                  <a:gd name="adj" fmla="val 17241"/>
                </a:avLst>
              </a:prstGeom>
              <a:solidFill>
                <a:schemeClr val="lt1"/>
              </a:solidFill>
              <a:ln w="9525">
                <a:solidFill>
                  <a:srgbClr val="E6DCD5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06018" y="3136582"/>
                <a:ext cx="202619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1. 프로그램 매뉴얼 (v1)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723900" y="3619500"/>
                <a:ext cx="3752850" cy="552450"/>
              </a:xfrm>
              <a:prstGeom prst="roundRect">
                <a:avLst>
                  <a:gd name="adj" fmla="val 17241"/>
                </a:avLst>
              </a:prstGeom>
              <a:solidFill>
                <a:schemeClr val="lt1"/>
              </a:solidFill>
              <a:ln w="9525">
                <a:solidFill>
                  <a:srgbClr val="E6DCD5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06018" y="3803332"/>
                <a:ext cx="244361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2. 연구 프로토콜 (PICO+M)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723900" y="4286250"/>
                <a:ext cx="3752850" cy="552450"/>
              </a:xfrm>
              <a:prstGeom prst="roundRect">
                <a:avLst>
                  <a:gd name="adj" fmla="val 17241"/>
                </a:avLst>
              </a:prstGeom>
              <a:solidFill>
                <a:schemeClr val="lt1"/>
              </a:solidFill>
              <a:ln w="9525">
                <a:solidFill>
                  <a:srgbClr val="E6DCD5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906018" y="4470082"/>
                <a:ext cx="205505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3. 평가도구 및 측정 지표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723900" y="4953000"/>
                <a:ext cx="3752850" cy="552450"/>
              </a:xfrm>
              <a:prstGeom prst="roundRect">
                <a:avLst>
                  <a:gd name="adj" fmla="val 17241"/>
                </a:avLst>
              </a:prstGeom>
              <a:solidFill>
                <a:schemeClr val="lt1"/>
              </a:solidFill>
              <a:ln w="9525">
                <a:solidFill>
                  <a:srgbClr val="E6DCD5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06018" y="5136832"/>
                <a:ext cx="257442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4. 데이터 및 분석 계획 (DMP)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23900" y="5619750"/>
                <a:ext cx="3752850" cy="552450"/>
              </a:xfrm>
              <a:prstGeom prst="roundRect">
                <a:avLst>
                  <a:gd name="adj" fmla="val 17241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06018" y="5803582"/>
                <a:ext cx="288861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5. 최종 연구보고서 초안 (IMRaD)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5010150" y="1381125"/>
            <a:ext cx="4286250" cy="5286375"/>
            <a:chOff x="5010150" y="1381125"/>
            <a:chExt cx="4286250" cy="5286375"/>
          </a:xfrm>
        </p:grpSpPr>
        <p:sp>
          <p:nvSpPr>
            <p:cNvPr id="21" name="Rectangle 21"/>
            <p:cNvSpPr/>
            <p:nvPr/>
          </p:nvSpPr>
          <p:spPr>
            <a:xfrm>
              <a:off x="5010150" y="1381125"/>
              <a:ext cx="4286250" cy="5286375"/>
            </a:xfrm>
            <a:prstGeom prst="roundRect">
              <a:avLst>
                <a:gd name="adj" fmla="val 3556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276850" y="1647825"/>
              <a:ext cx="1238250" cy="361950"/>
            </a:xfrm>
            <a:prstGeom prst="roundRect">
              <a:avLst>
                <a:gd name="adj" fmla="val 263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501637" y="1726882"/>
              <a:ext cx="78867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운영 방식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67706" y="2282190"/>
              <a:ext cx="283090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세미나 · 스튜디오 · 동료 피드백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67706" y="2615565"/>
              <a:ext cx="250549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전문가 자문 · 현장 모의수행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276850" y="3143250"/>
              <a:ext cx="3752850" cy="9525"/>
            </a:xfrm>
            <a:custGeom>
              <a:avLst/>
              <a:gdLst/>
              <a:ahLst/>
              <a:cxnLst/>
              <a:rect l="l" t="t" r="r" b="b"/>
              <a:pathLst>
                <a:path w="3752850" h="9525">
                  <a:moveTo>
                    <a:pt x="0" y="0"/>
                  </a:moveTo>
                  <a:lnTo>
                    <a:pt x="3752850" y="0"/>
                  </a:lnTo>
                </a:path>
              </a:pathLst>
            </a:custGeom>
            <a:noFill/>
            <a:ln w="14288">
              <a:solidFill>
                <a:srgbClr val="E6DCD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276850" y="3429000"/>
              <a:ext cx="1333500" cy="361950"/>
            </a:xfrm>
            <a:prstGeom prst="roundRect">
              <a:avLst>
                <a:gd name="adj" fmla="val 263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457890" y="3508058"/>
              <a:ext cx="97142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교과목 수준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66944" y="4028122"/>
              <a:ext cx="2803653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독립 연구자로서의 책임 수준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276850" y="44291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68468" y="4774882"/>
              <a:ext cx="243015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설계 판단 및 연구윤리 확립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68468" y="5251132"/>
              <a:ext cx="176650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임상적 재현성 확보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68468" y="5727382"/>
              <a:ext cx="261289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학술적 확산과 정책 제안 책임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408926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음악치료프로젝트 과목의 이해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5227393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교과목 수업 목표 : 개발 및 설계 역량 (성과 01 ~ 03)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57200" y="1381125"/>
            <a:ext cx="2762250" cy="5286375"/>
            <a:chOff x="457200" y="1381125"/>
            <a:chExt cx="2762250" cy="5286375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2762250" cy="5286375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457200" y="1381125"/>
              <a:ext cx="2762250" cy="114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85800" y="1666875"/>
              <a:ext cx="533400" cy="533400"/>
            </a:xfrm>
            <a:prstGeom prst="roundRect">
              <a:avLst>
                <a:gd name="adj" fmla="val 50000"/>
              </a:avLst>
            </a:prstGeom>
            <a:solidFill>
              <a:srgbClr val="F9ECE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08229" y="1808798"/>
              <a:ext cx="28854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5894" y="2456498"/>
              <a:ext cx="164949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요구 &amp; 근거격차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5894" y="2789872"/>
              <a:ext cx="93455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분석 역량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3238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7418" y="3536632"/>
              <a:ext cx="15773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임상·사회적 요구와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870008"/>
              <a:ext cx="170238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근거격차를 분석한다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7700" y="4619625"/>
              <a:ext cx="2381250" cy="1619250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rgbClr val="E6DCD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1718" y="4822508"/>
              <a:ext cx="10291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핵심 산출물: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1718" y="5203508"/>
              <a:ext cx="110286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요구분석표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1718" y="5536882"/>
              <a:ext cx="158216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근거지도 (Map)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1718" y="5870258"/>
              <a:ext cx="110286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문제정의서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495675" y="1381125"/>
            <a:ext cx="2762250" cy="5286375"/>
            <a:chOff x="3495675" y="1381125"/>
            <a:chExt cx="2762250" cy="5286375"/>
          </a:xfrm>
        </p:grpSpPr>
        <p:sp>
          <p:nvSpPr>
            <p:cNvPr id="19" name="Rectangle 19"/>
            <p:cNvSpPr/>
            <p:nvPr/>
          </p:nvSpPr>
          <p:spPr>
            <a:xfrm>
              <a:off x="3495675" y="1381125"/>
              <a:ext cx="2762250" cy="5286375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495675" y="1381125"/>
              <a:ext cx="2762250" cy="114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724275" y="1666875"/>
              <a:ext cx="533400" cy="533400"/>
            </a:xfrm>
            <a:prstGeom prst="roundRect">
              <a:avLst>
                <a:gd name="adj" fmla="val 50000"/>
              </a:avLst>
            </a:prstGeom>
            <a:solidFill>
              <a:srgbClr val="F8EDE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46704" y="1808798"/>
              <a:ext cx="28854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14369" y="2456498"/>
              <a:ext cx="164949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프로그램 이론 &amp;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14369" y="2789872"/>
              <a:ext cx="143629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중재 설계 역량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724275" y="3238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15893" y="3536632"/>
              <a:ext cx="97142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재현 가능한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15893" y="3870008"/>
              <a:ext cx="13369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중재를 설계한다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86175" y="4619625"/>
              <a:ext cx="2381250" cy="1619250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rgbClr val="E6DCD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830193" y="4822508"/>
              <a:ext cx="10291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핵심 산출물: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30193" y="5203508"/>
              <a:ext cx="166552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논리모형 (Logic)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30193" y="5536882"/>
              <a:ext cx="103233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매뉴얼 v1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30193" y="5870258"/>
              <a:ext cx="134331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충실도 기준표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534150" y="1381125"/>
            <a:ext cx="2762250" cy="5286375"/>
            <a:chOff x="6534150" y="1381125"/>
            <a:chExt cx="2762250" cy="5286375"/>
          </a:xfrm>
        </p:grpSpPr>
        <p:sp>
          <p:nvSpPr>
            <p:cNvPr id="34" name="Rectangle 34"/>
            <p:cNvSpPr/>
            <p:nvPr/>
          </p:nvSpPr>
          <p:spPr>
            <a:xfrm>
              <a:off x="6534150" y="1381125"/>
              <a:ext cx="2762250" cy="5286375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534150" y="1381125"/>
              <a:ext cx="276225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62750" y="1666875"/>
              <a:ext cx="533400" cy="533400"/>
            </a:xfrm>
            <a:prstGeom prst="roundRect">
              <a:avLst>
                <a:gd name="adj" fmla="val 50000"/>
              </a:avLst>
            </a:prstGeom>
            <a:solidFill>
              <a:srgbClr val="F2F4E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85179" y="1808798"/>
              <a:ext cx="28854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52844" y="2456498"/>
              <a:ext cx="1147750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평가질문 &amp;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52844" y="2789872"/>
              <a:ext cx="136736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프로그램 설계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762750" y="3238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54368" y="3536632"/>
              <a:ext cx="13369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개발단계에 맞는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54368" y="3870008"/>
              <a:ext cx="170238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평가설계를 선택한다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24650" y="4619625"/>
              <a:ext cx="2381250" cy="1619250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rgbClr val="E6DCD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68668" y="4822508"/>
              <a:ext cx="10291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핵심 산출물: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68668" y="5203508"/>
              <a:ext cx="152605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타당성 평가계획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68668" y="5536882"/>
              <a:ext cx="143789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과정/효과 평가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68668" y="5870258"/>
              <a:ext cx="134331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실행 평가계획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408926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음악치료프로젝트 과목의 이해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5796459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교과목 수업 목표 : 윤리, 관리 및 확산 역량 (성과 04 ~ 06)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57200" y="1381125"/>
            <a:ext cx="2762250" cy="5286375"/>
            <a:chOff x="457200" y="1381125"/>
            <a:chExt cx="2762250" cy="5286375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2762250" cy="5286375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457200" y="1381125"/>
              <a:ext cx="2762250" cy="114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85800" y="1666875"/>
              <a:ext cx="533400" cy="533400"/>
            </a:xfrm>
            <a:prstGeom prst="roundRect">
              <a:avLst>
                <a:gd name="adj" fmla="val 50000"/>
              </a:avLst>
            </a:prstGeom>
            <a:solidFill>
              <a:srgbClr val="F9ECE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08229" y="1808798"/>
              <a:ext cx="28854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5894" y="2456498"/>
              <a:ext cx="1147750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연구윤리 &amp;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5894" y="2789872"/>
              <a:ext cx="115095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투명성 반영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3238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7418" y="3536632"/>
              <a:ext cx="13369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윤리와 투명성을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870008"/>
              <a:ext cx="1519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프로토콜에 내재화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7700" y="4619625"/>
              <a:ext cx="2381250" cy="1619250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rgbClr val="E6DCD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1718" y="4822508"/>
              <a:ext cx="10291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핵심 산출물: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1718" y="5203508"/>
              <a:ext cx="137698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IRB 승인 문서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1718" y="5536882"/>
              <a:ext cx="14330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CRIS 사전등록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1718" y="5870258"/>
              <a:ext cx="146835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데이터관리계획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495675" y="1381125"/>
            <a:ext cx="2762250" cy="5286375"/>
            <a:chOff x="3495675" y="1381125"/>
            <a:chExt cx="2762250" cy="5286375"/>
          </a:xfrm>
        </p:grpSpPr>
        <p:sp>
          <p:nvSpPr>
            <p:cNvPr id="19" name="Rectangle 19"/>
            <p:cNvSpPr/>
            <p:nvPr/>
          </p:nvSpPr>
          <p:spPr>
            <a:xfrm>
              <a:off x="3495675" y="1381125"/>
              <a:ext cx="2762250" cy="5286375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495675" y="1381125"/>
              <a:ext cx="2762250" cy="114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724275" y="1666875"/>
              <a:ext cx="533400" cy="533400"/>
            </a:xfrm>
            <a:prstGeom prst="roundRect">
              <a:avLst>
                <a:gd name="adj" fmla="val 50000"/>
              </a:avLst>
            </a:prstGeom>
            <a:solidFill>
              <a:srgbClr val="F8EDE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46704" y="1808798"/>
              <a:ext cx="28854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14369" y="2456498"/>
              <a:ext cx="1365758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수행·모니터링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14369" y="2789872"/>
              <a:ext cx="164949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&amp; 변경관리 주도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724275" y="3238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15893" y="3536632"/>
              <a:ext cx="16350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현장 일탈 및 수정을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15893" y="3870008"/>
              <a:ext cx="13369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체계적으로 관리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86175" y="4619625"/>
              <a:ext cx="2381250" cy="1619250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rgbClr val="E6DCD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830193" y="4822508"/>
              <a:ext cx="10291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핵심 산출물: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30193" y="5203508"/>
              <a:ext cx="134331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현장 운영일지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30193" y="5536882"/>
              <a:ext cx="143789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일탈/변경 기록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30193" y="5870258"/>
              <a:ext cx="134331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품질관리 대장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534150" y="1381125"/>
            <a:ext cx="2762250" cy="5286375"/>
            <a:chOff x="6534150" y="1381125"/>
            <a:chExt cx="2762250" cy="5286375"/>
          </a:xfrm>
        </p:grpSpPr>
        <p:sp>
          <p:nvSpPr>
            <p:cNvPr id="34" name="Rectangle 34"/>
            <p:cNvSpPr/>
            <p:nvPr/>
          </p:nvSpPr>
          <p:spPr>
            <a:xfrm>
              <a:off x="6534150" y="1381125"/>
              <a:ext cx="2762250" cy="5286375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534150" y="1381125"/>
              <a:ext cx="276225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62750" y="1666875"/>
              <a:ext cx="533400" cy="533400"/>
            </a:xfrm>
            <a:prstGeom prst="roundRect">
              <a:avLst>
                <a:gd name="adj" fmla="val 50000"/>
              </a:avLst>
            </a:prstGeom>
            <a:solidFill>
              <a:srgbClr val="F2F4E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85179" y="1808798"/>
              <a:ext cx="28854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52844" y="2456498"/>
              <a:ext cx="1216680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결과 해석 &amp;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52844" y="2789872"/>
              <a:ext cx="1434688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학술·임상 확산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762750" y="3238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54368" y="3536632"/>
              <a:ext cx="16350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임상적 함의 도출 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54368" y="3870008"/>
              <a:ext cx="15773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논문화 패키지 완성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24650" y="4619625"/>
              <a:ext cx="2381250" cy="1619250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rgbClr val="E6DCD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68668" y="4822508"/>
              <a:ext cx="10291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핵심 산출물: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68668" y="5203508"/>
              <a:ext cx="152605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최종 연구보고서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68668" y="5536882"/>
              <a:ext cx="140102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학술 구두 발표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68668" y="5870258"/>
              <a:ext cx="152605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프로그램 패키지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408926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음악치료프로젝트 과목의 이해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5288307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운영 방향 : 매주 ‘결정-산출-피드백-수정’ 을 반복한다.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457200" y="1428750"/>
            <a:ext cx="8839200" cy="5143500"/>
            <a:chOff x="457200" y="1428750"/>
            <a:chExt cx="8839200" cy="5143500"/>
          </a:xfrm>
        </p:grpSpPr>
        <p:sp>
          <p:nvSpPr>
            <p:cNvPr id="4" name="Rectangle 4"/>
            <p:cNvSpPr/>
            <p:nvPr/>
          </p:nvSpPr>
          <p:spPr>
            <a:xfrm>
              <a:off x="457200" y="1428750"/>
              <a:ext cx="8839200" cy="514350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27532" y="1725930"/>
              <a:ext cx="3781484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매주 반복되는 애자일 프로젝트 루프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9818" y="2107882"/>
              <a:ext cx="503022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단순한 과제 제출이 아닌 실제 임상 프로젝트 고도화 메커니즘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781050" y="2667000"/>
              <a:ext cx="8172450" cy="2190750"/>
              <a:chOff x="781050" y="2667000"/>
              <a:chExt cx="8172450" cy="21907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81050" y="2667000"/>
                <a:ext cx="1714500" cy="2190750"/>
              </a:xfrm>
              <a:prstGeom prst="roundRect">
                <a:avLst>
                  <a:gd name="adj" fmla="val 8889"/>
                </a:avLst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371600" y="2876550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577386" y="3050858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FFFFFF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63249" y="3568065"/>
                <a:ext cx="155010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80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결정 (Decision)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32365" y="4012882"/>
                <a:ext cx="121187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설계 방향 확정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32364" y="4346258"/>
                <a:ext cx="121187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핵심 가설 수립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603646" y="3566160"/>
                <a:ext cx="298159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2700" b="1" dirty="0">
                    <a:solidFill>
                      <a:schemeClr val="accent3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→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2933700" y="2667000"/>
                <a:ext cx="1714500" cy="2190750"/>
              </a:xfrm>
              <a:prstGeom prst="roundRect">
                <a:avLst>
                  <a:gd name="adj" fmla="val 8889"/>
                </a:avLst>
              </a:prstGeom>
              <a:solidFill>
                <a:schemeClr val="lt1"/>
              </a:solidFill>
              <a:ln w="23812">
                <a:solidFill>
                  <a:schemeClr val="accent3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3524250" y="2876550"/>
                <a:ext cx="533400" cy="533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730036" y="3050858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FFFFFF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87231" y="3568065"/>
                <a:ext cx="140743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80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산출 (Output)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093644" y="4012882"/>
                <a:ext cx="139461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주차별 버전 문서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213869" y="4346258"/>
                <a:ext cx="115416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chemeClr val="accent3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프로토콜 작성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756296" y="3566160"/>
                <a:ext cx="298159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2700" b="1" dirty="0">
                    <a:solidFill>
                      <a:schemeClr val="accent2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→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5086350" y="2667000"/>
                <a:ext cx="1714500" cy="2190750"/>
              </a:xfrm>
              <a:prstGeom prst="roundRect">
                <a:avLst>
                  <a:gd name="adj" fmla="val 8889"/>
                </a:avLst>
              </a:prstGeom>
              <a:solidFill>
                <a:schemeClr val="lt1"/>
              </a:solidFill>
              <a:ln w="23812">
                <a:solidFill>
                  <a:schemeClr val="accent2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5676900" y="2876550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882686" y="3050858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FFFFFF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019788" y="3568065"/>
                <a:ext cx="18476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80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피드백 (Feedback)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251904" y="4012882"/>
                <a:ext cx="138339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동료·교수진 검토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457890" y="4346258"/>
                <a:ext cx="97142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chemeClr val="accent2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전문가 자문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908946" y="3566160"/>
                <a:ext cx="298159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27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→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7239000" y="2667000"/>
                <a:ext cx="1714500" cy="2190750"/>
              </a:xfrm>
              <a:prstGeom prst="roundRect">
                <a:avLst>
                  <a:gd name="adj" fmla="val 8889"/>
                </a:avLst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7829550" y="2876550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035336" y="3050858"/>
                <a:ext cx="12182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FFFFFF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4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326488" y="3568065"/>
                <a:ext cx="153952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80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수정 (Revision)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370089" y="4012882"/>
                <a:ext cx="145232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문서 개정 및 보완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10540" y="4346258"/>
                <a:ext cx="97142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품질 고도화</a:t>
                </a:r>
              </a:p>
            </p:txBody>
          </p:sp>
        </p:grpSp>
        <p:sp>
          <p:nvSpPr>
            <p:cNvPr id="35" name="Rectangle 35"/>
            <p:cNvSpPr/>
            <p:nvPr/>
          </p:nvSpPr>
          <p:spPr>
            <a:xfrm>
              <a:off x="781050" y="5143500"/>
              <a:ext cx="8191500" cy="1047750"/>
            </a:xfrm>
            <a:prstGeom prst="roundRect">
              <a:avLst>
                <a:gd name="adj" fmla="val 12727"/>
              </a:avLst>
            </a:prstGeom>
            <a:solidFill>
              <a:schemeClr val="lt1"/>
            </a:solidFill>
            <a:ln w="9525">
              <a:solidFill>
                <a:srgbClr val="E6DCD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19556" y="5377815"/>
              <a:ext cx="118462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루프의 가치 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10943" y="5394008"/>
              <a:ext cx="442428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매주 지속적인 피드백을 통해 실패 위험을 최소화하고,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10943" y="5775008"/>
              <a:ext cx="442428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학기 말에 완성도 높은 최종 포트폴리오를 확정합니다.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408926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음악치료프로젝트 과목의 이해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5160067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운영 방향 : 프로젝트 성공을 위한 6대 핵심 운영 원칙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57200" y="1381125"/>
            <a:ext cx="2762250" cy="2476500"/>
            <a:chOff x="457200" y="1381125"/>
            <a:chExt cx="2762250" cy="2476500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2762250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76656" y="1586865"/>
              <a:ext cx="21111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01. 프로젝트 기반 학습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418" y="1965008"/>
              <a:ext cx="1519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학생별 임상문제를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7418" y="2269808"/>
              <a:ext cx="176009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실제 프로젝트로 전환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47700" y="3000375"/>
              <a:ext cx="2381250" cy="619125"/>
            </a:xfrm>
            <a:prstGeom prst="roundRect">
              <a:avLst>
                <a:gd name="adj" fmla="val 15385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2668" y="3203258"/>
              <a:ext cx="205825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증거: 주차별 버전 산출물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95675" y="1381125"/>
            <a:ext cx="2762250" cy="2476500"/>
            <a:chOff x="3495675" y="1381125"/>
            <a:chExt cx="2762250" cy="2476500"/>
          </a:xfrm>
        </p:grpSpPr>
        <p:sp>
          <p:nvSpPr>
            <p:cNvPr id="11" name="Rectangle 11"/>
            <p:cNvSpPr/>
            <p:nvPr/>
          </p:nvSpPr>
          <p:spPr>
            <a:xfrm>
              <a:off x="3495675" y="1381125"/>
              <a:ext cx="2762250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715131" y="1586865"/>
              <a:ext cx="20470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02. 근거기반 음악치료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15893" y="1965008"/>
              <a:ext cx="15549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문헌·전문성·대상자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15893" y="2269808"/>
              <a:ext cx="145232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가치 및 맥락 통합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686175" y="3000375"/>
              <a:ext cx="2381250" cy="619125"/>
            </a:xfrm>
            <a:prstGeom prst="roundRect">
              <a:avLst>
                <a:gd name="adj" fmla="val 15385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11143" y="3203258"/>
              <a:ext cx="193322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증거: 근거표 · 설계근거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534150" y="1381125"/>
            <a:ext cx="2762250" cy="2476500"/>
            <a:chOff x="6534150" y="1381125"/>
            <a:chExt cx="2762250" cy="2476500"/>
          </a:xfrm>
        </p:grpSpPr>
        <p:sp>
          <p:nvSpPr>
            <p:cNvPr id="18" name="Rectangle 18"/>
            <p:cNvSpPr/>
            <p:nvPr/>
          </p:nvSpPr>
          <p:spPr>
            <a:xfrm>
              <a:off x="6534150" y="1381125"/>
              <a:ext cx="2762250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53606" y="1586865"/>
              <a:ext cx="164949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03. 단계별 게이트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54368" y="1965008"/>
              <a:ext cx="17628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Go / Amend / Stop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54368" y="2269808"/>
              <a:ext cx="16350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진입 기준 엄격 적용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724650" y="3000375"/>
              <a:ext cx="2381250" cy="619125"/>
            </a:xfrm>
            <a:prstGeom prst="roundRect">
              <a:avLst>
                <a:gd name="adj" fmla="val 15385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49618" y="3203258"/>
              <a:ext cx="16350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증거: 게이트 점검표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7200" y="4143375"/>
            <a:ext cx="2762250" cy="2524125"/>
            <a:chOff x="457200" y="4143375"/>
            <a:chExt cx="2762250" cy="2524125"/>
          </a:xfrm>
        </p:grpSpPr>
        <p:sp>
          <p:nvSpPr>
            <p:cNvPr id="25" name="Rectangle 25"/>
            <p:cNvSpPr/>
            <p:nvPr/>
          </p:nvSpPr>
          <p:spPr>
            <a:xfrm>
              <a:off x="457200" y="4143375"/>
              <a:ext cx="2762250" cy="2524125"/>
            </a:xfrm>
            <a:prstGeom prst="roundRect">
              <a:avLst>
                <a:gd name="adj" fmla="val 528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6656" y="4349115"/>
              <a:ext cx="18482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04. 반복적 공동설계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418" y="4727258"/>
              <a:ext cx="137217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대상자·기관·동료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7418" y="5032058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피드백 지속 반영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7700" y="5810250"/>
              <a:ext cx="2381250" cy="619125"/>
            </a:xfrm>
            <a:prstGeom prst="roundRect">
              <a:avLst>
                <a:gd name="adj" fmla="val 15385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2668" y="6013132"/>
              <a:ext cx="185467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증거: 피드백/변경이력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495675" y="4143375"/>
            <a:ext cx="2762250" cy="2524125"/>
            <a:chOff x="3495675" y="4143375"/>
            <a:chExt cx="2762250" cy="2524125"/>
          </a:xfrm>
        </p:grpSpPr>
        <p:sp>
          <p:nvSpPr>
            <p:cNvPr id="32" name="Rectangle 32"/>
            <p:cNvSpPr/>
            <p:nvPr/>
          </p:nvSpPr>
          <p:spPr>
            <a:xfrm>
              <a:off x="3495675" y="4143375"/>
              <a:ext cx="2762250" cy="2524125"/>
            </a:xfrm>
            <a:prstGeom prst="roundRect">
              <a:avLst>
                <a:gd name="adj" fmla="val 528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15131" y="4349115"/>
              <a:ext cx="21095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05. 윤리·재현성 내재화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15893" y="4727258"/>
              <a:ext cx="149399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IRB·등록·자료관리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15893" y="5032058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사전 표준화 설계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686175" y="5810250"/>
              <a:ext cx="2381250" cy="619125"/>
            </a:xfrm>
            <a:prstGeom prst="roundRect">
              <a:avLst>
                <a:gd name="adj" fmla="val 15385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11143" y="6013132"/>
              <a:ext cx="190917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증거: 프로토콜 / DMP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34150" y="4143375"/>
            <a:ext cx="2762250" cy="2524125"/>
            <a:chOff x="6534150" y="4143375"/>
            <a:chExt cx="2762250" cy="2524125"/>
          </a:xfrm>
        </p:grpSpPr>
        <p:sp>
          <p:nvSpPr>
            <p:cNvPr id="39" name="Rectangle 39"/>
            <p:cNvSpPr/>
            <p:nvPr/>
          </p:nvSpPr>
          <p:spPr>
            <a:xfrm>
              <a:off x="6534150" y="4143375"/>
              <a:ext cx="2762250" cy="2524125"/>
            </a:xfrm>
            <a:prstGeom prst="roundRect">
              <a:avLst>
                <a:gd name="adj" fmla="val 528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3606" y="4349115"/>
              <a:ext cx="18482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06. 포트폴리오 평가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54368" y="4727258"/>
              <a:ext cx="15773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결과뿐 아니라 판단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54368" y="5032058"/>
              <a:ext cx="200054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근거와 과정을 종합 평가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24650" y="5810250"/>
              <a:ext cx="2381250" cy="619125"/>
            </a:xfrm>
            <a:prstGeom prst="roundRect">
              <a:avLst>
                <a:gd name="adj" fmla="val 15385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49618" y="6013132"/>
              <a:ext cx="205825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증거: 매뉴얼·보고서·발표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408926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음악치료프로젝트 과목의 이해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6269345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운영 방향 : 1-7주차 : 임상문제를 실행가능한 프로토콜로 만든다</a:t>
            </a:r>
          </a:p>
        </p:txBody>
      </p:sp>
      <p:sp>
        <p:nvSpPr>
          <p:cNvPr id="4" name="Rectangle 4"/>
          <p:cNvSpPr/>
          <p:nvPr/>
        </p:nvSpPr>
        <p:spPr>
          <a:xfrm>
            <a:off x="457200" y="1381125"/>
            <a:ext cx="88392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E6DCD5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647700" y="1514475"/>
            <a:ext cx="5715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81164" y="1622108"/>
            <a:ext cx="304571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1주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20368" y="1622108"/>
            <a:ext cx="971420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교과목 개관</a:t>
            </a:r>
          </a:p>
        </p:txBody>
      </p:sp>
      <p:sp>
        <p:nvSpPr>
          <p:cNvPr id="8" name="Line 8"/>
          <p:cNvSpPr/>
          <p:nvPr/>
        </p:nvSpPr>
        <p:spPr>
          <a:xfrm>
            <a:off x="3048000" y="153352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E6DCD5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277743" y="1622108"/>
            <a:ext cx="4607030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PBL 운영 · 프로젝트 생애주기 · 최종 산출물 및 평가기준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57200" y="2124075"/>
            <a:ext cx="88392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E6DCD5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47700" y="2257425"/>
            <a:ext cx="5715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81164" y="2365058"/>
            <a:ext cx="304571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2주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0368" y="2365058"/>
            <a:ext cx="1154162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요구·근거격차</a:t>
            </a:r>
          </a:p>
        </p:txBody>
      </p:sp>
      <p:sp>
        <p:nvSpPr>
          <p:cNvPr id="14" name="Line 14"/>
          <p:cNvSpPr/>
          <p:nvPr/>
        </p:nvSpPr>
        <p:spPr>
          <a:xfrm>
            <a:off x="3048000" y="227647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E6DCD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277743" y="2365058"/>
            <a:ext cx="4927631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사례분석 · Needs Assessment · 대상/맥락 · 초기 근거탐색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7200" y="2867025"/>
            <a:ext cx="88392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E6DCD5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47700" y="3000375"/>
            <a:ext cx="5715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81164" y="3108008"/>
            <a:ext cx="304571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3주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0368" y="3108008"/>
            <a:ext cx="1519647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연구질문·변화기전</a:t>
            </a:r>
          </a:p>
        </p:txBody>
      </p:sp>
      <p:sp>
        <p:nvSpPr>
          <p:cNvPr id="20" name="Line 20"/>
          <p:cNvSpPr/>
          <p:nvPr/>
        </p:nvSpPr>
        <p:spPr>
          <a:xfrm>
            <a:off x="3048000" y="301942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E6DCD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277743" y="3108008"/>
            <a:ext cx="4828566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PICO+M+Context · 연구목적 · 논리모형 · 핵심 가설 설정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57200" y="3609975"/>
            <a:ext cx="88392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E6DCD5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47700" y="3743325"/>
            <a:ext cx="5715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81164" y="3850958"/>
            <a:ext cx="304571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4주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0368" y="3850958"/>
            <a:ext cx="1154162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프로그램 설계</a:t>
            </a:r>
          </a:p>
        </p:txBody>
      </p:sp>
      <p:sp>
        <p:nvSpPr>
          <p:cNvPr id="26" name="Line 26"/>
          <p:cNvSpPr/>
          <p:nvPr/>
        </p:nvSpPr>
        <p:spPr>
          <a:xfrm>
            <a:off x="3048000" y="376237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E6DCD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3277743" y="3850958"/>
            <a:ext cx="4584588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회기·음악요소·용량·맞춤화 · 매뉴얼 v1 작성 및 안전기준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57200" y="4352925"/>
            <a:ext cx="88392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E6DCD5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47700" y="4486275"/>
            <a:ext cx="5715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81164" y="4593908"/>
            <a:ext cx="304571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5주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20368" y="4593908"/>
            <a:ext cx="1519647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공동설계·사전검증</a:t>
            </a:r>
          </a:p>
        </p:txBody>
      </p:sp>
      <p:sp>
        <p:nvSpPr>
          <p:cNvPr id="32" name="Line 32"/>
          <p:cNvSpPr/>
          <p:nvPr/>
        </p:nvSpPr>
        <p:spPr>
          <a:xfrm>
            <a:off x="3048000" y="450532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E6DCD5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277743" y="4593908"/>
            <a:ext cx="4358565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이해관계자/전문가 피드백 · 협력체계 · 변경이력 관리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57200" y="5095875"/>
            <a:ext cx="88392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E6DCD5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47700" y="5229225"/>
            <a:ext cx="5715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81164" y="5336858"/>
            <a:ext cx="304571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6주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20368" y="5336858"/>
            <a:ext cx="133690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파일럿·운영계획</a:t>
            </a:r>
          </a:p>
        </p:txBody>
      </p:sp>
      <p:sp>
        <p:nvSpPr>
          <p:cNvPr id="38" name="Line 38"/>
          <p:cNvSpPr/>
          <p:nvPr/>
        </p:nvSpPr>
        <p:spPr>
          <a:xfrm>
            <a:off x="3048000" y="524827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E6DCD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3277743" y="5336858"/>
            <a:ext cx="410689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모집·수용성·안전·진행기준 · 상세 일정·자원·예산안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57200" y="5838825"/>
            <a:ext cx="8839200" cy="685800"/>
          </a:xfrm>
          <a:prstGeom prst="roundRect">
            <a:avLst>
              <a:gd name="adj" fmla="val 16667"/>
            </a:avLst>
          </a:prstGeom>
          <a:solidFill>
            <a:srgbClr val="F9ECEC"/>
          </a:solidFill>
          <a:ln w="23812">
            <a:solidFill>
              <a:schemeClr val="accent1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647700" y="5972175"/>
            <a:ext cx="5715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781164" y="6079808"/>
            <a:ext cx="304571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7주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20368" y="6079808"/>
            <a:ext cx="1154162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프로토콜 피칭</a:t>
            </a:r>
          </a:p>
        </p:txBody>
      </p:sp>
      <p:sp>
        <p:nvSpPr>
          <p:cNvPr id="44" name="Line 44"/>
          <p:cNvSpPr/>
          <p:nvPr/>
        </p:nvSpPr>
        <p:spPr>
          <a:xfrm>
            <a:off x="3048000" y="599122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E6DCD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3277743" y="6079808"/>
            <a:ext cx="4473982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실행계획 발표 · 전문가 피드백 · 윤리/타당성 최종 점검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408926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음악치료프로젝트 과목의 이해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4898777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운영 방향 : 8-11주차 : 중간평가 및 평가체계 구축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57200" y="1428750"/>
            <a:ext cx="8839200" cy="1143000"/>
            <a:chOff x="457200" y="1428750"/>
            <a:chExt cx="8839200" cy="1143000"/>
          </a:xfrm>
        </p:grpSpPr>
        <p:sp>
          <p:nvSpPr>
            <p:cNvPr id="4" name="Rectangle 4"/>
            <p:cNvSpPr/>
            <p:nvPr/>
          </p:nvSpPr>
          <p:spPr>
            <a:xfrm>
              <a:off x="457200" y="1428750"/>
              <a:ext cx="8839200" cy="1143000"/>
            </a:xfrm>
            <a:prstGeom prst="roundRect">
              <a:avLst>
                <a:gd name="adj" fmla="val 13333"/>
              </a:avLst>
            </a:prstGeom>
            <a:solidFill>
              <a:srgbClr val="F2F4EB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85800" y="1657350"/>
              <a:ext cx="666750" cy="666750"/>
            </a:xfrm>
            <a:prstGeom prst="roundRect">
              <a:avLst>
                <a:gd name="adj" fmla="val 20000"/>
              </a:avLst>
            </a:prstGeom>
            <a:solidFill>
              <a:srgbClr val="E5EAD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5211" y="1849755"/>
              <a:ext cx="38792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210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8주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90294" y="1742122"/>
              <a:ext cx="1553310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중간평가 (피칭)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91818" y="2126932"/>
              <a:ext cx="45397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개발 패키지 및 파일럿 프로토콜 발표, 설계 타당성 평가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2714625"/>
            <a:ext cx="8839200" cy="1143000"/>
            <a:chOff x="457200" y="2714625"/>
            <a:chExt cx="8839200" cy="1143000"/>
          </a:xfrm>
        </p:grpSpPr>
        <p:sp>
          <p:nvSpPr>
            <p:cNvPr id="10" name="Rectangle 10"/>
            <p:cNvSpPr/>
            <p:nvPr/>
          </p:nvSpPr>
          <p:spPr>
            <a:xfrm>
              <a:off x="457200" y="2714625"/>
              <a:ext cx="88392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E6DCD5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85800" y="2943225"/>
              <a:ext cx="666750" cy="666750"/>
            </a:xfrm>
            <a:prstGeom prst="roundRect">
              <a:avLst>
                <a:gd name="adj" fmla="val 20000"/>
              </a:avLst>
            </a:prstGeom>
            <a:solidFill>
              <a:srgbClr val="E5EAD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5211" y="3135630"/>
              <a:ext cx="38792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210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9주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90294" y="3027998"/>
              <a:ext cx="1798569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연구설계·결과지표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91818" y="3412808"/>
              <a:ext cx="483465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비교조건 설정 · 1차 결과지표 선정 · 시점 및 분석단위 확정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7200" y="4000500"/>
            <a:ext cx="8839200" cy="1143000"/>
            <a:chOff x="457200" y="4000500"/>
            <a:chExt cx="8839200" cy="1143000"/>
          </a:xfrm>
        </p:grpSpPr>
        <p:sp>
          <p:nvSpPr>
            <p:cNvPr id="16" name="Rectangle 16"/>
            <p:cNvSpPr/>
            <p:nvPr/>
          </p:nvSpPr>
          <p:spPr>
            <a:xfrm>
              <a:off x="457200" y="4000500"/>
              <a:ext cx="88392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E6DCD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" y="4229100"/>
              <a:ext cx="666750" cy="666750"/>
            </a:xfrm>
            <a:prstGeom prst="roundRect">
              <a:avLst>
                <a:gd name="adj" fmla="val 20000"/>
              </a:avLst>
            </a:prstGeom>
            <a:solidFill>
              <a:srgbClr val="E5EAD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7467" y="4421505"/>
              <a:ext cx="54341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210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10주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90294" y="4313872"/>
              <a:ext cx="1365758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과정·실행평가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91818" y="4698682"/>
              <a:ext cx="553997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치료충실도 관리 · 도달/용량/맥락 분석 · RE-AIM 프레임워크 적용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57200" y="5286375"/>
            <a:ext cx="8839200" cy="1143000"/>
            <a:chOff x="457200" y="5286375"/>
            <a:chExt cx="8839200" cy="1143000"/>
          </a:xfrm>
        </p:grpSpPr>
        <p:sp>
          <p:nvSpPr>
            <p:cNvPr id="22" name="Rectangle 22"/>
            <p:cNvSpPr/>
            <p:nvPr/>
          </p:nvSpPr>
          <p:spPr>
            <a:xfrm>
              <a:off x="457200" y="5286375"/>
              <a:ext cx="88392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E6DCD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5514975"/>
              <a:ext cx="666750" cy="666750"/>
            </a:xfrm>
            <a:prstGeom prst="roundRect">
              <a:avLst>
                <a:gd name="adj" fmla="val 20000"/>
              </a:avLst>
            </a:prstGeom>
            <a:solidFill>
              <a:srgbClr val="E5EAD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7467" y="5707380"/>
              <a:ext cx="54341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210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11주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90294" y="5599748"/>
              <a:ext cx="1865895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윤리·등록·자료관리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91818" y="5984558"/>
              <a:ext cx="549028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IRB 심의 준비 · CRIS 임상연구 사전등록 · 데이터관리계획(DMP)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408926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음악치료프로젝트 과목의 이해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5897448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운영 방향 : 12-15주차 : 수행, 분석 및 최종 포트폴리오 완성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57200" y="1428750"/>
            <a:ext cx="8839200" cy="1143000"/>
            <a:chOff x="457200" y="1428750"/>
            <a:chExt cx="8839200" cy="1143000"/>
          </a:xfrm>
        </p:grpSpPr>
        <p:sp>
          <p:nvSpPr>
            <p:cNvPr id="4" name="Rectangle 4"/>
            <p:cNvSpPr/>
            <p:nvPr/>
          </p:nvSpPr>
          <p:spPr>
            <a:xfrm>
              <a:off x="457200" y="1428750"/>
              <a:ext cx="88392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E6DCD5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85800" y="1657350"/>
              <a:ext cx="666750" cy="666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7467" y="1849755"/>
              <a:ext cx="54341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210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12주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90294" y="1742122"/>
              <a:ext cx="1867499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수행·현장 모니터링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91818" y="2126932"/>
              <a:ext cx="529792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파일럿/모의수행 진행 · 현장 운영일지 작성 · 일탈·변경·품질관리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2714625"/>
            <a:ext cx="8839200" cy="1143000"/>
            <a:chOff x="457200" y="2714625"/>
            <a:chExt cx="8839200" cy="1143000"/>
          </a:xfrm>
        </p:grpSpPr>
        <p:sp>
          <p:nvSpPr>
            <p:cNvPr id="10" name="Rectangle 10"/>
            <p:cNvSpPr/>
            <p:nvPr/>
          </p:nvSpPr>
          <p:spPr>
            <a:xfrm>
              <a:off x="457200" y="2714625"/>
              <a:ext cx="88392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E6DCD5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85800" y="2943225"/>
              <a:ext cx="666750" cy="666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7467" y="3135630"/>
              <a:ext cx="54341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210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13주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90294" y="3027998"/>
              <a:ext cx="1582164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분석·연구보고서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91818" y="3412808"/>
              <a:ext cx="54470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효과성 데이터 분석 · 기전 및 맥락 해석 · IMRaD 연구보고서 초안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7200" y="4000500"/>
            <a:ext cx="8839200" cy="1143000"/>
            <a:chOff x="457200" y="4000500"/>
            <a:chExt cx="8839200" cy="1143000"/>
          </a:xfrm>
        </p:grpSpPr>
        <p:sp>
          <p:nvSpPr>
            <p:cNvPr id="16" name="Rectangle 16"/>
            <p:cNvSpPr/>
            <p:nvPr/>
          </p:nvSpPr>
          <p:spPr>
            <a:xfrm>
              <a:off x="457200" y="4000500"/>
              <a:ext cx="8839200" cy="1143000"/>
            </a:xfrm>
            <a:prstGeom prst="roundRect">
              <a:avLst>
                <a:gd name="adj" fmla="val 13333"/>
              </a:avLst>
            </a:prstGeom>
            <a:solidFill>
              <a:srgbClr val="F9ECEC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" y="4229100"/>
              <a:ext cx="666750" cy="666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7467" y="4421505"/>
              <a:ext cx="54341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210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14주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90294" y="4313872"/>
              <a:ext cx="115095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최종 발표회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91818" y="4698682"/>
              <a:ext cx="531555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개발-평가-보고 전 과정 프레젠테이션 · 동료 및 외부 전문가 평가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57200" y="5286375"/>
            <a:ext cx="8839200" cy="1143000"/>
            <a:chOff x="457200" y="5286375"/>
            <a:chExt cx="8839200" cy="1143000"/>
          </a:xfrm>
        </p:grpSpPr>
        <p:sp>
          <p:nvSpPr>
            <p:cNvPr id="22" name="Rectangle 22"/>
            <p:cNvSpPr/>
            <p:nvPr/>
          </p:nvSpPr>
          <p:spPr>
            <a:xfrm>
              <a:off x="457200" y="5286375"/>
              <a:ext cx="8839200" cy="1143000"/>
            </a:xfrm>
            <a:prstGeom prst="roundRect">
              <a:avLst>
                <a:gd name="adj" fmla="val 13333"/>
              </a:avLst>
            </a:prstGeom>
            <a:solidFill>
              <a:srgbClr val="F9ECEC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5514975"/>
              <a:ext cx="666750" cy="666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7467" y="5707380"/>
              <a:ext cx="54341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210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15주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90294" y="5599748"/>
              <a:ext cx="2085507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최종 포트폴리오 평가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91818" y="5984558"/>
              <a:ext cx="567463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매뉴얼 · 프로토콜 · 도구 · 최종 보고서 완제 패키지 제출 및 사후 평가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857250"/>
            <a:ext cx="8229600" cy="56007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E6DCD5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333500" y="1524000"/>
            <a:ext cx="1524000" cy="4191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504793" y="1631632"/>
            <a:ext cx="118141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SECTION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19784" y="2280285"/>
            <a:ext cx="4581382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 및 음악치료 프로젝트의 기본</a:t>
            </a:r>
          </a:p>
        </p:txBody>
      </p:sp>
      <p:sp>
        <p:nvSpPr>
          <p:cNvPr id="6" name="Line 6"/>
          <p:cNvSpPr/>
          <p:nvPr/>
        </p:nvSpPr>
        <p:spPr>
          <a:xfrm>
            <a:off x="1333500" y="2857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47625" cap="rnd">
            <a:solidFill>
              <a:schemeClr val="accent3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24356" y="3234690"/>
            <a:ext cx="468557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800" b="1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프로젝트의 개념적 정의, 필요성 및 추진 체계의 이해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33500" y="4000500"/>
            <a:ext cx="2190750" cy="1809750"/>
            <a:chOff x="1333500" y="4000500"/>
            <a:chExt cx="2190750" cy="1809750"/>
          </a:xfrm>
        </p:grpSpPr>
        <p:sp>
          <p:nvSpPr>
            <p:cNvPr id="8" name="Rectangle 8"/>
            <p:cNvSpPr/>
            <p:nvPr/>
          </p:nvSpPr>
          <p:spPr>
            <a:xfrm>
              <a:off x="1333500" y="4000500"/>
              <a:ext cx="2190750" cy="1809750"/>
            </a:xfrm>
            <a:prstGeom prst="roundRect">
              <a:avLst>
                <a:gd name="adj" fmla="val 7368"/>
              </a:avLst>
            </a:prstGeom>
            <a:solidFill>
              <a:schemeClr val="lt1"/>
            </a:solidFill>
            <a:ln w="14288">
              <a:solidFill>
                <a:srgbClr val="E6DCD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333500" y="4000500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53718" y="4298632"/>
              <a:ext cx="169597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01. 프로젝트의 정의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53718" y="4727258"/>
              <a:ext cx="186268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특정 목표 &amp; 특정 대상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53718" y="5060632"/>
              <a:ext cx="18178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음악치료 시행 및 기획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53718" y="5394008"/>
              <a:ext cx="157414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6대 필수 기획 요소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781425" y="4000500"/>
            <a:ext cx="2190750" cy="1809750"/>
            <a:chOff x="3781425" y="4000500"/>
            <a:chExt cx="2190750" cy="1809750"/>
          </a:xfrm>
        </p:grpSpPr>
        <p:sp>
          <p:nvSpPr>
            <p:cNvPr id="15" name="Rectangle 15"/>
            <p:cNvSpPr/>
            <p:nvPr/>
          </p:nvSpPr>
          <p:spPr>
            <a:xfrm>
              <a:off x="3781425" y="4000500"/>
              <a:ext cx="2190750" cy="1809750"/>
            </a:xfrm>
            <a:prstGeom prst="roundRect">
              <a:avLst>
                <a:gd name="adj" fmla="val 7368"/>
              </a:avLst>
            </a:prstGeom>
            <a:solidFill>
              <a:schemeClr val="lt1"/>
            </a:solidFill>
            <a:ln w="14288">
              <a:solidFill>
                <a:srgbClr val="E6DCD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781425" y="4000500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001643" y="4298632"/>
              <a:ext cx="126957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02. 4대 필요성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01643" y="4727258"/>
              <a:ext cx="18178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사회적 지원 대상 발굴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01643" y="5060632"/>
              <a:ext cx="162223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실험적 시도 &amp; 확장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01643" y="5394008"/>
              <a:ext cx="16350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공공·공익 지원 체계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29350" y="4000500"/>
            <a:ext cx="2190750" cy="1809750"/>
            <a:chOff x="6229350" y="4000500"/>
            <a:chExt cx="2190750" cy="1809750"/>
          </a:xfrm>
        </p:grpSpPr>
        <p:sp>
          <p:nvSpPr>
            <p:cNvPr id="22" name="Rectangle 22"/>
            <p:cNvSpPr/>
            <p:nvPr/>
          </p:nvSpPr>
          <p:spPr>
            <a:xfrm>
              <a:off x="6229350" y="4000500"/>
              <a:ext cx="2190750" cy="1809750"/>
            </a:xfrm>
            <a:prstGeom prst="roundRect">
              <a:avLst>
                <a:gd name="adj" fmla="val 7368"/>
              </a:avLst>
            </a:prstGeom>
            <a:solidFill>
              <a:schemeClr val="lt1"/>
            </a:solidFill>
            <a:ln w="14288">
              <a:solidFill>
                <a:srgbClr val="E6DCD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29350" y="4000500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49568" y="4298632"/>
              <a:ext cx="169277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03. 6단계 실행 과정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49568" y="4727258"/>
              <a:ext cx="18178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아이디어 → 기관 발굴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49568" y="5060632"/>
              <a:ext cx="16350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기획안 작성 및 제안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49568" y="5394008"/>
              <a:ext cx="144911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실행 &amp; 결과 평가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1651093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프로젝트란?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4946867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프로젝트의 사전적 의미 : 연구나 사업 또는 그 계획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57200" y="1381125"/>
            <a:ext cx="4314557" cy="5286375"/>
            <a:chOff x="457200" y="1381125"/>
            <a:chExt cx="4314557" cy="5286375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4286250" cy="5286375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723900" y="1647825"/>
              <a:ext cx="15240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7178" y="1717358"/>
              <a:ext cx="119744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DEFINITION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3232" y="2249805"/>
              <a:ext cx="2284280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음악치료 프로젝트란?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23900" y="2667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23900" y="3000375"/>
              <a:ext cx="3752850" cy="2190750"/>
            </a:xfrm>
            <a:prstGeom prst="roundRect">
              <a:avLst>
                <a:gd name="adj" fmla="val 6087"/>
              </a:avLst>
            </a:prstGeom>
            <a:solidFill>
              <a:schemeClr val="lt1"/>
            </a:solidFill>
            <a:ln w="9525">
              <a:solidFill>
                <a:srgbClr val="E6DCD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4494" y="3313748"/>
              <a:ext cx="186910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특정 목표를 가지고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4494" y="3789998"/>
              <a:ext cx="136736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특정 대상에게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4494" y="4266248"/>
              <a:ext cx="2518318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음악치료 시행을 기획하고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4494" y="4742498"/>
              <a:ext cx="115095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실행하는 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5518" y="5441632"/>
              <a:ext cx="405623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한정된 자원과 시간 내에 명확한 임상 목표 완수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5518" y="5870258"/>
              <a:ext cx="387349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현장 맞춤형 중재 프로토콜 개발 및 효과 검증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10150" y="1381125"/>
            <a:ext cx="4286250" cy="5286375"/>
            <a:chOff x="5010150" y="1381125"/>
            <a:chExt cx="4286250" cy="5286375"/>
          </a:xfrm>
        </p:grpSpPr>
        <p:sp>
          <p:nvSpPr>
            <p:cNvPr id="17" name="Rectangle 17"/>
            <p:cNvSpPr/>
            <p:nvPr/>
          </p:nvSpPr>
          <p:spPr>
            <a:xfrm>
              <a:off x="5010150" y="1381125"/>
              <a:ext cx="4286250" cy="5286375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6182" y="1678305"/>
              <a:ext cx="2933495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음악치료 프로젝트 3대 특성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5276850" y="2190750"/>
              <a:ext cx="3844608" cy="3952875"/>
              <a:chOff x="5276850" y="2190750"/>
              <a:chExt cx="3844608" cy="395287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276850" y="2190750"/>
                <a:ext cx="3752850" cy="1190625"/>
              </a:xfrm>
              <a:prstGeom prst="roundRect">
                <a:avLst>
                  <a:gd name="adj" fmla="val 9600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496306" y="2396490"/>
                <a:ext cx="322299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01. 목표 지향성 (Goal-Oriented)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497068" y="2774632"/>
                <a:ext cx="362439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명확한 정량적·정성적 임상 치료 성과 목표를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497068" y="3041332"/>
                <a:ext cx="235481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사전에 설정하고 검증합니다.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5276850" y="3571875"/>
                <a:ext cx="3752850" cy="1190625"/>
              </a:xfrm>
              <a:prstGeom prst="roundRect">
                <a:avLst>
                  <a:gd name="adj" fmla="val 9600"/>
                </a:avLst>
              </a:prstGeom>
              <a:solidFill>
                <a:schemeClr val="lt1"/>
              </a:solidFill>
              <a:ln w="14288">
                <a:solidFill>
                  <a:schemeClr val="accent3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496306" y="3777615"/>
                <a:ext cx="330250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chemeClr val="accent3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02. 대상 맞춤형 (Target-Specific)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497068" y="4155758"/>
                <a:ext cx="344164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특정 취약계층, 질환군 또는 기관의 요구를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497068" y="4422458"/>
                <a:ext cx="259526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정밀 분석하여 맞춤 설계합니다.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5276850" y="4953000"/>
                <a:ext cx="3752850" cy="1190625"/>
              </a:xfrm>
              <a:prstGeom prst="roundRect">
                <a:avLst>
                  <a:gd name="adj" fmla="val 9600"/>
                </a:avLst>
              </a:prstGeom>
              <a:solidFill>
                <a:schemeClr val="lt1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496306" y="5158740"/>
                <a:ext cx="284828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chemeClr val="accent2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03. 체계적 검증 (Systematic)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497068" y="5536882"/>
                <a:ext cx="327974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프로토콜 표준화와 연구윤리를 준수하며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497068" y="5803582"/>
                <a:ext cx="332623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치료적 효과성을 과학적으로 입증합니다.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1651093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프로젝트란?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4384214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음악치료 프로젝트 기획의 6대 핵심 구성요소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57200" y="1381125"/>
            <a:ext cx="2762250" cy="2476500"/>
            <a:chOff x="457200" y="1381125"/>
            <a:chExt cx="2762250" cy="2476500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2762250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85800" y="1609725"/>
              <a:ext cx="419100" cy="34290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4436" y="1679258"/>
              <a:ext cx="1218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10056" y="1672590"/>
              <a:ext cx="7950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성과목표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2095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2346008"/>
              <a:ext cx="13369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달성하고자 하는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7418" y="2679382"/>
              <a:ext cx="114294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정량적·정성적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7418" y="3012758"/>
              <a:ext cx="16350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임상 치료 목표 설정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495675" y="1381125"/>
            <a:ext cx="2762250" cy="2476500"/>
            <a:chOff x="3495675" y="1381125"/>
            <a:chExt cx="2762250" cy="2476500"/>
          </a:xfrm>
        </p:grpSpPr>
        <p:sp>
          <p:nvSpPr>
            <p:cNvPr id="13" name="Rectangle 13"/>
            <p:cNvSpPr/>
            <p:nvPr/>
          </p:nvSpPr>
          <p:spPr>
            <a:xfrm>
              <a:off x="3495675" y="1381125"/>
              <a:ext cx="2762250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724275" y="1609725"/>
              <a:ext cx="419100" cy="342900"/>
            </a:xfrm>
            <a:prstGeom prst="roundRect">
              <a:avLst>
                <a:gd name="adj" fmla="val 2222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72911" y="1679258"/>
              <a:ext cx="1218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48531" y="1672590"/>
              <a:ext cx="12567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프로그램 내용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724275" y="2095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15893" y="2346008"/>
              <a:ext cx="97142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회차별 세부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15893" y="2679382"/>
              <a:ext cx="15773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음악치료 중재 활동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15893" y="3012758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매뉴얼 및 구성안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534150" y="1381125"/>
            <a:ext cx="2762250" cy="2476500"/>
            <a:chOff x="6534150" y="1381125"/>
            <a:chExt cx="2762250" cy="2476500"/>
          </a:xfrm>
        </p:grpSpPr>
        <p:sp>
          <p:nvSpPr>
            <p:cNvPr id="22" name="Rectangle 22"/>
            <p:cNvSpPr/>
            <p:nvPr/>
          </p:nvSpPr>
          <p:spPr>
            <a:xfrm>
              <a:off x="6534150" y="1381125"/>
              <a:ext cx="2762250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62750" y="1609725"/>
              <a:ext cx="419100" cy="342900"/>
            </a:xfrm>
            <a:prstGeom prst="roundRect">
              <a:avLst>
                <a:gd name="adj" fmla="val 2222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11386" y="1679258"/>
              <a:ext cx="1218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87006" y="1672590"/>
              <a:ext cx="8592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달성 방안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762750" y="2095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54368" y="2346008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목표 실현을 위한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54368" y="2679382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구체적 실행 전략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54368" y="3012758"/>
              <a:ext cx="15773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추진체계 및 협력망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57200" y="4143375"/>
            <a:ext cx="2762250" cy="2524125"/>
            <a:chOff x="457200" y="4143375"/>
            <a:chExt cx="2762250" cy="2524125"/>
          </a:xfrm>
        </p:grpSpPr>
        <p:sp>
          <p:nvSpPr>
            <p:cNvPr id="31" name="Rectangle 31"/>
            <p:cNvSpPr/>
            <p:nvPr/>
          </p:nvSpPr>
          <p:spPr>
            <a:xfrm>
              <a:off x="457200" y="4143375"/>
              <a:ext cx="2762250" cy="2524125"/>
            </a:xfrm>
            <a:prstGeom prst="roundRect">
              <a:avLst>
                <a:gd name="adj" fmla="val 528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5800" y="4371975"/>
              <a:ext cx="419100" cy="34290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4436" y="4441508"/>
              <a:ext cx="1218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10056" y="4434840"/>
              <a:ext cx="8592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평가 계획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85800" y="48577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418" y="5108258"/>
              <a:ext cx="15773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치료적 효과성 측정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7418" y="5441632"/>
              <a:ext cx="13369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표준화 평가도구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7418" y="5775008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데이터 분석 설계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495675" y="4143375"/>
            <a:ext cx="2762250" cy="2524125"/>
            <a:chOff x="3495675" y="4143375"/>
            <a:chExt cx="2762250" cy="2524125"/>
          </a:xfrm>
        </p:grpSpPr>
        <p:sp>
          <p:nvSpPr>
            <p:cNvPr id="40" name="Rectangle 40"/>
            <p:cNvSpPr/>
            <p:nvPr/>
          </p:nvSpPr>
          <p:spPr>
            <a:xfrm>
              <a:off x="3495675" y="4143375"/>
              <a:ext cx="2762250" cy="2524125"/>
            </a:xfrm>
            <a:prstGeom prst="roundRect">
              <a:avLst>
                <a:gd name="adj" fmla="val 528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3724275" y="4371975"/>
              <a:ext cx="419100" cy="342900"/>
            </a:xfrm>
            <a:prstGeom prst="roundRect">
              <a:avLst>
                <a:gd name="adj" fmla="val 2222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872911" y="4441508"/>
              <a:ext cx="1218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48531" y="4434840"/>
              <a:ext cx="59631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예산안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3724275" y="48577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715893" y="5108258"/>
              <a:ext cx="124713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인건비, 재료비,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715893" y="5441632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운영비 등 합리적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15893" y="5775008"/>
              <a:ext cx="18178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비목별 소요 예산 산출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534150" y="4143375"/>
            <a:ext cx="2762250" cy="2524125"/>
            <a:chOff x="6534150" y="4143375"/>
            <a:chExt cx="2762250" cy="2524125"/>
          </a:xfrm>
        </p:grpSpPr>
        <p:sp>
          <p:nvSpPr>
            <p:cNvPr id="49" name="Rectangle 49"/>
            <p:cNvSpPr/>
            <p:nvPr/>
          </p:nvSpPr>
          <p:spPr>
            <a:xfrm>
              <a:off x="6534150" y="4143375"/>
              <a:ext cx="2762250" cy="2524125"/>
            </a:xfrm>
            <a:prstGeom prst="roundRect">
              <a:avLst>
                <a:gd name="adj" fmla="val 528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62750" y="4371975"/>
              <a:ext cx="419100" cy="342900"/>
            </a:xfrm>
            <a:prstGeom prst="roundRect">
              <a:avLst>
                <a:gd name="adj" fmla="val 2222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11386" y="4441508"/>
              <a:ext cx="1218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87006" y="4434840"/>
              <a:ext cx="7950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인력구성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6762750" y="48577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54368" y="5108258"/>
              <a:ext cx="17953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주치료사, 보조치료사,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54368" y="5441632"/>
              <a:ext cx="176009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슈퍼바이저 역할 분담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54368" y="5775008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전문가 협력 체계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3789499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음악치료 프로젝트의 필요성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4132542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왜 음악 및 음악치료 프로젝트가 필요한가?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57200" y="1381125"/>
            <a:ext cx="2066925" cy="5286375"/>
            <a:chOff x="457200" y="1381125"/>
            <a:chExt cx="2066925" cy="5286375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2066925" cy="5286375"/>
            </a:xfrm>
            <a:prstGeom prst="roundRect">
              <a:avLst>
                <a:gd name="adj" fmla="val 737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457200" y="1381125"/>
              <a:ext cx="2066925" cy="114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666875"/>
              <a:ext cx="533400" cy="533400"/>
            </a:xfrm>
            <a:prstGeom prst="roundRect">
              <a:avLst>
                <a:gd name="adj" fmla="val 50000"/>
              </a:avLst>
            </a:prstGeom>
            <a:solidFill>
              <a:srgbClr val="F9ECE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0129" y="1808798"/>
              <a:ext cx="28854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8556" y="2425065"/>
              <a:ext cx="10579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사회적 지원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8556" y="2758440"/>
              <a:ext cx="8592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필요 대상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47700" y="31908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9318" y="3489008"/>
              <a:ext cx="115416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사회적 지원이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9318" y="3822382"/>
              <a:ext cx="15773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필요한 대상에 대한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9318" y="4155758"/>
              <a:ext cx="115416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중재 프로그램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318" y="4489132"/>
              <a:ext cx="115416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시행의 절실함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5095875"/>
              <a:ext cx="1762125" cy="1285875"/>
            </a:xfrm>
            <a:prstGeom prst="roundRect">
              <a:avLst>
                <a:gd name="adj" fmla="val 740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6468" y="5346382"/>
              <a:ext cx="133434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취약계층 방역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6468" y="5727382"/>
              <a:ext cx="139204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은둔 청년 지원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6468" y="6108382"/>
              <a:ext cx="133434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돌봄가족 치유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714625" y="1381125"/>
            <a:ext cx="2066925" cy="5286375"/>
            <a:chOff x="2714625" y="1381125"/>
            <a:chExt cx="2066925" cy="5286375"/>
          </a:xfrm>
        </p:grpSpPr>
        <p:sp>
          <p:nvSpPr>
            <p:cNvPr id="20" name="Rectangle 20"/>
            <p:cNvSpPr/>
            <p:nvPr/>
          </p:nvSpPr>
          <p:spPr>
            <a:xfrm>
              <a:off x="2714625" y="1381125"/>
              <a:ext cx="2066925" cy="5286375"/>
            </a:xfrm>
            <a:prstGeom prst="roundRect">
              <a:avLst>
                <a:gd name="adj" fmla="val 737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714625" y="1381125"/>
              <a:ext cx="2066925" cy="114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905125" y="1666875"/>
              <a:ext cx="533400" cy="533400"/>
            </a:xfrm>
            <a:prstGeom prst="roundRect">
              <a:avLst>
                <a:gd name="adj" fmla="val 50000"/>
              </a:avLst>
            </a:prstGeom>
            <a:solidFill>
              <a:srgbClr val="F8EDE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27554" y="1808798"/>
              <a:ext cx="28854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95981" y="2425065"/>
              <a:ext cx="10579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유일한 접점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95981" y="2758440"/>
              <a:ext cx="8592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창구 역할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905125" y="31908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896743" y="3489008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특정 대상의 경우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96743" y="3822382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오직 공공 지원을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96743" y="4155758"/>
              <a:ext cx="13369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통해서만 치료를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96743" y="4489132"/>
              <a:ext cx="10291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만날 수 있음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867025" y="5095875"/>
              <a:ext cx="1762125" cy="1285875"/>
            </a:xfrm>
            <a:prstGeom prst="roundRect">
              <a:avLst>
                <a:gd name="adj" fmla="val 740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953893" y="5346382"/>
              <a:ext cx="139204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사설 센터 한계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53893" y="5727382"/>
              <a:ext cx="151708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바우처 사각지대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53893" y="6108382"/>
              <a:ext cx="157479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복지관 무료 중재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972050" y="1381125"/>
            <a:ext cx="2066925" cy="5286375"/>
            <a:chOff x="4972050" y="1381125"/>
            <a:chExt cx="2066925" cy="5286375"/>
          </a:xfrm>
        </p:grpSpPr>
        <p:sp>
          <p:nvSpPr>
            <p:cNvPr id="36" name="Rectangle 36"/>
            <p:cNvSpPr/>
            <p:nvPr/>
          </p:nvSpPr>
          <p:spPr>
            <a:xfrm>
              <a:off x="4972050" y="1381125"/>
              <a:ext cx="2066925" cy="5286375"/>
            </a:xfrm>
            <a:prstGeom prst="roundRect">
              <a:avLst>
                <a:gd name="adj" fmla="val 737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72050" y="1381125"/>
              <a:ext cx="2066925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62550" y="1666875"/>
              <a:ext cx="533400" cy="533400"/>
            </a:xfrm>
            <a:prstGeom prst="roundRect">
              <a:avLst>
                <a:gd name="adj" fmla="val 50000"/>
              </a:avLst>
            </a:prstGeom>
            <a:solidFill>
              <a:srgbClr val="F2F4E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4979" y="1808798"/>
              <a:ext cx="28854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53406" y="2425065"/>
              <a:ext cx="12567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새로운 대상군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53406" y="2758440"/>
              <a:ext cx="13176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&amp; 실험적 시도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5162550" y="31908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154168" y="3489008"/>
              <a:ext cx="15773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새로운 대상군 개발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54168" y="3822382"/>
              <a:ext cx="121187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및 융합적 중재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54168" y="4155758"/>
              <a:ext cx="115416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내용의 도전적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54168" y="4489132"/>
              <a:ext cx="78867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실험 가능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124450" y="5095875"/>
              <a:ext cx="1762125" cy="1285875"/>
            </a:xfrm>
            <a:prstGeom prst="roundRect">
              <a:avLst>
                <a:gd name="adj" fmla="val 740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11318" y="5346382"/>
              <a:ext cx="133434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신규 프로토콜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11318" y="5727382"/>
              <a:ext cx="12093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타 예술 융합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11318" y="6108382"/>
              <a:ext cx="157479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선행 타당성 연구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229475" y="1381125"/>
            <a:ext cx="2066925" cy="5286375"/>
            <a:chOff x="7229475" y="1381125"/>
            <a:chExt cx="2066925" cy="5286375"/>
          </a:xfrm>
        </p:grpSpPr>
        <p:sp>
          <p:nvSpPr>
            <p:cNvPr id="52" name="Rectangle 52"/>
            <p:cNvSpPr/>
            <p:nvPr/>
          </p:nvSpPr>
          <p:spPr>
            <a:xfrm>
              <a:off x="7229475" y="1381125"/>
              <a:ext cx="2066925" cy="5286375"/>
            </a:xfrm>
            <a:prstGeom prst="roundRect">
              <a:avLst>
                <a:gd name="adj" fmla="val 737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229475" y="1381125"/>
              <a:ext cx="2066925" cy="114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419975" y="1666875"/>
              <a:ext cx="533400" cy="533400"/>
            </a:xfrm>
            <a:prstGeom prst="roundRect">
              <a:avLst>
                <a:gd name="adj" fmla="val 50000"/>
              </a:avLst>
            </a:prstGeom>
            <a:solidFill>
              <a:srgbClr val="F8EDE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542404" y="1808798"/>
              <a:ext cx="28854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9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10831" y="2425065"/>
              <a:ext cx="13833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외연적 · 내연적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10831" y="2758440"/>
              <a:ext cx="112210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확장 및 발전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7419975" y="31908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11593" y="3489008"/>
              <a:ext cx="13369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음악치료 사회적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11593" y="3822382"/>
              <a:ext cx="97142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인식 제고와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11593" y="4155758"/>
              <a:ext cx="115416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학문적·임상적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11593" y="4489132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전문성 동반 성장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381875" y="5095875"/>
              <a:ext cx="1762125" cy="1285875"/>
            </a:xfrm>
            <a:prstGeom prst="roundRect">
              <a:avLst>
                <a:gd name="adj" fmla="val 740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68743" y="5346382"/>
              <a:ext cx="139204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공공 정책 반영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68743" y="5727382"/>
              <a:ext cx="139204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임상 근거 축적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68743" y="6108382"/>
              <a:ext cx="139204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치료 영역 확대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3789499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음악치료 프로젝트의 필요성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3060133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프로젝트는 어디에서 시행되나?</a:t>
            </a:r>
          </a:p>
        </p:txBody>
      </p:sp>
      <p:sp>
        <p:nvSpPr>
          <p:cNvPr id="4" name="Rectangle 4"/>
          <p:cNvSpPr/>
          <p:nvPr/>
        </p:nvSpPr>
        <p:spPr>
          <a:xfrm>
            <a:off x="457200" y="1381125"/>
            <a:ext cx="8839200" cy="619125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4288">
            <a:solidFill>
              <a:srgbClr val="E6DCD5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58368" y="1584008"/>
            <a:ext cx="1327286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주요 시행 기관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34743" y="1584008"/>
            <a:ext cx="6065763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정부부처 (문체부·복지부), 지자체, 공익재단, 기업체(사회공헌), 복지관 등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57200" y="2143125"/>
            <a:ext cx="1638300" cy="4524375"/>
            <a:chOff x="457200" y="2143125"/>
            <a:chExt cx="1638300" cy="4524375"/>
          </a:xfrm>
        </p:grpSpPr>
        <p:sp>
          <p:nvSpPr>
            <p:cNvPr id="7" name="Rectangle 7"/>
            <p:cNvSpPr/>
            <p:nvPr/>
          </p:nvSpPr>
          <p:spPr>
            <a:xfrm>
              <a:off x="457200" y="2143125"/>
              <a:ext cx="1638300" cy="4524375"/>
            </a:xfrm>
            <a:prstGeom prst="roundRect">
              <a:avLst>
                <a:gd name="adj" fmla="val 8140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2219325"/>
              <a:ext cx="1485900" cy="19050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5120" y="2219325"/>
              <a:ext cx="1462459" cy="190500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563118" y="4251008"/>
              <a:ext cx="54822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꿈다락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118" y="4536758"/>
              <a:ext cx="73096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문화예술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71500" y="4886325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9525">
              <a:solidFill>
                <a:srgbClr val="E6DCD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3118" y="5060632"/>
              <a:ext cx="9688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맞춤 교육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118" y="5441632"/>
              <a:ext cx="9688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거점 연계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257425" y="2143125"/>
            <a:ext cx="1638300" cy="4524375"/>
            <a:chOff x="2257425" y="2143125"/>
            <a:chExt cx="1638300" cy="4524375"/>
          </a:xfrm>
        </p:grpSpPr>
        <p:sp>
          <p:nvSpPr>
            <p:cNvPr id="16" name="Rectangle 16"/>
            <p:cNvSpPr/>
            <p:nvPr/>
          </p:nvSpPr>
          <p:spPr>
            <a:xfrm>
              <a:off x="2257425" y="2143125"/>
              <a:ext cx="1638300" cy="4524375"/>
            </a:xfrm>
            <a:prstGeom prst="roundRect">
              <a:avLst>
                <a:gd name="adj" fmla="val 8140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333625" y="2219325"/>
              <a:ext cx="1485900" cy="19050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3625" y="2277989"/>
              <a:ext cx="1485900" cy="1787672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2363343" y="4251008"/>
              <a:ext cx="78867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더 가까이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63343" y="4536758"/>
              <a:ext cx="97142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꿈다락 공모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2371725" y="4886325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9525">
              <a:solidFill>
                <a:srgbClr val="E6DCD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63343" y="5060632"/>
              <a:ext cx="115159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취약 접근성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63343" y="5441632"/>
              <a:ext cx="9688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밀착 중재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057650" y="2143125"/>
            <a:ext cx="1638300" cy="4524375"/>
            <a:chOff x="4057650" y="2143125"/>
            <a:chExt cx="1638300" cy="4524375"/>
          </a:xfrm>
        </p:grpSpPr>
        <p:sp>
          <p:nvSpPr>
            <p:cNvPr id="25" name="Rectangle 25"/>
            <p:cNvSpPr/>
            <p:nvPr/>
          </p:nvSpPr>
          <p:spPr>
            <a:xfrm>
              <a:off x="4057650" y="2143125"/>
              <a:ext cx="1638300" cy="4524375"/>
            </a:xfrm>
            <a:prstGeom prst="roundRect">
              <a:avLst>
                <a:gd name="adj" fmla="val 8140"/>
              </a:avLst>
            </a:prstGeom>
            <a:solidFill>
              <a:srgbClr val="FFFFFF"/>
            </a:solidFill>
            <a:ln w="23812">
              <a:solidFill>
                <a:schemeClr val="accent1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133850" y="2219325"/>
              <a:ext cx="1485900" cy="19050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83610" y="2219325"/>
              <a:ext cx="1386379" cy="1905000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4163568" y="4251008"/>
              <a:ext cx="54822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봄처럼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63568" y="4536758"/>
              <a:ext cx="73096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마음치유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4171950" y="4886325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9525">
              <a:solidFill>
                <a:srgbClr val="E6DCD5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163568" y="5060632"/>
              <a:ext cx="9111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심리치유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63568" y="5441632"/>
              <a:ext cx="79508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accent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주 양식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857875" y="2143125"/>
            <a:ext cx="1638300" cy="4524375"/>
            <a:chOff x="5857875" y="2143125"/>
            <a:chExt cx="1638300" cy="4524375"/>
          </a:xfrm>
        </p:grpSpPr>
        <p:sp>
          <p:nvSpPr>
            <p:cNvPr id="34" name="Rectangle 34"/>
            <p:cNvSpPr/>
            <p:nvPr/>
          </p:nvSpPr>
          <p:spPr>
            <a:xfrm>
              <a:off x="5857875" y="2143125"/>
              <a:ext cx="1638300" cy="4524375"/>
            </a:xfrm>
            <a:prstGeom prst="roundRect">
              <a:avLst>
                <a:gd name="adj" fmla="val 8140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934075" y="2219325"/>
              <a:ext cx="1485900" cy="19050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34075" y="2219325"/>
              <a:ext cx="1485900" cy="190500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5963793" y="4251008"/>
              <a:ext cx="73096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서울문화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63793" y="4536758"/>
              <a:ext cx="73096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예술지원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972175" y="4886325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9525">
              <a:solidFill>
                <a:srgbClr val="E6DCD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63793" y="5060632"/>
              <a:ext cx="9688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광역 재단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63793" y="5441632"/>
              <a:ext cx="9688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창작 연계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658100" y="2143125"/>
            <a:ext cx="1638300" cy="4524375"/>
            <a:chOff x="7658100" y="2143125"/>
            <a:chExt cx="1638300" cy="4524375"/>
          </a:xfrm>
        </p:grpSpPr>
        <p:sp>
          <p:nvSpPr>
            <p:cNvPr id="43" name="Rectangle 43"/>
            <p:cNvSpPr/>
            <p:nvPr/>
          </p:nvSpPr>
          <p:spPr>
            <a:xfrm>
              <a:off x="7658100" y="2143125"/>
              <a:ext cx="1638300" cy="4524375"/>
            </a:xfrm>
            <a:prstGeom prst="roundRect">
              <a:avLst>
                <a:gd name="adj" fmla="val 8140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734300" y="2219325"/>
              <a:ext cx="1485900" cy="19050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34300" y="2219325"/>
              <a:ext cx="1485900" cy="1905000"/>
            </a:xfrm>
            <a:prstGeom prst="rect">
              <a:avLst/>
            </a:prstGeom>
          </p:spPr>
        </p:pic>
        <p:sp>
          <p:nvSpPr>
            <p:cNvPr id="46" name="TextBox 46"/>
            <p:cNvSpPr txBox="1"/>
            <p:nvPr/>
          </p:nvSpPr>
          <p:spPr>
            <a:xfrm>
              <a:off x="7764018" y="4251008"/>
              <a:ext cx="9137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미래연구자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64018" y="4536758"/>
              <a:ext cx="73096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네트워크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7772400" y="4886325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9525">
              <a:solidFill>
                <a:srgbClr val="E6DCD5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764018" y="5060632"/>
              <a:ext cx="9688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신진 연구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64018" y="5441632"/>
              <a:ext cx="9688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정책 연계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2494273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시작하기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2085507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실행의 과정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57200" y="1428750"/>
            <a:ext cx="2762250" cy="2428875"/>
            <a:chOff x="457200" y="1428750"/>
            <a:chExt cx="2762250" cy="2428875"/>
          </a:xfrm>
        </p:grpSpPr>
        <p:sp>
          <p:nvSpPr>
            <p:cNvPr id="4" name="Rectangle 4"/>
            <p:cNvSpPr/>
            <p:nvPr/>
          </p:nvSpPr>
          <p:spPr>
            <a:xfrm>
              <a:off x="457200" y="1428750"/>
              <a:ext cx="2762250" cy="2428875"/>
            </a:xfrm>
            <a:prstGeom prst="roundRect">
              <a:avLst>
                <a:gd name="adj" fmla="val 6275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47700" y="1619250"/>
              <a:ext cx="1047750" cy="3619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8840" y="1688782"/>
              <a:ext cx="78547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STEP 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8556" y="2139315"/>
              <a:ext cx="12567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아이디어 내기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47700" y="25527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39318" y="2774632"/>
              <a:ext cx="18178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임상 현장 미충족 요구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9318" y="3108008"/>
              <a:ext cx="16350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발견 및 창의적 발상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95675" y="1428750"/>
            <a:ext cx="2762250" cy="2428875"/>
            <a:chOff x="3495675" y="1428750"/>
            <a:chExt cx="2762250" cy="2428875"/>
          </a:xfrm>
        </p:grpSpPr>
        <p:sp>
          <p:nvSpPr>
            <p:cNvPr id="12" name="Rectangle 12"/>
            <p:cNvSpPr/>
            <p:nvPr/>
          </p:nvSpPr>
          <p:spPr>
            <a:xfrm>
              <a:off x="3495675" y="1428750"/>
              <a:ext cx="2762250" cy="2428875"/>
            </a:xfrm>
            <a:prstGeom prst="roundRect">
              <a:avLst>
                <a:gd name="adj" fmla="val 6275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686175" y="1619250"/>
              <a:ext cx="1047750" cy="3619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17315" y="1688782"/>
              <a:ext cx="78547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STEP 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77031" y="2139315"/>
              <a:ext cx="131927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지원·기관 찾기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686175" y="25527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77793" y="2774632"/>
              <a:ext cx="18065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정부·재단 공모사업 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77793" y="3108008"/>
              <a:ext cx="15773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협력 복지시설 매칭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34150" y="1428750"/>
            <a:ext cx="2762250" cy="2428875"/>
            <a:chOff x="6534150" y="1428750"/>
            <a:chExt cx="2762250" cy="2428875"/>
          </a:xfrm>
        </p:grpSpPr>
        <p:sp>
          <p:nvSpPr>
            <p:cNvPr id="20" name="Rectangle 20"/>
            <p:cNvSpPr/>
            <p:nvPr/>
          </p:nvSpPr>
          <p:spPr>
            <a:xfrm>
              <a:off x="6534150" y="1428750"/>
              <a:ext cx="2762250" cy="2428875"/>
            </a:xfrm>
            <a:prstGeom prst="roundRect">
              <a:avLst>
                <a:gd name="adj" fmla="val 6275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724650" y="1619250"/>
              <a:ext cx="1047750" cy="3619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55790" y="1688782"/>
              <a:ext cx="78547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STEP 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15506" y="2139315"/>
              <a:ext cx="10579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기획안 작성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724650" y="25527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16268" y="2774632"/>
              <a:ext cx="17953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목적·대상·중재내용 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16268" y="3108008"/>
              <a:ext cx="13369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평가계획 구체화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57200" y="4048125"/>
            <a:ext cx="2762250" cy="2428875"/>
            <a:chOff x="457200" y="4048125"/>
            <a:chExt cx="2762250" cy="2428875"/>
          </a:xfrm>
        </p:grpSpPr>
        <p:sp>
          <p:nvSpPr>
            <p:cNvPr id="28" name="Rectangle 28"/>
            <p:cNvSpPr/>
            <p:nvPr/>
          </p:nvSpPr>
          <p:spPr>
            <a:xfrm>
              <a:off x="457200" y="4048125"/>
              <a:ext cx="2762250" cy="2428875"/>
            </a:xfrm>
            <a:prstGeom prst="roundRect">
              <a:avLst>
                <a:gd name="adj" fmla="val 6275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700" y="4238625"/>
              <a:ext cx="1047750" cy="3619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8840" y="4308158"/>
              <a:ext cx="78547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STEP 04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8556" y="4758690"/>
              <a:ext cx="10579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기획안 제안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47700" y="51720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9318" y="5394008"/>
              <a:ext cx="16350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공모 신청서 제출 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9318" y="5727382"/>
              <a:ext cx="15196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심사 프레젠테이션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495675" y="4048125"/>
            <a:ext cx="2762250" cy="2428875"/>
            <a:chOff x="3495675" y="4048125"/>
            <a:chExt cx="2762250" cy="2428875"/>
          </a:xfrm>
        </p:grpSpPr>
        <p:sp>
          <p:nvSpPr>
            <p:cNvPr id="36" name="Rectangle 36"/>
            <p:cNvSpPr/>
            <p:nvPr/>
          </p:nvSpPr>
          <p:spPr>
            <a:xfrm>
              <a:off x="3495675" y="4048125"/>
              <a:ext cx="2762250" cy="2428875"/>
            </a:xfrm>
            <a:prstGeom prst="roundRect">
              <a:avLst>
                <a:gd name="adj" fmla="val 6275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686175" y="4238625"/>
              <a:ext cx="1047750" cy="3619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817315" y="4308158"/>
              <a:ext cx="78547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STEP 05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77031" y="4758690"/>
              <a:ext cx="12567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프로젝트 실행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3686175" y="51720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677793" y="5394008"/>
              <a:ext cx="18755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임상 중재 세션 운영 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77793" y="5727382"/>
              <a:ext cx="13369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충실도 모니터링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534150" y="4048125"/>
            <a:ext cx="2762250" cy="2428875"/>
            <a:chOff x="6534150" y="4048125"/>
            <a:chExt cx="2762250" cy="2428875"/>
          </a:xfrm>
        </p:grpSpPr>
        <p:sp>
          <p:nvSpPr>
            <p:cNvPr id="44" name="Rectangle 44"/>
            <p:cNvSpPr/>
            <p:nvPr/>
          </p:nvSpPr>
          <p:spPr>
            <a:xfrm>
              <a:off x="6534150" y="4048125"/>
              <a:ext cx="2762250" cy="2428875"/>
            </a:xfrm>
            <a:prstGeom prst="roundRect">
              <a:avLst>
                <a:gd name="adj" fmla="val 6275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24650" y="4238625"/>
              <a:ext cx="1047750" cy="3619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55790" y="4308158"/>
              <a:ext cx="78547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FFFFFF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STEP 06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15506" y="4758690"/>
              <a:ext cx="12567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결과 평가하기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724650" y="51720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16268" y="5394008"/>
              <a:ext cx="18178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효과성 데이터 분석 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16268" y="5727382"/>
              <a:ext cx="18065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최종 보고서 작성·확산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2494273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시작하기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3717364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PROJECT IDEAS : Brainstorming</a:t>
            </a:r>
          </a:p>
        </p:txBody>
      </p:sp>
      <p:sp>
        <p:nvSpPr>
          <p:cNvPr id="4" name="Rectangle 4"/>
          <p:cNvSpPr/>
          <p:nvPr/>
        </p:nvSpPr>
        <p:spPr>
          <a:xfrm>
            <a:off x="457200" y="1381125"/>
            <a:ext cx="8839200" cy="5286375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4288">
            <a:solidFill>
              <a:srgbClr val="E6DCD5"/>
            </a:solidFill>
          </a:ln>
        </p:spPr>
      </p:sp>
      <p:sp>
        <p:nvSpPr>
          <p:cNvPr id="5" name="Ellipse 5"/>
          <p:cNvSpPr/>
          <p:nvPr/>
        </p:nvSpPr>
        <p:spPr>
          <a:xfrm>
            <a:off x="3829050" y="2971800"/>
            <a:ext cx="2095500" cy="2095500"/>
          </a:xfrm>
          <a:prstGeom prst="ellipse">
            <a:avLst/>
          </a:prstGeom>
          <a:solidFill>
            <a:schemeClr val="lt1"/>
          </a:solidFill>
          <a:ln w="38100">
            <a:solidFill>
              <a:schemeClr val="accent3"/>
            </a:solidFill>
          </a:ln>
        </p:spPr>
      </p:sp>
      <p:sp>
        <p:nvSpPr>
          <p:cNvPr id="6" name="Ellipse 6"/>
          <p:cNvSpPr/>
          <p:nvPr/>
        </p:nvSpPr>
        <p:spPr>
          <a:xfrm>
            <a:off x="4019550" y="3162300"/>
            <a:ext cx="171450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02293" y="3679508"/>
            <a:ext cx="154901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PROJECT IDEAS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36153" y="3961448"/>
            <a:ext cx="1681293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95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Brainstorming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88122" y="4279582"/>
            <a:ext cx="1577355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임상 아이디어 발산</a:t>
            </a:r>
          </a:p>
        </p:txBody>
      </p:sp>
      <p:sp>
        <p:nvSpPr>
          <p:cNvPr id="10" name="Line 10"/>
          <p:cNvSpPr/>
          <p:nvPr/>
        </p:nvSpPr>
        <p:spPr>
          <a:xfrm>
            <a:off x="2762250" y="2667000"/>
            <a:ext cx="1238250" cy="762000"/>
          </a:xfrm>
          <a:custGeom>
            <a:avLst/>
            <a:gdLst/>
            <a:ahLst/>
            <a:cxnLst/>
            <a:rect l="l" t="t" r="r" b="b"/>
            <a:pathLst>
              <a:path w="1238250" h="762000">
                <a:moveTo>
                  <a:pt x="1238250" y="7620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chemeClr val="accent1"/>
            </a:solidFill>
            <a:custDash>
              <a:ds d="200000" sp="200000"/>
            </a:custDash>
          </a:ln>
        </p:spPr>
      </p:sp>
      <p:sp>
        <p:nvSpPr>
          <p:cNvPr id="11" name="Line 11"/>
          <p:cNvSpPr/>
          <p:nvPr/>
        </p:nvSpPr>
        <p:spPr>
          <a:xfrm>
            <a:off x="5753100" y="2667000"/>
            <a:ext cx="1238250" cy="762000"/>
          </a:xfrm>
          <a:custGeom>
            <a:avLst/>
            <a:gdLst/>
            <a:ahLst/>
            <a:cxnLst/>
            <a:rect l="l" t="t" r="r" b="b"/>
            <a:pathLst>
              <a:path w="1238250" h="762000">
                <a:moveTo>
                  <a:pt x="0" y="762000"/>
                </a:moveTo>
                <a:lnTo>
                  <a:pt x="1238250" y="0"/>
                </a:lnTo>
              </a:path>
            </a:pathLst>
          </a:custGeom>
          <a:noFill/>
          <a:ln w="28575">
            <a:solidFill>
              <a:schemeClr val="accent2"/>
            </a:solidFill>
            <a:custDash>
              <a:ds d="200000" sp="200000"/>
            </a:custDash>
          </a:ln>
        </p:spPr>
      </p:sp>
      <p:sp>
        <p:nvSpPr>
          <p:cNvPr id="12" name="Line 12"/>
          <p:cNvSpPr/>
          <p:nvPr/>
        </p:nvSpPr>
        <p:spPr>
          <a:xfrm>
            <a:off x="2762250" y="4610100"/>
            <a:ext cx="1238250" cy="723900"/>
          </a:xfrm>
          <a:custGeom>
            <a:avLst/>
            <a:gdLst/>
            <a:ahLst/>
            <a:cxnLst/>
            <a:rect l="l" t="t" r="r" b="b"/>
            <a:pathLst>
              <a:path w="1238250" h="723900">
                <a:moveTo>
                  <a:pt x="1238250" y="0"/>
                </a:moveTo>
                <a:lnTo>
                  <a:pt x="0" y="723900"/>
                </a:lnTo>
              </a:path>
            </a:pathLst>
          </a:custGeom>
          <a:noFill/>
          <a:ln w="28575">
            <a:solidFill>
              <a:schemeClr val="accent3"/>
            </a:solidFill>
            <a:custDash>
              <a:ds d="200000" sp="200000"/>
            </a:custDash>
          </a:ln>
        </p:spPr>
      </p:sp>
      <p:sp>
        <p:nvSpPr>
          <p:cNvPr id="13" name="Line 13"/>
          <p:cNvSpPr/>
          <p:nvPr/>
        </p:nvSpPr>
        <p:spPr>
          <a:xfrm>
            <a:off x="5753100" y="4610100"/>
            <a:ext cx="1238250" cy="723900"/>
          </a:xfrm>
          <a:custGeom>
            <a:avLst/>
            <a:gdLst/>
            <a:ahLst/>
            <a:cxnLst/>
            <a:rect l="l" t="t" r="r" b="b"/>
            <a:pathLst>
              <a:path w="1238250" h="723900">
                <a:moveTo>
                  <a:pt x="0" y="0"/>
                </a:moveTo>
                <a:lnTo>
                  <a:pt x="1238250" y="723900"/>
                </a:lnTo>
              </a:path>
            </a:pathLst>
          </a:custGeom>
          <a:noFill/>
          <a:ln w="28575">
            <a:solidFill>
              <a:schemeClr val="accent1"/>
            </a:solidFill>
            <a:custDash>
              <a:ds d="200000" sp="200000"/>
            </a:custDash>
          </a:ln>
        </p:spPr>
      </p:sp>
      <p:grpSp>
        <p:nvGrpSpPr>
          <p:cNvPr id="19" name="Group 19"/>
          <p:cNvGrpSpPr/>
          <p:nvPr/>
        </p:nvGrpSpPr>
        <p:grpSpPr>
          <a:xfrm>
            <a:off x="723900" y="1666875"/>
            <a:ext cx="2667000" cy="1666875"/>
            <a:chOff x="723900" y="1666875"/>
            <a:chExt cx="2667000" cy="1666875"/>
          </a:xfrm>
        </p:grpSpPr>
        <p:sp>
          <p:nvSpPr>
            <p:cNvPr id="14" name="Rectangle 14"/>
            <p:cNvSpPr/>
            <p:nvPr/>
          </p:nvSpPr>
          <p:spPr>
            <a:xfrm>
              <a:off x="723900" y="1666875"/>
              <a:ext cx="2667000" cy="1666875"/>
            </a:xfrm>
            <a:prstGeom prst="roundRect">
              <a:avLst>
                <a:gd name="adj" fmla="val 8000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018" y="1869758"/>
              <a:ext cx="205389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1. 대상자 발굴 (Target)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018" y="2231708"/>
              <a:ext cx="161262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누구에게 절실한가?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6018" y="2555558"/>
              <a:ext cx="18617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고립 청년, 치매 노인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6018" y="2869882"/>
              <a:ext cx="194027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미충족 임상문제 분석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62700" y="1666875"/>
            <a:ext cx="2921651" cy="1666875"/>
            <a:chOff x="6362700" y="1666875"/>
            <a:chExt cx="2921651" cy="1666875"/>
          </a:xfrm>
        </p:grpSpPr>
        <p:sp>
          <p:nvSpPr>
            <p:cNvPr id="20" name="Rectangle 20"/>
            <p:cNvSpPr/>
            <p:nvPr/>
          </p:nvSpPr>
          <p:spPr>
            <a:xfrm>
              <a:off x="6362700" y="1666875"/>
              <a:ext cx="2667000" cy="1666875"/>
            </a:xfrm>
            <a:prstGeom prst="roundRect">
              <a:avLst>
                <a:gd name="adj" fmla="val 8000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4818" y="1869758"/>
              <a:ext cx="273953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2. 음악치료 기전 (Mechanism)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44818" y="2231708"/>
              <a:ext cx="17953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어떻게 변화시키는가?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44818" y="2555558"/>
              <a:ext cx="174631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즉흥연주, 송라이팅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44818" y="2869882"/>
              <a:ext cx="175753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치료적 요인과 이론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3900" y="4714875"/>
            <a:ext cx="2667000" cy="1666875"/>
            <a:chOff x="723900" y="4714875"/>
            <a:chExt cx="2667000" cy="1666875"/>
          </a:xfrm>
        </p:grpSpPr>
        <p:sp>
          <p:nvSpPr>
            <p:cNvPr id="26" name="Rectangle 26"/>
            <p:cNvSpPr/>
            <p:nvPr/>
          </p:nvSpPr>
          <p:spPr>
            <a:xfrm>
              <a:off x="723900" y="4714875"/>
              <a:ext cx="2667000" cy="1666875"/>
            </a:xfrm>
            <a:prstGeom prst="roundRect">
              <a:avLst>
                <a:gd name="adj" fmla="val 8000"/>
              </a:avLst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6018" y="4917758"/>
              <a:ext cx="224176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3. 기대 성과 (Outcomes)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6018" y="5279708"/>
              <a:ext cx="185307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어떤 변화를 검증하나?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6018" y="5603558"/>
              <a:ext cx="180402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우울감 감소, 사회성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6018" y="5917882"/>
              <a:ext cx="192905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측정 가능한 1차 지표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62700" y="4714875"/>
            <a:ext cx="2667000" cy="1666875"/>
            <a:chOff x="6362700" y="4714875"/>
            <a:chExt cx="2667000" cy="1666875"/>
          </a:xfrm>
        </p:grpSpPr>
        <p:sp>
          <p:nvSpPr>
            <p:cNvPr id="32" name="Rectangle 32"/>
            <p:cNvSpPr/>
            <p:nvPr/>
          </p:nvSpPr>
          <p:spPr>
            <a:xfrm>
              <a:off x="6362700" y="4714875"/>
              <a:ext cx="2667000" cy="1666875"/>
            </a:xfrm>
            <a:prstGeom prst="roundRect">
              <a:avLst>
                <a:gd name="adj" fmla="val 8000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44818" y="4917758"/>
              <a:ext cx="224260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4. 실행 자원 (Feasibility)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4818" y="5279708"/>
              <a:ext cx="185307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자원을 어떻게 엮을까?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44818" y="5603558"/>
              <a:ext cx="190821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공간, 악기, 예산 협력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44818" y="5917882"/>
              <a:ext cx="181524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실행 인력 및 자문단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2494273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시작하기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3941400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나의 프로젝트 스스로 평가하기 : SWOT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57200" y="1381125"/>
            <a:ext cx="4324350" cy="2524125"/>
            <a:chOff x="457200" y="1381125"/>
            <a:chExt cx="4324350" cy="2524125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4324350" cy="2524125"/>
            </a:xfrm>
            <a:prstGeom prst="roundRect">
              <a:avLst>
                <a:gd name="adj" fmla="val 6038"/>
              </a:avLst>
            </a:prstGeom>
            <a:solidFill>
              <a:srgbClr val="FFFFFF"/>
            </a:solidFill>
            <a:ln w="23812">
              <a:solidFill>
                <a:schemeClr val="accent1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85800" y="1571625"/>
              <a:ext cx="1905000" cy="361950"/>
            </a:xfrm>
            <a:prstGeom prst="roundRect">
              <a:avLst>
                <a:gd name="adj" fmla="val 26316"/>
              </a:avLst>
            </a:prstGeom>
            <a:solidFill>
              <a:srgbClr val="F9ECEC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5230" y="1641158"/>
              <a:ext cx="182614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S · 강점 (Strengths)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7418" y="2079308"/>
              <a:ext cx="255518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전문화된 음악치료 중재 모델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7418" y="2422208"/>
              <a:ext cx="315214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연구자로서의 깊이 있는 학술적 근거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7418" y="2746058"/>
              <a:ext cx="254621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정교한 회차별 프로그램 구성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47700" y="3286125"/>
              <a:ext cx="3943350" cy="47625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1718" y="3422332"/>
              <a:ext cx="290464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전략 : 전문성과 근거를 전면에 부각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972050" y="1381125"/>
            <a:ext cx="4324350" cy="2524125"/>
            <a:chOff x="4972050" y="1381125"/>
            <a:chExt cx="4324350" cy="2524125"/>
          </a:xfrm>
        </p:grpSpPr>
        <p:sp>
          <p:nvSpPr>
            <p:cNvPr id="13" name="Rectangle 13"/>
            <p:cNvSpPr/>
            <p:nvPr/>
          </p:nvSpPr>
          <p:spPr>
            <a:xfrm>
              <a:off x="4972050" y="1381125"/>
              <a:ext cx="4324350" cy="2524125"/>
            </a:xfrm>
            <a:prstGeom prst="roundRect">
              <a:avLst>
                <a:gd name="adj" fmla="val 6038"/>
              </a:avLst>
            </a:prstGeom>
            <a:solidFill>
              <a:srgbClr val="FFFFFF"/>
            </a:solidFill>
            <a:ln w="23812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200650" y="1571625"/>
              <a:ext cx="2095500" cy="361950"/>
            </a:xfrm>
            <a:prstGeom prst="roundRect">
              <a:avLst>
                <a:gd name="adj" fmla="val 26316"/>
              </a:avLst>
            </a:prstGeom>
            <a:solidFill>
              <a:srgbClr val="F8EDE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70829" y="1641158"/>
              <a:ext cx="215514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W · 약점 (Weaknesses)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92268" y="2079308"/>
              <a:ext cx="316112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대규모 지원사업 수행 레퍼런스 부족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92268" y="2422208"/>
              <a:ext cx="260391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현장 기관 공식 네트워크 한계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92268" y="2746058"/>
              <a:ext cx="24676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행정·정산 및 운영 인력 부담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162550" y="3286125"/>
              <a:ext cx="3943350" cy="47625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06568" y="3422332"/>
              <a:ext cx="319959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전략 : 전문가 자문 &amp; 사전 워크숍 보완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7200" y="4143375"/>
            <a:ext cx="4324350" cy="2524125"/>
            <a:chOff x="457200" y="4143375"/>
            <a:chExt cx="4324350" cy="2524125"/>
          </a:xfrm>
        </p:grpSpPr>
        <p:sp>
          <p:nvSpPr>
            <p:cNvPr id="22" name="Rectangle 22"/>
            <p:cNvSpPr/>
            <p:nvPr/>
          </p:nvSpPr>
          <p:spPr>
            <a:xfrm>
              <a:off x="457200" y="4143375"/>
              <a:ext cx="4324350" cy="2524125"/>
            </a:xfrm>
            <a:prstGeom prst="roundRect">
              <a:avLst>
                <a:gd name="adj" fmla="val 6038"/>
              </a:avLst>
            </a:prstGeom>
            <a:solidFill>
              <a:srgbClr val="FFFFFF"/>
            </a:solidFill>
            <a:ln w="23812">
              <a:solidFill>
                <a:schemeClr val="accent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4333875"/>
              <a:ext cx="2095500" cy="361950"/>
            </a:xfrm>
            <a:prstGeom prst="roundRect">
              <a:avLst>
                <a:gd name="adj" fmla="val 26316"/>
              </a:avLst>
            </a:prstGeom>
            <a:solidFill>
              <a:srgbClr val="F2F4E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0350" y="4403408"/>
              <a:ext cx="230640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O · 기회 (Opportunities)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7418" y="4841558"/>
              <a:ext cx="249747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문화예술치유 공모사업 확대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7418" y="5184458"/>
              <a:ext cx="283314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정서·심리 지원 사회적 수요 급증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418" y="5508308"/>
              <a:ext cx="265040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복지관, 병원의 전문 도입 의지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7700" y="6048375"/>
              <a:ext cx="3943350" cy="47625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1718" y="6184582"/>
              <a:ext cx="314509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전략 : 지원사업 정책 목표에 최적 매칭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972050" y="4143375"/>
            <a:ext cx="4324350" cy="2524125"/>
            <a:chOff x="4972050" y="4143375"/>
            <a:chExt cx="4324350" cy="2524125"/>
          </a:xfrm>
        </p:grpSpPr>
        <p:sp>
          <p:nvSpPr>
            <p:cNvPr id="31" name="Rectangle 31"/>
            <p:cNvSpPr/>
            <p:nvPr/>
          </p:nvSpPr>
          <p:spPr>
            <a:xfrm>
              <a:off x="4972050" y="4143375"/>
              <a:ext cx="4324350" cy="2524125"/>
            </a:xfrm>
            <a:prstGeom prst="roundRect">
              <a:avLst>
                <a:gd name="adj" fmla="val 6038"/>
              </a:avLst>
            </a:prstGeom>
            <a:solidFill>
              <a:srgbClr val="FFFFFF"/>
            </a:solidFill>
            <a:ln w="23812">
              <a:solidFill>
                <a:schemeClr val="accent3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200650" y="4333875"/>
              <a:ext cx="1905000" cy="361950"/>
            </a:xfrm>
            <a:prstGeom prst="roundRect">
              <a:avLst>
                <a:gd name="adj" fmla="val 26316"/>
              </a:avLst>
            </a:prstGeom>
            <a:solidFill>
              <a:srgbClr val="F8EDE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46455" y="4403408"/>
              <a:ext cx="161339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T · 위협 (Threats)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92268" y="4841558"/>
              <a:ext cx="261289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다수 유사 프로그램 공모 경쟁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92268" y="5184458"/>
              <a:ext cx="290207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현장 기관 일정 변동 및 모집 지연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192268" y="5508308"/>
              <a:ext cx="223843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엄격한 정산 및 평가 기준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162550" y="6048375"/>
              <a:ext cx="3943350" cy="47625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306568" y="6184582"/>
              <a:ext cx="326531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전략 : 사전 협약(MOU) &amp; 리스크 관리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857250"/>
            <a:ext cx="8229600" cy="56007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E6DCD5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333500" y="1524000"/>
            <a:ext cx="1524000" cy="4191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504793" y="1631632"/>
            <a:ext cx="118141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2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SECTION 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19784" y="2280285"/>
            <a:ext cx="2494273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기획하기</a:t>
            </a:r>
          </a:p>
        </p:txBody>
      </p:sp>
      <p:sp>
        <p:nvSpPr>
          <p:cNvPr id="6" name="Line 6"/>
          <p:cNvSpPr/>
          <p:nvPr/>
        </p:nvSpPr>
        <p:spPr>
          <a:xfrm>
            <a:off x="1333500" y="2857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47625" cap="rnd">
            <a:solidFill>
              <a:schemeClr val="accent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24356" y="3234690"/>
            <a:ext cx="6795130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800" b="1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실전 프로젝트 기획안 양식 분석, 항목별 작성 지침 및 공모 신청서 작성 실무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33500" y="4000500"/>
            <a:ext cx="2190750" cy="1809750"/>
            <a:chOff x="1333500" y="4000500"/>
            <a:chExt cx="2190750" cy="1809750"/>
          </a:xfrm>
        </p:grpSpPr>
        <p:sp>
          <p:nvSpPr>
            <p:cNvPr id="8" name="Rectangle 8"/>
            <p:cNvSpPr/>
            <p:nvPr/>
          </p:nvSpPr>
          <p:spPr>
            <a:xfrm>
              <a:off x="1333500" y="4000500"/>
              <a:ext cx="2190750" cy="1809750"/>
            </a:xfrm>
            <a:prstGeom prst="roundRect">
              <a:avLst>
                <a:gd name="adj" fmla="val 7368"/>
              </a:avLst>
            </a:prstGeom>
            <a:solidFill>
              <a:schemeClr val="lt1"/>
            </a:solidFill>
            <a:ln w="14288">
              <a:solidFill>
                <a:srgbClr val="E6DCD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333500" y="4000500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53718" y="4298632"/>
              <a:ext cx="17536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01. 표준 기획안 양식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53718" y="4727258"/>
              <a:ext cx="176009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마음치유 봄처럼 양식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53718" y="5060632"/>
              <a:ext cx="174727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사업개요 &amp; 성과목표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53718" y="5394008"/>
              <a:ext cx="15773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회차별 세부 구성안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781425" y="4000500"/>
            <a:ext cx="2190750" cy="1809750"/>
            <a:chOff x="3781425" y="4000500"/>
            <a:chExt cx="2190750" cy="1809750"/>
          </a:xfrm>
        </p:grpSpPr>
        <p:sp>
          <p:nvSpPr>
            <p:cNvPr id="15" name="Rectangle 15"/>
            <p:cNvSpPr/>
            <p:nvPr/>
          </p:nvSpPr>
          <p:spPr>
            <a:xfrm>
              <a:off x="3781425" y="4000500"/>
              <a:ext cx="2190750" cy="1809750"/>
            </a:xfrm>
            <a:prstGeom prst="roundRect">
              <a:avLst>
                <a:gd name="adj" fmla="val 7368"/>
              </a:avLst>
            </a:prstGeom>
            <a:solidFill>
              <a:schemeClr val="lt1"/>
            </a:solidFill>
            <a:ln w="14288">
              <a:solidFill>
                <a:srgbClr val="E6DCD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781425" y="4000500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001643" y="4298632"/>
              <a:ext cx="17536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02. 항목별 작성 지침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01643" y="4727258"/>
              <a:ext cx="162384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사업목표 · 추진체계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01643" y="5060632"/>
              <a:ext cx="176009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대상별 프로그램 구성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01643" y="5394008"/>
              <a:ext cx="175689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슈퍼비전 &amp; 안전관리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29350" y="4000500"/>
            <a:ext cx="2190750" cy="1809750"/>
            <a:chOff x="6229350" y="4000500"/>
            <a:chExt cx="2190750" cy="1809750"/>
          </a:xfrm>
        </p:grpSpPr>
        <p:sp>
          <p:nvSpPr>
            <p:cNvPr id="22" name="Rectangle 22"/>
            <p:cNvSpPr/>
            <p:nvPr/>
          </p:nvSpPr>
          <p:spPr>
            <a:xfrm>
              <a:off x="6229350" y="4000500"/>
              <a:ext cx="2190750" cy="1809750"/>
            </a:xfrm>
            <a:prstGeom prst="roundRect">
              <a:avLst>
                <a:gd name="adj" fmla="val 7368"/>
              </a:avLst>
            </a:prstGeom>
            <a:solidFill>
              <a:schemeClr val="lt1"/>
            </a:solidFill>
            <a:ln w="14288">
              <a:solidFill>
                <a:srgbClr val="E6DCD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29350" y="4000500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49568" y="4298632"/>
              <a:ext cx="17536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03. 실전 공모 신청서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49568" y="4727258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창작 실험 챌린지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49568" y="5060632"/>
              <a:ext cx="180498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그룹 소개 &amp; 지원동기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49568" y="5394008"/>
              <a:ext cx="181459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기획 의도 &amp; 연구계획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2890215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기획안 양식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4206280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기획안 양식 예시 (3대 표준 양식)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57200" y="1381125"/>
            <a:ext cx="2762250" cy="5286375"/>
            <a:chOff x="457200" y="1381125"/>
            <a:chExt cx="2762250" cy="5286375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2762250" cy="5286375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09600" y="1533525"/>
              <a:ext cx="2457450" cy="2667000"/>
            </a:xfrm>
            <a:prstGeom prst="roundRect">
              <a:avLst>
                <a:gd name="adj" fmla="val 4651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2065" y="1533525"/>
              <a:ext cx="1692519" cy="266700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609600" y="4381500"/>
              <a:ext cx="762000" cy="32385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8090" y="4431982"/>
              <a:ext cx="54502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양식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456" y="4806315"/>
              <a:ext cx="151964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문화로 치유 사업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5155882"/>
              <a:ext cx="194284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마음치유 봄처럼 계획서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5524500"/>
              <a:ext cx="2457450" cy="9525"/>
            </a:xfrm>
            <a:custGeom>
              <a:avLst/>
              <a:gdLst/>
              <a:ahLst/>
              <a:cxnLst/>
              <a:rect l="l" t="t" r="r" b="b"/>
              <a:pathLst>
                <a:path w="2457450" h="9525">
                  <a:moveTo>
                    <a:pt x="0" y="0"/>
                  </a:moveTo>
                  <a:lnTo>
                    <a:pt x="2457450" y="0"/>
                  </a:lnTo>
                </a:path>
              </a:pathLst>
            </a:custGeom>
            <a:noFill/>
            <a:ln w="9525">
              <a:solidFill>
                <a:srgbClr val="E6DCD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1218" y="5727382"/>
              <a:ext cx="194027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사업목표 및 추진체계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218" y="6108382"/>
              <a:ext cx="175753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총괄 프로그램 개요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495675" y="1381125"/>
            <a:ext cx="2762250" cy="5286375"/>
            <a:chOff x="3495675" y="1381125"/>
            <a:chExt cx="2762250" cy="5286375"/>
          </a:xfrm>
        </p:grpSpPr>
        <p:sp>
          <p:nvSpPr>
            <p:cNvPr id="15" name="Rectangle 15"/>
            <p:cNvSpPr/>
            <p:nvPr/>
          </p:nvSpPr>
          <p:spPr>
            <a:xfrm>
              <a:off x="3495675" y="1381125"/>
              <a:ext cx="2762250" cy="5286375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648075" y="1533525"/>
              <a:ext cx="2457450" cy="2667000"/>
            </a:xfrm>
            <a:prstGeom prst="roundRect">
              <a:avLst>
                <a:gd name="adj" fmla="val 4651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96690" y="1533525"/>
              <a:ext cx="1760220" cy="266700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3648075" y="4381500"/>
              <a:ext cx="762000" cy="32385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56565" y="4431982"/>
              <a:ext cx="54502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양식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38931" y="4806315"/>
              <a:ext cx="191398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사업개요 &amp; 성과목표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39693" y="5155882"/>
              <a:ext cx="175047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정량 · 정성 성과 설정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648075" y="5524500"/>
              <a:ext cx="2457450" cy="9525"/>
            </a:xfrm>
            <a:custGeom>
              <a:avLst/>
              <a:gdLst/>
              <a:ahLst/>
              <a:cxnLst/>
              <a:rect l="l" t="t" r="r" b="b"/>
              <a:pathLst>
                <a:path w="2457450" h="9525">
                  <a:moveTo>
                    <a:pt x="0" y="0"/>
                  </a:moveTo>
                  <a:lnTo>
                    <a:pt x="2457450" y="0"/>
                  </a:lnTo>
                </a:path>
              </a:pathLst>
            </a:custGeom>
            <a:noFill/>
            <a:ln w="9525">
              <a:solidFill>
                <a:srgbClr val="E6DCD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39693" y="5727382"/>
              <a:ext cx="199798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참여자 변화 효과 지표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39693" y="6108382"/>
              <a:ext cx="175753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방법론 및 사전준비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34150" y="1381125"/>
            <a:ext cx="2762250" cy="5286375"/>
            <a:chOff x="6534150" y="1381125"/>
            <a:chExt cx="2762250" cy="5286375"/>
          </a:xfrm>
        </p:grpSpPr>
        <p:sp>
          <p:nvSpPr>
            <p:cNvPr id="26" name="Rectangle 26"/>
            <p:cNvSpPr/>
            <p:nvPr/>
          </p:nvSpPr>
          <p:spPr>
            <a:xfrm>
              <a:off x="6534150" y="1381125"/>
              <a:ext cx="2762250" cy="5286375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86550" y="1533525"/>
              <a:ext cx="2457450" cy="2667000"/>
            </a:xfrm>
            <a:prstGeom prst="roundRect">
              <a:avLst>
                <a:gd name="adj" fmla="val 4651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6550" y="2060233"/>
              <a:ext cx="2457450" cy="1613584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6686550" y="4381500"/>
              <a:ext cx="762000" cy="32385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95040" y="4431982"/>
              <a:ext cx="54502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양식 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77406" y="4806315"/>
              <a:ext cx="19171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회차별 세부 프로그램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78168" y="5155882"/>
              <a:ext cx="172643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1~20회차 세부 계획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686550" y="5524500"/>
              <a:ext cx="2457450" cy="9525"/>
            </a:xfrm>
            <a:custGeom>
              <a:avLst/>
              <a:gdLst/>
              <a:ahLst/>
              <a:cxnLst/>
              <a:rect l="l" t="t" r="r" b="b"/>
              <a:pathLst>
                <a:path w="2457450" h="9525">
                  <a:moveTo>
                    <a:pt x="0" y="0"/>
                  </a:moveTo>
                  <a:lnTo>
                    <a:pt x="2457450" y="0"/>
                  </a:lnTo>
                </a:path>
              </a:pathLst>
            </a:custGeom>
            <a:noFill/>
            <a:ln w="9525">
              <a:solidFill>
                <a:srgbClr val="E6DCD5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78168" y="5727382"/>
              <a:ext cx="181524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회차별 주제 및 내용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78168" y="6108382"/>
              <a:ext cx="182421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accent2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미작성 시 심사 제외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2890215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기획안 양식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5152051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항목별 작성 지침 (항목 1 ~ 3: 목표, 내용, 추진체계)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57200" y="1428750"/>
            <a:ext cx="8839200" cy="1476375"/>
            <a:chOff x="457200" y="1428750"/>
            <a:chExt cx="8839200" cy="1476375"/>
          </a:xfrm>
        </p:grpSpPr>
        <p:sp>
          <p:nvSpPr>
            <p:cNvPr id="4" name="Rectangle 4"/>
            <p:cNvSpPr/>
            <p:nvPr/>
          </p:nvSpPr>
          <p:spPr>
            <a:xfrm>
              <a:off x="457200" y="1428750"/>
              <a:ext cx="8839200" cy="1476375"/>
            </a:xfrm>
            <a:prstGeom prst="roundRect">
              <a:avLst>
                <a:gd name="adj" fmla="val 1032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457200" y="1428750"/>
              <a:ext cx="95250" cy="14763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2094" y="1637348"/>
              <a:ext cx="1146148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1. 사업목표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3618" y="2069782"/>
              <a:ext cx="466473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본 사업의 목적과 참여자 특성을 고려한 구체적 목표 제시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428875"/>
              <a:ext cx="8229600" cy="342900"/>
            </a:xfrm>
            <a:prstGeom prst="roundRect">
              <a:avLst>
                <a:gd name="adj" fmla="val 22222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6018" y="2488882"/>
              <a:ext cx="57586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임상적 필요성과 프로그램 지향점을 일치시켜 명확한 달성 목표 수립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" y="3095625"/>
            <a:ext cx="8839200" cy="1476375"/>
            <a:chOff x="457200" y="3095625"/>
            <a:chExt cx="8839200" cy="1476375"/>
          </a:xfrm>
        </p:grpSpPr>
        <p:sp>
          <p:nvSpPr>
            <p:cNvPr id="11" name="Rectangle 11"/>
            <p:cNvSpPr/>
            <p:nvPr/>
          </p:nvSpPr>
          <p:spPr>
            <a:xfrm>
              <a:off x="457200" y="3095625"/>
              <a:ext cx="8839200" cy="1476375"/>
            </a:xfrm>
            <a:prstGeom prst="roundRect">
              <a:avLst>
                <a:gd name="adj" fmla="val 1032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57200" y="3095625"/>
              <a:ext cx="95250" cy="147637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2094" y="3304222"/>
              <a:ext cx="193322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2. 추진내용 및 방법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3618" y="3736658"/>
              <a:ext cx="496289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중재 프로그램 구성, 진행 방식 및 구체적 실행 프로세스 기술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4095750"/>
              <a:ext cx="8229600" cy="342900"/>
            </a:xfrm>
            <a:prstGeom prst="roundRect">
              <a:avLst>
                <a:gd name="adj" fmla="val 22222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6018" y="4155758"/>
              <a:ext cx="528253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대상자 모집, 사전 준비, 주차별 세션 운영, 사후 관리 전반 기술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4762500"/>
            <a:ext cx="8839200" cy="1476375"/>
            <a:chOff x="457200" y="4762500"/>
            <a:chExt cx="8839200" cy="1476375"/>
          </a:xfrm>
        </p:grpSpPr>
        <p:sp>
          <p:nvSpPr>
            <p:cNvPr id="18" name="Rectangle 18"/>
            <p:cNvSpPr/>
            <p:nvPr/>
          </p:nvSpPr>
          <p:spPr>
            <a:xfrm>
              <a:off x="457200" y="4762500"/>
              <a:ext cx="8839200" cy="1476375"/>
            </a:xfrm>
            <a:prstGeom prst="roundRect">
              <a:avLst>
                <a:gd name="adj" fmla="val 1032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7200" y="4762500"/>
              <a:ext cx="95250" cy="147637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2094" y="4971098"/>
              <a:ext cx="1647887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3. 사업 추진체계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618" y="5403532"/>
              <a:ext cx="50206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주관기관, 협력시설, 전문가 자문단 간 역할 분담 및 협력 구조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5762625"/>
              <a:ext cx="8229600" cy="342900"/>
            </a:xfrm>
            <a:prstGeom prst="roundRect">
              <a:avLst>
                <a:gd name="adj" fmla="val 22222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018" y="5822632"/>
              <a:ext cx="545085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유기적인 네트워크 구축을 통한 사업 실행 안정성 및 전문성 확보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2890215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기획안 양식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6019277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항목별 작성 지침 (항목 4 ~ 5: 성과목표, 전체 프로그램 개요)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57200" y="1381125"/>
            <a:ext cx="4286250" cy="5286375"/>
            <a:chOff x="457200" y="1381125"/>
            <a:chExt cx="4286250" cy="5286375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4286250" cy="5286375"/>
            </a:xfrm>
            <a:prstGeom prst="roundRect">
              <a:avLst>
                <a:gd name="adj" fmla="val 3556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457200" y="1381125"/>
              <a:ext cx="4286250" cy="952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3232" y="1678305"/>
              <a:ext cx="230992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4. 성과목표 작성 지침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23900" y="2095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4756" y="2377440"/>
              <a:ext cx="237885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정성적 성과목표 중심 기술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723900" y="2857500"/>
              <a:ext cx="3752850" cy="3429000"/>
              <a:chOff x="723900" y="2857500"/>
              <a:chExt cx="3752850" cy="3429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23900" y="2857500"/>
                <a:ext cx="3752850" cy="952500"/>
              </a:xfrm>
              <a:prstGeom prst="roundRect">
                <a:avLst>
                  <a:gd name="adj" fmla="val 12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06018" y="3060382"/>
                <a:ext cx="205985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① 참여자의 변화 및 효과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06018" y="3393758"/>
                <a:ext cx="330539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정서적 안정, 사회성 향상, 스트레스 완화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723900" y="3952875"/>
                <a:ext cx="3752850" cy="952500"/>
              </a:xfrm>
              <a:prstGeom prst="roundRect">
                <a:avLst>
                  <a:gd name="adj" fmla="val 12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06018" y="4155758"/>
                <a:ext cx="266579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② 프로그램 개발 등 발전적 목표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06018" y="4489132"/>
                <a:ext cx="313387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표준 중재 매뉴얼화, 타 기관 확산 모델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723900" y="5048250"/>
                <a:ext cx="3752850" cy="1238250"/>
              </a:xfrm>
              <a:prstGeom prst="roundRect">
                <a:avLst>
                  <a:gd name="adj" fmla="val 9231"/>
                </a:avLst>
              </a:prstGeom>
              <a:solidFill>
                <a:srgbClr val="F8EDE8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06018" y="5251132"/>
                <a:ext cx="66364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accent3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작성 팁: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06018" y="5584508"/>
                <a:ext cx="242374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단순 참여 인원수 나열을 넘어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06018" y="5898832"/>
                <a:ext cx="278922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참여자의 실질적 변화 지표를 제시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5010150" y="1381125"/>
            <a:ext cx="4286250" cy="5286375"/>
            <a:chOff x="5010150" y="1381125"/>
            <a:chExt cx="4286250" cy="5286375"/>
          </a:xfrm>
        </p:grpSpPr>
        <p:sp>
          <p:nvSpPr>
            <p:cNvPr id="21" name="Rectangle 21"/>
            <p:cNvSpPr/>
            <p:nvPr/>
          </p:nvSpPr>
          <p:spPr>
            <a:xfrm>
              <a:off x="5010150" y="1381125"/>
              <a:ext cx="4286250" cy="5286375"/>
            </a:xfrm>
            <a:prstGeom prst="roundRect">
              <a:avLst>
                <a:gd name="adj" fmla="val 3556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010150" y="1381125"/>
              <a:ext cx="4286250" cy="95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6182" y="1678305"/>
              <a:ext cx="230992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5. 전체 프로그램 개요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276850" y="2095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67706" y="2377440"/>
              <a:ext cx="218008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총괄 프로그램 설계 구성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5276850" y="2857500"/>
              <a:ext cx="3752850" cy="3429000"/>
              <a:chOff x="5276850" y="2857500"/>
              <a:chExt cx="3752850" cy="34290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276850" y="2857500"/>
                <a:ext cx="3752850" cy="714375"/>
              </a:xfrm>
              <a:prstGeom prst="roundRect">
                <a:avLst>
                  <a:gd name="adj" fmla="val 13333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458968" y="3012758"/>
                <a:ext cx="158376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7023" indent="-187023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총괄 프로그램 명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458968" y="3250882"/>
                <a:ext cx="321241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사업 취지와 치유 목적이 드러나는 제목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5276850" y="3667125"/>
                <a:ext cx="3752850" cy="714375"/>
              </a:xfrm>
              <a:prstGeom prst="roundRect">
                <a:avLst>
                  <a:gd name="adj" fmla="val 13333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458968" y="3822382"/>
                <a:ext cx="158376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7023" indent="-187023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목적 및 기대효과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458968" y="4060508"/>
                <a:ext cx="241252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임상적·사회적 치유 가치 기술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5276850" y="4476750"/>
                <a:ext cx="3752850" cy="809625"/>
              </a:xfrm>
              <a:prstGeom prst="roundRect">
                <a:avLst>
                  <a:gd name="adj" fmla="val 1176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458968" y="4632008"/>
                <a:ext cx="234679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7023" indent="-187023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사전 준비 방안 (요구분석)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458968" y="4870132"/>
                <a:ext cx="289342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시설 및 대상자 분석, 파일럿 스터디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5276850" y="5381625"/>
                <a:ext cx="3752850" cy="904875"/>
              </a:xfrm>
              <a:prstGeom prst="roundRect">
                <a:avLst>
                  <a:gd name="adj" fmla="val 1052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458968" y="5536882"/>
                <a:ext cx="164147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7023" indent="-187023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방법론 및 특·장점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458968" y="5775008"/>
                <a:ext cx="318035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독창적 기법, 매체 활용, 타 사업 차별성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2890215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기획안 양식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4841069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항목별 작성 지침 (항목 6 : 프로그램 1 세부 구성)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57200" y="1381125"/>
            <a:ext cx="4286250" cy="5286375"/>
            <a:chOff x="457200" y="1381125"/>
            <a:chExt cx="4286250" cy="5286375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4286250" cy="5286375"/>
            </a:xfrm>
            <a:prstGeom prst="roundRect">
              <a:avLst>
                <a:gd name="adj" fmla="val 3556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723900" y="1647825"/>
              <a:ext cx="1238250" cy="361950"/>
            </a:xfrm>
            <a:prstGeom prst="roundRect">
              <a:avLst>
                <a:gd name="adj" fmla="val 263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8687" y="1726882"/>
              <a:ext cx="78867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기본 정보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3232" y="2249805"/>
              <a:ext cx="2006960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프로그램 개요 설정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23900" y="2667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23900" y="2905125"/>
              <a:ext cx="3752850" cy="2857500"/>
              <a:chOff x="723900" y="2905125"/>
              <a:chExt cx="3752850" cy="28575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23900" y="2905125"/>
                <a:ext cx="3752850" cy="85725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06018" y="3088958"/>
                <a:ext cx="116057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7023" indent="-187023" algn="l">
                  <a:buClr>
                    <a:schemeClr val="accent1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프로그램 명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06018" y="3393758"/>
                <a:ext cx="284693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사업 취지에 맞는 독창적 세부 명칭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723900" y="3905250"/>
                <a:ext cx="3752850" cy="85725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06018" y="4089082"/>
                <a:ext cx="97783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7023" indent="-187023" algn="l">
                  <a:buClr>
                    <a:schemeClr val="accent3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chemeClr val="accent3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치유 대상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06018" y="4393882"/>
                <a:ext cx="284693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구체적 대상군 및 회기별 참여 인원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723900" y="4905375"/>
                <a:ext cx="3752850" cy="85725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06018" y="5089208"/>
                <a:ext cx="97783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7023" indent="-187023" algn="l">
                  <a:buClr>
                    <a:schemeClr val="accent2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chemeClr val="accent2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진행 공간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06018" y="5394008"/>
                <a:ext cx="296234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시설 내 음향 및 신체 활동 적합 공간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5010150" y="1381125"/>
            <a:ext cx="4286250" cy="5286375"/>
            <a:chOff x="5010150" y="1381125"/>
            <a:chExt cx="4286250" cy="5286375"/>
          </a:xfrm>
        </p:grpSpPr>
        <p:sp>
          <p:nvSpPr>
            <p:cNvPr id="20" name="Rectangle 20"/>
            <p:cNvSpPr/>
            <p:nvPr/>
          </p:nvSpPr>
          <p:spPr>
            <a:xfrm>
              <a:off x="5010150" y="1381125"/>
              <a:ext cx="4286250" cy="5286375"/>
            </a:xfrm>
            <a:prstGeom prst="roundRect">
              <a:avLst>
                <a:gd name="adj" fmla="val 3556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276850" y="1647825"/>
              <a:ext cx="1428750" cy="361950"/>
            </a:xfrm>
            <a:prstGeom prst="roundRect">
              <a:avLst>
                <a:gd name="adj" fmla="val 263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385289" y="1726882"/>
              <a:ext cx="121187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세부 중재 내용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66182" y="2249805"/>
              <a:ext cx="2006960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사전준비 및 방법론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276850" y="2667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276850" y="2905125"/>
              <a:ext cx="3752850" cy="3238500"/>
              <a:chOff x="5276850" y="2905125"/>
              <a:chExt cx="3752850" cy="3238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276850" y="2905125"/>
                <a:ext cx="3752850" cy="1428750"/>
              </a:xfrm>
              <a:prstGeom prst="roundRect">
                <a:avLst>
                  <a:gd name="adj" fmla="val 666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458968" y="3088958"/>
                <a:ext cx="264771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7023" indent="-187023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사전준비 (Pilot Study) 내용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458968" y="3441382"/>
                <a:ext cx="269144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- 문화예술치유 사업에 대한 이해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458968" y="3755708"/>
                <a:ext cx="298960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accent3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- 치유대상 선정 사유 및 대상자 분석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458968" y="4041458"/>
                <a:ext cx="262411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- 사전 요구도 조사 및 시설 협의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5276850" y="4476750"/>
                <a:ext cx="3752850" cy="1666875"/>
              </a:xfrm>
              <a:prstGeom prst="roundRect">
                <a:avLst>
                  <a:gd name="adj" fmla="val 5714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458968" y="4660582"/>
                <a:ext cx="304250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87023" indent="-187023" algn="l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프로그램 목적 / 기대효과 / 방법론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458968" y="5013008"/>
                <a:ext cx="269144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- 프로그램 구성요소 및 추진체계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458968" y="5346382"/>
                <a:ext cx="232595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- 단계별 진행과정 및 방법론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458968" y="5679758"/>
                <a:ext cx="238366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accent2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- 프로그램 특·장점 및 차별성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2890215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기획안 양식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5305940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항목별 작성 지침 (항목 6 : 1~20회차 세부 운영 계획)</a:t>
            </a:r>
          </a:p>
        </p:txBody>
      </p:sp>
      <p:sp>
        <p:nvSpPr>
          <p:cNvPr id="4" name="Rectangle 4"/>
          <p:cNvSpPr/>
          <p:nvPr/>
        </p:nvSpPr>
        <p:spPr>
          <a:xfrm>
            <a:off x="457200" y="1381125"/>
            <a:ext cx="8839200" cy="5286375"/>
          </a:xfrm>
          <a:prstGeom prst="roundRect">
            <a:avLst>
              <a:gd name="adj" fmla="val 2883"/>
            </a:avLst>
          </a:prstGeom>
          <a:solidFill>
            <a:srgbClr val="FFFFFF"/>
          </a:solidFill>
          <a:ln w="14288">
            <a:solidFill>
              <a:srgbClr val="E6DCD5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23900" y="1609725"/>
            <a:ext cx="8305800" cy="476250"/>
          </a:xfrm>
          <a:prstGeom prst="roundRect">
            <a:avLst>
              <a:gd name="adj" fmla="val 20000"/>
            </a:avLst>
          </a:prstGeom>
          <a:solidFill>
            <a:srgbClr val="F9ECEC"/>
          </a:solidFill>
          <a:ln w="14288">
            <a:solidFill>
              <a:schemeClr val="accent1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06018" y="1736408"/>
            <a:ext cx="5530360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accent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※ [필수 심사 요건] 회차별 세부 계획 미작성 시 심사에서 제외 예정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23900" y="2286000"/>
            <a:ext cx="8305800" cy="476250"/>
            <a:chOff x="723900" y="2286000"/>
            <a:chExt cx="8305800" cy="476250"/>
          </a:xfrm>
        </p:grpSpPr>
        <p:sp>
          <p:nvSpPr>
            <p:cNvPr id="7" name="Rectangle 7"/>
            <p:cNvSpPr/>
            <p:nvPr/>
          </p:nvSpPr>
          <p:spPr>
            <a:xfrm>
              <a:off x="723900" y="2286000"/>
              <a:ext cx="8305800" cy="476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2157" y="2412682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회차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49018" y="2412682"/>
              <a:ext cx="3654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주제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25518" y="2412682"/>
              <a:ext cx="179215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주요 내용 (중재 활동)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92518" y="2412682"/>
              <a:ext cx="78867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참여 인력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35518" y="2412682"/>
              <a:ext cx="54822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교보재</a:t>
              </a:r>
            </a:p>
          </p:txBody>
        </p:sp>
      </p:grpSp>
      <p:sp>
        <p:nvSpPr>
          <p:cNvPr id="14" name="Rectangle 14"/>
          <p:cNvSpPr/>
          <p:nvPr/>
        </p:nvSpPr>
        <p:spPr>
          <a:xfrm>
            <a:off x="723900" y="2857500"/>
            <a:ext cx="8305800" cy="571500"/>
          </a:xfrm>
          <a:prstGeom prst="roundRect">
            <a:avLst>
              <a:gd name="adj" fmla="val 10000"/>
            </a:avLst>
          </a:prstGeom>
          <a:solidFill>
            <a:schemeClr val="lt1"/>
          </a:solidFill>
          <a:ln w="9525">
            <a:solidFill>
              <a:srgbClr val="E6DCD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043986" y="3031808"/>
            <a:ext cx="121828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8018" y="3031808"/>
            <a:ext cx="1449115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라포 형성 &amp; 탐색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73018" y="3031808"/>
            <a:ext cx="2423740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자기소개 및 타악기 소리 탐색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23900" y="3505200"/>
            <a:ext cx="83058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DCD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043986" y="3679508"/>
            <a:ext cx="121828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68018" y="3679508"/>
            <a:ext cx="1452321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감정 인식 및 표현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73018" y="3679508"/>
            <a:ext cx="2481449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음악 감상 및 감정 트래킹 활동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23900" y="4152900"/>
            <a:ext cx="8305800" cy="571500"/>
          </a:xfrm>
          <a:prstGeom prst="roundRect">
            <a:avLst>
              <a:gd name="adj" fmla="val 10000"/>
            </a:avLst>
          </a:prstGeom>
          <a:solidFill>
            <a:schemeClr val="lt1"/>
          </a:solidFill>
          <a:ln w="9525">
            <a:solidFill>
              <a:srgbClr val="E6DCD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43986" y="4327208"/>
            <a:ext cx="121828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2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68018" y="4327208"/>
            <a:ext cx="1154162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상호작용 연주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573018" y="4327208"/>
            <a:ext cx="2664191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그룹 즉흥 연주 및 리듬 인터랙션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78215" y="4869180"/>
            <a:ext cx="197170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2100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…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23900" y="5334000"/>
            <a:ext cx="8305800" cy="619125"/>
          </a:xfrm>
          <a:prstGeom prst="roundRect">
            <a:avLst>
              <a:gd name="adj" fmla="val 9231"/>
            </a:avLst>
          </a:prstGeom>
          <a:solidFill>
            <a:schemeClr val="lt1"/>
          </a:solidFill>
          <a:ln w="19050">
            <a:solidFill>
              <a:schemeClr val="accent2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983072" y="5536882"/>
            <a:ext cx="243656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sz="1650" b="1" dirty="0">
                <a:solidFill>
                  <a:schemeClr val="accent2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20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68018" y="5536882"/>
            <a:ext cx="1635063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종결 및 나눔 발표회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573018" y="5536882"/>
            <a:ext cx="2951129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dirty="0">
                <a:solidFill>
                  <a:srgbClr val="5F6368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창작곡 발표, 소감 나눔 및 사후 평가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15518" y="6203632"/>
            <a:ext cx="7088479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작성 원칙: 1회차부터 20회차까지 빠짐없이 일관된 논리 구조로 상세 기재해야 합니다.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2890215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기획안 양식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4982133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항목별 작성 지침 (항목 7 : 운영 관리 및 안전 대책)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57200" y="1381125"/>
            <a:ext cx="2762250" cy="5286375"/>
            <a:chOff x="457200" y="1381125"/>
            <a:chExt cx="2762250" cy="5286375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2762250" cy="5286375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457200" y="1381125"/>
              <a:ext cx="2762250" cy="114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76656" y="1663065"/>
              <a:ext cx="112210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인력 구성 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6656" y="1967865"/>
              <a:ext cx="131927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운영·관리 방안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23812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2679382"/>
              <a:ext cx="182421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전문 인력 섭외 계획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7418" y="3060382"/>
              <a:ext cx="182421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세부 역할 분담 명시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7418" y="3441382"/>
              <a:ext cx="158376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예술가 협업 체계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822382"/>
              <a:ext cx="176650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참여인력 운영 관리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7700" y="4619625"/>
              <a:ext cx="2381250" cy="1571625"/>
            </a:xfrm>
            <a:prstGeom prst="roundRect">
              <a:avLst>
                <a:gd name="adj" fmla="val 7273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1718" y="4822508"/>
              <a:ext cx="10291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핵심 포인트: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1718" y="5203508"/>
              <a:ext cx="142186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치료사-예술가 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1718" y="5536882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시너지 구조 구축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495675" y="1381125"/>
            <a:ext cx="2762250" cy="5286375"/>
            <a:chOff x="3495675" y="1381125"/>
            <a:chExt cx="2762250" cy="5286375"/>
          </a:xfrm>
        </p:grpSpPr>
        <p:sp>
          <p:nvSpPr>
            <p:cNvPr id="18" name="Rectangle 18"/>
            <p:cNvSpPr/>
            <p:nvPr/>
          </p:nvSpPr>
          <p:spPr>
            <a:xfrm>
              <a:off x="3495675" y="1381125"/>
              <a:ext cx="2762250" cy="5286375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495675" y="1381125"/>
              <a:ext cx="2762250" cy="114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15131" y="1663065"/>
              <a:ext cx="10579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시설 담당자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15131" y="1967865"/>
              <a:ext cx="132087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상호 협의 방안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724275" y="23812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15893" y="2679382"/>
              <a:ext cx="176650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시설 관계자 워크숍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15893" y="3060382"/>
              <a:ext cx="182421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상시 의견 수렴 채널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15893" y="3441382"/>
              <a:ext cx="158376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참여자 정보 공유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15893" y="3822382"/>
              <a:ext cx="182421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공간·악기 조율 방안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686175" y="4619625"/>
              <a:ext cx="2381250" cy="1571625"/>
            </a:xfrm>
            <a:prstGeom prst="roundRect">
              <a:avLst>
                <a:gd name="adj" fmla="val 7273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30193" y="4822508"/>
              <a:ext cx="10291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핵심 포인트: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30193" y="5203508"/>
              <a:ext cx="13369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사전 워크숍으로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30193" y="5536882"/>
              <a:ext cx="16350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시설 적극 협조 유도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34150" y="1381125"/>
            <a:ext cx="2762250" cy="5286375"/>
            <a:chOff x="6534150" y="1381125"/>
            <a:chExt cx="2762250" cy="5286375"/>
          </a:xfrm>
        </p:grpSpPr>
        <p:sp>
          <p:nvSpPr>
            <p:cNvPr id="32" name="Rectangle 32"/>
            <p:cNvSpPr/>
            <p:nvPr/>
          </p:nvSpPr>
          <p:spPr>
            <a:xfrm>
              <a:off x="6534150" y="1381125"/>
              <a:ext cx="2762250" cy="5286375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534150" y="1381125"/>
              <a:ext cx="276225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53606" y="1663065"/>
              <a:ext cx="13176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참여자 관리 &amp;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53606" y="1967865"/>
              <a:ext cx="12567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안전관리 대책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762750" y="23812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4368" y="2679382"/>
              <a:ext cx="182421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지속 참여 유도 방안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54368" y="3060382"/>
              <a:ext cx="176650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개인정보 비밀 보장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54368" y="3441382"/>
              <a:ext cx="164147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위생 및 방역 수칙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54368" y="3822382"/>
              <a:ext cx="194925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응급상황 대응 매뉴얼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724650" y="4619625"/>
              <a:ext cx="2381250" cy="1571625"/>
            </a:xfrm>
            <a:prstGeom prst="roundRect">
              <a:avLst>
                <a:gd name="adj" fmla="val 7273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68668" y="4822508"/>
              <a:ext cx="10291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핵심 포인트: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68668" y="5203508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안전 프로토콜 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68668" y="5536882"/>
              <a:ext cx="16350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돌발 대처 체계 확립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2890215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기획안 양식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4982133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항목별 작성 지침 (항목 7 : 품질 관리 및 역량 강화)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57200" y="1381125"/>
            <a:ext cx="2762250" cy="5286375"/>
            <a:chOff x="457200" y="1381125"/>
            <a:chExt cx="2762250" cy="5286375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2762250" cy="5286375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457200" y="1381125"/>
              <a:ext cx="2762250" cy="114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76656" y="1663065"/>
              <a:ext cx="112210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과정 기록 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6656" y="1967865"/>
              <a:ext cx="8592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홍보 방안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23812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2679382"/>
              <a:ext cx="176650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지원사업 홍보 계획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7418" y="3060382"/>
              <a:ext cx="176650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사진·영상 아카이빙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7418" y="3441382"/>
              <a:ext cx="158376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보도자료 및 웹진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822382"/>
              <a:ext cx="158376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성과 공유회 개최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7700" y="4619625"/>
              <a:ext cx="2381250" cy="1571625"/>
            </a:xfrm>
            <a:prstGeom prst="roundRect">
              <a:avLst>
                <a:gd name="adj" fmla="val 7273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1718" y="4822508"/>
              <a:ext cx="121187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아카이빙 체계: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1718" y="5203508"/>
              <a:ext cx="157735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차년도 사업 확산의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1718" y="5536882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핵심 객관적 근거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495675" y="1381125"/>
            <a:ext cx="2762250" cy="5286375"/>
            <a:chOff x="3495675" y="1381125"/>
            <a:chExt cx="2762250" cy="5286375"/>
          </a:xfrm>
        </p:grpSpPr>
        <p:sp>
          <p:nvSpPr>
            <p:cNvPr id="18" name="Rectangle 18"/>
            <p:cNvSpPr/>
            <p:nvPr/>
          </p:nvSpPr>
          <p:spPr>
            <a:xfrm>
              <a:off x="3495675" y="1381125"/>
              <a:ext cx="2762250" cy="5286375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23812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495675" y="1381125"/>
              <a:ext cx="2762250" cy="114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15131" y="1663065"/>
              <a:ext cx="12567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슈퍼비전 계획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15131" y="1967865"/>
              <a:ext cx="111889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&amp; 운영 방식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724275" y="23812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686175" y="2524125"/>
              <a:ext cx="2381250" cy="438150"/>
            </a:xfrm>
            <a:prstGeom prst="roundRect">
              <a:avLst>
                <a:gd name="adj" fmla="val 17391"/>
              </a:avLst>
            </a:prstGeom>
            <a:solidFill>
              <a:srgbClr val="F9ECE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73043" y="2631758"/>
              <a:ext cx="214000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★ 현장1회 포함 3회 필수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15893" y="3060382"/>
              <a:ext cx="198612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슈퍼바이저 자격/목표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15893" y="3441382"/>
              <a:ext cx="194925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회차별 슈퍼비전 방식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15893" y="3822382"/>
              <a:ext cx="176650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치료사 전문성 향상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86175" y="4619625"/>
              <a:ext cx="2381250" cy="1571625"/>
            </a:xfrm>
            <a:prstGeom prst="roundRect">
              <a:avLst>
                <a:gd name="adj" fmla="val 7273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830193" y="4822508"/>
              <a:ext cx="126957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임상 품질 관리: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30193" y="5203508"/>
              <a:ext cx="163506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치료 중재 안정성 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30193" y="5536882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치료사 소진 방지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534150" y="1381125"/>
            <a:ext cx="2762250" cy="5286375"/>
            <a:chOff x="6534150" y="1381125"/>
            <a:chExt cx="2762250" cy="5286375"/>
          </a:xfrm>
        </p:grpSpPr>
        <p:sp>
          <p:nvSpPr>
            <p:cNvPr id="33" name="Rectangle 33"/>
            <p:cNvSpPr/>
            <p:nvPr/>
          </p:nvSpPr>
          <p:spPr>
            <a:xfrm>
              <a:off x="6534150" y="1381125"/>
              <a:ext cx="2762250" cy="5286375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534150" y="1381125"/>
              <a:ext cx="276225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3606" y="1663065"/>
              <a:ext cx="12567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자체 역량강화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53606" y="1967865"/>
              <a:ext cx="8592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방안 소개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762750" y="23812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24650" y="2524125"/>
              <a:ext cx="2381250" cy="438150"/>
            </a:xfrm>
            <a:prstGeom prst="roundRect">
              <a:avLst>
                <a:gd name="adj" fmla="val 17391"/>
              </a:avLst>
            </a:prstGeom>
            <a:solidFill>
              <a:srgbClr val="F2F4E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11518" y="2631758"/>
              <a:ext cx="193963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총 3회차까지 편성 가능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54368" y="3060382"/>
              <a:ext cx="200696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자체 스터디 및 세미나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54368" y="3441382"/>
              <a:ext cx="158376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회차별 학습 주제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54368" y="3822382"/>
              <a:ext cx="164147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팀 내 역량 고도화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24650" y="4619625"/>
              <a:ext cx="2381250" cy="1571625"/>
            </a:xfrm>
            <a:prstGeom prst="roundRect">
              <a:avLst>
                <a:gd name="adj" fmla="val 7273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68668" y="4822508"/>
              <a:ext cx="126957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팀 역량 고도화: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68668" y="5203508"/>
              <a:ext cx="13369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중재의 완성도와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68668" y="5536882"/>
              <a:ext cx="1394613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임상 일관성 확보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3489738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기획안 작성하기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5310749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복지기관 기획사업 &lt;창작 실험 프로젝트&gt; 공모 신청서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57200" y="1381125"/>
            <a:ext cx="4191000" cy="5286375"/>
            <a:chOff x="457200" y="1381125"/>
            <a:chExt cx="4191000" cy="5286375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4191000" cy="5286375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086353"/>
              <a:ext cx="3905250" cy="3875919"/>
            </a:xfrm>
            <a:prstGeom prst="rect">
              <a:avLst/>
            </a:prstGeom>
          </p:spPr>
        </p:pic>
      </p:grpSp>
      <p:grpSp>
        <p:nvGrpSpPr>
          <p:cNvPr id="33" name="Group 33"/>
          <p:cNvGrpSpPr/>
          <p:nvPr/>
        </p:nvGrpSpPr>
        <p:grpSpPr>
          <a:xfrm>
            <a:off x="4857750" y="1381125"/>
            <a:ext cx="4438650" cy="5286375"/>
            <a:chOff x="4857750" y="1381125"/>
            <a:chExt cx="4438650" cy="5286375"/>
          </a:xfrm>
        </p:grpSpPr>
        <p:sp>
          <p:nvSpPr>
            <p:cNvPr id="7" name="Rectangle 7"/>
            <p:cNvSpPr/>
            <p:nvPr/>
          </p:nvSpPr>
          <p:spPr>
            <a:xfrm>
              <a:off x="4857750" y="1381125"/>
              <a:ext cx="4438650" cy="5286375"/>
            </a:xfrm>
            <a:prstGeom prst="roundRect">
              <a:avLst>
                <a:gd name="adj" fmla="val 343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124450" y="1647825"/>
              <a:ext cx="1524000" cy="361950"/>
            </a:xfrm>
            <a:prstGeom prst="roundRect">
              <a:avLst>
                <a:gd name="adj" fmla="val 263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280514" y="1726882"/>
              <a:ext cx="121187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공모 서식 구조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13782" y="2249805"/>
              <a:ext cx="2236190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신청서 3대 핵심 파트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124450" y="2667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124450" y="2905125"/>
              <a:ext cx="3905250" cy="3619500"/>
              <a:chOff x="5124450" y="2905125"/>
              <a:chExt cx="3905250" cy="3619500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5124450" y="2905125"/>
                <a:ext cx="3905250" cy="1047750"/>
                <a:chOff x="5124450" y="2905125"/>
                <a:chExt cx="3905250" cy="1047750"/>
              </a:xfrm>
            </p:grpSpPr>
            <p:sp>
              <p:nvSpPr>
                <p:cNvPr id="12" name="Rectangle 12"/>
                <p:cNvSpPr/>
                <p:nvPr/>
              </p:nvSpPr>
              <p:spPr>
                <a:xfrm>
                  <a:off x="5124450" y="2905125"/>
                  <a:ext cx="3905250" cy="1047750"/>
                </a:xfrm>
                <a:prstGeom prst="roundRect">
                  <a:avLst>
                    <a:gd name="adj" fmla="val 10909"/>
                  </a:avLst>
                </a:prstGeom>
                <a:solidFill>
                  <a:schemeClr val="lt1"/>
                </a:solidFill>
                <a:ln w="9525">
                  <a:solidFill>
                    <a:srgbClr val="E6DCD5"/>
                  </a:solidFill>
                </a:ln>
              </p:spPr>
            </p:sp>
            <p:sp>
              <p:nvSpPr>
                <p:cNvPr id="13" name="Rectangle 13"/>
                <p:cNvSpPr/>
                <p:nvPr/>
              </p:nvSpPr>
              <p:spPr>
                <a:xfrm>
                  <a:off x="5314950" y="3076575"/>
                  <a:ext cx="342900" cy="266700"/>
                </a:xfrm>
                <a:prstGeom prst="roundRect">
                  <a:avLst>
                    <a:gd name="adj" fmla="val 21429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5425486" y="3088958"/>
                  <a:ext cx="121828" cy="2539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1650" b="1" dirty="0">
                      <a:solidFill>
                        <a:srgbClr val="FFFFFF"/>
                      </a:solidFill>
                      <a:latin typeface="+mn-lt"/>
                      <a:ea typeface="Pretendard Variable" panose="02000003000000020004" pitchFamily="2" charset="-127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5763006" y="3091815"/>
                  <a:ext cx="1320874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800" b="1" dirty="0">
                      <a:solidFill>
                        <a:schemeClr val="dk1"/>
                      </a:solidFill>
                      <a:latin typeface="+mn-lt"/>
                      <a:ea typeface="Pretendard Variable" panose="02000003000000020004" pitchFamily="2" charset="-127"/>
                      <a:cs typeface="+mn-cs"/>
                    </a:rPr>
                    <a:t>신청 기본 정보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5306568" y="3489008"/>
                  <a:ext cx="3294172" cy="2539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650" dirty="0">
                      <a:solidFill>
                        <a:srgbClr val="5F6368"/>
                      </a:solidFill>
                      <a:latin typeface="+mn-lt"/>
                      <a:ea typeface="Pretendard Variable" panose="02000003000000020004" pitchFamily="2" charset="-127"/>
                      <a:cs typeface="+mn-cs"/>
                    </a:rPr>
                    <a:t>그룹명, 대표자, 참여인원, 주요 활동이력</a:t>
                  </a:r>
                </a:p>
              </p:txBody>
            </p:sp>
          </p:grpSp>
          <p:grpSp>
            <p:nvGrpSpPr>
              <p:cNvPr id="24" name="Group 24"/>
              <p:cNvGrpSpPr/>
              <p:nvPr/>
            </p:nvGrpSpPr>
            <p:grpSpPr>
              <a:xfrm>
                <a:off x="5124450" y="4095750"/>
                <a:ext cx="3905250" cy="1143000"/>
                <a:chOff x="5124450" y="4095750"/>
                <a:chExt cx="3905250" cy="1143000"/>
              </a:xfrm>
            </p:grpSpPr>
            <p:sp>
              <p:nvSpPr>
                <p:cNvPr id="18" name="Rectangle 18"/>
                <p:cNvSpPr/>
                <p:nvPr/>
              </p:nvSpPr>
              <p:spPr>
                <a:xfrm>
                  <a:off x="5124450" y="4095750"/>
                  <a:ext cx="3905250" cy="1143000"/>
                </a:xfrm>
                <a:prstGeom prst="roundRect">
                  <a:avLst>
                    <a:gd name="adj" fmla="val 10000"/>
                  </a:avLst>
                </a:prstGeom>
                <a:solidFill>
                  <a:schemeClr val="lt1"/>
                </a:solidFill>
                <a:ln w="9525">
                  <a:solidFill>
                    <a:srgbClr val="E6DCD5"/>
                  </a:solidFill>
                </a:ln>
              </p:spPr>
            </p:sp>
            <p:sp>
              <p:nvSpPr>
                <p:cNvPr id="19" name="Rectangle 19"/>
                <p:cNvSpPr/>
                <p:nvPr/>
              </p:nvSpPr>
              <p:spPr>
                <a:xfrm>
                  <a:off x="5314950" y="4267200"/>
                  <a:ext cx="342900" cy="266700"/>
                </a:xfrm>
                <a:prstGeom prst="roundRect">
                  <a:avLst>
                    <a:gd name="adj" fmla="val 21429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5425486" y="4279582"/>
                  <a:ext cx="121828" cy="2539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1650" b="1" dirty="0">
                      <a:solidFill>
                        <a:srgbClr val="FFFFFF"/>
                      </a:solidFill>
                      <a:latin typeface="+mn-lt"/>
                      <a:ea typeface="Pretendard Variable" panose="02000003000000020004" pitchFamily="2" charset="-127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763006" y="4282440"/>
                  <a:ext cx="1720023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800" b="1" dirty="0">
                      <a:solidFill>
                        <a:schemeClr val="dk1"/>
                      </a:solidFill>
                      <a:latin typeface="+mn-lt"/>
                      <a:ea typeface="Pretendard Variable" panose="02000003000000020004" pitchFamily="2" charset="-127"/>
                      <a:cs typeface="+mn-cs"/>
                    </a:rPr>
                    <a:t>I. 챌린지 그룹 소개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5306568" y="4632008"/>
                  <a:ext cx="2846933" cy="2539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650" dirty="0">
                      <a:solidFill>
                        <a:srgbClr val="5F6368"/>
                      </a:solidFill>
                      <a:latin typeface="+mn-lt"/>
                      <a:ea typeface="Pretendard Variable" panose="02000003000000020004" pitchFamily="2" charset="-127"/>
                      <a:cs typeface="+mn-cs"/>
                    </a:rPr>
                    <a:t>그룹 구성원 소개 및 문화예술 활동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5306568" y="4898708"/>
                  <a:ext cx="2664191" cy="2539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650" b="1" dirty="0">
                      <a:solidFill>
                        <a:schemeClr val="accent3"/>
                      </a:solidFill>
                      <a:latin typeface="+mn-lt"/>
                      <a:ea typeface="Pretendard Variable" panose="02000003000000020004" pitchFamily="2" charset="-127"/>
                      <a:cs typeface="+mn-cs"/>
                    </a:rPr>
                    <a:t>프로젝트 참여 계기 및 지원 동기</a:t>
                  </a:r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5124450" y="5381625"/>
                <a:ext cx="3905250" cy="1143000"/>
                <a:chOff x="5124450" y="5381625"/>
                <a:chExt cx="3905250" cy="1143000"/>
              </a:xfrm>
            </p:grpSpPr>
            <p:sp>
              <p:nvSpPr>
                <p:cNvPr id="25" name="Rectangle 25"/>
                <p:cNvSpPr/>
                <p:nvPr/>
              </p:nvSpPr>
              <p:spPr>
                <a:xfrm>
                  <a:off x="5124450" y="5381625"/>
                  <a:ext cx="3905250" cy="1143000"/>
                </a:xfrm>
                <a:prstGeom prst="roundRect">
                  <a:avLst>
                    <a:gd name="adj" fmla="val 10000"/>
                  </a:avLst>
                </a:prstGeom>
                <a:solidFill>
                  <a:schemeClr val="lt1"/>
                </a:solidFill>
                <a:ln w="9525">
                  <a:solidFill>
                    <a:srgbClr val="E6DCD5"/>
                  </a:solidFill>
                </a:ln>
              </p:spPr>
            </p:sp>
            <p:sp>
              <p:nvSpPr>
                <p:cNvPr id="26" name="Rectangle 26"/>
                <p:cNvSpPr/>
                <p:nvPr/>
              </p:nvSpPr>
              <p:spPr>
                <a:xfrm>
                  <a:off x="5314950" y="5553075"/>
                  <a:ext cx="342900" cy="266700"/>
                </a:xfrm>
                <a:prstGeom prst="roundRect">
                  <a:avLst>
                    <a:gd name="adj" fmla="val 21429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5425486" y="5565458"/>
                  <a:ext cx="121828" cy="2539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1650" b="1" dirty="0">
                      <a:solidFill>
                        <a:srgbClr val="FFFFFF"/>
                      </a:solidFill>
                      <a:latin typeface="+mn-lt"/>
                      <a:ea typeface="Pretendard Variable" panose="02000003000000020004" pitchFamily="2" charset="-127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763006" y="5568315"/>
                  <a:ext cx="1992533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800" b="1" dirty="0">
                      <a:solidFill>
                        <a:schemeClr val="dk1"/>
                      </a:solidFill>
                      <a:latin typeface="+mn-lt"/>
                      <a:ea typeface="Pretendard Variable" panose="02000003000000020004" pitchFamily="2" charset="-127"/>
                      <a:cs typeface="+mn-cs"/>
                    </a:rPr>
                    <a:t>II. 프로젝트 기획 소개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5306568" y="5917882"/>
                  <a:ext cx="2240998" cy="2539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650" dirty="0">
                      <a:solidFill>
                        <a:srgbClr val="5F6368"/>
                      </a:solidFill>
                      <a:latin typeface="+mn-lt"/>
                      <a:ea typeface="Pretendard Variable" panose="02000003000000020004" pitchFamily="2" charset="-127"/>
                      <a:cs typeface="+mn-cs"/>
                    </a:rPr>
                    <a:t>프로젝트 개요 및 기획 의도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5306568" y="6184582"/>
                  <a:ext cx="2240998" cy="2539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ko-KR" sz="1650" b="1" dirty="0">
                      <a:solidFill>
                        <a:schemeClr val="accent2"/>
                      </a:solidFill>
                      <a:latin typeface="+mn-lt"/>
                      <a:ea typeface="Pretendard Variable" panose="02000003000000020004" pitchFamily="2" charset="-127"/>
                      <a:cs typeface="+mn-cs"/>
                    </a:rPr>
                    <a:t>연구 계획 및 최종 기대효과</a:t>
                  </a: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3489738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기획안 작성하기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1867499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I. 챌린지 그룹 소개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57200" y="1381125"/>
            <a:ext cx="8839200" cy="1047750"/>
            <a:chOff x="457200" y="1381125"/>
            <a:chExt cx="8839200" cy="1047750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8839200" cy="104775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47700" y="1533525"/>
              <a:ext cx="1047750" cy="323850"/>
            </a:xfrm>
            <a:prstGeom prst="roundRect">
              <a:avLst>
                <a:gd name="adj" fmla="val 23529"/>
              </a:avLst>
            </a:prstGeom>
            <a:solidFill>
              <a:srgbClr val="F9ECEC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27543" y="1584008"/>
              <a:ext cx="88806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[작성방법]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9318" y="1917382"/>
              <a:ext cx="644631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chemeClr val="dk1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기획안은 연구·컨설팅을 거쳐 수정 가능하므로, 현재 구상 내용을 기술하세요.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9318" y="2174558"/>
              <a:ext cx="674768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rgbClr val="5F6368"/>
                </a:buClr>
                <a:buSzTx/>
                <a:buFontTx/>
                <a:buChar char="•"/>
              </a:pPr>
              <a:r>
                <a:rPr lang="ko-KR" sz="1650" dirty="0">
                  <a:solidFill>
                    <a:srgbClr val="5F6368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형식에 맞게 추가 작성 가능하며 그림·사진·도표 첨부 자유 (별도 파일 접수 불가).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2619375"/>
            <a:ext cx="4286250" cy="4048125"/>
            <a:chOff x="457200" y="2619375"/>
            <a:chExt cx="4286250" cy="4048125"/>
          </a:xfrm>
        </p:grpSpPr>
        <p:sp>
          <p:nvSpPr>
            <p:cNvPr id="10" name="Rectangle 10"/>
            <p:cNvSpPr/>
            <p:nvPr/>
          </p:nvSpPr>
          <p:spPr>
            <a:xfrm>
              <a:off x="457200" y="2619375"/>
              <a:ext cx="4286250" cy="4048125"/>
            </a:xfrm>
            <a:prstGeom prst="roundRect">
              <a:avLst>
                <a:gd name="adj" fmla="val 3765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85800" y="2847975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2371" y="2917508"/>
              <a:ext cx="163185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1. 챌린지 그룹 소개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685800" y="3333750"/>
              <a:ext cx="3829050" cy="2905125"/>
              <a:chOff x="685800" y="3333750"/>
              <a:chExt cx="3829050" cy="290512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85800" y="3333750"/>
                <a:ext cx="3829050" cy="904875"/>
              </a:xfrm>
              <a:prstGeom prst="roundRect">
                <a:avLst>
                  <a:gd name="adj" fmla="val 1052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29818" y="3489008"/>
                <a:ext cx="169437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① 그룹 명 및 정체성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29818" y="3803332"/>
                <a:ext cx="333745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지향점과 음악치료 철학이 드러나는 명칭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685800" y="4333875"/>
                <a:ext cx="3829050" cy="904875"/>
              </a:xfrm>
              <a:prstGeom prst="roundRect">
                <a:avLst>
                  <a:gd name="adj" fmla="val 1052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29818" y="4489132"/>
                <a:ext cx="205985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② 구성원 소개 및 전문성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29818" y="4803458"/>
                <a:ext cx="276838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전공, 임상 경험 및 역할 분담 기술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685800" y="5334000"/>
                <a:ext cx="3829050" cy="904875"/>
              </a:xfrm>
              <a:prstGeom prst="roundRect">
                <a:avLst>
                  <a:gd name="adj" fmla="val 1052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29818" y="5489258"/>
                <a:ext cx="181940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③ 주요 문화예술 활동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29818" y="5803582"/>
                <a:ext cx="266419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과거 수행 프로젝트 및 현장 이력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5010150" y="2619375"/>
            <a:ext cx="4286250" cy="4048125"/>
            <a:chOff x="5010150" y="2619375"/>
            <a:chExt cx="4286250" cy="4048125"/>
          </a:xfrm>
        </p:grpSpPr>
        <p:sp>
          <p:nvSpPr>
            <p:cNvPr id="24" name="Rectangle 24"/>
            <p:cNvSpPr/>
            <p:nvPr/>
          </p:nvSpPr>
          <p:spPr>
            <a:xfrm>
              <a:off x="5010150" y="2619375"/>
              <a:ext cx="4286250" cy="4048125"/>
            </a:xfrm>
            <a:prstGeom prst="roundRect">
              <a:avLst>
                <a:gd name="adj" fmla="val 3765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238750" y="2847975"/>
              <a:ext cx="15240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87789" y="2917508"/>
              <a:ext cx="102592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2. 지원 동기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5238750" y="3333750"/>
              <a:ext cx="3829050" cy="2905125"/>
              <a:chOff x="5238750" y="3333750"/>
              <a:chExt cx="3829050" cy="2905125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238750" y="3333750"/>
                <a:ext cx="3829050" cy="904875"/>
              </a:xfrm>
              <a:prstGeom prst="roundRect">
                <a:avLst>
                  <a:gd name="adj" fmla="val 1052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382768" y="3489008"/>
                <a:ext cx="181940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① 기획사업 신청 계기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382768" y="3803332"/>
                <a:ext cx="246061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왜 본 지원사업이어야 하는가?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5238750" y="4333875"/>
                <a:ext cx="3829050" cy="904875"/>
              </a:xfrm>
              <a:prstGeom prst="roundRect">
                <a:avLst>
                  <a:gd name="adj" fmla="val 1052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382768" y="4489132"/>
                <a:ext cx="224260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② 요즘 고민하고 있는 내용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382768" y="4803458"/>
                <a:ext cx="284693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현장 미해결 과제 및 임상적 한계점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5238750" y="5334000"/>
                <a:ext cx="3829050" cy="904875"/>
              </a:xfrm>
              <a:prstGeom prst="roundRect">
                <a:avLst>
                  <a:gd name="adj" fmla="val 1052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382768" y="5489258"/>
                <a:ext cx="224260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③ 프로젝트로 얻고 싶은 것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382768" y="5803582"/>
                <a:ext cx="330539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기획안 완성, 프로그램 고도화, 학술 성취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3489738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기획안 작성하기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2162451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II. 프로젝트 기획 소개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57200" y="1381125"/>
            <a:ext cx="4191000" cy="5286375"/>
            <a:chOff x="457200" y="1381125"/>
            <a:chExt cx="4191000" cy="5286375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4191000" cy="5286375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036505"/>
              <a:ext cx="3905250" cy="3975615"/>
            </a:xfrm>
            <a:prstGeom prst="rect">
              <a:avLst/>
            </a:prstGeom>
          </p:spPr>
        </p:pic>
      </p:grpSp>
      <p:grpSp>
        <p:nvGrpSpPr>
          <p:cNvPr id="24" name="Group 24"/>
          <p:cNvGrpSpPr/>
          <p:nvPr/>
        </p:nvGrpSpPr>
        <p:grpSpPr>
          <a:xfrm>
            <a:off x="4857750" y="1381125"/>
            <a:ext cx="4438650" cy="5286375"/>
            <a:chOff x="4857750" y="1381125"/>
            <a:chExt cx="4438650" cy="5286375"/>
          </a:xfrm>
        </p:grpSpPr>
        <p:sp>
          <p:nvSpPr>
            <p:cNvPr id="7" name="Rectangle 7"/>
            <p:cNvSpPr/>
            <p:nvPr/>
          </p:nvSpPr>
          <p:spPr>
            <a:xfrm>
              <a:off x="4857750" y="1381125"/>
              <a:ext cx="4438650" cy="5286375"/>
            </a:xfrm>
            <a:prstGeom prst="roundRect">
              <a:avLst>
                <a:gd name="adj" fmla="val 343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124450" y="1647825"/>
              <a:ext cx="1714500" cy="361950"/>
            </a:xfrm>
            <a:prstGeom prst="roundRect">
              <a:avLst>
                <a:gd name="adj" fmla="val 263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75764" y="1726882"/>
              <a:ext cx="121187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기획 소개 개관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13782" y="2249805"/>
              <a:ext cx="2862963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II. 프로젝트 기획 소개 항목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124450" y="2667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124450" y="2905125"/>
              <a:ext cx="3905250" cy="3238500"/>
              <a:chOff x="5124450" y="2905125"/>
              <a:chExt cx="3905250" cy="3238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124450" y="2905125"/>
                <a:ext cx="3905250" cy="952500"/>
              </a:xfrm>
              <a:prstGeom prst="roundRect">
                <a:avLst>
                  <a:gd name="adj" fmla="val 12000"/>
                </a:avLst>
              </a:prstGeom>
              <a:solidFill>
                <a:schemeClr val="lt1"/>
              </a:solidFill>
              <a:ln w="9525">
                <a:solidFill>
                  <a:srgbClr val="E6DCD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5305806" y="3072765"/>
                <a:ext cx="151644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1. 프로젝트 개요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306568" y="3412808"/>
                <a:ext cx="304410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프로젝트 명, 대상 및 규모, 공간, 일정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5124450" y="4000500"/>
                <a:ext cx="3905250" cy="1000125"/>
              </a:xfrm>
              <a:prstGeom prst="roundRect">
                <a:avLst>
                  <a:gd name="adj" fmla="val 11429"/>
                </a:avLst>
              </a:prstGeom>
              <a:solidFill>
                <a:schemeClr val="lt1"/>
              </a:solidFill>
              <a:ln w="9525">
                <a:solidFill>
                  <a:srgbClr val="E6DCD5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305806" y="4168140"/>
                <a:ext cx="197810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chemeClr val="accent3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2. 프로젝트 기획 의도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306568" y="4517708"/>
                <a:ext cx="346729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기획 배경, 목적, 주제 설정 이유, 연결 지점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5124450" y="5143500"/>
                <a:ext cx="3905250" cy="1000125"/>
              </a:xfrm>
              <a:prstGeom prst="roundRect">
                <a:avLst>
                  <a:gd name="adj" fmla="val 11429"/>
                </a:avLst>
              </a:prstGeom>
              <a:solidFill>
                <a:schemeClr val="lt1"/>
              </a:solidFill>
              <a:ln w="9525">
                <a:solidFill>
                  <a:srgbClr val="E6DCD5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305806" y="5311140"/>
                <a:ext cx="197810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chemeClr val="accent2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3. 프로젝트 연구 계획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306568" y="5660708"/>
                <a:ext cx="3363100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참고 자료, 리서치 및 보완 계획, 기대효과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5116068" y="6013132"/>
              <a:ext cx="356507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※ 기획의 참신성과 실행 가능성을 입증하는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16068" y="6298882"/>
              <a:ext cx="18178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핵심 공모 서식입니다.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3489738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기획안 작성하기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2162451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II. 프로젝트 기획 소개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57200" y="1381125"/>
            <a:ext cx="4286250" cy="5286375"/>
            <a:chOff x="457200" y="1381125"/>
            <a:chExt cx="4286250" cy="5286375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4286250" cy="5286375"/>
            </a:xfrm>
            <a:prstGeom prst="roundRect">
              <a:avLst>
                <a:gd name="adj" fmla="val 3556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85800" y="1609725"/>
              <a:ext cx="200025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8625" y="1679258"/>
              <a:ext cx="181459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3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2. 프로젝트 기획 의도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5894" y="2170748"/>
              <a:ext cx="2505494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배경, 목적, 방향성 구체화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2571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85800" y="2809875"/>
              <a:ext cx="3829050" cy="3429000"/>
              <a:chOff x="685800" y="2809875"/>
              <a:chExt cx="3829050" cy="3429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85800" y="2809875"/>
                <a:ext cx="3829050" cy="1047750"/>
              </a:xfrm>
              <a:prstGeom prst="roundRect">
                <a:avLst>
                  <a:gd name="adj" fmla="val 9091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29818" y="2965132"/>
                <a:ext cx="169437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① 기획 배경 및 목적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29818" y="3298508"/>
                <a:ext cx="2458045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5F6368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왜 이 프로젝트가 필요한가?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29818" y="3565208"/>
                <a:ext cx="236346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5F6368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이루고자 하는 궁극적 목표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685800" y="4000500"/>
                <a:ext cx="3829050" cy="1047750"/>
              </a:xfrm>
              <a:prstGeom prst="roundRect">
                <a:avLst>
                  <a:gd name="adj" fmla="val 9091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29818" y="4155758"/>
                <a:ext cx="145392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② 주제 설정 이유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29818" y="4489132"/>
                <a:ext cx="260391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5F6368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특정 대상을 위한 음악적 주제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9818" y="4755832"/>
                <a:ext cx="236346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5F6368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치유적 욕구를 반영한 근거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685800" y="5191125"/>
                <a:ext cx="3829050" cy="1047750"/>
              </a:xfrm>
              <a:prstGeom prst="roundRect">
                <a:avLst>
                  <a:gd name="adj" fmla="val 9091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29818" y="5346382"/>
                <a:ext cx="205985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③ 주제와 활동 연결 지점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29818" y="5679758"/>
                <a:ext cx="260391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5F6368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설정 주제가 세부 활동에 반영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29818" y="5946458"/>
                <a:ext cx="272895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5F6368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음악적 표현과 치유의 연결고리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010150" y="1381125"/>
            <a:ext cx="4286250" cy="5286375"/>
            <a:chOff x="5010150" y="1381125"/>
            <a:chExt cx="4286250" cy="5286375"/>
          </a:xfrm>
        </p:grpSpPr>
        <p:sp>
          <p:nvSpPr>
            <p:cNvPr id="23" name="Rectangle 23"/>
            <p:cNvSpPr/>
            <p:nvPr/>
          </p:nvSpPr>
          <p:spPr>
            <a:xfrm>
              <a:off x="5010150" y="1381125"/>
              <a:ext cx="4286250" cy="5286375"/>
            </a:xfrm>
            <a:prstGeom prst="roundRect">
              <a:avLst>
                <a:gd name="adj" fmla="val 3556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238750" y="1609725"/>
              <a:ext cx="200025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331575" y="1679258"/>
              <a:ext cx="181459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3. 프로젝트 연구 계획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28844" y="2170748"/>
              <a:ext cx="2223366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사업 기간 내 발전 방안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238750" y="2571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5238750" y="2809875"/>
              <a:ext cx="3829050" cy="3429000"/>
              <a:chOff x="5238750" y="2809875"/>
              <a:chExt cx="3829050" cy="34290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238750" y="2809875"/>
                <a:ext cx="3829050" cy="1047750"/>
              </a:xfrm>
              <a:prstGeom prst="roundRect">
                <a:avLst>
                  <a:gd name="adj" fmla="val 9091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382768" y="2965132"/>
                <a:ext cx="211756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① 참고 자료 및 선행 연구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82768" y="3298508"/>
                <a:ext cx="266162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5F6368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국내외 선행 연구 및 우수 사례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382768" y="3565208"/>
                <a:ext cx="236346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5F6368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기존 사업과의 차별성 확보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5238750" y="4000500"/>
                <a:ext cx="3829050" cy="1047750"/>
              </a:xfrm>
              <a:prstGeom prst="roundRect">
                <a:avLst>
                  <a:gd name="adj" fmla="val 9091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382768" y="4155758"/>
                <a:ext cx="1877117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② 리서치 및 보완 계획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382768" y="4489132"/>
                <a:ext cx="268567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5F6368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대상/분야 리서치 및 조사 계획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382768" y="4755832"/>
                <a:ext cx="236346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5F6368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전문가 컨설팅을 통한 보완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5238750" y="5191125"/>
                <a:ext cx="3829050" cy="1047750"/>
              </a:xfrm>
              <a:prstGeom prst="roundRect">
                <a:avLst>
                  <a:gd name="adj" fmla="val 9091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5382768" y="5346382"/>
                <a:ext cx="205985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b="1" dirty="0">
                    <a:solidFill>
                      <a:schemeClr val="dk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③ 기대효과 및 향후 발전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382768" y="5679758"/>
                <a:ext cx="2363468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5F6368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최종 결과물의 활용 가능성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382768" y="5946458"/>
                <a:ext cx="2421176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5F6368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현장 적용 모델화 및 지속성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484" y="375285"/>
            <a:ext cx="3489738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700" b="1" dirty="0">
                <a:solidFill>
                  <a:schemeClr val="dk1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프로젝트 기획안 작성하기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294" y="837248"/>
            <a:ext cx="2162451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950" b="1" dirty="0">
                <a:solidFill>
                  <a:schemeClr val="accent3"/>
                </a:solidFill>
                <a:latin typeface="+mn-lt"/>
                <a:ea typeface="Pretendard Variable" panose="02000003000000020004" pitchFamily="2" charset="-127"/>
                <a:cs typeface="+mn-cs"/>
              </a:rPr>
              <a:t>II. 프로젝트 기획 소개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57200" y="1381125"/>
            <a:ext cx="4191000" cy="5286375"/>
            <a:chOff x="457200" y="1381125"/>
            <a:chExt cx="4191000" cy="5286375"/>
          </a:xfrm>
        </p:grpSpPr>
        <p:sp>
          <p:nvSpPr>
            <p:cNvPr id="4" name="Rectangle 4"/>
            <p:cNvSpPr/>
            <p:nvPr/>
          </p:nvSpPr>
          <p:spPr>
            <a:xfrm>
              <a:off x="457200" y="1381125"/>
              <a:ext cx="4191000" cy="5286375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211161"/>
              <a:ext cx="3905250" cy="3626304"/>
            </a:xfrm>
            <a:prstGeom prst="rect">
              <a:avLst/>
            </a:prstGeom>
          </p:spPr>
        </p:pic>
      </p:grpSp>
      <p:grpSp>
        <p:nvGrpSpPr>
          <p:cNvPr id="23" name="Group 23"/>
          <p:cNvGrpSpPr/>
          <p:nvPr/>
        </p:nvGrpSpPr>
        <p:grpSpPr>
          <a:xfrm>
            <a:off x="4857750" y="1381125"/>
            <a:ext cx="4438650" cy="5286375"/>
            <a:chOff x="4857750" y="1381125"/>
            <a:chExt cx="4438650" cy="5286375"/>
          </a:xfrm>
        </p:grpSpPr>
        <p:sp>
          <p:nvSpPr>
            <p:cNvPr id="7" name="Rectangle 7"/>
            <p:cNvSpPr/>
            <p:nvPr/>
          </p:nvSpPr>
          <p:spPr>
            <a:xfrm>
              <a:off x="4857750" y="1381125"/>
              <a:ext cx="4438650" cy="5286375"/>
            </a:xfrm>
            <a:prstGeom prst="roundRect">
              <a:avLst>
                <a:gd name="adj" fmla="val 3433"/>
              </a:avLst>
            </a:prstGeom>
            <a:solidFill>
              <a:srgbClr val="FFFFFF"/>
            </a:solidFill>
            <a:ln w="14288">
              <a:solidFill>
                <a:srgbClr val="E6DC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124450" y="1647825"/>
              <a:ext cx="1714500" cy="361950"/>
            </a:xfrm>
            <a:prstGeom prst="roundRect">
              <a:avLst>
                <a:gd name="adj" fmla="val 263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75764" y="1726882"/>
              <a:ext cx="1211870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chemeClr val="accent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최종 제출 점검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13782" y="2249805"/>
              <a:ext cx="2545569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chemeClr val="dk1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기획안 완성도 심사 대비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124450" y="2667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124450" y="2905125"/>
              <a:ext cx="3905250" cy="3238500"/>
              <a:chOff x="5124450" y="2905125"/>
              <a:chExt cx="3905250" cy="3238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124450" y="2905125"/>
                <a:ext cx="3905250" cy="952500"/>
              </a:xfrm>
              <a:prstGeom prst="roundRect">
                <a:avLst>
                  <a:gd name="adj" fmla="val 12000"/>
                </a:avLst>
              </a:prstGeom>
              <a:solidFill>
                <a:schemeClr val="lt1"/>
              </a:solidFill>
              <a:ln w="9525">
                <a:solidFill>
                  <a:srgbClr val="E6DCD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5305806" y="3072765"/>
                <a:ext cx="177933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chemeClr val="accent1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1. 세부 실행 일정표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306568" y="3412808"/>
                <a:ext cx="268567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5F6368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기획-준비-실행-평가 마일스톤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5124450" y="4000500"/>
                <a:ext cx="3905250" cy="1000125"/>
              </a:xfrm>
              <a:prstGeom prst="roundRect">
                <a:avLst>
                  <a:gd name="adj" fmla="val 11429"/>
                </a:avLst>
              </a:prstGeom>
              <a:solidFill>
                <a:schemeClr val="lt1"/>
              </a:solidFill>
              <a:ln w="9525">
                <a:solidFill>
                  <a:srgbClr val="E6DCD5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305806" y="4168140"/>
                <a:ext cx="197810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chemeClr val="accent3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2. 예산 편성의 타당성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306568" y="4517708"/>
                <a:ext cx="3108864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5F6368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인건비, 활동비, 재료비, 운영비 산출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5124450" y="5143500"/>
                <a:ext cx="3905250" cy="1000125"/>
              </a:xfrm>
              <a:prstGeom prst="roundRect">
                <a:avLst>
                  <a:gd name="adj" fmla="val 11429"/>
                </a:avLst>
              </a:prstGeom>
              <a:solidFill>
                <a:schemeClr val="lt1"/>
              </a:solidFill>
              <a:ln w="9525">
                <a:solidFill>
                  <a:srgbClr val="E6DCD5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305806" y="5311140"/>
                <a:ext cx="237565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chemeClr val="accent2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3. 산출물 포트폴리오 연계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306568" y="5660708"/>
                <a:ext cx="3187411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78118" indent="-178118" algn="l">
                  <a:buClr>
                    <a:srgbClr val="5F6368"/>
                  </a:buClr>
                  <a:buSzTx/>
                  <a:buFontTx/>
                  <a:buChar char="•"/>
                </a:pPr>
                <a:r>
                  <a:rPr lang="ko-KR" sz="1650" dirty="0">
                    <a:solidFill>
                      <a:srgbClr val="5F6368"/>
                    </a:solidFill>
                    <a:latin typeface="+mn-lt"/>
                    <a:ea typeface="Pretendard Variable" panose="02000003000000020004" pitchFamily="2" charset="-127"/>
                    <a:cs typeface="+mn-cs"/>
                  </a:rPr>
                  <a:t>매뉴얼, 프로토콜, 연구보고서 정합성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5116068" y="6203632"/>
              <a:ext cx="368049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chemeClr val="accent2"/>
                  </a:solidFill>
                  <a:latin typeface="+mn-lt"/>
                  <a:ea typeface="Pretendard Variable" panose="02000003000000020004" pitchFamily="2" charset="-127"/>
                  <a:cs typeface="+mn-cs"/>
                </a:rPr>
                <a:t>※ 한 학기 완성된 임상 프로젝트 산출물 도출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music_therapy_w1_ppt43_v2">
  <a:themeElements>
    <a:clrScheme name="music_therapy_w1_ppt43_v2">
      <a:dk1>
        <a:srgbClr val="202124"/>
      </a:dk1>
      <a:lt1>
        <a:srgbClr val="FAF8F5"/>
      </a:lt1>
      <a:dk2>
        <a:srgbClr val="202124"/>
      </a:dk2>
      <a:lt2>
        <a:srgbClr val="F0EDE8"/>
      </a:lt2>
      <a:accent1>
        <a:srgbClr val="E1A3A3"/>
      </a:accent1>
      <a:accent2>
        <a:srgbClr val="7D8642"/>
      </a:accent2>
      <a:accent3>
        <a:srgbClr val="CE7A5F"/>
      </a:accent3>
      <a:accent4>
        <a:srgbClr val="E1A3A3"/>
      </a:accent4>
      <a:accent5>
        <a:srgbClr val="4BACC6"/>
      </a:accent5>
      <a:accent6>
        <a:srgbClr val="F79646"/>
      </a:accent6>
      <a:hlink>
        <a:srgbClr val="7D8642"/>
      </a:hlink>
      <a:folHlink>
        <a:srgbClr val="CE7A5F"/>
      </a:folHlink>
    </a:clrScheme>
    <a:fontScheme name="music_therapy_w1_ppt43_v2">
      <a:majorFont>
        <a:latin typeface="Segoe UI"/>
        <a:ea typeface="Malgun Gothic"/>
        <a:cs typeface="Segoe UI"/>
        <a:font script="Jpan" typeface="Malgun Gothic"/>
        <a:font script="Hang" typeface="Malgun Gothic"/>
        <a:font script="Hans" typeface="Malgun Gothic"/>
        <a:font script="Hant" typeface="Malgun Gothi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algun Gothic"/>
        <a:cs typeface="Segoe UI"/>
        <a:font script="Jpan" typeface="Malgun Gothic"/>
        <a:font script="Hang" typeface="Malgun Gothic"/>
        <a:font script="Hans" typeface="Malgun Gothic"/>
        <a:font script="Hant" typeface="Malgun Gothi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usic_therapy_w1_ppt43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2908</Words>
  <Application>Microsoft Office PowerPoint</Application>
  <PresentationFormat>와이드스크린</PresentationFormat>
  <Paragraphs>682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Pretendard Variable</vt:lpstr>
      <vt:lpstr>Arial</vt:lpstr>
      <vt:lpstr>Segoe UI</vt:lpstr>
      <vt:lpstr>music_therapy_w1_ppt43_v2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/>
  <cp:lastModifiedBy>ssiwonk</cp:lastModifiedBy>
  <cp:revision>3</cp:revision>
  <dcterms:created xsi:type="dcterms:W3CDTF">2026-08-28T06:47:16Z</dcterms:created>
  <dcterms:modified xsi:type="dcterms:W3CDTF">2026-08-28T06:52:01Z</dcterms:modified>
  <cp:category/>
  <cp:contentStatus/>
  <dc:language>ko-KR</dc:language>
</cp:coreProperties>
</file>