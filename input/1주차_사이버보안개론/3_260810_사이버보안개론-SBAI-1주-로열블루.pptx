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yber_security_week1_blue_largefo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yber_security_week1_blue_largefo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3B2126F7-3020-4B83-8587-CA182C28E73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2" name="자유형 14">
              <a:extLst>
                <a:ext uri="{FF2B5EF4-FFF2-40B4-BE49-F238E27FC236}">
                  <a16:creationId xmlns:a16="http://schemas.microsoft.com/office/drawing/2014/main" id="{3EC362A1-AC34-47C8-A0A8-0E2D0B33A4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87900" y="0"/>
              <a:ext cx="7104100" cy="6574971"/>
            </a:xfrm>
            <a:custGeom>
              <a:avLst/>
              <a:gdLst>
                <a:gd name="connsiteX0" fmla="*/ 537704 w 7104100"/>
                <a:gd name="connsiteY0" fmla="*/ 0 h 6574971"/>
                <a:gd name="connsiteX1" fmla="*/ 3201464 w 7104100"/>
                <a:gd name="connsiteY1" fmla="*/ 0 h 6574971"/>
                <a:gd name="connsiteX2" fmla="*/ 3475529 w 7104100"/>
                <a:gd name="connsiteY2" fmla="*/ 0 h 6574971"/>
                <a:gd name="connsiteX3" fmla="*/ 3548500 w 7104100"/>
                <a:gd name="connsiteY3" fmla="*/ 0 h 6574971"/>
                <a:gd name="connsiteX4" fmla="*/ 6851802 w 7104100"/>
                <a:gd name="connsiteY4" fmla="*/ 0 h 6574971"/>
                <a:gd name="connsiteX5" fmla="*/ 7104100 w 7104100"/>
                <a:gd name="connsiteY5" fmla="*/ 0 h 6574971"/>
                <a:gd name="connsiteX6" fmla="*/ 7104100 w 7104100"/>
                <a:gd name="connsiteY6" fmla="*/ 252373 h 6574971"/>
                <a:gd name="connsiteX7" fmla="*/ 7104100 w 7104100"/>
                <a:gd name="connsiteY7" fmla="*/ 3254555 h 6574971"/>
                <a:gd name="connsiteX8" fmla="*/ 7104100 w 7104100"/>
                <a:gd name="connsiteY8" fmla="*/ 3628571 h 6574971"/>
                <a:gd name="connsiteX9" fmla="*/ 7104100 w 7104100"/>
                <a:gd name="connsiteY9" fmla="*/ 3629420 h 6574971"/>
                <a:gd name="connsiteX10" fmla="*/ 7104100 w 7104100"/>
                <a:gd name="connsiteY10" fmla="*/ 6548406 h 6574971"/>
                <a:gd name="connsiteX11" fmla="*/ 7104100 w 7104100"/>
                <a:gd name="connsiteY11" fmla="*/ 6574971 h 6574971"/>
                <a:gd name="connsiteX12" fmla="*/ 6639340 w 7104100"/>
                <a:gd name="connsiteY12" fmla="*/ 6276109 h 6574971"/>
                <a:gd name="connsiteX13" fmla="*/ 5736378 w 7104100"/>
                <a:gd name="connsiteY13" fmla="*/ 5558839 h 6574971"/>
                <a:gd name="connsiteX14" fmla="*/ 4634232 w 7104100"/>
                <a:gd name="connsiteY14" fmla="*/ 5319750 h 6574971"/>
                <a:gd name="connsiteX15" fmla="*/ 3678154 w 7104100"/>
                <a:gd name="connsiteY15" fmla="*/ 5904191 h 6574971"/>
                <a:gd name="connsiteX16" fmla="*/ 2489696 w 7104100"/>
                <a:gd name="connsiteY16" fmla="*/ 6442144 h 6574971"/>
                <a:gd name="connsiteX17" fmla="*/ 1228205 w 7104100"/>
                <a:gd name="connsiteY17" fmla="*/ 6189771 h 6574971"/>
                <a:gd name="connsiteX18" fmla="*/ 683771 w 7104100"/>
                <a:gd name="connsiteY18" fmla="*/ 5060736 h 6574971"/>
                <a:gd name="connsiteX19" fmla="*/ 1075498 w 7104100"/>
                <a:gd name="connsiteY19" fmla="*/ 3639479 h 6574971"/>
                <a:gd name="connsiteX20" fmla="*/ 384997 w 7104100"/>
                <a:gd name="connsiteY20" fmla="*/ 2563575 h 6574971"/>
                <a:gd name="connsiteX21" fmla="*/ 26468 w 7104100"/>
                <a:gd name="connsiteY21" fmla="*/ 1036056 h 6574971"/>
                <a:gd name="connsiteX22" fmla="*/ 537704 w 7104100"/>
                <a:gd name="connsiteY22" fmla="*/ 0 h 657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04100" h="6574971">
                  <a:moveTo>
                    <a:pt x="537704" y="0"/>
                  </a:moveTo>
                  <a:cubicBezTo>
                    <a:pt x="537704" y="0"/>
                    <a:pt x="537704" y="0"/>
                    <a:pt x="3201464" y="0"/>
                  </a:cubicBezTo>
                  <a:lnTo>
                    <a:pt x="3475529" y="0"/>
                  </a:lnTo>
                  <a:lnTo>
                    <a:pt x="3548500" y="0"/>
                  </a:lnTo>
                  <a:cubicBezTo>
                    <a:pt x="4391523" y="0"/>
                    <a:pt x="5470593" y="0"/>
                    <a:pt x="6851802" y="0"/>
                  </a:cubicBezTo>
                  <a:lnTo>
                    <a:pt x="7104100" y="0"/>
                  </a:lnTo>
                  <a:lnTo>
                    <a:pt x="7104100" y="252373"/>
                  </a:lnTo>
                  <a:cubicBezTo>
                    <a:pt x="7104100" y="252373"/>
                    <a:pt x="7104100" y="252373"/>
                    <a:pt x="7104100" y="3254555"/>
                  </a:cubicBezTo>
                  <a:lnTo>
                    <a:pt x="7104100" y="3628571"/>
                  </a:lnTo>
                  <a:lnTo>
                    <a:pt x="7104100" y="3629420"/>
                  </a:lnTo>
                  <a:cubicBezTo>
                    <a:pt x="7104100" y="4408738"/>
                    <a:pt x="7104100" y="5367900"/>
                    <a:pt x="7104100" y="6548406"/>
                  </a:cubicBezTo>
                  <a:cubicBezTo>
                    <a:pt x="7104100" y="6555047"/>
                    <a:pt x="7104100" y="6561688"/>
                    <a:pt x="7104100" y="6574971"/>
                  </a:cubicBezTo>
                  <a:cubicBezTo>
                    <a:pt x="6931475" y="6515199"/>
                    <a:pt x="6778768" y="6395654"/>
                    <a:pt x="6639340" y="6276109"/>
                  </a:cubicBezTo>
                  <a:cubicBezTo>
                    <a:pt x="6340566" y="6030378"/>
                    <a:pt x="6061710" y="5758081"/>
                    <a:pt x="5736378" y="5558839"/>
                  </a:cubicBezTo>
                  <a:cubicBezTo>
                    <a:pt x="5404406" y="5359598"/>
                    <a:pt x="5006040" y="5233412"/>
                    <a:pt x="4634232" y="5319750"/>
                  </a:cubicBezTo>
                  <a:cubicBezTo>
                    <a:pt x="4269064" y="5412729"/>
                    <a:pt x="3976928" y="5685026"/>
                    <a:pt x="3678154" y="5904191"/>
                  </a:cubicBezTo>
                  <a:cubicBezTo>
                    <a:pt x="3319625" y="6163205"/>
                    <a:pt x="2921259" y="6369088"/>
                    <a:pt x="2489696" y="6442144"/>
                  </a:cubicBezTo>
                  <a:cubicBezTo>
                    <a:pt x="2051494" y="6515199"/>
                    <a:pt x="1586734" y="6442144"/>
                    <a:pt x="1228205" y="6189771"/>
                  </a:cubicBezTo>
                  <a:cubicBezTo>
                    <a:pt x="869675" y="5944040"/>
                    <a:pt x="637295" y="5499067"/>
                    <a:pt x="683771" y="5060736"/>
                  </a:cubicBezTo>
                  <a:cubicBezTo>
                    <a:pt x="743526" y="4569273"/>
                    <a:pt x="1135253" y="4130942"/>
                    <a:pt x="1075498" y="3639479"/>
                  </a:cubicBezTo>
                  <a:cubicBezTo>
                    <a:pt x="1015743" y="3214430"/>
                    <a:pt x="637295" y="2915568"/>
                    <a:pt x="384997" y="2563575"/>
                  </a:cubicBezTo>
                  <a:cubicBezTo>
                    <a:pt x="66304" y="2131885"/>
                    <a:pt x="-59845" y="1567367"/>
                    <a:pt x="26468" y="1036056"/>
                  </a:cubicBezTo>
                  <a:cubicBezTo>
                    <a:pt x="26468" y="664139"/>
                    <a:pt x="285406" y="278938"/>
                    <a:pt x="537704" y="0"/>
                  </a:cubicBezTo>
                  <a:close/>
                </a:path>
              </a:pathLst>
            </a:custGeom>
            <a:gradFill>
              <a:gsLst>
                <a:gs pos="0">
                  <a:srgbClr val="50ACF5"/>
                </a:gs>
                <a:gs pos="100000">
                  <a:srgbClr val="5B5FE4"/>
                </a:gs>
              </a:gsLst>
              <a:lin ang="0" scaled="0"/>
            </a:gradFill>
            <a:ln>
              <a:noFill/>
            </a:ln>
            <a:effectLst>
              <a:outerShdw blurRad="279400" dist="25400" dir="84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2C444BA6-C22A-4070-95CC-30B5AB4BFD6B}"/>
                </a:ext>
              </a:extLst>
            </p:cNvPr>
            <p:cNvSpPr>
              <a:spLocks/>
            </p:cNvSpPr>
            <p:nvPr userDrawn="1"/>
          </p:nvSpPr>
          <p:spPr bwMode="auto">
            <a:xfrm rot="1528689">
              <a:off x="8366267" y="466771"/>
              <a:ext cx="3610121" cy="3682792"/>
            </a:xfrm>
            <a:custGeom>
              <a:avLst/>
              <a:gdLst>
                <a:gd name="T0" fmla="*/ 1782 w 1827"/>
                <a:gd name="T1" fmla="*/ 887 h 1863"/>
                <a:gd name="T2" fmla="*/ 1593 w 1827"/>
                <a:gd name="T3" fmla="*/ 1374 h 1863"/>
                <a:gd name="T4" fmla="*/ 930 w 1827"/>
                <a:gd name="T5" fmla="*/ 1788 h 1863"/>
                <a:gd name="T6" fmla="*/ 254 w 1827"/>
                <a:gd name="T7" fmla="*/ 1636 h 1863"/>
                <a:gd name="T8" fmla="*/ 45 w 1827"/>
                <a:gd name="T9" fmla="*/ 929 h 1863"/>
                <a:gd name="T10" fmla="*/ 408 w 1827"/>
                <a:gd name="T11" fmla="*/ 232 h 1863"/>
                <a:gd name="T12" fmla="*/ 930 w 1827"/>
                <a:gd name="T13" fmla="*/ 51 h 1863"/>
                <a:gd name="T14" fmla="*/ 1440 w 1827"/>
                <a:gd name="T15" fmla="*/ 406 h 1863"/>
                <a:gd name="T16" fmla="*/ 1782 w 1827"/>
                <a:gd name="T17" fmla="*/ 887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7" h="1863">
                  <a:moveTo>
                    <a:pt x="1782" y="887"/>
                  </a:moveTo>
                  <a:cubicBezTo>
                    <a:pt x="1827" y="1047"/>
                    <a:pt x="1752" y="1204"/>
                    <a:pt x="1593" y="1374"/>
                  </a:cubicBezTo>
                  <a:cubicBezTo>
                    <a:pt x="1436" y="1539"/>
                    <a:pt x="1194" y="1716"/>
                    <a:pt x="930" y="1788"/>
                  </a:cubicBezTo>
                  <a:cubicBezTo>
                    <a:pt x="666" y="1863"/>
                    <a:pt x="421" y="1800"/>
                    <a:pt x="254" y="1636"/>
                  </a:cubicBezTo>
                  <a:cubicBezTo>
                    <a:pt x="88" y="1474"/>
                    <a:pt x="0" y="1211"/>
                    <a:pt x="45" y="929"/>
                  </a:cubicBezTo>
                  <a:cubicBezTo>
                    <a:pt x="87" y="646"/>
                    <a:pt x="243" y="393"/>
                    <a:pt x="408" y="232"/>
                  </a:cubicBezTo>
                  <a:cubicBezTo>
                    <a:pt x="576" y="70"/>
                    <a:pt x="752" y="0"/>
                    <a:pt x="930" y="51"/>
                  </a:cubicBezTo>
                  <a:cubicBezTo>
                    <a:pt x="1108" y="99"/>
                    <a:pt x="1280" y="251"/>
                    <a:pt x="1440" y="406"/>
                  </a:cubicBezTo>
                  <a:cubicBezTo>
                    <a:pt x="1596" y="566"/>
                    <a:pt x="1740" y="728"/>
                    <a:pt x="1782" y="887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2000"/>
                  </a:schemeClr>
                </a:gs>
                <a:gs pos="100000">
                  <a:srgbClr val="C4F3FB">
                    <a:alpha val="46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AEB02E2E-1CB4-4608-A69C-B53475EDF30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25572" y="481410"/>
              <a:ext cx="5476996" cy="56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자유형 15">
              <a:extLst>
                <a:ext uri="{FF2B5EF4-FFF2-40B4-BE49-F238E27FC236}">
                  <a16:creationId xmlns:a16="http://schemas.microsoft.com/office/drawing/2014/main" id="{0906932F-FB4A-4BF8-A254-3CC554A4785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703986 w 12192000"/>
                <a:gd name="connsiteY0" fmla="*/ 250372 h 6858000"/>
                <a:gd name="connsiteX1" fmla="*/ 268514 w 12192000"/>
                <a:gd name="connsiteY1" fmla="*/ 685844 h 6858000"/>
                <a:gd name="connsiteX2" fmla="*/ 268514 w 12192000"/>
                <a:gd name="connsiteY2" fmla="*/ 6172157 h 6858000"/>
                <a:gd name="connsiteX3" fmla="*/ 703986 w 12192000"/>
                <a:gd name="connsiteY3" fmla="*/ 6607629 h 6858000"/>
                <a:gd name="connsiteX4" fmla="*/ 11488014 w 12192000"/>
                <a:gd name="connsiteY4" fmla="*/ 6607629 h 6858000"/>
                <a:gd name="connsiteX5" fmla="*/ 11923486 w 12192000"/>
                <a:gd name="connsiteY5" fmla="*/ 6172157 h 6858000"/>
                <a:gd name="connsiteX6" fmla="*/ 11923486 w 12192000"/>
                <a:gd name="connsiteY6" fmla="*/ 685844 h 6858000"/>
                <a:gd name="connsiteX7" fmla="*/ 11488014 w 12192000"/>
                <a:gd name="connsiteY7" fmla="*/ 250372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703986" y="250372"/>
                  </a:moveTo>
                  <a:cubicBezTo>
                    <a:pt x="463481" y="250372"/>
                    <a:pt x="268514" y="445339"/>
                    <a:pt x="268514" y="685844"/>
                  </a:cubicBezTo>
                  <a:lnTo>
                    <a:pt x="268514" y="6172157"/>
                  </a:lnTo>
                  <a:cubicBezTo>
                    <a:pt x="268514" y="6412662"/>
                    <a:pt x="463481" y="6607629"/>
                    <a:pt x="703986" y="6607629"/>
                  </a:cubicBezTo>
                  <a:lnTo>
                    <a:pt x="11488014" y="6607629"/>
                  </a:lnTo>
                  <a:cubicBezTo>
                    <a:pt x="11728519" y="6607629"/>
                    <a:pt x="11923486" y="6412662"/>
                    <a:pt x="11923486" y="6172157"/>
                  </a:cubicBezTo>
                  <a:lnTo>
                    <a:pt x="11923486" y="685844"/>
                  </a:lnTo>
                  <a:cubicBezTo>
                    <a:pt x="11923486" y="445339"/>
                    <a:pt x="11728519" y="250372"/>
                    <a:pt x="11488014" y="250372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rgbClr val="50ACF5"/>
                </a:gs>
                <a:gs pos="100000">
                  <a:srgbClr val="5B5FE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Rectangle 4"/>
          <p:cNvSpPr/>
          <p:nvPr/>
        </p:nvSpPr>
        <p:spPr>
          <a:xfrm>
            <a:off x="1047750" y="952500"/>
            <a:ext cx="2286000" cy="4191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224758" y="1076325"/>
            <a:ext cx="179383" cy="171450"/>
            <a:chOff x="1224758" y="1076325"/>
            <a:chExt cx="179383" cy="171450"/>
          </a:xfrm>
        </p:grpSpPr>
        <p:sp>
          <p:nvSpPr>
            <p:cNvPr id="5" name="Freeform 5"/>
            <p:cNvSpPr/>
            <p:nvPr/>
          </p:nvSpPr>
          <p:spPr>
            <a:xfrm>
              <a:off x="1224758" y="1076325"/>
              <a:ext cx="179383" cy="171450"/>
            </a:xfrm>
            <a:custGeom>
              <a:avLst/>
              <a:gdLst/>
              <a:ahLst/>
              <a:cxnLst/>
              <a:rect l="l" t="t" r="r" b="b"/>
              <a:pathLst>
                <a:path w="179383" h="171450">
                  <a:moveTo>
                    <a:pt x="89692" y="0"/>
                  </a:moveTo>
                  <a:cubicBezTo>
                    <a:pt x="111940" y="19684"/>
                    <a:pt x="140979" y="29933"/>
                    <a:pt x="170654" y="28575"/>
                  </a:cubicBezTo>
                  <a:cubicBezTo>
                    <a:pt x="179383" y="58269"/>
                    <a:pt x="175697" y="90235"/>
                    <a:pt x="160438" y="117163"/>
                  </a:cubicBezTo>
                  <a:cubicBezTo>
                    <a:pt x="145178" y="144091"/>
                    <a:pt x="119651" y="163679"/>
                    <a:pt x="89692" y="171450"/>
                  </a:cubicBezTo>
                  <a:cubicBezTo>
                    <a:pt x="59732" y="163679"/>
                    <a:pt x="34205" y="144091"/>
                    <a:pt x="18946" y="117163"/>
                  </a:cubicBezTo>
                  <a:cubicBezTo>
                    <a:pt x="3686" y="90235"/>
                    <a:pt x="0" y="58269"/>
                    <a:pt x="8729" y="28575"/>
                  </a:cubicBezTo>
                  <a:cubicBezTo>
                    <a:pt x="38405" y="29933"/>
                    <a:pt x="67443" y="19684"/>
                    <a:pt x="89692" y="0"/>
                  </a:cubicBezTo>
                </a:path>
              </a:pathLst>
            </a:custGeom>
            <a:noFill/>
            <a:ln w="19050">
              <a:solidFill>
                <a:srgbClr val="FFB8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304925" y="1143000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14786"/>
                    <a:pt x="4264" y="19050"/>
                    <a:pt x="9525" y="19050"/>
                  </a:cubicBezTo>
                  <a:cubicBezTo>
                    <a:pt x="14786" y="19050"/>
                    <a:pt x="19050" y="14786"/>
                    <a:pt x="19050" y="9525"/>
                  </a:cubicBezTo>
                  <a:cubicBezTo>
                    <a:pt x="19050" y="4264"/>
                    <a:pt x="14786" y="0"/>
                    <a:pt x="9525" y="0"/>
                  </a:cubicBezTo>
                  <a:cubicBezTo>
                    <a:pt x="4264" y="0"/>
                    <a:pt x="0" y="4264"/>
                    <a:pt x="0" y="9525"/>
                  </a:cubicBezTo>
                </a:path>
              </a:pathLst>
            </a:custGeom>
            <a:noFill/>
            <a:ln w="19050">
              <a:solidFill>
                <a:srgbClr val="FFB8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314450" y="1162050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19050">
              <a:solidFill>
                <a:srgbClr val="FFB8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555242" y="1082992"/>
            <a:ext cx="1788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01 · LECTURE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801178"/>
            <a:ext cx="4088606" cy="143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40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Introduction to</a:t>
            </a:r>
            <a:br/>
            <a:r>
              <a:rPr lang="en-US" sz="40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Cybersecurity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47750" y="323850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37844" y="3411149"/>
            <a:ext cx="4233531" cy="600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Fundamental Concepts, Principles</a:t>
            </a:r>
            <a:r>
              <a:rPr lang="en-US" sz="19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, </a:t>
            </a:r>
            <a:br>
              <a:rPr lang="en-US" sz="1950" b="1">
                <a:solidFill>
                  <a:srgbClr val="1E293B"/>
                </a:solidFill>
                <a:latin typeface="Arial"/>
                <a:ea typeface="Arial"/>
                <a:cs typeface="Arial"/>
              </a:rPr>
            </a:br>
            <a:r>
              <a:rPr lang="en-US" sz="19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9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Threat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9368" y="4089082"/>
            <a:ext cx="4600618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An introductory course on securing digital </a:t>
            </a:r>
            <a:r>
              <a:rPr lang="en-US"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assets </a:t>
            </a:r>
            <a:br>
              <a:rPr lang="en-US" sz="1650">
                <a:solidFill>
                  <a:srgbClr val="64748B"/>
                </a:solidFill>
                <a:latin typeface="Arial"/>
                <a:ea typeface="Arial"/>
                <a:cs typeface="Arial"/>
              </a:rPr>
            </a:br>
            <a:r>
              <a:rPr lang="en-US"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in </a:t>
            </a:r>
            <a:r>
              <a:rPr lang="en-US" sz="16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adversarial environments.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5143500"/>
            <a:ext cx="4286250" cy="914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273175" y="5468937"/>
            <a:ext cx="349249" cy="244475"/>
            <a:chOff x="1273175" y="5468937"/>
            <a:chExt cx="349249" cy="244475"/>
          </a:xfrm>
        </p:grpSpPr>
        <p:sp>
          <p:nvSpPr>
            <p:cNvPr id="15" name="Freeform 15"/>
            <p:cNvSpPr/>
            <p:nvPr/>
          </p:nvSpPr>
          <p:spPr>
            <a:xfrm>
              <a:off x="1273175" y="5468937"/>
              <a:ext cx="349249" cy="174625"/>
            </a:xfrm>
            <a:custGeom>
              <a:avLst/>
              <a:gdLst/>
              <a:ahLst/>
              <a:cxnLst/>
              <a:rect l="l" t="t" r="r" b="b"/>
              <a:pathLst>
                <a:path w="349249" h="174625">
                  <a:moveTo>
                    <a:pt x="349249" y="69850"/>
                  </a:moveTo>
                  <a:lnTo>
                    <a:pt x="174625" y="0"/>
                  </a:lnTo>
                  <a:lnTo>
                    <a:pt x="0" y="69850"/>
                  </a:lnTo>
                  <a:lnTo>
                    <a:pt x="174625" y="139700"/>
                  </a:lnTo>
                  <a:lnTo>
                    <a:pt x="349249" y="69850"/>
                  </a:lnTo>
                  <a:lnTo>
                    <a:pt x="349249" y="174625"/>
                  </a:lnTo>
                </a:path>
              </a:pathLst>
            </a:custGeom>
            <a:noFill/>
            <a:ln w="34925">
              <a:solidFill>
                <a:srgbClr val="2B6CB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43025" y="5566727"/>
              <a:ext cx="209550" cy="146685"/>
            </a:xfrm>
            <a:custGeom>
              <a:avLst/>
              <a:gdLst/>
              <a:ahLst/>
              <a:cxnLst/>
              <a:rect l="l" t="t" r="r" b="b"/>
              <a:pathLst>
                <a:path w="209550" h="146685">
                  <a:moveTo>
                    <a:pt x="0" y="0"/>
                  </a:moveTo>
                  <a:lnTo>
                    <a:pt x="0" y="94297"/>
                  </a:lnTo>
                  <a:cubicBezTo>
                    <a:pt x="0" y="123230"/>
                    <a:pt x="46909" y="146685"/>
                    <a:pt x="104775" y="146685"/>
                  </a:cubicBezTo>
                  <a:cubicBezTo>
                    <a:pt x="162640" y="146685"/>
                    <a:pt x="209550" y="123230"/>
                    <a:pt x="209550" y="94297"/>
                  </a:cubicBezTo>
                  <a:lnTo>
                    <a:pt x="209550" y="0"/>
                  </a:lnTo>
                </a:path>
              </a:pathLst>
            </a:custGeom>
            <a:noFill/>
            <a:ln w="34925">
              <a:solidFill>
                <a:srgbClr val="2B6CB0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801368" y="5365432"/>
            <a:ext cx="25687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2892" y="5702618"/>
            <a:ext cx="32298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Department of Information Security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161639-C510-4704-AF78-F5917F612A4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C57719D-6710-433B-A71C-9E61BB0228DD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0" name="자유형 14">
                <a:extLst>
                  <a:ext uri="{FF2B5EF4-FFF2-40B4-BE49-F238E27FC236}">
                    <a16:creationId xmlns:a16="http://schemas.microsoft.com/office/drawing/2014/main" id="{47B60CCD-65E0-4C7B-B201-68549B5FB7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087900" y="0"/>
                <a:ext cx="7104100" cy="6574971"/>
              </a:xfrm>
              <a:custGeom>
                <a:avLst/>
                <a:gdLst>
                  <a:gd name="connsiteX0" fmla="*/ 537704 w 7104100"/>
                  <a:gd name="connsiteY0" fmla="*/ 0 h 6574971"/>
                  <a:gd name="connsiteX1" fmla="*/ 3201464 w 7104100"/>
                  <a:gd name="connsiteY1" fmla="*/ 0 h 6574971"/>
                  <a:gd name="connsiteX2" fmla="*/ 3475529 w 7104100"/>
                  <a:gd name="connsiteY2" fmla="*/ 0 h 6574971"/>
                  <a:gd name="connsiteX3" fmla="*/ 3548500 w 7104100"/>
                  <a:gd name="connsiteY3" fmla="*/ 0 h 6574971"/>
                  <a:gd name="connsiteX4" fmla="*/ 6851802 w 7104100"/>
                  <a:gd name="connsiteY4" fmla="*/ 0 h 6574971"/>
                  <a:gd name="connsiteX5" fmla="*/ 7104100 w 7104100"/>
                  <a:gd name="connsiteY5" fmla="*/ 0 h 6574971"/>
                  <a:gd name="connsiteX6" fmla="*/ 7104100 w 7104100"/>
                  <a:gd name="connsiteY6" fmla="*/ 252373 h 6574971"/>
                  <a:gd name="connsiteX7" fmla="*/ 7104100 w 7104100"/>
                  <a:gd name="connsiteY7" fmla="*/ 3254555 h 6574971"/>
                  <a:gd name="connsiteX8" fmla="*/ 7104100 w 7104100"/>
                  <a:gd name="connsiteY8" fmla="*/ 3628571 h 6574971"/>
                  <a:gd name="connsiteX9" fmla="*/ 7104100 w 7104100"/>
                  <a:gd name="connsiteY9" fmla="*/ 3629420 h 6574971"/>
                  <a:gd name="connsiteX10" fmla="*/ 7104100 w 7104100"/>
                  <a:gd name="connsiteY10" fmla="*/ 6548406 h 6574971"/>
                  <a:gd name="connsiteX11" fmla="*/ 7104100 w 7104100"/>
                  <a:gd name="connsiteY11" fmla="*/ 6574971 h 6574971"/>
                  <a:gd name="connsiteX12" fmla="*/ 6639340 w 7104100"/>
                  <a:gd name="connsiteY12" fmla="*/ 6276109 h 6574971"/>
                  <a:gd name="connsiteX13" fmla="*/ 5736378 w 7104100"/>
                  <a:gd name="connsiteY13" fmla="*/ 5558839 h 6574971"/>
                  <a:gd name="connsiteX14" fmla="*/ 4634232 w 7104100"/>
                  <a:gd name="connsiteY14" fmla="*/ 5319750 h 6574971"/>
                  <a:gd name="connsiteX15" fmla="*/ 3678154 w 7104100"/>
                  <a:gd name="connsiteY15" fmla="*/ 5904191 h 6574971"/>
                  <a:gd name="connsiteX16" fmla="*/ 2489696 w 7104100"/>
                  <a:gd name="connsiteY16" fmla="*/ 6442144 h 6574971"/>
                  <a:gd name="connsiteX17" fmla="*/ 1228205 w 7104100"/>
                  <a:gd name="connsiteY17" fmla="*/ 6189771 h 6574971"/>
                  <a:gd name="connsiteX18" fmla="*/ 683771 w 7104100"/>
                  <a:gd name="connsiteY18" fmla="*/ 5060736 h 6574971"/>
                  <a:gd name="connsiteX19" fmla="*/ 1075498 w 7104100"/>
                  <a:gd name="connsiteY19" fmla="*/ 3639479 h 6574971"/>
                  <a:gd name="connsiteX20" fmla="*/ 384997 w 7104100"/>
                  <a:gd name="connsiteY20" fmla="*/ 2563575 h 6574971"/>
                  <a:gd name="connsiteX21" fmla="*/ 26468 w 7104100"/>
                  <a:gd name="connsiteY21" fmla="*/ 1036056 h 6574971"/>
                  <a:gd name="connsiteX22" fmla="*/ 537704 w 7104100"/>
                  <a:gd name="connsiteY22" fmla="*/ 0 h 657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04100" h="6574971">
                    <a:moveTo>
                      <a:pt x="537704" y="0"/>
                    </a:moveTo>
                    <a:cubicBezTo>
                      <a:pt x="537704" y="0"/>
                      <a:pt x="537704" y="0"/>
                      <a:pt x="3201464" y="0"/>
                    </a:cubicBezTo>
                    <a:lnTo>
                      <a:pt x="3475529" y="0"/>
                    </a:lnTo>
                    <a:lnTo>
                      <a:pt x="3548500" y="0"/>
                    </a:lnTo>
                    <a:cubicBezTo>
                      <a:pt x="4391523" y="0"/>
                      <a:pt x="5470593" y="0"/>
                      <a:pt x="6851802" y="0"/>
                    </a:cubicBezTo>
                    <a:lnTo>
                      <a:pt x="7104100" y="0"/>
                    </a:lnTo>
                    <a:lnTo>
                      <a:pt x="7104100" y="252373"/>
                    </a:lnTo>
                    <a:cubicBezTo>
                      <a:pt x="7104100" y="252373"/>
                      <a:pt x="7104100" y="252373"/>
                      <a:pt x="7104100" y="3254555"/>
                    </a:cubicBezTo>
                    <a:lnTo>
                      <a:pt x="7104100" y="3628571"/>
                    </a:lnTo>
                    <a:lnTo>
                      <a:pt x="7104100" y="3629420"/>
                    </a:lnTo>
                    <a:cubicBezTo>
                      <a:pt x="7104100" y="4408738"/>
                      <a:pt x="7104100" y="5367900"/>
                      <a:pt x="7104100" y="6548406"/>
                    </a:cubicBezTo>
                    <a:cubicBezTo>
                      <a:pt x="7104100" y="6555047"/>
                      <a:pt x="7104100" y="6561688"/>
                      <a:pt x="7104100" y="6574971"/>
                    </a:cubicBezTo>
                    <a:cubicBezTo>
                      <a:pt x="6931475" y="6515199"/>
                      <a:pt x="6778768" y="6395654"/>
                      <a:pt x="6639340" y="6276109"/>
                    </a:cubicBezTo>
                    <a:cubicBezTo>
                      <a:pt x="6340566" y="6030378"/>
                      <a:pt x="6061710" y="5758081"/>
                      <a:pt x="5736378" y="5558839"/>
                    </a:cubicBezTo>
                    <a:cubicBezTo>
                      <a:pt x="5404406" y="5359598"/>
                      <a:pt x="5006040" y="5233412"/>
                      <a:pt x="4634232" y="5319750"/>
                    </a:cubicBezTo>
                    <a:cubicBezTo>
                      <a:pt x="4269064" y="5412729"/>
                      <a:pt x="3976928" y="5685026"/>
                      <a:pt x="3678154" y="5904191"/>
                    </a:cubicBezTo>
                    <a:cubicBezTo>
                      <a:pt x="3319625" y="6163205"/>
                      <a:pt x="2921259" y="6369088"/>
                      <a:pt x="2489696" y="6442144"/>
                    </a:cubicBezTo>
                    <a:cubicBezTo>
                      <a:pt x="2051494" y="6515199"/>
                      <a:pt x="1586734" y="6442144"/>
                      <a:pt x="1228205" y="6189771"/>
                    </a:cubicBezTo>
                    <a:cubicBezTo>
                      <a:pt x="869675" y="5944040"/>
                      <a:pt x="637295" y="5499067"/>
                      <a:pt x="683771" y="5060736"/>
                    </a:cubicBezTo>
                    <a:cubicBezTo>
                      <a:pt x="743526" y="4569273"/>
                      <a:pt x="1135253" y="4130942"/>
                      <a:pt x="1075498" y="3639479"/>
                    </a:cubicBezTo>
                    <a:cubicBezTo>
                      <a:pt x="1015743" y="3214430"/>
                      <a:pt x="637295" y="2915568"/>
                      <a:pt x="384997" y="2563575"/>
                    </a:cubicBezTo>
                    <a:cubicBezTo>
                      <a:pt x="66304" y="2131885"/>
                      <a:pt x="-59845" y="1567367"/>
                      <a:pt x="26468" y="1036056"/>
                    </a:cubicBezTo>
                    <a:cubicBezTo>
                      <a:pt x="26468" y="664139"/>
                      <a:pt x="285406" y="278938"/>
                      <a:pt x="5377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  <a:effectLst>
                <a:outerShdw blurRad="279400" dist="25400" dir="84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8BB94699-499A-46CF-8227-0C02CEEAC12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rot="1528689">
                <a:off x="8366267" y="466771"/>
                <a:ext cx="3610121" cy="3682792"/>
              </a:xfrm>
              <a:custGeom>
                <a:avLst/>
                <a:gdLst>
                  <a:gd name="T0" fmla="*/ 1782 w 1827"/>
                  <a:gd name="T1" fmla="*/ 887 h 1863"/>
                  <a:gd name="T2" fmla="*/ 1593 w 1827"/>
                  <a:gd name="T3" fmla="*/ 1374 h 1863"/>
                  <a:gd name="T4" fmla="*/ 930 w 1827"/>
                  <a:gd name="T5" fmla="*/ 1788 h 1863"/>
                  <a:gd name="T6" fmla="*/ 254 w 1827"/>
                  <a:gd name="T7" fmla="*/ 1636 h 1863"/>
                  <a:gd name="T8" fmla="*/ 45 w 1827"/>
                  <a:gd name="T9" fmla="*/ 929 h 1863"/>
                  <a:gd name="T10" fmla="*/ 408 w 1827"/>
                  <a:gd name="T11" fmla="*/ 232 h 1863"/>
                  <a:gd name="T12" fmla="*/ 930 w 1827"/>
                  <a:gd name="T13" fmla="*/ 51 h 1863"/>
                  <a:gd name="T14" fmla="*/ 1440 w 1827"/>
                  <a:gd name="T15" fmla="*/ 406 h 1863"/>
                  <a:gd name="T16" fmla="*/ 1782 w 1827"/>
                  <a:gd name="T17" fmla="*/ 887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7" h="1863">
                    <a:moveTo>
                      <a:pt x="1782" y="887"/>
                    </a:moveTo>
                    <a:cubicBezTo>
                      <a:pt x="1827" y="1047"/>
                      <a:pt x="1752" y="1204"/>
                      <a:pt x="1593" y="1374"/>
                    </a:cubicBezTo>
                    <a:cubicBezTo>
                      <a:pt x="1436" y="1539"/>
                      <a:pt x="1194" y="1716"/>
                      <a:pt x="930" y="1788"/>
                    </a:cubicBezTo>
                    <a:cubicBezTo>
                      <a:pt x="666" y="1863"/>
                      <a:pt x="421" y="1800"/>
                      <a:pt x="254" y="1636"/>
                    </a:cubicBezTo>
                    <a:cubicBezTo>
                      <a:pt x="88" y="1474"/>
                      <a:pt x="0" y="1211"/>
                      <a:pt x="45" y="929"/>
                    </a:cubicBezTo>
                    <a:cubicBezTo>
                      <a:pt x="87" y="646"/>
                      <a:pt x="243" y="393"/>
                      <a:pt x="408" y="232"/>
                    </a:cubicBezTo>
                    <a:cubicBezTo>
                      <a:pt x="576" y="70"/>
                      <a:pt x="752" y="0"/>
                      <a:pt x="930" y="51"/>
                    </a:cubicBezTo>
                    <a:cubicBezTo>
                      <a:pt x="1108" y="99"/>
                      <a:pt x="1280" y="251"/>
                      <a:pt x="1440" y="406"/>
                    </a:cubicBezTo>
                    <a:cubicBezTo>
                      <a:pt x="1596" y="566"/>
                      <a:pt x="1740" y="728"/>
                      <a:pt x="1782" y="88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C4F3FB">
                      <a:alpha val="46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3" name="자유형 15">
                <a:extLst>
                  <a:ext uri="{FF2B5EF4-FFF2-40B4-BE49-F238E27FC236}">
                    <a16:creationId xmlns:a16="http://schemas.microsoft.com/office/drawing/2014/main" id="{23CF4A91-8399-4136-80FB-29763963D386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703986 w 12192000"/>
                  <a:gd name="connsiteY0" fmla="*/ 250372 h 6858000"/>
                  <a:gd name="connsiteX1" fmla="*/ 268514 w 12192000"/>
                  <a:gd name="connsiteY1" fmla="*/ 685844 h 6858000"/>
                  <a:gd name="connsiteX2" fmla="*/ 268514 w 12192000"/>
                  <a:gd name="connsiteY2" fmla="*/ 6172157 h 6858000"/>
                  <a:gd name="connsiteX3" fmla="*/ 703986 w 12192000"/>
                  <a:gd name="connsiteY3" fmla="*/ 6607629 h 6858000"/>
                  <a:gd name="connsiteX4" fmla="*/ 11488014 w 12192000"/>
                  <a:gd name="connsiteY4" fmla="*/ 6607629 h 6858000"/>
                  <a:gd name="connsiteX5" fmla="*/ 11923486 w 12192000"/>
                  <a:gd name="connsiteY5" fmla="*/ 6172157 h 6858000"/>
                  <a:gd name="connsiteX6" fmla="*/ 11923486 w 12192000"/>
                  <a:gd name="connsiteY6" fmla="*/ 685844 h 6858000"/>
                  <a:gd name="connsiteX7" fmla="*/ 11488014 w 12192000"/>
                  <a:gd name="connsiteY7" fmla="*/ 250372 h 6858000"/>
                  <a:gd name="connsiteX8" fmla="*/ 0 w 12192000"/>
                  <a:gd name="connsiteY8" fmla="*/ 0 h 6858000"/>
                  <a:gd name="connsiteX9" fmla="*/ 12192000 w 12192000"/>
                  <a:gd name="connsiteY9" fmla="*/ 0 h 6858000"/>
                  <a:gd name="connsiteX10" fmla="*/ 12192000 w 12192000"/>
                  <a:gd name="connsiteY10" fmla="*/ 6858000 h 6858000"/>
                  <a:gd name="connsiteX11" fmla="*/ 0 w 12192000"/>
                  <a:gd name="connsiteY11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92000" h="6858000">
                    <a:moveTo>
                      <a:pt x="703986" y="250372"/>
                    </a:moveTo>
                    <a:cubicBezTo>
                      <a:pt x="463481" y="250372"/>
                      <a:pt x="268514" y="445339"/>
                      <a:pt x="268514" y="685844"/>
                    </a:cubicBezTo>
                    <a:lnTo>
                      <a:pt x="268514" y="6172157"/>
                    </a:lnTo>
                    <a:cubicBezTo>
                      <a:pt x="268514" y="6412662"/>
                      <a:pt x="463481" y="6607629"/>
                      <a:pt x="703986" y="6607629"/>
                    </a:cubicBezTo>
                    <a:lnTo>
                      <a:pt x="11488014" y="6607629"/>
                    </a:lnTo>
                    <a:cubicBezTo>
                      <a:pt x="11728519" y="6607629"/>
                      <a:pt x="11923486" y="6412662"/>
                      <a:pt x="11923486" y="6172157"/>
                    </a:cubicBezTo>
                    <a:lnTo>
                      <a:pt x="11923486" y="685844"/>
                    </a:lnTo>
                    <a:cubicBezTo>
                      <a:pt x="11923486" y="445339"/>
                      <a:pt x="11728519" y="250372"/>
                      <a:pt x="11488014" y="250372"/>
                    </a:cubicBezTo>
                    <a:close/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44" name="Picture 4">
              <a:extLst>
                <a:ext uri="{FF2B5EF4-FFF2-40B4-BE49-F238E27FC236}">
                  <a16:creationId xmlns:a16="http://schemas.microsoft.com/office/drawing/2014/main" id="{F2085CD9-99F8-416D-B53D-FD3CFBD47F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60572" y="677967"/>
              <a:ext cx="3724924" cy="3565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4"/>
          <p:cNvSpPr/>
          <p:nvPr/>
        </p:nvSpPr>
        <p:spPr>
          <a:xfrm>
            <a:off x="762000" y="762000"/>
            <a:ext cx="1524000" cy="3619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75756" y="870585"/>
            <a:ext cx="10964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UNIT SECTION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27821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spc="15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4393073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7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Course Overview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632224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Introduction to Cybersecurity Course </a:t>
            </a:r>
            <a:r>
              <a:rPr lang="en-US" sz="180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Structure and 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92981" y="4821769"/>
              <a:ext cx="252413" cy="197113"/>
              <a:chOff x="992981" y="4821769"/>
              <a:chExt cx="252413" cy="1971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92981" y="4997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2981" y="4821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981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14425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35869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83030" y="4829175"/>
              <a:ext cx="1375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About Course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5223510"/>
              <a:ext cx="2092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Core mission and scope</a:t>
              </a:r>
              <a:br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of cybersecurity discipline.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761978" y="4823222"/>
              <a:ext cx="222648" cy="195659"/>
              <a:chOff x="3761978" y="4823222"/>
              <a:chExt cx="222648" cy="19565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761978" y="4823222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61978" y="4904185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761978" y="4985147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63182" y="4843463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63182" y="4924425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63182" y="5005388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145280" y="4829175"/>
              <a:ext cx="17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Contents &amp;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8654" y="5223510"/>
              <a:ext cx="20772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5 core curriculum areas and</a:t>
              </a:r>
              <a:br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course learning objectives.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22906" y="4802981"/>
              <a:ext cx="232012" cy="241404"/>
              <a:chOff x="6522906" y="4802981"/>
              <a:chExt cx="232012" cy="24140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557963" y="480298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3"/>
                    </a:moveTo>
                    <a:cubicBezTo>
                      <a:pt x="0" y="125677"/>
                      <a:pt x="36248" y="161925"/>
                      <a:pt x="80963" y="161925"/>
                    </a:cubicBezTo>
                    <a:cubicBezTo>
                      <a:pt x="125677" y="161925"/>
                      <a:pt x="161925" y="125677"/>
                      <a:pt x="161925" y="80963"/>
                    </a:cubicBezTo>
                    <a:cubicBezTo>
                      <a:pt x="161925" y="36248"/>
                      <a:pt x="125677" y="0"/>
                      <a:pt x="80963" y="0"/>
                    </a:cubicBezTo>
                    <a:cubicBezTo>
                      <a:pt x="36248" y="0"/>
                      <a:pt x="0" y="36248"/>
                      <a:pt x="0" y="80963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38925" y="4924425"/>
                <a:ext cx="115993" cy="119960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60">
                    <a:moveTo>
                      <a:pt x="0" y="40481"/>
                    </a:moveTo>
                    <a:lnTo>
                      <a:pt x="45879" y="119960"/>
                    </a:lnTo>
                    <a:lnTo>
                      <a:pt x="67442" y="76334"/>
                    </a:lnTo>
                    <a:lnTo>
                      <a:pt x="115993" y="79465"/>
                    </a:lnTo>
                    <a:lnTo>
                      <a:pt x="7011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22906" y="4924425"/>
                <a:ext cx="115993" cy="119946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46">
                    <a:moveTo>
                      <a:pt x="45879" y="0"/>
                    </a:moveTo>
                    <a:lnTo>
                      <a:pt x="0" y="79478"/>
                    </a:lnTo>
                    <a:lnTo>
                      <a:pt x="48551" y="76334"/>
                    </a:lnTo>
                    <a:lnTo>
                      <a:pt x="70114" y="119946"/>
                    </a:lnTo>
                    <a:lnTo>
                      <a:pt x="115993" y="40481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07530" y="4829175"/>
              <a:ext cx="123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Assessment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5223510"/>
              <a:ext cx="18638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Grading criteria and key</a:t>
              </a:r>
              <a:br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course reference books.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3220723" cy="874204"/>
            <a:chOff x="462534" y="375285"/>
            <a:chExt cx="322072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2207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About the Course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26129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 is about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76250" y="1428750"/>
            <a:ext cx="8801100" cy="1143000"/>
            <a:chOff x="476250" y="1428750"/>
            <a:chExt cx="8801100" cy="114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8801100" cy="1143000"/>
            </a:xfrm>
            <a:prstGeom prst="roundRect">
              <a:avLst>
                <a:gd name="adj" fmla="val 15000"/>
              </a:avLst>
            </a:prstGeom>
            <a:solidFill>
              <a:srgbClr val="2B6CB0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11" name="Group 11"/>
            <p:cNvGrpSpPr/>
            <p:nvPr/>
          </p:nvGrpSpPr>
          <p:grpSpPr>
            <a:xfrm>
              <a:off x="823521" y="1785938"/>
              <a:ext cx="448458" cy="428625"/>
              <a:chOff x="823521" y="1785938"/>
              <a:chExt cx="448458" cy="4286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23521" y="1785938"/>
                <a:ext cx="448458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48458" h="428625">
                    <a:moveTo>
                      <a:pt x="224229" y="0"/>
                    </a:moveTo>
                    <a:cubicBezTo>
                      <a:pt x="279851" y="49210"/>
                      <a:pt x="352447" y="74832"/>
                      <a:pt x="426635" y="71438"/>
                    </a:cubicBezTo>
                    <a:cubicBezTo>
                      <a:pt x="448458" y="145674"/>
                      <a:pt x="439242" y="225586"/>
                      <a:pt x="401094" y="292906"/>
                    </a:cubicBezTo>
                    <a:cubicBezTo>
                      <a:pt x="362946" y="360226"/>
                      <a:pt x="299128" y="409198"/>
                      <a:pt x="224229" y="428625"/>
                    </a:cubicBezTo>
                    <a:cubicBezTo>
                      <a:pt x="149330" y="409198"/>
                      <a:pt x="85512" y="360226"/>
                      <a:pt x="47364" y="292906"/>
                    </a:cubicBezTo>
                    <a:cubicBezTo>
                      <a:pt x="9216" y="225586"/>
                      <a:pt x="0" y="145674"/>
                      <a:pt x="21823" y="71438"/>
                    </a:cubicBezTo>
                    <a:cubicBezTo>
                      <a:pt x="96011" y="74832"/>
                      <a:pt x="168607" y="49210"/>
                      <a:pt x="224229" y="0"/>
                    </a:cubicBezTo>
                  </a:path>
                </a:pathLst>
              </a:custGeom>
              <a:noFill/>
              <a:ln w="47625">
                <a:solidFill>
                  <a:srgbClr val="FFB80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3938" y="1952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47625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2000250"/>
                <a:ext cx="9525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531">
                    <a:moveTo>
                      <a:pt x="0" y="0"/>
                    </a:moveTo>
                    <a:lnTo>
                      <a:pt x="0" y="59531"/>
                    </a:lnTo>
                  </a:path>
                </a:pathLst>
              </a:custGeom>
              <a:noFill/>
              <a:ln w="47625">
                <a:solidFill>
                  <a:srgbClr val="FFB8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13332" y="1697355"/>
              <a:ext cx="5690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protecting digital assets and systems,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3332" y="2078355"/>
              <a:ext cx="53792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even in the presence of adversaries.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6250" y="2809875"/>
            <a:ext cx="8801100" cy="3714750"/>
            <a:chOff x="476250" y="2809875"/>
            <a:chExt cx="8801100" cy="3714750"/>
          </a:xfrm>
        </p:grpSpPr>
        <p:sp>
          <p:nvSpPr>
            <p:cNvPr id="15" name="Rectangle 15"/>
            <p:cNvSpPr/>
            <p:nvPr/>
          </p:nvSpPr>
          <p:spPr>
            <a:xfrm>
              <a:off x="476250" y="2809875"/>
              <a:ext cx="2743200" cy="371475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66750" y="3038475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38200" y="3195638"/>
              <a:ext cx="228600" cy="257175"/>
              <a:chOff x="838200" y="3195638"/>
              <a:chExt cx="228600" cy="2571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3195638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32385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33242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56844" y="3818572"/>
              <a:ext cx="18826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Digital Assets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8368" y="4298632"/>
              <a:ext cx="2363724" cy="1351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Data, files, records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Intellectual property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Personal data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Critical business info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6750" y="5905500"/>
              <a:ext cx="23622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4192" y="6016942"/>
              <a:ext cx="1981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Target of Protection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505200" y="2809875"/>
              <a:ext cx="2743200" cy="371475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3695700" y="3038475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852862" y="3209925"/>
              <a:ext cx="257175" cy="228600"/>
              <a:chOff x="3852862" y="3209925"/>
              <a:chExt cx="257175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852862" y="3209925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852862" y="3324225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910012" y="3267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910012" y="3381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685794" y="3818572"/>
              <a:ext cx="2089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Digital Systems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87318" y="4298632"/>
              <a:ext cx="2206562" cy="1351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Computer HW &amp; OS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Networks &amp; routers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Cloud services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Web applications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95700" y="5905500"/>
              <a:ext cx="23622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03142" y="6016942"/>
              <a:ext cx="2163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Operating Environment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34150" y="2809875"/>
              <a:ext cx="2743200" cy="371475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6724650" y="3038475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866309" y="3190891"/>
              <a:ext cx="288171" cy="247577"/>
              <a:chOff x="6866309" y="3190891"/>
              <a:chExt cx="288171" cy="24757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010400" y="3281362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66309" y="3190891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10400" y="3381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14744" y="3818572"/>
              <a:ext cx="16267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Adversaries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6268" y="4298632"/>
              <a:ext cx="2405634" cy="1351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Malicious hackers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Hostile intruders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Insider threat actors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 campaigns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24650" y="5905500"/>
              <a:ext cx="23622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32092" y="6016942"/>
              <a:ext cx="1342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Threat Source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59740" cy="1140904"/>
            <a:chOff x="462534" y="375285"/>
            <a:chExt cx="5159740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428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Contents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15440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In this course, you will explore five major areas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of cybersecurity (Part 1):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76250" y="1619250"/>
            <a:ext cx="8801100" cy="4714875"/>
            <a:chOff x="476250" y="1619250"/>
            <a:chExt cx="8801100" cy="4714875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666750" y="1809750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6795" y="19802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521619" y="1969297"/>
              <a:ext cx="271459" cy="271459"/>
              <a:chOff x="1521619" y="1969297"/>
              <a:chExt cx="271459" cy="27145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521619" y="1969297"/>
                <a:ext cx="271459" cy="271459"/>
              </a:xfrm>
              <a:custGeom>
                <a:avLst/>
                <a:gdLst/>
                <a:ahLst/>
                <a:cxnLst/>
                <a:rect l="l" t="t" r="r" b="b"/>
                <a:pathLst>
                  <a:path w="271459" h="271459">
                    <a:moveTo>
                      <a:pt x="204426" y="12711"/>
                    </a:moveTo>
                    <a:lnTo>
                      <a:pt x="258748" y="67033"/>
                    </a:lnTo>
                    <a:cubicBezTo>
                      <a:pt x="266887" y="75170"/>
                      <a:pt x="271459" y="86207"/>
                      <a:pt x="271459" y="97716"/>
                    </a:cubicBezTo>
                    <a:cubicBezTo>
                      <a:pt x="271459" y="109224"/>
                      <a:pt x="266887" y="120261"/>
                      <a:pt x="258748" y="128399"/>
                    </a:cubicBezTo>
                    <a:lnTo>
                      <a:pt x="218889" y="168258"/>
                    </a:lnTo>
                    <a:cubicBezTo>
                      <a:pt x="210752" y="176397"/>
                      <a:pt x="199715" y="180969"/>
                      <a:pt x="188206" y="180969"/>
                    </a:cubicBezTo>
                    <a:cubicBezTo>
                      <a:pt x="176698" y="180969"/>
                      <a:pt x="165660" y="176397"/>
                      <a:pt x="157523" y="168258"/>
                    </a:cubicBezTo>
                    <a:lnTo>
                      <a:pt x="152984" y="163719"/>
                    </a:lnTo>
                    <a:lnTo>
                      <a:pt x="54081" y="262621"/>
                    </a:lnTo>
                    <a:cubicBezTo>
                      <a:pt x="49070" y="267632"/>
                      <a:pt x="42455" y="270718"/>
                      <a:pt x="35396" y="271338"/>
                    </a:cubicBezTo>
                    <a:lnTo>
                      <a:pt x="32756" y="271459"/>
                    </a:lnTo>
                    <a:lnTo>
                      <a:pt x="15081" y="271459"/>
                    </a:lnTo>
                    <a:cubicBezTo>
                      <a:pt x="7435" y="271458"/>
                      <a:pt x="1000" y="265736"/>
                      <a:pt x="106" y="258142"/>
                    </a:cubicBezTo>
                    <a:lnTo>
                      <a:pt x="0" y="256378"/>
                    </a:lnTo>
                    <a:lnTo>
                      <a:pt x="0" y="238703"/>
                    </a:lnTo>
                    <a:cubicBezTo>
                      <a:pt x="2" y="231621"/>
                      <a:pt x="2495" y="224766"/>
                      <a:pt x="7043" y="219338"/>
                    </a:cubicBezTo>
                    <a:lnTo>
                      <a:pt x="8838" y="217378"/>
                    </a:lnTo>
                    <a:lnTo>
                      <a:pt x="15081" y="211134"/>
                    </a:lnTo>
                    <a:lnTo>
                      <a:pt x="45244" y="211134"/>
                    </a:lnTo>
                    <a:lnTo>
                      <a:pt x="45244" y="180972"/>
                    </a:lnTo>
                    <a:lnTo>
                      <a:pt x="75406" y="180972"/>
                    </a:lnTo>
                    <a:lnTo>
                      <a:pt x="75406" y="150809"/>
                    </a:lnTo>
                    <a:lnTo>
                      <a:pt x="107740" y="118475"/>
                    </a:lnTo>
                    <a:lnTo>
                      <a:pt x="103201" y="113936"/>
                    </a:lnTo>
                    <a:cubicBezTo>
                      <a:pt x="95062" y="105799"/>
                      <a:pt x="90490" y="94761"/>
                      <a:pt x="90490" y="83253"/>
                    </a:cubicBezTo>
                    <a:cubicBezTo>
                      <a:pt x="90490" y="71744"/>
                      <a:pt x="95062" y="60707"/>
                      <a:pt x="103201" y="52570"/>
                    </a:cubicBezTo>
                    <a:lnTo>
                      <a:pt x="143060" y="12711"/>
                    </a:lnTo>
                    <a:cubicBezTo>
                      <a:pt x="151198" y="4572"/>
                      <a:pt x="162235" y="0"/>
                      <a:pt x="173743" y="0"/>
                    </a:cubicBezTo>
                    <a:cubicBezTo>
                      <a:pt x="185252" y="0"/>
                      <a:pt x="196289" y="4572"/>
                      <a:pt x="204426" y="12711"/>
                    </a:cubicBez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02593" y="20597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990344" y="1961198"/>
              <a:ext cx="44705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Concepts and Basic Cryptography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92249" y="2363629"/>
              <a:ext cx="4841875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Foundations, standard terminology, ciphers,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essential symmetric/asymmetric algorithms.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6250" y="3286125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666750" y="347662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6795" y="36471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66862" y="3636169"/>
              <a:ext cx="226218" cy="271462"/>
              <a:chOff x="1566862" y="3636169"/>
              <a:chExt cx="226218" cy="27146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597025" y="3636169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60325"/>
                    </a:moveTo>
                    <a:cubicBezTo>
                      <a:pt x="0" y="93641"/>
                      <a:pt x="27008" y="120650"/>
                      <a:pt x="60325" y="120650"/>
                    </a:cubicBezTo>
                    <a:cubicBezTo>
                      <a:pt x="93641" y="120650"/>
                      <a:pt x="120650" y="93641"/>
                      <a:pt x="120650" y="60325"/>
                    </a:cubicBezTo>
                    <a:cubicBezTo>
                      <a:pt x="120650" y="27008"/>
                      <a:pt x="93641" y="0"/>
                      <a:pt x="60325" y="0"/>
                    </a:cubicBezTo>
                    <a:cubicBezTo>
                      <a:pt x="27008" y="0"/>
                      <a:pt x="0" y="27008"/>
                      <a:pt x="0" y="60325"/>
                    </a:cubicBez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66862" y="3817143"/>
                <a:ext cx="120650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0487">
                    <a:moveTo>
                      <a:pt x="0" y="90487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702593" y="3847306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990344" y="3628072"/>
              <a:ext cx="46351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Authentication and Access Control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2249" y="4030504"/>
              <a:ext cx="4871974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User identity verification, password systems,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MFA frameworks, and enterprise access policies.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6250" y="495300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5" name="Ellipse 25"/>
            <p:cNvSpPr/>
            <p:nvPr/>
          </p:nvSpPr>
          <p:spPr>
            <a:xfrm>
              <a:off x="666750" y="5143500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6795" y="5313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521619" y="5303044"/>
              <a:ext cx="271462" cy="271462"/>
              <a:chOff x="1521619" y="5303044"/>
              <a:chExt cx="271462" cy="2714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521619" y="530304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3"/>
                      <a:pt x="60769" y="271462"/>
                      <a:pt x="135731" y="271462"/>
                    </a:cubicBezTo>
                    <a:cubicBezTo>
                      <a:pt x="210693" y="271462"/>
                      <a:pt x="271462" y="210693"/>
                      <a:pt x="271462" y="135731"/>
                    </a:cubicBezTo>
                    <a:cubicBezTo>
                      <a:pt x="271462" y="60769"/>
                      <a:pt x="210693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30667" y="5393531"/>
                <a:ext cx="2533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3364" h="9525">
                    <a:moveTo>
                      <a:pt x="0" y="0"/>
                    </a:moveTo>
                    <a:lnTo>
                      <a:pt x="253364" y="0"/>
                    </a:ln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530667" y="5484018"/>
                <a:ext cx="2533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3364" h="9525">
                    <a:moveTo>
                      <a:pt x="0" y="0"/>
                    </a:moveTo>
                    <a:lnTo>
                      <a:pt x="253364" y="0"/>
                    </a:ln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97974" y="5303044"/>
                <a:ext cx="5183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51835" h="271462">
                    <a:moveTo>
                      <a:pt x="51835" y="0"/>
                    </a:moveTo>
                    <a:cubicBezTo>
                      <a:pt x="0" y="83064"/>
                      <a:pt x="0" y="188398"/>
                      <a:pt x="51835" y="271462"/>
                    </a:cubicBez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64890" y="5303044"/>
                <a:ext cx="5183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51835" h="271462">
                    <a:moveTo>
                      <a:pt x="0" y="0"/>
                    </a:moveTo>
                    <a:cubicBezTo>
                      <a:pt x="51835" y="83064"/>
                      <a:pt x="51835" y="188398"/>
                      <a:pt x="0" y="271462"/>
                    </a:cubicBezTo>
                  </a:path>
                </a:pathLst>
              </a:custGeom>
              <a:noFill/>
              <a:ln w="30162">
                <a:solidFill>
                  <a:srgbClr val="2B6CB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990344" y="5294948"/>
              <a:ext cx="43051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Network Security and Protocols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2249" y="5697379"/>
              <a:ext cx="5193030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Firewalls, Intrusion Detection/Prevention (IDS/IPS),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TLS protocols, and network perimeter defense.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59740" cy="1140904"/>
            <a:chOff x="462534" y="375285"/>
            <a:chExt cx="5159740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428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Contents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15440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In this course, you will explore five major areas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of cybersecurity (Part 2):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6250" y="1619250"/>
            <a:ext cx="8846820" cy="4762500"/>
            <a:chOff x="476250" y="1619250"/>
            <a:chExt cx="8846820" cy="4762500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2238375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723900" y="1914525"/>
              <a:ext cx="647700" cy="6477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5452" y="21164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671637" y="2135187"/>
              <a:ext cx="314325" cy="261938"/>
              <a:chOff x="1671637" y="2135187"/>
              <a:chExt cx="314325" cy="26193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776412" y="2135187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69850"/>
                    </a:move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6985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41487" y="2205037"/>
                <a:ext cx="17462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92087">
                    <a:moveTo>
                      <a:pt x="17462" y="0"/>
                    </a:moveTo>
                    <a:lnTo>
                      <a:pt x="157162" y="0"/>
                    </a:lnTo>
                    <a:cubicBezTo>
                      <a:pt x="167563" y="15587"/>
                      <a:pt x="173593" y="33678"/>
                      <a:pt x="174625" y="52387"/>
                    </a:cubicBezTo>
                    <a:lnTo>
                      <a:pt x="174625" y="104775"/>
                    </a:lnTo>
                    <a:cubicBezTo>
                      <a:pt x="174625" y="152996"/>
                      <a:pt x="135534" y="192087"/>
                      <a:pt x="87312" y="192087"/>
                    </a:cubicBezTo>
                    <a:cubicBezTo>
                      <a:pt x="39091" y="192087"/>
                      <a:pt x="0" y="152996"/>
                      <a:pt x="0" y="104775"/>
                    </a:cubicBezTo>
                    <a:lnTo>
                      <a:pt x="0" y="52387"/>
                    </a:lnTo>
                    <a:cubicBezTo>
                      <a:pt x="1032" y="33678"/>
                      <a:pt x="7062" y="15587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71637" y="2274887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916112" y="2274887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828800" y="2292350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689100" y="2344737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0" y="34925"/>
                    </a:moveTo>
                    <a:lnTo>
                      <a:pt x="58499" y="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910000" y="2344737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58499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689100" y="2170112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0" y="0"/>
                    </a:moveTo>
                    <a:lnTo>
                      <a:pt x="65484" y="4191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903015" y="2170112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65484" y="0"/>
                    </a:moveTo>
                    <a:lnTo>
                      <a:pt x="0" y="41910"/>
                    </a:lnTo>
                  </a:path>
                </a:pathLst>
              </a:custGeom>
              <a:noFill/>
              <a:ln w="34925">
                <a:solidFill>
                  <a:srgbClr val="2B6CB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180082" y="2097405"/>
              <a:ext cx="51590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Software, Malware, and Databases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3130" y="2552700"/>
              <a:ext cx="7139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Software vulnerabilities, memory bugs, and secure coding principles.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Malware categories: Viruses, worms, trojans, and ransomware payloads.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Database security: SQL injection attacks and backend storage protection.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4143375"/>
              <a:ext cx="8801100" cy="2238375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723900" y="4438650"/>
              <a:ext cx="647700" cy="6477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5452" y="46405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654175" y="4653899"/>
              <a:ext cx="349249" cy="232495"/>
            </a:xfrm>
            <a:custGeom>
              <a:avLst/>
              <a:gdLst/>
              <a:ahLst/>
              <a:cxnLst/>
              <a:rect l="l" t="t" r="r" b="b"/>
              <a:pathLst>
                <a:path w="349249" h="232495">
                  <a:moveTo>
                    <a:pt x="81323" y="232425"/>
                  </a:moveTo>
                  <a:cubicBezTo>
                    <a:pt x="36409" y="232425"/>
                    <a:pt x="0" y="197378"/>
                    <a:pt x="0" y="154141"/>
                  </a:cubicBezTo>
                  <a:cubicBezTo>
                    <a:pt x="0" y="110922"/>
                    <a:pt x="36409" y="75874"/>
                    <a:pt x="81323" y="75874"/>
                  </a:cubicBezTo>
                  <a:cubicBezTo>
                    <a:pt x="88185" y="45106"/>
                    <a:pt x="112650" y="19995"/>
                    <a:pt x="145497" y="9989"/>
                  </a:cubicBezTo>
                  <a:cubicBezTo>
                    <a:pt x="178327" y="0"/>
                    <a:pt x="214579" y="6618"/>
                    <a:pt x="240563" y="27451"/>
                  </a:cubicBezTo>
                  <a:cubicBezTo>
                    <a:pt x="266547" y="48231"/>
                    <a:pt x="278317" y="79961"/>
                    <a:pt x="271472" y="110730"/>
                  </a:cubicBezTo>
                  <a:lnTo>
                    <a:pt x="288759" y="110730"/>
                  </a:lnTo>
                  <a:cubicBezTo>
                    <a:pt x="322165" y="110730"/>
                    <a:pt x="349249" y="137971"/>
                    <a:pt x="349249" y="171604"/>
                  </a:cubicBezTo>
                  <a:cubicBezTo>
                    <a:pt x="349249" y="205254"/>
                    <a:pt x="322165" y="232495"/>
                    <a:pt x="288742" y="232495"/>
                  </a:cubicBezTo>
                  <a:lnTo>
                    <a:pt x="81323" y="232495"/>
                  </a:lnTo>
                </a:path>
              </a:pathLst>
            </a:custGeom>
            <a:noFill/>
            <a:ln w="34925">
              <a:solidFill>
                <a:srgbClr val="2B6CB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80082" y="4621530"/>
              <a:ext cx="4052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Cloud, AI, Risk, and Privacy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3130" y="5076825"/>
              <a:ext cx="6920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Cloud infrastructure security models and multi-tenant architectures.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AI threat modeling, adversarial attacks, and robust defense systems.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Enterprise risk management frameworks, compliance, and user privacy.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741688" cy="1140904"/>
            <a:chOff x="462534" y="375285"/>
            <a:chExt cx="4741688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73635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By the end of the course, you will be able to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(Objectives 1–3):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76250" y="1619250"/>
            <a:ext cx="8801100" cy="4714875"/>
            <a:chOff x="476250" y="1619250"/>
            <a:chExt cx="8801100" cy="4714875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685800" y="1828800"/>
              <a:ext cx="533400" cy="533400"/>
            </a:xfrm>
            <a:prstGeom prst="ellipse">
              <a:avLst/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3387" y="19964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1920240"/>
              <a:ext cx="4542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Explain core cybersecurity concepts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2298382"/>
              <a:ext cx="458495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Explain terminology, requirements, security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principles, and cryptography basics.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3286125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685800" y="3495675"/>
              <a:ext cx="533400" cy="533400"/>
            </a:xfrm>
            <a:prstGeom prst="ellipse">
              <a:avLst/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3387" y="36633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9606" y="3587115"/>
              <a:ext cx="4835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Apply authentication &amp; access controls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0368" y="3965258"/>
              <a:ext cx="461638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Apply user authentication and access control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mechanisms across enterprise systems.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6250" y="495300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Ellipse 18"/>
            <p:cNvSpPr/>
            <p:nvPr/>
          </p:nvSpPr>
          <p:spPr>
            <a:xfrm>
              <a:off x="685800" y="5162550"/>
              <a:ext cx="533400" cy="533400"/>
            </a:xfrm>
            <a:prstGeom prst="ellipse">
              <a:avLst/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87" y="5330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9606" y="5253990"/>
              <a:ext cx="48737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Describe network defenses &amp; protocols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368" y="5632132"/>
              <a:ext cx="450113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Describe network perimeter defenses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real-world security protocols in detail.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741688" cy="1140904"/>
            <a:chOff x="462534" y="375285"/>
            <a:chExt cx="4741688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73635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By the end of the course, you will be able to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(Objectives 4–5):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6250" y="1619250"/>
            <a:ext cx="8840915" cy="4667250"/>
            <a:chOff x="476250" y="1619250"/>
            <a:chExt cx="8840915" cy="4667250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714375" y="1857375"/>
              <a:ext cx="571500" cy="571500"/>
            </a:xfrm>
            <a:prstGeom prst="ellipse">
              <a:avLst/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4420" y="20373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4094" y="1980248"/>
              <a:ext cx="58453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Analyze software, malware, and databases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5618" y="2536508"/>
              <a:ext cx="746626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Identify and analyze common software bugs and application flaws.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Understand malware propagation methods and malicious behaviors.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Evaluate database integrity, injection attacks, and backend defenses.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409575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714375" y="4333875"/>
              <a:ext cx="571500" cy="571500"/>
            </a:xfrm>
            <a:prstGeom prst="ellipse">
              <a:avLst/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4420" y="45138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4094" y="4456748"/>
              <a:ext cx="49686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Evaluate cloud, AI, risk, and privacy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5618" y="5013008"/>
              <a:ext cx="780154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Assess modern cloud architecture security and responsibility models.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Evaluate artificial intelligence threat models and emerging AI risks.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Apply risk management frameworks, compliance audits, and privacy rules.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311948" cy="874204"/>
            <a:chOff x="462534" y="375285"/>
            <a:chExt cx="5311948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141247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Grading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3066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Course Evaluation and Assessment Components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76250" y="1524000"/>
            <a:ext cx="8812339" cy="4857750"/>
            <a:chOff x="476250" y="1524000"/>
            <a:chExt cx="8812339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752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82650" y="195580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rgbClr val="FFB80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1506" y="1882140"/>
              <a:ext cx="3354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Attendance &amp; Participation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6468" y="2536508"/>
              <a:ext cx="364197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Regular attendance &amp; online logins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Active lecture progress tracking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Discussion board Q&amp;A engagement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38725" y="152400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267325" y="1752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419725" y="1917700"/>
              <a:ext cx="228599" cy="203199"/>
              <a:chOff x="5419725" y="1917700"/>
              <a:chExt cx="228599" cy="20319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419725" y="19685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0"/>
                    </a:moveTo>
                    <a:lnTo>
                      <a:pt x="0" y="50800"/>
                    </a:lnTo>
                    <a:lnTo>
                      <a:pt x="50800" y="1016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597524" y="19685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0"/>
                    </a:moveTo>
                    <a:lnTo>
                      <a:pt x="50800" y="50800"/>
                    </a:ln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508625" y="1917700"/>
                <a:ext cx="50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199">
                    <a:moveTo>
                      <a:pt x="50800" y="0"/>
                    </a:moveTo>
                    <a:lnTo>
                      <a:pt x="0" y="203199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43981" y="1882140"/>
              <a:ext cx="29104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Assignments &amp; Projects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8943" y="2536508"/>
              <a:ext cx="402964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Real-world case study reports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Threat analysis assignments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Practical security modeling exercises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6250" y="409575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704850" y="43243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82650" y="4476750"/>
              <a:ext cx="177800" cy="228599"/>
              <a:chOff x="882650" y="4476750"/>
              <a:chExt cx="177800" cy="2285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96950" y="44767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82650" y="44767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33450" y="45529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33450" y="46037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3450" y="465454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81506" y="445389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Midterm Examination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468" y="5108258"/>
              <a:ext cx="29504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Scope: Weeks 1 to 7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Core theoretical concepts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Terminology &amp; model review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038725" y="409575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5267325" y="43243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424830" y="4476750"/>
              <a:ext cx="218364" cy="227203"/>
              <a:chOff x="5424830" y="4476750"/>
              <a:chExt cx="218364" cy="22720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457825" y="44767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534025" y="4591050"/>
                <a:ext cx="109169" cy="112903"/>
              </a:xfrm>
              <a:custGeom>
                <a:avLst/>
                <a:gdLst/>
                <a:ahLst/>
                <a:cxnLst/>
                <a:rect l="l" t="t" r="r" b="b"/>
                <a:pathLst>
                  <a:path w="109169" h="112903">
                    <a:moveTo>
                      <a:pt x="0" y="38100"/>
                    </a:moveTo>
                    <a:lnTo>
                      <a:pt x="43180" y="112903"/>
                    </a:lnTo>
                    <a:lnTo>
                      <a:pt x="63474" y="71844"/>
                    </a:lnTo>
                    <a:lnTo>
                      <a:pt x="109169" y="74790"/>
                    </a:lnTo>
                    <a:lnTo>
                      <a:pt x="65989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424830" y="4591050"/>
                <a:ext cx="109169" cy="112890"/>
              </a:xfrm>
              <a:custGeom>
                <a:avLst/>
                <a:gdLst/>
                <a:ahLst/>
                <a:cxnLst/>
                <a:rect l="l" t="t" r="r" b="b"/>
                <a:pathLst>
                  <a:path w="109169" h="112890">
                    <a:moveTo>
                      <a:pt x="43180" y="0"/>
                    </a:moveTo>
                    <a:lnTo>
                      <a:pt x="0" y="74803"/>
                    </a:lnTo>
                    <a:lnTo>
                      <a:pt x="45694" y="71844"/>
                    </a:lnTo>
                    <a:lnTo>
                      <a:pt x="65989" y="112890"/>
                    </a:lnTo>
                    <a:lnTo>
                      <a:pt x="109169" y="381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943981" y="4453890"/>
              <a:ext cx="21450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Final Examination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58943" y="5108258"/>
              <a:ext cx="351624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Comprehensive semester scope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Practical applied problem solving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Integrated synthesis of 5 areas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453521" cy="874204"/>
            <a:chOff x="462534" y="375285"/>
            <a:chExt cx="4453521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1383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References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4481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Recommended Textbooks and Standards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3667125" cy="1238250"/>
            </a:xfrm>
            <a:prstGeom prst="roundRect">
              <a:avLst>
                <a:gd name="adj" fmla="val 10769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2069978"/>
              <a:ext cx="295276" cy="231897"/>
              <a:chOff x="1000125" y="20699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00125" y="22763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0125" y="20699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0125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3000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85876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67231" y="2015490"/>
              <a:ext cx="2337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69517" y="2349818"/>
              <a:ext cx="2051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Principles and Practice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70279" y="2670810"/>
              <a:ext cx="2273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4th Edition · Pearson (2018)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18" y="3250882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Authors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618" y="3584258"/>
              <a:ext cx="33989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William Stallings, Lawrie Brown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618" y="4155758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" y="4536758"/>
              <a:ext cx="2751392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Publisher: Pearson, 2018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Length: 778 pages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ISBN: 978-0-13-479410-5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715000"/>
              <a:ext cx="3667125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8017" y="5835968"/>
              <a:ext cx="2446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Primary Course Reference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5324475" y="1809750"/>
              <a:ext cx="3667125" cy="1238250"/>
            </a:xfrm>
            <a:prstGeom prst="roundRect">
              <a:avLst>
                <a:gd name="adj" fmla="val 10769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562600" y="2069978"/>
              <a:ext cx="295276" cy="231897"/>
              <a:chOff x="5562600" y="2069978"/>
              <a:chExt cx="295276" cy="23189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562600" y="22763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562600" y="20699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562600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705475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848351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FB80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029706" y="2015490"/>
              <a:ext cx="2628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1992" y="2349818"/>
              <a:ext cx="2051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Principles and Practice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2754" y="2670810"/>
              <a:ext cx="2047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2nd Edition · Wiley (2011)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16093" y="32508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Author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6093" y="3584258"/>
              <a:ext cx="1287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Mark Stamp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16093" y="4155758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6093" y="4536758"/>
              <a:ext cx="3683889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Publisher: John Wiley &amp; Sons, 2011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Length: 606 pages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ISBN: 978-0-470-62639-9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24475" y="5715000"/>
              <a:ext cx="3667125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60492" y="5835968"/>
              <a:ext cx="2382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Supplementary Reference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00547E23-65BE-4F84-9662-734FE598E67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251F5A7-BAD8-4E87-A192-A21FFD787482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5" name="자유형 14">
                <a:extLst>
                  <a:ext uri="{FF2B5EF4-FFF2-40B4-BE49-F238E27FC236}">
                    <a16:creationId xmlns:a16="http://schemas.microsoft.com/office/drawing/2014/main" id="{513F6EC9-EFAF-45C5-949D-BB038A934E1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087900" y="0"/>
                <a:ext cx="7104100" cy="6574971"/>
              </a:xfrm>
              <a:custGeom>
                <a:avLst/>
                <a:gdLst>
                  <a:gd name="connsiteX0" fmla="*/ 537704 w 7104100"/>
                  <a:gd name="connsiteY0" fmla="*/ 0 h 6574971"/>
                  <a:gd name="connsiteX1" fmla="*/ 3201464 w 7104100"/>
                  <a:gd name="connsiteY1" fmla="*/ 0 h 6574971"/>
                  <a:gd name="connsiteX2" fmla="*/ 3475529 w 7104100"/>
                  <a:gd name="connsiteY2" fmla="*/ 0 h 6574971"/>
                  <a:gd name="connsiteX3" fmla="*/ 3548500 w 7104100"/>
                  <a:gd name="connsiteY3" fmla="*/ 0 h 6574971"/>
                  <a:gd name="connsiteX4" fmla="*/ 6851802 w 7104100"/>
                  <a:gd name="connsiteY4" fmla="*/ 0 h 6574971"/>
                  <a:gd name="connsiteX5" fmla="*/ 7104100 w 7104100"/>
                  <a:gd name="connsiteY5" fmla="*/ 0 h 6574971"/>
                  <a:gd name="connsiteX6" fmla="*/ 7104100 w 7104100"/>
                  <a:gd name="connsiteY6" fmla="*/ 252373 h 6574971"/>
                  <a:gd name="connsiteX7" fmla="*/ 7104100 w 7104100"/>
                  <a:gd name="connsiteY7" fmla="*/ 3254555 h 6574971"/>
                  <a:gd name="connsiteX8" fmla="*/ 7104100 w 7104100"/>
                  <a:gd name="connsiteY8" fmla="*/ 3628571 h 6574971"/>
                  <a:gd name="connsiteX9" fmla="*/ 7104100 w 7104100"/>
                  <a:gd name="connsiteY9" fmla="*/ 3629420 h 6574971"/>
                  <a:gd name="connsiteX10" fmla="*/ 7104100 w 7104100"/>
                  <a:gd name="connsiteY10" fmla="*/ 6548406 h 6574971"/>
                  <a:gd name="connsiteX11" fmla="*/ 7104100 w 7104100"/>
                  <a:gd name="connsiteY11" fmla="*/ 6574971 h 6574971"/>
                  <a:gd name="connsiteX12" fmla="*/ 6639340 w 7104100"/>
                  <a:gd name="connsiteY12" fmla="*/ 6276109 h 6574971"/>
                  <a:gd name="connsiteX13" fmla="*/ 5736378 w 7104100"/>
                  <a:gd name="connsiteY13" fmla="*/ 5558839 h 6574971"/>
                  <a:gd name="connsiteX14" fmla="*/ 4634232 w 7104100"/>
                  <a:gd name="connsiteY14" fmla="*/ 5319750 h 6574971"/>
                  <a:gd name="connsiteX15" fmla="*/ 3678154 w 7104100"/>
                  <a:gd name="connsiteY15" fmla="*/ 5904191 h 6574971"/>
                  <a:gd name="connsiteX16" fmla="*/ 2489696 w 7104100"/>
                  <a:gd name="connsiteY16" fmla="*/ 6442144 h 6574971"/>
                  <a:gd name="connsiteX17" fmla="*/ 1228205 w 7104100"/>
                  <a:gd name="connsiteY17" fmla="*/ 6189771 h 6574971"/>
                  <a:gd name="connsiteX18" fmla="*/ 683771 w 7104100"/>
                  <a:gd name="connsiteY18" fmla="*/ 5060736 h 6574971"/>
                  <a:gd name="connsiteX19" fmla="*/ 1075498 w 7104100"/>
                  <a:gd name="connsiteY19" fmla="*/ 3639479 h 6574971"/>
                  <a:gd name="connsiteX20" fmla="*/ 384997 w 7104100"/>
                  <a:gd name="connsiteY20" fmla="*/ 2563575 h 6574971"/>
                  <a:gd name="connsiteX21" fmla="*/ 26468 w 7104100"/>
                  <a:gd name="connsiteY21" fmla="*/ 1036056 h 6574971"/>
                  <a:gd name="connsiteX22" fmla="*/ 537704 w 7104100"/>
                  <a:gd name="connsiteY22" fmla="*/ 0 h 657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04100" h="6574971">
                    <a:moveTo>
                      <a:pt x="537704" y="0"/>
                    </a:moveTo>
                    <a:cubicBezTo>
                      <a:pt x="537704" y="0"/>
                      <a:pt x="537704" y="0"/>
                      <a:pt x="3201464" y="0"/>
                    </a:cubicBezTo>
                    <a:lnTo>
                      <a:pt x="3475529" y="0"/>
                    </a:lnTo>
                    <a:lnTo>
                      <a:pt x="3548500" y="0"/>
                    </a:lnTo>
                    <a:cubicBezTo>
                      <a:pt x="4391523" y="0"/>
                      <a:pt x="5470593" y="0"/>
                      <a:pt x="6851802" y="0"/>
                    </a:cubicBezTo>
                    <a:lnTo>
                      <a:pt x="7104100" y="0"/>
                    </a:lnTo>
                    <a:lnTo>
                      <a:pt x="7104100" y="252373"/>
                    </a:lnTo>
                    <a:cubicBezTo>
                      <a:pt x="7104100" y="252373"/>
                      <a:pt x="7104100" y="252373"/>
                      <a:pt x="7104100" y="3254555"/>
                    </a:cubicBezTo>
                    <a:lnTo>
                      <a:pt x="7104100" y="3628571"/>
                    </a:lnTo>
                    <a:lnTo>
                      <a:pt x="7104100" y="3629420"/>
                    </a:lnTo>
                    <a:cubicBezTo>
                      <a:pt x="7104100" y="4408738"/>
                      <a:pt x="7104100" y="5367900"/>
                      <a:pt x="7104100" y="6548406"/>
                    </a:cubicBezTo>
                    <a:cubicBezTo>
                      <a:pt x="7104100" y="6555047"/>
                      <a:pt x="7104100" y="6561688"/>
                      <a:pt x="7104100" y="6574971"/>
                    </a:cubicBezTo>
                    <a:cubicBezTo>
                      <a:pt x="6931475" y="6515199"/>
                      <a:pt x="6778768" y="6395654"/>
                      <a:pt x="6639340" y="6276109"/>
                    </a:cubicBezTo>
                    <a:cubicBezTo>
                      <a:pt x="6340566" y="6030378"/>
                      <a:pt x="6061710" y="5758081"/>
                      <a:pt x="5736378" y="5558839"/>
                    </a:cubicBezTo>
                    <a:cubicBezTo>
                      <a:pt x="5404406" y="5359598"/>
                      <a:pt x="5006040" y="5233412"/>
                      <a:pt x="4634232" y="5319750"/>
                    </a:cubicBezTo>
                    <a:cubicBezTo>
                      <a:pt x="4269064" y="5412729"/>
                      <a:pt x="3976928" y="5685026"/>
                      <a:pt x="3678154" y="5904191"/>
                    </a:cubicBezTo>
                    <a:cubicBezTo>
                      <a:pt x="3319625" y="6163205"/>
                      <a:pt x="2921259" y="6369088"/>
                      <a:pt x="2489696" y="6442144"/>
                    </a:cubicBezTo>
                    <a:cubicBezTo>
                      <a:pt x="2051494" y="6515199"/>
                      <a:pt x="1586734" y="6442144"/>
                      <a:pt x="1228205" y="6189771"/>
                    </a:cubicBezTo>
                    <a:cubicBezTo>
                      <a:pt x="869675" y="5944040"/>
                      <a:pt x="637295" y="5499067"/>
                      <a:pt x="683771" y="5060736"/>
                    </a:cubicBezTo>
                    <a:cubicBezTo>
                      <a:pt x="743526" y="4569273"/>
                      <a:pt x="1135253" y="4130942"/>
                      <a:pt x="1075498" y="3639479"/>
                    </a:cubicBezTo>
                    <a:cubicBezTo>
                      <a:pt x="1015743" y="3214430"/>
                      <a:pt x="637295" y="2915568"/>
                      <a:pt x="384997" y="2563575"/>
                    </a:cubicBezTo>
                    <a:cubicBezTo>
                      <a:pt x="66304" y="2131885"/>
                      <a:pt x="-59845" y="1567367"/>
                      <a:pt x="26468" y="1036056"/>
                    </a:cubicBezTo>
                    <a:cubicBezTo>
                      <a:pt x="26468" y="664139"/>
                      <a:pt x="285406" y="278938"/>
                      <a:pt x="5377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  <a:effectLst>
                <a:outerShdw blurRad="279400" dist="25400" dir="84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C2B284C2-2F97-462F-BAE7-1277CC19F78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rot="1528689">
                <a:off x="8366267" y="466771"/>
                <a:ext cx="3610121" cy="3682792"/>
              </a:xfrm>
              <a:custGeom>
                <a:avLst/>
                <a:gdLst>
                  <a:gd name="T0" fmla="*/ 1782 w 1827"/>
                  <a:gd name="T1" fmla="*/ 887 h 1863"/>
                  <a:gd name="T2" fmla="*/ 1593 w 1827"/>
                  <a:gd name="T3" fmla="*/ 1374 h 1863"/>
                  <a:gd name="T4" fmla="*/ 930 w 1827"/>
                  <a:gd name="T5" fmla="*/ 1788 h 1863"/>
                  <a:gd name="T6" fmla="*/ 254 w 1827"/>
                  <a:gd name="T7" fmla="*/ 1636 h 1863"/>
                  <a:gd name="T8" fmla="*/ 45 w 1827"/>
                  <a:gd name="T9" fmla="*/ 929 h 1863"/>
                  <a:gd name="T10" fmla="*/ 408 w 1827"/>
                  <a:gd name="T11" fmla="*/ 232 h 1863"/>
                  <a:gd name="T12" fmla="*/ 930 w 1827"/>
                  <a:gd name="T13" fmla="*/ 51 h 1863"/>
                  <a:gd name="T14" fmla="*/ 1440 w 1827"/>
                  <a:gd name="T15" fmla="*/ 406 h 1863"/>
                  <a:gd name="T16" fmla="*/ 1782 w 1827"/>
                  <a:gd name="T17" fmla="*/ 887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7" h="1863">
                    <a:moveTo>
                      <a:pt x="1782" y="887"/>
                    </a:moveTo>
                    <a:cubicBezTo>
                      <a:pt x="1827" y="1047"/>
                      <a:pt x="1752" y="1204"/>
                      <a:pt x="1593" y="1374"/>
                    </a:cubicBezTo>
                    <a:cubicBezTo>
                      <a:pt x="1436" y="1539"/>
                      <a:pt x="1194" y="1716"/>
                      <a:pt x="930" y="1788"/>
                    </a:cubicBezTo>
                    <a:cubicBezTo>
                      <a:pt x="666" y="1863"/>
                      <a:pt x="421" y="1800"/>
                      <a:pt x="254" y="1636"/>
                    </a:cubicBezTo>
                    <a:cubicBezTo>
                      <a:pt x="88" y="1474"/>
                      <a:pt x="0" y="1211"/>
                      <a:pt x="45" y="929"/>
                    </a:cubicBezTo>
                    <a:cubicBezTo>
                      <a:pt x="87" y="646"/>
                      <a:pt x="243" y="393"/>
                      <a:pt x="408" y="232"/>
                    </a:cubicBezTo>
                    <a:cubicBezTo>
                      <a:pt x="576" y="70"/>
                      <a:pt x="752" y="0"/>
                      <a:pt x="930" y="51"/>
                    </a:cubicBezTo>
                    <a:cubicBezTo>
                      <a:pt x="1108" y="99"/>
                      <a:pt x="1280" y="251"/>
                      <a:pt x="1440" y="406"/>
                    </a:cubicBezTo>
                    <a:cubicBezTo>
                      <a:pt x="1596" y="566"/>
                      <a:pt x="1740" y="728"/>
                      <a:pt x="1782" y="88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C4F3FB">
                      <a:alpha val="46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7" name="자유형 15">
                <a:extLst>
                  <a:ext uri="{FF2B5EF4-FFF2-40B4-BE49-F238E27FC236}">
                    <a16:creationId xmlns:a16="http://schemas.microsoft.com/office/drawing/2014/main" id="{D8FDEBD7-1AA5-476D-A8A1-AE60DF337CC7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703986 w 12192000"/>
                  <a:gd name="connsiteY0" fmla="*/ 250372 h 6858000"/>
                  <a:gd name="connsiteX1" fmla="*/ 268514 w 12192000"/>
                  <a:gd name="connsiteY1" fmla="*/ 685844 h 6858000"/>
                  <a:gd name="connsiteX2" fmla="*/ 268514 w 12192000"/>
                  <a:gd name="connsiteY2" fmla="*/ 6172157 h 6858000"/>
                  <a:gd name="connsiteX3" fmla="*/ 703986 w 12192000"/>
                  <a:gd name="connsiteY3" fmla="*/ 6607629 h 6858000"/>
                  <a:gd name="connsiteX4" fmla="*/ 11488014 w 12192000"/>
                  <a:gd name="connsiteY4" fmla="*/ 6607629 h 6858000"/>
                  <a:gd name="connsiteX5" fmla="*/ 11923486 w 12192000"/>
                  <a:gd name="connsiteY5" fmla="*/ 6172157 h 6858000"/>
                  <a:gd name="connsiteX6" fmla="*/ 11923486 w 12192000"/>
                  <a:gd name="connsiteY6" fmla="*/ 685844 h 6858000"/>
                  <a:gd name="connsiteX7" fmla="*/ 11488014 w 12192000"/>
                  <a:gd name="connsiteY7" fmla="*/ 250372 h 6858000"/>
                  <a:gd name="connsiteX8" fmla="*/ 0 w 12192000"/>
                  <a:gd name="connsiteY8" fmla="*/ 0 h 6858000"/>
                  <a:gd name="connsiteX9" fmla="*/ 12192000 w 12192000"/>
                  <a:gd name="connsiteY9" fmla="*/ 0 h 6858000"/>
                  <a:gd name="connsiteX10" fmla="*/ 12192000 w 12192000"/>
                  <a:gd name="connsiteY10" fmla="*/ 6858000 h 6858000"/>
                  <a:gd name="connsiteX11" fmla="*/ 0 w 12192000"/>
                  <a:gd name="connsiteY11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92000" h="6858000">
                    <a:moveTo>
                      <a:pt x="703986" y="250372"/>
                    </a:moveTo>
                    <a:cubicBezTo>
                      <a:pt x="463481" y="250372"/>
                      <a:pt x="268514" y="445339"/>
                      <a:pt x="268514" y="685844"/>
                    </a:cubicBezTo>
                    <a:lnTo>
                      <a:pt x="268514" y="6172157"/>
                    </a:lnTo>
                    <a:cubicBezTo>
                      <a:pt x="268514" y="6412662"/>
                      <a:pt x="463481" y="6607629"/>
                      <a:pt x="703986" y="6607629"/>
                    </a:cubicBezTo>
                    <a:lnTo>
                      <a:pt x="11488014" y="6607629"/>
                    </a:lnTo>
                    <a:cubicBezTo>
                      <a:pt x="11728519" y="6607629"/>
                      <a:pt x="11923486" y="6412662"/>
                      <a:pt x="11923486" y="6172157"/>
                    </a:cubicBezTo>
                    <a:lnTo>
                      <a:pt x="11923486" y="685844"/>
                    </a:lnTo>
                    <a:cubicBezTo>
                      <a:pt x="11923486" y="445339"/>
                      <a:pt x="11728519" y="250372"/>
                      <a:pt x="11488014" y="250372"/>
                    </a:cubicBezTo>
                    <a:close/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34" name="Picture 4">
              <a:extLst>
                <a:ext uri="{FF2B5EF4-FFF2-40B4-BE49-F238E27FC236}">
                  <a16:creationId xmlns:a16="http://schemas.microsoft.com/office/drawing/2014/main" id="{26321AF7-A095-4FD2-8321-B29D33800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60572" y="677967"/>
              <a:ext cx="3724924" cy="3565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UNIT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0343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spc="15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WEEK 01 · 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6220016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7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Cybersecurity Concepts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87617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Definition of Cybersecurity, Cast of Characters, and Core Security Goals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7362" y="480298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2B6CB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83030" y="4829175"/>
              <a:ext cx="114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5223510"/>
              <a:ext cx="17343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NISTIR 8170 standard</a:t>
              </a:r>
              <a:br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and terminology scope.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755231" y="4802981"/>
              <a:ext cx="242888" cy="242889"/>
              <a:chOff x="3755231" y="4802981"/>
              <a:chExt cx="242888" cy="24288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782219" y="48029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755231" y="496490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30651" y="480473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57638" y="496693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145280" y="4829175"/>
              <a:ext cx="1187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8654" y="5223510"/>
              <a:ext cx="1825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Alice, Bob, Trudy and</a:t>
              </a:r>
              <a:br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active/passive attacks.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17481" y="4802981"/>
              <a:ext cx="242888" cy="242888"/>
              <a:chOff x="6517481" y="4802981"/>
              <a:chExt cx="242888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25432" y="491093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71456" y="485695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17481" y="4802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07530" y="4829175"/>
              <a:ext cx="1501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904" y="5223510"/>
              <a:ext cx="2016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CIA triad, authenticity,</a:t>
              </a:r>
              <a:br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accountability, reliability.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021763" cy="874204"/>
            <a:chOff x="462534" y="375285"/>
            <a:chExt cx="502176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0164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By the end of this week, you will be able to: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685800" y="1733550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3387" y="1901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1824990"/>
              <a:ext cx="4490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Define Core Cybersecurity Concepts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2203132"/>
              <a:ext cx="565365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Define core concepts and differentiate Cybersecurity,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Security, and Computer Security.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32385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685800" y="3448050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3387" y="3615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9606" y="3539490"/>
              <a:ext cx="4973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Explain the CIA Triad and Extended Goals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0368" y="3917632"/>
              <a:ext cx="6292787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Explain the CIA triad (Confidentiality, Integrity, Availability)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alongside authenticity, accountability, and reliability.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6250" y="4953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Ellipse 18"/>
            <p:cNvSpPr/>
            <p:nvPr/>
          </p:nvSpPr>
          <p:spPr>
            <a:xfrm>
              <a:off x="685800" y="5162550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87" y="5330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9606" y="5253990"/>
              <a:ext cx="5720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Analyze Security Relationships &amp; Attack Trees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368" y="5632132"/>
              <a:ext cx="676427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Analyze relationships among assets, threats, and vulnerabilities,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evaluate systematic attack tree models.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478411" cy="874204"/>
            <a:chOff x="462534" y="375285"/>
            <a:chExt cx="4478411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44784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 Concepts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3592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2743200" cy="48577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7526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6063" y="1909762"/>
              <a:ext cx="269075" cy="257175"/>
            </a:xfrm>
            <a:custGeom>
              <a:avLst/>
              <a:gdLst/>
              <a:ahLst/>
              <a:cxnLst/>
              <a:rect l="l" t="t" r="r" b="b"/>
              <a:pathLst>
                <a:path w="269075" h="257175">
                  <a:moveTo>
                    <a:pt x="134537" y="0"/>
                  </a:moveTo>
                  <a:cubicBezTo>
                    <a:pt x="167911" y="29526"/>
                    <a:pt x="211468" y="44899"/>
                    <a:pt x="255981" y="42862"/>
                  </a:cubicBezTo>
                  <a:cubicBezTo>
                    <a:pt x="269075" y="87404"/>
                    <a:pt x="263545" y="135352"/>
                    <a:pt x="240656" y="175744"/>
                  </a:cubicBezTo>
                  <a:cubicBezTo>
                    <a:pt x="217768" y="216136"/>
                    <a:pt x="179477" y="245519"/>
                    <a:pt x="134537" y="257175"/>
                  </a:cubicBezTo>
                  <a:cubicBezTo>
                    <a:pt x="89598" y="245519"/>
                    <a:pt x="51307" y="216136"/>
                    <a:pt x="28418" y="175744"/>
                  </a:cubicBezTo>
                  <a:cubicBezTo>
                    <a:pt x="5530" y="135352"/>
                    <a:pt x="0" y="87404"/>
                    <a:pt x="13094" y="42862"/>
                  </a:cubicBezTo>
                  <a:cubicBezTo>
                    <a:pt x="57607" y="44899"/>
                    <a:pt x="101164" y="29526"/>
                    <a:pt x="134537" y="0"/>
                  </a:cubicBezTo>
                </a:path>
              </a:pathLst>
            </a:custGeom>
            <a:noFill/>
            <a:ln w="28575">
              <a:solidFill>
                <a:srgbClr val="FFB80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4944" y="2551748"/>
              <a:ext cx="1814036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04850" y="323850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6468" y="3584258"/>
              <a:ext cx="2510409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NISTIR 8170 definition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Cyberspace protection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Domain comparison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05200" y="1524000"/>
              <a:ext cx="2743200" cy="48577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3733800" y="17526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890962" y="1909762"/>
              <a:ext cx="257175" cy="257176"/>
              <a:chOff x="3890962" y="1909762"/>
              <a:chExt cx="257175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919538" y="19097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90962" y="20812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076700" y="19116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05275" y="20833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723894" y="2551748"/>
              <a:ext cx="1449991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733800" y="323850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5418" y="3584258"/>
              <a:ext cx="2101787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Alice (Sender)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Bob (Receiver)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Trudy (Adversary)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34150" y="1524000"/>
              <a:ext cx="2743200" cy="48577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6762750" y="17526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919912" y="1909762"/>
              <a:ext cx="257175" cy="257175"/>
              <a:chOff x="6919912" y="1909762"/>
              <a:chExt cx="257175" cy="2571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034212" y="20240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77062" y="19669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19912" y="19097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2844" y="2551748"/>
              <a:ext cx="109894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Goals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62750" y="323850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368" y="3584258"/>
              <a:ext cx="2489454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CIA Triad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Confidentiality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Integrity &amp; Availability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Accountability &amp; Auth.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Reliability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45500" cy="874204"/>
            <a:chOff x="462534" y="375285"/>
            <a:chExt cx="514550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1633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715" y="1927860"/>
              <a:ext cx="96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NISTIR 8170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228850"/>
              <a:ext cx="3901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dirty="0">
                  <a:solidFill>
                    <a:srgbClr val="FFB800"/>
                  </a:solidFill>
                  <a:latin typeface="Georgia"/>
                  <a:ea typeface="Georgia"/>
                  <a:cs typeface="Georgia"/>
                </a:rPr>
                <a:t>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2853690"/>
              <a:ext cx="3474720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The ability to protect or</a:t>
              </a:r>
              <a:br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defend the use of cyberspace</a:t>
              </a:r>
              <a:br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from cyber attacks.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0950" y="3609975"/>
              <a:ext cx="3901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dirty="0">
                  <a:solidFill>
                    <a:srgbClr val="FFB800"/>
                  </a:solidFill>
                  <a:latin typeface="Georgia"/>
                  <a:ea typeface="Georgia"/>
                  <a:cs typeface="Georgia"/>
                </a:rPr>
                <a:t>”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429125"/>
              <a:ext cx="3667125" cy="16668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118" y="4632008"/>
              <a:ext cx="21513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Mandate Focus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118" y="5013008"/>
              <a:ext cx="364197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Active cyberspace protection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Resilience against hostile attacks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Safeguarding online interaction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5315331" y="1805940"/>
              <a:ext cx="270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Related Terminologies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372100" y="2667000"/>
              <a:ext cx="3429000" cy="3143250"/>
              <a:chOff x="5372100" y="2667000"/>
              <a:chExt cx="3429000" cy="314325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372100" y="2667000"/>
                <a:ext cx="2095500" cy="2095500"/>
              </a:xfrm>
              <a:prstGeom prst="ellipse">
                <a:avLst/>
              </a:prstGeom>
              <a:solidFill>
                <a:srgbClr val="2B6CB0">
                  <a:alpha val="18000"/>
                </a:srgbClr>
              </a:solidFill>
              <a:ln w="19050">
                <a:solidFill>
                  <a:srgbClr val="2B6CB0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6705600" y="2667000"/>
                <a:ext cx="2095500" cy="2095500"/>
              </a:xfrm>
              <a:prstGeom prst="ellipse">
                <a:avLst/>
              </a:prstGeom>
              <a:solidFill>
                <a:srgbClr val="FFB800">
                  <a:alpha val="25000"/>
                </a:srgbClr>
              </a:solidFill>
              <a:ln w="19050">
                <a:solidFill>
                  <a:srgbClr val="FFB800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038850" y="3714750"/>
                <a:ext cx="2095500" cy="2095500"/>
              </a:xfrm>
              <a:prstGeom prst="ellipse">
                <a:avLst/>
              </a:prstGeom>
              <a:solidFill>
                <a:srgbClr val="5B67F2">
                  <a:alpha val="20000"/>
                </a:srgbClr>
              </a:solidFill>
              <a:ln w="19050">
                <a:solidFill>
                  <a:srgbClr val="5B67F2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609677" y="3283268"/>
                <a:ext cx="1048845" cy="47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Information</a:t>
                </a:r>
                <a:br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18190" y="3283268"/>
                <a:ext cx="841820" cy="47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Computer</a:t>
                </a:r>
                <a:br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44304" y="5314950"/>
                <a:ext cx="14845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Cybersecurity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562725" y="3952875"/>
                <a:ext cx="10477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62961" y="4050506"/>
                <a:ext cx="847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Protection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00130" cy="874204"/>
            <a:chOff x="462534" y="375285"/>
            <a:chExt cx="580013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794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Comparative Analysis of Security Domains (Part 1)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6250" y="1524000"/>
            <a:ext cx="8875395" cy="4857750"/>
            <a:chOff x="476250" y="1524000"/>
            <a:chExt cx="8875395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9712" y="173593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FFB8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3856" y="1748790"/>
              <a:ext cx="1781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7992" y="2378392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STANDARD DEFINITION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4850" y="2667000"/>
              <a:ext cx="378142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005" y="2838450"/>
              <a:ext cx="37966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“The ability to protect or defend the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use of cyberspace from cyber attacks.”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— NISTIR 8170 Standard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7992" y="4045268"/>
              <a:ext cx="2261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PRIMARY FOCUS &amp; SCOPE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" y="4333875"/>
              <a:ext cx="3781425" cy="1762125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2005" y="4505325"/>
              <a:ext cx="4149090" cy="1169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021" indent="-170021" algn="l">
                <a:lnSpc>
                  <a:spcPts val="210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Focus: The secure use of cyberspace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Scope: Connected networks, cloud,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digital communications, and web assets.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Defends against active online adversaries.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321300" y="1735931"/>
              <a:ext cx="215901" cy="242888"/>
              <a:chOff x="5321300" y="1735931"/>
              <a:chExt cx="215901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321300" y="17359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21300" y="17764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321300" y="18573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96331" y="1748790"/>
              <a:ext cx="2628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0467" y="2378392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STANDARD DEFINITION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67325" y="2667000"/>
              <a:ext cx="378142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74005" y="2838450"/>
              <a:ext cx="39776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“Protection of info &amp; info systems from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unauthorized access, use, or disruption.”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— NIST FIPS 200 Standard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0467" y="4045268"/>
              <a:ext cx="2261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PRIMARY FOCUS &amp; SCOPE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67325" y="4333875"/>
              <a:ext cx="3781425" cy="1762125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74386" y="4513421"/>
              <a:ext cx="3720465" cy="1097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0953" indent="-160953" algn="l">
                <a:lnSpc>
                  <a:spcPts val="19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42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Focus: Information &amp; info systems</a:t>
              </a:r>
            </a:p>
            <a:p>
              <a:pPr marL="153289" indent="-153289" algn="l">
                <a:lnSpc>
                  <a:spcPts val="195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Scope: Information in any medium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(electronic, physical, or paper records).</a:t>
              </a:r>
            </a:p>
            <a:p>
              <a:pPr marL="153289" indent="-153289" algn="l">
                <a:lnSpc>
                  <a:spcPts val="195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Preserves confidentiality &amp; integrity.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00130" cy="874204"/>
            <a:chOff x="462534" y="375285"/>
            <a:chExt cx="580013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794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Comparative Analysis of Security Domains (Part 2)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76250" y="1524000"/>
            <a:ext cx="8828532" cy="4857750"/>
            <a:chOff x="476250" y="1524000"/>
            <a:chExt cx="8828532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45331" y="1735931"/>
              <a:ext cx="242889" cy="242889"/>
              <a:chOff x="745331" y="1735931"/>
              <a:chExt cx="242889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72319" y="176291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2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2"/>
                      <a:pt x="182872" y="188913"/>
                      <a:pt x="175419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2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26294" y="181689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0"/>
                    </a:moveTo>
                    <a:lnTo>
                      <a:pt x="80963" y="0"/>
                    </a:lnTo>
                    <a:lnTo>
                      <a:pt x="80963" y="80963"/>
                    </a:lnTo>
                    <a:lnTo>
                      <a:pt x="0" y="80963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5331" y="18303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45331" y="18843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9788" y="17359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3763" y="17359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1232" y="18303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1232" y="18843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93763" y="19518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9788" y="19518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33856" y="1748790"/>
              <a:ext cx="2337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992" y="2378392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STANDARD DEFINITION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" y="2667000"/>
              <a:ext cx="378142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2005" y="2838450"/>
              <a:ext cx="35394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“Measures and controls that ensure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CIA of data processed by computers.”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— CNSSI 4009-2015 Standard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7992" y="4045268"/>
              <a:ext cx="2261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PRIMARY FOCUS &amp; SCOPE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" y="4333875"/>
              <a:ext cx="3781425" cy="1762125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2005" y="4505325"/>
              <a:ext cx="3949065" cy="1169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021" indent="-170021" algn="l">
                <a:lnSpc>
                  <a:spcPts val="210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Focus: Computer processing/storage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Scope: Computer hardware, operating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systems, firmware, and local storage.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Protects endpoint computing machinery.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321300" y="1749425"/>
              <a:ext cx="215900" cy="215900"/>
              <a:chOff x="5321300" y="1749425"/>
              <a:chExt cx="215900" cy="2159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375275" y="17494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321300" y="18034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696331" y="1748790"/>
              <a:ext cx="21331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Domain Synthesis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60467" y="2378392"/>
              <a:ext cx="1898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INTERRELATIONSHIPS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67325" y="2667000"/>
              <a:ext cx="3781425" cy="3429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11343" y="2869882"/>
              <a:ext cx="3893439" cy="23039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40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Information Security (Broadest):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Safeguards all information assets.</a:t>
              </a:r>
            </a:p>
            <a:p>
              <a:pPr marL="187023" indent="-187023" algn="l">
                <a:lnSpc>
                  <a:spcPts val="2400"/>
                </a:lnSpc>
                <a:spcBef>
                  <a:spcPts val="600"/>
                </a:spcBef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Computer Security (Endpoint):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Secures processing devices &amp; OS.</a:t>
              </a:r>
            </a:p>
            <a:p>
              <a:pPr marL="187023" indent="-187023" algn="l">
                <a:lnSpc>
                  <a:spcPts val="2400"/>
                </a:lnSpc>
                <a:spcBef>
                  <a:spcPts val="600"/>
                </a:spcBef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 (Cyberspace):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Defends networked &amp; connected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systems against adversarial attacks.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816750" cy="874204"/>
            <a:chOff x="462534" y="375285"/>
            <a:chExt cx="681675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8114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In cybersecurity, we often consider the following entities: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485775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Line 8"/>
            <p:cNvSpPr/>
            <p:nvPr/>
          </p:nvSpPr>
          <p:spPr>
            <a:xfrm>
              <a:off x="2381250" y="26670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38100">
              <a:solidFill>
                <a:srgbClr val="2B6CB0"/>
              </a:solidFill>
              <a:custDash>
                <a:ds d="200000" sp="15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7239000" y="2571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191000" y="2333625"/>
              <a:ext cx="1371600" cy="628650"/>
            </a:xfrm>
            <a:prstGeom prst="roundRect">
              <a:avLst>
                <a:gd name="adj" fmla="val 21212"/>
              </a:avLst>
            </a:prstGeom>
            <a:solidFill>
              <a:srgbClr val="FFFFFF"/>
            </a:solidFill>
            <a:ln w="19050">
              <a:solidFill>
                <a:srgbClr val="2B6CB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4762500" y="2482850"/>
              <a:ext cx="228599" cy="177800"/>
              <a:chOff x="4762500" y="2482850"/>
              <a:chExt cx="228599" cy="177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762500" y="2482850"/>
                <a:ext cx="2285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77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152400"/>
                    </a:lnTo>
                    <a:cubicBezTo>
                      <a:pt x="228599" y="166428"/>
                      <a:pt x="217227" y="177800"/>
                      <a:pt x="203199" y="177800"/>
                    </a:cubicBezTo>
                    <a:lnTo>
                      <a:pt x="25400" y="177800"/>
                    </a:lnTo>
                    <a:cubicBezTo>
                      <a:pt x="11372" y="177800"/>
                      <a:pt x="0" y="166428"/>
                      <a:pt x="0" y="152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762500" y="2508250"/>
                <a:ext cx="2285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6200">
                    <a:moveTo>
                      <a:pt x="0" y="0"/>
                    </a:moveTo>
                    <a:lnTo>
                      <a:pt x="114300" y="76200"/>
                    </a:ln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4483524" y="27117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message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57250" y="2000250"/>
              <a:ext cx="1714500" cy="2000250"/>
              <a:chOff x="857250" y="2000250"/>
              <a:chExt cx="1714500" cy="2000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57250" y="2000250"/>
                <a:ext cx="1714500" cy="2000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409700" y="2219325"/>
                <a:ext cx="609600" cy="6096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628775" y="2395538"/>
                <a:ext cx="171450" cy="257175"/>
                <a:chOff x="1628775" y="2395538"/>
                <a:chExt cx="171450" cy="25717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657350" y="239553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628775" y="256698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15880" y="2901315"/>
                <a:ext cx="597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11580" y="3267075"/>
                <a:ext cx="100584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en-US" sz="150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Legitimate</a:t>
                </a:r>
                <a:br/>
                <a:r>
                  <a:rPr lang="en-US" sz="150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Sender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181850" y="2000250"/>
              <a:ext cx="1714500" cy="2000250"/>
              <a:chOff x="7181850" y="2000250"/>
              <a:chExt cx="1714500" cy="2000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181850" y="2000250"/>
                <a:ext cx="1714500" cy="2000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7734300" y="2219325"/>
                <a:ext cx="609600" cy="6096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7953375" y="2395538"/>
                <a:ext cx="171450" cy="257175"/>
                <a:chOff x="7953375" y="2395538"/>
                <a:chExt cx="171450" cy="25717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981950" y="239553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953375" y="256698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816089" y="2901315"/>
                <a:ext cx="4460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36180" y="3267075"/>
                <a:ext cx="100584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en-US" sz="150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Legitimate</a:t>
                </a:r>
                <a:br/>
                <a:r>
                  <a:rPr lang="en-US" sz="150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Receiver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162300" y="4191000"/>
              <a:ext cx="3965265" cy="1905000"/>
              <a:chOff x="3162300" y="4191000"/>
              <a:chExt cx="3965265" cy="1905000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4876800" y="41910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  <a:custDash>
                  <a:ds d="200000" sp="133333"/>
                </a:custDash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3162300" y="4572000"/>
                <a:ext cx="3429000" cy="1524000"/>
              </a:xfrm>
              <a:prstGeom prst="roundRect">
                <a:avLst>
                  <a:gd name="adj" fmla="val 11250"/>
                </a:avLst>
              </a:prstGeom>
              <a:solidFill>
                <a:srgbClr val="2B6CB0"/>
              </a:solidFill>
              <a:ln w="19050">
                <a:solidFill>
                  <a:srgbClr val="FFB800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457575" y="501015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3695700" y="5205412"/>
                <a:ext cx="228600" cy="271464"/>
                <a:chOff x="3695700" y="5205412"/>
                <a:chExt cx="228600" cy="271464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3724275" y="5205412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2B6CB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695700" y="5376862"/>
                  <a:ext cx="107156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07156" y="0"/>
                      </a:lnTo>
                    </a:path>
                  </a:pathLst>
                </a:custGeom>
                <a:noFill/>
                <a:ln w="28575">
                  <a:solidFill>
                    <a:srgbClr val="2B6CB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852862" y="54054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714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2B6CB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3852862" y="54054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8575">
                  <a:solidFill>
                    <a:srgbClr val="2B6CB0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4294632" y="4916805"/>
                <a:ext cx="84687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Trudy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296918" y="5298758"/>
                <a:ext cx="2049399" cy="589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650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Generic Adversary /</a:t>
                </a:r>
                <a:br/>
                <a:r>
                  <a:rPr lang="en-US" sz="1650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Intruder (Bad Guy)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299204" y="5833110"/>
                <a:ext cx="2828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Attempts passive or active attacks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3787561" cy="874204"/>
            <a:chOff x="462534" y="375285"/>
            <a:chExt cx="3787561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3782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What Trudy can do: Attack Types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45331" y="1776413"/>
              <a:ext cx="242888" cy="161925"/>
              <a:chOff x="745331" y="1776413"/>
              <a:chExt cx="242888" cy="1619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9788" y="18303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5331" y="1776413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80963"/>
                    </a:moveTo>
                    <a:cubicBezTo>
                      <a:pt x="210503" y="134938"/>
                      <a:pt x="170022" y="161925"/>
                      <a:pt x="121444" y="161925"/>
                    </a:cubicBezTo>
                    <a:cubicBezTo>
                      <a:pt x="72866" y="161925"/>
                      <a:pt x="32385" y="134938"/>
                      <a:pt x="0" y="80963"/>
                    </a:cubicBezTo>
                    <a:cubicBezTo>
                      <a:pt x="32385" y="26988"/>
                      <a:pt x="72866" y="0"/>
                      <a:pt x="121444" y="0"/>
                    </a:cubicBezTo>
                    <a:cubicBezTo>
                      <a:pt x="170022" y="0"/>
                      <a:pt x="210503" y="26988"/>
                      <a:pt x="242888" y="80963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33856" y="1748790"/>
              <a:ext cx="2006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4850" y="2381250"/>
              <a:ext cx="3781425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868" y="2536508"/>
              <a:ext cx="3715322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Attempt to learn or use information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from system, </a:t>
              </a: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without affecting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system resources or operations.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" y="3584258"/>
              <a:ext cx="2409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Attack Methods: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3952875"/>
              <a:ext cx="3781425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95350" y="4206875"/>
              <a:ext cx="228599" cy="177800"/>
              <a:chOff x="895350" y="4206875"/>
              <a:chExt cx="228599" cy="177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95350" y="4206875"/>
                <a:ext cx="2285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77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152400"/>
                    </a:lnTo>
                    <a:cubicBezTo>
                      <a:pt x="228599" y="166428"/>
                      <a:pt x="217227" y="177800"/>
                      <a:pt x="203199" y="177800"/>
                    </a:cubicBezTo>
                    <a:lnTo>
                      <a:pt x="25400" y="177800"/>
                    </a:lnTo>
                    <a:cubicBezTo>
                      <a:pt x="11372" y="177800"/>
                      <a:pt x="0" y="166428"/>
                      <a:pt x="0" y="152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95350" y="4232275"/>
                <a:ext cx="2285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6200">
                    <a:moveTo>
                      <a:pt x="0" y="0"/>
                    </a:moveTo>
                    <a:lnTo>
                      <a:pt x="114300" y="76200"/>
                    </a:ln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77493" y="4155758"/>
              <a:ext cx="33168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Release of Message Contents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9017" y="4521518"/>
              <a:ext cx="3826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Eavesdropping on sensitive communications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" y="5095875"/>
              <a:ext cx="3781425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95350" y="5337175"/>
              <a:ext cx="228600" cy="212724"/>
              <a:chOff x="895350" y="5337175"/>
              <a:chExt cx="228600" cy="21272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95350" y="543877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47750" y="5387975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1550" y="5337175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8050" y="5540374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2B6CB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77493" y="5298758"/>
              <a:ext cx="18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Traffic Analysis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9017" y="5664518"/>
              <a:ext cx="4181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Observing patterns/lengths of encrypted data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334794" y="1722438"/>
              <a:ext cx="188913" cy="256382"/>
            </a:xfrm>
            <a:custGeom>
              <a:avLst/>
              <a:gdLst/>
              <a:ahLst/>
              <a:cxnLst/>
              <a:rect l="l" t="t" r="r" b="b"/>
              <a:pathLst>
                <a:path w="188913" h="256382">
                  <a:moveTo>
                    <a:pt x="94456" y="120648"/>
                  </a:moveTo>
                  <a:cubicBezTo>
                    <a:pt x="125937" y="76010"/>
                    <a:pt x="96710" y="15086"/>
                    <a:pt x="80963" y="0"/>
                  </a:cubicBezTo>
                  <a:cubicBezTo>
                    <a:pt x="80963" y="45811"/>
                    <a:pt x="50804" y="71504"/>
                    <a:pt x="31481" y="90489"/>
                  </a:cubicBezTo>
                  <a:cubicBezTo>
                    <a:pt x="12185" y="109489"/>
                    <a:pt x="0" y="134938"/>
                    <a:pt x="0" y="165893"/>
                  </a:cubicBezTo>
                  <a:cubicBezTo>
                    <a:pt x="0" y="215874"/>
                    <a:pt x="42290" y="256382"/>
                    <a:pt x="94456" y="256382"/>
                  </a:cubicBezTo>
                  <a:cubicBezTo>
                    <a:pt x="146623" y="256382"/>
                    <a:pt x="188913" y="215874"/>
                    <a:pt x="188913" y="165893"/>
                  </a:cubicBezTo>
                  <a:cubicBezTo>
                    <a:pt x="188913" y="142791"/>
                    <a:pt x="172289" y="106479"/>
                    <a:pt x="157432" y="90489"/>
                  </a:cubicBezTo>
                  <a:cubicBezTo>
                    <a:pt x="129311" y="135734"/>
                    <a:pt x="113483" y="135734"/>
                    <a:pt x="94456" y="120648"/>
                  </a:cubicBezTo>
                </a:path>
              </a:pathLst>
            </a:custGeom>
            <a:noFill/>
            <a:ln w="26988">
              <a:solidFill>
                <a:srgbClr val="FFB80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6331" y="1748790"/>
              <a:ext cx="18661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67325" y="2381250"/>
              <a:ext cx="3781425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11343" y="2536508"/>
              <a:ext cx="3713226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Attempt to </a:t>
              </a: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modify data streams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or create false streams to disrupt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system resources and operations.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58943" y="3584258"/>
              <a:ext cx="2409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Attack Methods: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67325" y="3952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476875" y="4129088"/>
              <a:ext cx="177801" cy="211138"/>
              <a:chOff x="5476875" y="4129088"/>
              <a:chExt cx="177801" cy="21113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499100" y="41290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476875" y="4262438"/>
                <a:ext cx="83344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3344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599113" y="42846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55563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599113" y="42846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402580" y="4457700"/>
              <a:ext cx="123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Masquerade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04485" y="4717256"/>
              <a:ext cx="1440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Pretending identity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239000" y="3952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426325" y="4135913"/>
              <a:ext cx="177801" cy="186375"/>
              <a:chOff x="7426325" y="4135913"/>
              <a:chExt cx="177801" cy="1863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426325" y="41359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426325" y="42402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374255" y="4457700"/>
              <a:ext cx="1438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Replay Attack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6160" y="4717256"/>
              <a:ext cx="1508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Retransmitting data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67325" y="5095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465763" y="5272088"/>
              <a:ext cx="155575" cy="200026"/>
              <a:chOff x="5465763" y="5272088"/>
              <a:chExt cx="155575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565775" y="52720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465763" y="52720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510213" y="53387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510213" y="5383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510213" y="54276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402580" y="5600700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Modifying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04485" y="5860256"/>
              <a:ext cx="1260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Altering message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239000" y="5095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403154" y="5268396"/>
              <a:ext cx="224134" cy="192560"/>
              <a:chOff x="7403154" y="526839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515225" y="53387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403154" y="52683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15225" y="5416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374255" y="5600700"/>
              <a:ext cx="1149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DoS Attack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76160" y="5860256"/>
              <a:ext cx="12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Denying facilities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986038" cy="874204"/>
            <a:chOff x="462534" y="375285"/>
            <a:chExt cx="5986038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980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Release of Message Contents &amp;amp; Traffic Analysis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476250" y="1524000"/>
            <a:ext cx="9046921" cy="4857750"/>
            <a:chOff x="476250" y="1524000"/>
            <a:chExt cx="9046921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45344" y="1916906"/>
              <a:ext cx="214312" cy="166688"/>
              <a:chOff x="845344" y="1916906"/>
              <a:chExt cx="214312" cy="1666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45344" y="1916906"/>
                <a:ext cx="214312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66688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90500" y="0"/>
                    </a:lnTo>
                    <a:cubicBezTo>
                      <a:pt x="203651" y="0"/>
                      <a:pt x="214312" y="10661"/>
                      <a:pt x="214312" y="23812"/>
                    </a:cubicBezTo>
                    <a:lnTo>
                      <a:pt x="214312" y="142875"/>
                    </a:lnTo>
                    <a:cubicBezTo>
                      <a:pt x="214312" y="156026"/>
                      <a:pt x="203651" y="166688"/>
                      <a:pt x="190500" y="166688"/>
                    </a:cubicBezTo>
                    <a:lnTo>
                      <a:pt x="23812" y="166688"/>
                    </a:lnTo>
                    <a:cubicBezTo>
                      <a:pt x="10661" y="166688"/>
                      <a:pt x="0" y="156026"/>
                      <a:pt x="0" y="142875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5344" y="1940719"/>
                <a:ext cx="2143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71438">
                    <a:moveTo>
                      <a:pt x="0" y="0"/>
                    </a:moveTo>
                    <a:lnTo>
                      <a:pt x="107156" y="71438"/>
                    </a:ln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82243" y="1841182"/>
              <a:ext cx="22941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Release of Contents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4529" y="2194560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– passive attack learning sensitive contents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66750" y="2714625"/>
              <a:ext cx="3857625" cy="3286125"/>
              <a:chOff x="666750" y="2714625"/>
              <a:chExt cx="3857625" cy="3286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71550" y="3114675"/>
                <a:ext cx="533400" cy="5334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71575" y="3281363"/>
                <a:ext cx="133350" cy="200025"/>
                <a:chOff x="1171575" y="3281363"/>
                <a:chExt cx="133350" cy="2000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193800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71575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14285" y="3711892"/>
                <a:ext cx="4479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3686175" y="3114675"/>
                <a:ext cx="533400" cy="5334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3886200" y="3281363"/>
                <a:ext cx="133350" cy="200025"/>
                <a:chOff x="3886200" y="3281363"/>
                <a:chExt cx="133350" cy="2000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3908425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886200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3785617" y="3711892"/>
                <a:ext cx="3345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1619250" y="3381375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6" name="Polygon 26"/>
              <p:cNvSpPr/>
              <p:nvPr/>
            </p:nvSpPr>
            <p:spPr>
              <a:xfrm>
                <a:off x="3429000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857485" y="3156585"/>
                <a:ext cx="14285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confidential data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2571750" y="3429000"/>
                <a:ext cx="9525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0">
                    <a:moveTo>
                      <a:pt x="0" y="0"/>
                    </a:moveTo>
                    <a:lnTo>
                      <a:pt x="0" y="104775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  <a:custDash>
                  <a:ds d="240000" sp="160000"/>
                </a:custDash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286000" y="4476750"/>
                <a:ext cx="571500" cy="571500"/>
              </a:xfrm>
              <a:prstGeom prst="ellipse">
                <a:avLst/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2471738" y="4695825"/>
                <a:ext cx="200026" cy="133350"/>
                <a:chOff x="2471738" y="4695825"/>
                <a:chExt cx="200026" cy="1333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2549525" y="47402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71738" y="4695825"/>
                  <a:ext cx="200026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33350">
                      <a:moveTo>
                        <a:pt x="200026" y="66675"/>
                      </a:moveTo>
                      <a:cubicBezTo>
                        <a:pt x="173355" y="111125"/>
                        <a:pt x="140018" y="133350"/>
                        <a:pt x="100013" y="133350"/>
                      </a:cubicBezTo>
                      <a:cubicBezTo>
                        <a:pt x="60008" y="133350"/>
                        <a:pt x="26670" y="111125"/>
                        <a:pt x="0" y="66675"/>
                      </a:cubicBezTo>
                      <a:cubicBezTo>
                        <a:pt x="26670" y="22225"/>
                        <a:pt x="60008" y="0"/>
                        <a:pt x="100013" y="0"/>
                      </a:cubicBezTo>
                      <a:cubicBezTo>
                        <a:pt x="140018" y="0"/>
                        <a:pt x="173355" y="22225"/>
                        <a:pt x="200026" y="66675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693133" y="5121592"/>
                <a:ext cx="17572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Trudy (eavesdrop)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62272" y="5457825"/>
                <a:ext cx="26189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Reads sensitive plaintext</a:t>
                </a:r>
              </a:p>
            </p:txBody>
          </p:sp>
        </p:grpSp>
        <p:sp>
          <p:nvSpPr>
            <p:cNvPr id="36" name="Rectangle 36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5229225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407819" y="1905000"/>
              <a:ext cx="214313" cy="200025"/>
              <a:chOff x="5407819" y="1905000"/>
              <a:chExt cx="214313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407819" y="2000250"/>
                <a:ext cx="7143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83344"/>
                    </a:lnTo>
                    <a:cubicBezTo>
                      <a:pt x="71438" y="89919"/>
                      <a:pt x="66107" y="95250"/>
                      <a:pt x="59531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550694" y="1952625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30969"/>
                    </a:lnTo>
                    <a:cubicBezTo>
                      <a:pt x="71438" y="137544"/>
                      <a:pt x="66107" y="142875"/>
                      <a:pt x="59531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479256" y="1905000"/>
                <a:ext cx="7143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90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78594"/>
                    </a:lnTo>
                    <a:cubicBezTo>
                      <a:pt x="71438" y="185169"/>
                      <a:pt x="66107" y="190500"/>
                      <a:pt x="59531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419725" y="209550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744718" y="1841182"/>
              <a:ext cx="18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Traffic Analysis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47004" y="219456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– passive attack observing pattern &amp; frequency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5229225" y="2714625"/>
              <a:ext cx="3857625" cy="3286125"/>
              <a:chOff x="5229225" y="2714625"/>
              <a:chExt cx="3857625" cy="3286125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229225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5534025" y="3114675"/>
                <a:ext cx="533400" cy="5334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5734050" y="3281363"/>
                <a:ext cx="133350" cy="200025"/>
                <a:chOff x="5734050" y="3281363"/>
                <a:chExt cx="133350" cy="20002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5756275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734050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5576760" y="3711892"/>
                <a:ext cx="4479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8248650" y="3114675"/>
                <a:ext cx="533400" cy="5334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448675" y="3281363"/>
                <a:ext cx="133350" cy="200025"/>
                <a:chOff x="8448675" y="3281363"/>
                <a:chExt cx="133350" cy="200025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8470900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448675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8348092" y="3711892"/>
                <a:ext cx="3345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6181725" y="3381375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57" name="Polygon 57"/>
              <p:cNvSpPr/>
              <p:nvPr/>
            </p:nvSpPr>
            <p:spPr>
              <a:xfrm>
                <a:off x="7991475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77555" y="3156585"/>
                <a:ext cx="15133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*** encrypted ***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134225" y="3429000"/>
                <a:ext cx="9525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0">
                    <a:moveTo>
                      <a:pt x="0" y="0"/>
                    </a:moveTo>
                    <a:lnTo>
                      <a:pt x="0" y="104775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  <a:custDash>
                  <a:ds d="240000" sp="160000"/>
                </a:custDash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848475" y="4476750"/>
                <a:ext cx="571500" cy="571500"/>
              </a:xfrm>
              <a:prstGeom prst="ellipse">
                <a:avLst/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7034213" y="4662488"/>
                <a:ext cx="200026" cy="200026"/>
                <a:chOff x="7034213" y="4662488"/>
                <a:chExt cx="200026" cy="200026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7109823" y="4746798"/>
                  <a:ext cx="40115" cy="40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15" h="40110">
                      <a:moveTo>
                        <a:pt x="8678" y="0"/>
                      </a:moveTo>
                      <a:cubicBezTo>
                        <a:pt x="0" y="8681"/>
                        <a:pt x="2" y="22754"/>
                        <a:pt x="8684" y="31432"/>
                      </a:cubicBezTo>
                      <a:cubicBezTo>
                        <a:pt x="17365" y="40110"/>
                        <a:pt x="31437" y="40107"/>
                        <a:pt x="40115" y="31426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034213" y="4695808"/>
                  <a:ext cx="200026" cy="133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33489">
                      <a:moveTo>
                        <a:pt x="152031" y="118622"/>
                      </a:moveTo>
                      <a:cubicBezTo>
                        <a:pt x="136442" y="128374"/>
                        <a:pt x="118400" y="133489"/>
                        <a:pt x="100013" y="133368"/>
                      </a:cubicBezTo>
                      <a:cubicBezTo>
                        <a:pt x="60008" y="133368"/>
                        <a:pt x="26670" y="111143"/>
                        <a:pt x="0" y="66693"/>
                      </a:cubicBezTo>
                      <a:cubicBezTo>
                        <a:pt x="14135" y="43134"/>
                        <a:pt x="30137" y="25821"/>
                        <a:pt x="48006" y="14753"/>
                      </a:cubicBezTo>
                      <a:moveTo>
                        <a:pt x="79788" y="2018"/>
                      </a:moveTo>
                      <a:cubicBezTo>
                        <a:pt x="86445" y="670"/>
                        <a:pt x="93221" y="0"/>
                        <a:pt x="100013" y="18"/>
                      </a:cubicBezTo>
                      <a:cubicBezTo>
                        <a:pt x="140018" y="18"/>
                        <a:pt x="173355" y="22243"/>
                        <a:pt x="200026" y="66693"/>
                      </a:cubicBezTo>
                      <a:cubicBezTo>
                        <a:pt x="192625" y="79028"/>
                        <a:pt x="184701" y="89662"/>
                        <a:pt x="176267" y="98586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7034213" y="4662488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0"/>
                      </a:moveTo>
                      <a:lnTo>
                        <a:pt x="200026" y="200026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069555" y="5121592"/>
                <a:ext cx="2129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Trudy (pattern check)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538256" y="5457825"/>
                <a:ext cx="3191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Guesses nature via timing/size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603283" cy="874204"/>
            <a:chOff x="462534" y="375285"/>
            <a:chExt cx="460328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59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Masquerade Attack &amp;amp; Replay Attack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81062" y="1893094"/>
              <a:ext cx="190500" cy="226218"/>
              <a:chOff x="881062" y="1893094"/>
              <a:chExt cx="190500" cy="22621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04875" y="1893094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81062" y="2035969"/>
                <a:ext cx="89297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89297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89297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12031" y="2059781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59531" y="59531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2031" y="2059781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59531"/>
                    </a:moveTo>
                    <a:lnTo>
                      <a:pt x="59531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82243" y="1841182"/>
              <a:ext cx="2201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Masquerade Attack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4529" y="219456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– unauthorized party pretends to be authorized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66750" y="2714625"/>
              <a:ext cx="4040315" cy="3286125"/>
              <a:chOff x="666750" y="2714625"/>
              <a:chExt cx="4040315" cy="3286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047750" y="3095625"/>
                <a:ext cx="571500" cy="571500"/>
              </a:xfrm>
              <a:prstGeom prst="ellipse">
                <a:avLst/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62062" y="3274219"/>
                <a:ext cx="190500" cy="226218"/>
                <a:chOff x="1262062" y="3274219"/>
                <a:chExt cx="190500" cy="226218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85875" y="32742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23812">
                  <a:solidFill>
                    <a:srgbClr val="FFB80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62062" y="3417094"/>
                  <a:ext cx="89297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97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89297" y="0"/>
                      </a:lnTo>
                    </a:path>
                  </a:pathLst>
                </a:custGeom>
                <a:noFill/>
                <a:ln w="23812">
                  <a:solidFill>
                    <a:srgbClr val="FFB800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393031" y="3440906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59531" y="5953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FFB800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393031" y="3440906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0" y="59531"/>
                      </a:moveTo>
                      <a:lnTo>
                        <a:pt x="59531" y="0"/>
                      </a:lnTo>
                    </a:path>
                  </a:pathLst>
                </a:custGeom>
                <a:noFill/>
                <a:ln w="23812">
                  <a:solidFill>
                    <a:srgbClr val="FFB800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061289" y="3711892"/>
                <a:ext cx="5444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Trudy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905000" y="3114675"/>
                <a:ext cx="15240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50717" y="3229928"/>
                <a:ext cx="10325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“This message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124610" y="3420428"/>
                <a:ext cx="10847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is from Alice.”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3429000" y="3381375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3714750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3733800" y="3114675"/>
                <a:ext cx="533400" cy="5334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933825" y="3281363"/>
                <a:ext cx="133350" cy="200025"/>
                <a:chOff x="3933825" y="3281363"/>
                <a:chExt cx="133350" cy="20002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3956050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933825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833242" y="3711892"/>
                <a:ext cx="3345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57250" y="4143375"/>
                <a:ext cx="3476625" cy="1666875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1021404" y="4363521"/>
                <a:ext cx="224134" cy="192560"/>
                <a:chOff x="1021404" y="4363521"/>
                <a:chExt cx="224134" cy="19256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133475" y="4433888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22225">
                  <a:solidFill>
                    <a:srgbClr val="2B6CB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21404" y="4363521"/>
                  <a:ext cx="224134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4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3"/>
                      </a:cubicBezTo>
                      <a:cubicBezTo>
                        <a:pt x="7482" y="188388"/>
                        <a:pt x="14426" y="192476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3" y="192473"/>
                        <a:pt x="216653" y="188387"/>
                        <a:pt x="220393" y="181826"/>
                      </a:cubicBezTo>
                      <a:cubicBezTo>
                        <a:pt x="224134" y="175264"/>
                        <a:pt x="224114" y="167211"/>
                        <a:pt x="220341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10" y="0"/>
                        <a:pt x="112071" y="0"/>
                      </a:cubicBezTo>
                      <a:cubicBezTo>
                        <a:pt x="104633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22225">
                  <a:solidFill>
                    <a:srgbClr val="2B6CB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133475" y="45116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22225">
                  <a:solidFill>
                    <a:srgbClr val="2B6CB0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1373505" y="4362450"/>
                <a:ext cx="17981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Identity Spoofing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91743" y="4774882"/>
                <a:ext cx="3715322" cy="932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Trudy crafts messages appearing to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originate from Alice to gain trust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and execute unauthorized actions.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5229225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419725" y="1900406"/>
              <a:ext cx="190500" cy="199688"/>
              <a:chOff x="5419725" y="1900406"/>
              <a:chExt cx="190500" cy="19968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419725" y="1900406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419725" y="2012156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744718" y="1841182"/>
              <a:ext cx="1582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Replay Attack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47004" y="2194560"/>
              <a:ext cx="323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– captures data unit &amp; retransmits later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5229225" y="2714625"/>
              <a:ext cx="3987927" cy="3286125"/>
              <a:chOff x="5229225" y="2714625"/>
              <a:chExt cx="3987927" cy="3286125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229225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5572125" y="3009900"/>
                <a:ext cx="457200" cy="4572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5743575" y="3152775"/>
                <a:ext cx="114300" cy="171450"/>
                <a:chOff x="5743575" y="3152775"/>
                <a:chExt cx="114300" cy="17145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5762625" y="31527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5743575" y="3267075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76200" y="0"/>
                      </a:lnTo>
                      <a:cubicBezTo>
                        <a:pt x="97242" y="0"/>
                        <a:pt x="114300" y="17058"/>
                        <a:pt x="114300" y="38100"/>
                      </a:cubicBezTo>
                      <a:lnTo>
                        <a:pt x="114300" y="571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5601645" y="3489960"/>
                <a:ext cx="398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8286750" y="3009900"/>
                <a:ext cx="457200" cy="4572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8458200" y="3152775"/>
                <a:ext cx="114300" cy="171450"/>
                <a:chOff x="8458200" y="3152775"/>
                <a:chExt cx="114300" cy="17145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8477250" y="31527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458200" y="3267075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76200" y="0"/>
                      </a:lnTo>
                      <a:cubicBezTo>
                        <a:pt x="97242" y="0"/>
                        <a:pt x="114300" y="17058"/>
                        <a:pt x="114300" y="38100"/>
                      </a:cubicBezTo>
                      <a:lnTo>
                        <a:pt x="114300" y="571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8366676" y="3489960"/>
                <a:ext cx="297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867525" y="3876675"/>
                <a:ext cx="533400" cy="533400"/>
              </a:xfrm>
              <a:prstGeom prst="ellipse">
                <a:avLst/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045325" y="4050188"/>
                <a:ext cx="177801" cy="186375"/>
                <a:chOff x="7045325" y="4050188"/>
                <a:chExt cx="177801" cy="18637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7045325" y="4050188"/>
                  <a:ext cx="177801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82075">
                      <a:moveTo>
                        <a:pt x="177801" y="82075"/>
                      </a:moveTo>
                      <a:cubicBezTo>
                        <a:pt x="172214" y="41876"/>
                        <a:pt x="140416" y="10388"/>
                        <a:pt x="100165" y="5194"/>
                      </a:cubicBezTo>
                      <a:cubicBezTo>
                        <a:pt x="59913" y="0"/>
                        <a:pt x="21164" y="22386"/>
                        <a:pt x="5556" y="59850"/>
                      </a:cubicBezTo>
                      <a:moveTo>
                        <a:pt x="0" y="15400"/>
                      </a:moveTo>
                      <a:lnTo>
                        <a:pt x="0" y="59850"/>
                      </a:lnTo>
                      <a:lnTo>
                        <a:pt x="44450" y="5985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045325" y="4154488"/>
                  <a:ext cx="177801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82075">
                      <a:moveTo>
                        <a:pt x="0" y="0"/>
                      </a:moveTo>
                      <a:cubicBezTo>
                        <a:pt x="5587" y="40199"/>
                        <a:pt x="37384" y="71688"/>
                        <a:pt x="77636" y="76881"/>
                      </a:cubicBezTo>
                      <a:cubicBezTo>
                        <a:pt x="117888" y="82075"/>
                        <a:pt x="156637" y="59689"/>
                        <a:pt x="172244" y="22225"/>
                      </a:cubicBezTo>
                      <a:moveTo>
                        <a:pt x="177801" y="66675"/>
                      </a:moveTo>
                      <a:lnTo>
                        <a:pt x="177801" y="22225"/>
                      </a:lnTo>
                      <a:lnTo>
                        <a:pt x="133350" y="2222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6560946" y="4442460"/>
                <a:ext cx="11465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Trudy (sniff)</a:t>
                </a: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6181725" y="3238500"/>
                <a:ext cx="95250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619125">
                    <a:moveTo>
                      <a:pt x="0" y="0"/>
                    </a:moveTo>
                    <a:cubicBezTo>
                      <a:pt x="635000" y="0"/>
                      <a:pt x="952500" y="206375"/>
                      <a:pt x="952500" y="619125"/>
                    </a:cubicBezTo>
                  </a:path>
                </a:pathLst>
              </a:custGeom>
              <a:noFill/>
              <a:ln w="19050">
                <a:solidFill>
                  <a:srgbClr val="FFB800"/>
                </a:solidFill>
                <a:custDash>
                  <a:ds d="200000" sp="150000"/>
                </a:custDash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134225" y="3476625"/>
                <a:ext cx="1238250" cy="7937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793750">
                    <a:moveTo>
                      <a:pt x="0" y="666750"/>
                    </a:moveTo>
                    <a:cubicBezTo>
                      <a:pt x="508000" y="793750"/>
                      <a:pt x="920750" y="571500"/>
                      <a:pt x="1238250" y="0"/>
                    </a:cubicBez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67" name="Polygon 67"/>
              <p:cNvSpPr/>
              <p:nvPr/>
            </p:nvSpPr>
            <p:spPr>
              <a:xfrm>
                <a:off x="8277225" y="34290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142875" y="0"/>
                    </a:moveTo>
                    <a:lnTo>
                      <a:pt x="0" y="95250"/>
                    </a:lnTo>
                    <a:lnTo>
                      <a:pt x="95250" y="19050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986141" y="4030028"/>
                <a:ext cx="8195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retransmit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5419725" y="4762500"/>
                <a:ext cx="3476625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554218" y="4965382"/>
                <a:ext cx="36629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Trudy intercepts valid packets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and replays them to repeat orders.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46110" cy="874204"/>
            <a:chOff x="462534" y="375285"/>
            <a:chExt cx="584611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40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Modifying Messages &amp;amp; Denial-of-Service (DoS)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476250" y="1524000"/>
            <a:ext cx="8885377" cy="4857750"/>
            <a:chOff x="476250" y="1524000"/>
            <a:chExt cx="8885377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9156" y="1893094"/>
              <a:ext cx="166688" cy="214312"/>
              <a:chOff x="869156" y="1893094"/>
              <a:chExt cx="166688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76312" y="1893094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9156" y="1893094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6781" y="1964531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16781" y="2012156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6781" y="2059781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82243" y="1841182"/>
              <a:ext cx="2258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Modifying Messages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4529" y="2194560"/>
              <a:ext cx="3897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– alters, delays, or reorders legitimate message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66750" y="2714625"/>
              <a:ext cx="3966972" cy="3286125"/>
              <a:chOff x="666750" y="2714625"/>
              <a:chExt cx="3966972" cy="32861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66750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990600" y="3133725"/>
                <a:ext cx="495300" cy="4953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176337" y="3288506"/>
                <a:ext cx="123825" cy="185737"/>
                <a:chOff x="1176337" y="3288506"/>
                <a:chExt cx="123825" cy="185737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196975" y="32885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76337" y="34123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039170" y="3680460"/>
                <a:ext cx="398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2305050" y="3114675"/>
                <a:ext cx="533400" cy="533400"/>
              </a:xfrm>
              <a:prstGeom prst="ellipse">
                <a:avLst/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2471738" y="3303588"/>
                <a:ext cx="200025" cy="166688"/>
                <a:chOff x="2471738" y="3303588"/>
                <a:chExt cx="200025" cy="166688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2538413" y="3303588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44450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445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2516188" y="3348038"/>
                  <a:ext cx="11112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2238">
                      <a:moveTo>
                        <a:pt x="11113" y="0"/>
                      </a:moveTo>
                      <a:lnTo>
                        <a:pt x="100013" y="0"/>
                      </a:lnTo>
                      <a:cubicBezTo>
                        <a:pt x="106631" y="9919"/>
                        <a:pt x="110469" y="21431"/>
                        <a:pt x="111125" y="33338"/>
                      </a:cubicBezTo>
                      <a:lnTo>
                        <a:pt x="111125" y="66675"/>
                      </a:lnTo>
                      <a:cubicBezTo>
                        <a:pt x="111125" y="97362"/>
                        <a:pt x="86249" y="122238"/>
                        <a:pt x="55563" y="122238"/>
                      </a:cubicBezTo>
                      <a:cubicBezTo>
                        <a:pt x="24876" y="122238"/>
                        <a:pt x="0" y="97362"/>
                        <a:pt x="0" y="66675"/>
                      </a:cubicBezTo>
                      <a:lnTo>
                        <a:pt x="0" y="33338"/>
                      </a:lnTo>
                      <a:cubicBezTo>
                        <a:pt x="656" y="21431"/>
                        <a:pt x="4494" y="9919"/>
                        <a:pt x="11113" y="0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2471738" y="3392488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2627313" y="3392488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571750" y="3403600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666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482850" y="3436938"/>
                  <a:ext cx="37227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27" h="22225">
                      <a:moveTo>
                        <a:pt x="0" y="22225"/>
                      </a:moveTo>
                      <a:lnTo>
                        <a:pt x="37227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623424" y="3436938"/>
                  <a:ext cx="37227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27" h="22225">
                      <a:moveTo>
                        <a:pt x="37227" y="222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82850" y="3325813"/>
                  <a:ext cx="41672" cy="26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26670">
                      <a:moveTo>
                        <a:pt x="0" y="0"/>
                      </a:moveTo>
                      <a:lnTo>
                        <a:pt x="41672" y="2667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618979" y="3325813"/>
                  <a:ext cx="41672" cy="26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26670">
                      <a:moveTo>
                        <a:pt x="41672" y="0"/>
                      </a:moveTo>
                      <a:lnTo>
                        <a:pt x="0" y="2667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998471" y="3680460"/>
                <a:ext cx="11465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Trudy (alter)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3705225" y="3133725"/>
                <a:ext cx="495300" cy="4953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3890962" y="3288506"/>
                <a:ext cx="123825" cy="185737"/>
                <a:chOff x="3890962" y="3288506"/>
                <a:chExt cx="123825" cy="185737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3911600" y="32885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3890962" y="34123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804201" y="3680460"/>
                <a:ext cx="297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1571625" y="3381375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41" name="Polygon 41"/>
              <p:cNvSpPr/>
              <p:nvPr/>
            </p:nvSpPr>
            <p:spPr>
              <a:xfrm>
                <a:off x="2143125" y="3314700"/>
                <a:ext cx="1238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33350">
                    <a:moveTo>
                      <a:pt x="12382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2905125" y="338137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28575">
                <a:solidFill>
                  <a:srgbClr val="5B67F2"/>
                </a:solidFill>
                <a:custDash>
                  <a:ds d="133333" sp="100000"/>
                </a:custDash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3524250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57250" y="4095750"/>
                <a:ext cx="3476625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92505" y="4267200"/>
                <a:ext cx="19248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Integrity Violation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91743" y="4632008"/>
                <a:ext cx="3641979" cy="970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lnSpc>
                    <a:spcPts val="2550"/>
                  </a:lnSpc>
                  <a:buClr>
                    <a:srgbClr val="1E293B"/>
                  </a:buClr>
                  <a:buSzTx/>
                  <a:buFontTx/>
                  <a:buChar char="•"/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Message content is rewritten</a:t>
                </a:r>
              </a:p>
              <a:p>
                <a:pPr marL="178118" indent="-178118" algn="l">
                  <a:lnSpc>
                    <a:spcPts val="2550"/>
                  </a:lnSpc>
                  <a:buClr>
                    <a:srgbClr val="1E293B"/>
                  </a:buClr>
                  <a:buSzTx/>
                  <a:buFontTx/>
                  <a:buChar char="•"/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Sequence reordered/delayed</a:t>
                </a:r>
              </a:p>
              <a:p>
                <a:pPr marL="178118" indent="-178118" algn="l">
                  <a:lnSpc>
                    <a:spcPts val="2550"/>
                  </a:lnSpc>
                  <a:buClr>
                    <a:srgbClr val="1E293B"/>
                  </a:buClr>
                  <a:buSzTx/>
                  <a:buFontTx/>
                  <a:buChar char="•"/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Bob receives corrupted commands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5229225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394899" y="1889138"/>
              <a:ext cx="240143" cy="206314"/>
              <a:chOff x="5394899" y="1889138"/>
              <a:chExt cx="240143" cy="20631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514975" y="1964531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394899" y="1889138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514975" y="2047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744718" y="1841182"/>
              <a:ext cx="27680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Denial-of-Service (DoS)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47004" y="2194560"/>
              <a:ext cx="3614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– prevents or inhibits normal use of facilities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5229225" y="2714625"/>
              <a:ext cx="3883152" cy="3286125"/>
              <a:chOff x="5229225" y="2714625"/>
              <a:chExt cx="3883152" cy="3286125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229225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5553075" y="3133725"/>
                <a:ext cx="495300" cy="4953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5738812" y="3288506"/>
                <a:ext cx="123825" cy="185737"/>
                <a:chOff x="5738812" y="3288506"/>
                <a:chExt cx="123825" cy="185737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5759450" y="32885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5738812" y="34123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5601645" y="3680460"/>
                <a:ext cx="398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6867525" y="4067175"/>
                <a:ext cx="533400" cy="533400"/>
              </a:xfrm>
              <a:prstGeom prst="ellipse">
                <a:avLst/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56438" y="4222750"/>
                <a:ext cx="155575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11138">
                    <a:moveTo>
                      <a:pt x="77788" y="99357"/>
                    </a:moveTo>
                    <a:cubicBezTo>
                      <a:pt x="103713" y="62597"/>
                      <a:pt x="79644" y="12424"/>
                      <a:pt x="66675" y="0"/>
                    </a:cubicBezTo>
                    <a:cubicBezTo>
                      <a:pt x="66675" y="37727"/>
                      <a:pt x="41839" y="58885"/>
                      <a:pt x="25926" y="74521"/>
                    </a:cubicBezTo>
                    <a:cubicBezTo>
                      <a:pt x="10035" y="90167"/>
                      <a:pt x="0" y="111125"/>
                      <a:pt x="0" y="136617"/>
                    </a:cubicBezTo>
                    <a:cubicBezTo>
                      <a:pt x="0" y="177778"/>
                      <a:pt x="34827" y="211138"/>
                      <a:pt x="77788" y="211138"/>
                    </a:cubicBezTo>
                    <a:cubicBezTo>
                      <a:pt x="120749" y="211138"/>
                      <a:pt x="155575" y="177778"/>
                      <a:pt x="155575" y="136617"/>
                    </a:cubicBezTo>
                    <a:cubicBezTo>
                      <a:pt x="155575" y="117593"/>
                      <a:pt x="141885" y="87689"/>
                      <a:pt x="129650" y="74521"/>
                    </a:cubicBezTo>
                    <a:cubicBezTo>
                      <a:pt x="106491" y="111781"/>
                      <a:pt x="93456" y="111781"/>
                      <a:pt x="77788" y="99357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560946" y="4632960"/>
                <a:ext cx="11465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Trudy (flood)</a:t>
                </a:r>
              </a:p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267700" y="3133725"/>
                <a:ext cx="495300" cy="495300"/>
              </a:xfrm>
              <a:prstGeom prst="ellipse">
                <a:avLst/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8422481" y="3298825"/>
                <a:ext cx="185737" cy="165100"/>
                <a:chOff x="8422481" y="3298825"/>
                <a:chExt cx="185737" cy="16510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8422481" y="3298825"/>
                  <a:ext cx="18573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82550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7" y="0"/>
                        <a:pt x="185737" y="13860"/>
                        <a:pt x="185737" y="30956"/>
                      </a:cubicBezTo>
                      <a:lnTo>
                        <a:pt x="185737" y="51594"/>
                      </a:lnTo>
                      <a:cubicBezTo>
                        <a:pt x="185737" y="68690"/>
                        <a:pt x="171877" y="82550"/>
                        <a:pt x="154781" y="82550"/>
                      </a:cubicBezTo>
                      <a:lnTo>
                        <a:pt x="30956" y="82550"/>
                      </a:lnTo>
                      <a:cubicBezTo>
                        <a:pt x="13860" y="82550"/>
                        <a:pt x="0" y="68690"/>
                        <a:pt x="0" y="51594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422481" y="3381375"/>
                  <a:ext cx="18573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82550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7" y="0"/>
                        <a:pt x="185737" y="13860"/>
                        <a:pt x="185737" y="30956"/>
                      </a:cubicBezTo>
                      <a:lnTo>
                        <a:pt x="185737" y="51594"/>
                      </a:lnTo>
                      <a:cubicBezTo>
                        <a:pt x="185737" y="68690"/>
                        <a:pt x="171877" y="82550"/>
                        <a:pt x="154781" y="82550"/>
                      </a:cubicBezTo>
                      <a:lnTo>
                        <a:pt x="30956" y="82550"/>
                      </a:lnTo>
                      <a:cubicBezTo>
                        <a:pt x="13860" y="82550"/>
                        <a:pt x="0" y="68690"/>
                        <a:pt x="0" y="51594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463756" y="3340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8463756" y="34226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7985402" y="3680460"/>
                <a:ext cx="1059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Bob / Server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6134100" y="33813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7324725" y="3190875"/>
                <a:ext cx="133350" cy="381000"/>
              </a:xfrm>
              <a:prstGeom prst="roundRect">
                <a:avLst>
                  <a:gd name="adj" fmla="val 28571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996603" y="3609499"/>
                <a:ext cx="78959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X (Blocked)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5419725" y="4953000"/>
                <a:ext cx="3476625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5554218" y="5108258"/>
                <a:ext cx="35581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Server overloaded, denying access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to legitimate authorized users.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496452" cy="874204"/>
            <a:chOff x="462534" y="375285"/>
            <a:chExt cx="4496452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491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CIA Triad: Confidentiality and Integrity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72319" y="1735931"/>
              <a:ext cx="188913" cy="242889"/>
              <a:chOff x="772319" y="1735931"/>
              <a:chExt cx="188913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72319" y="1843882"/>
                <a:ext cx="188913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34938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61925" y="0"/>
                    </a:lnTo>
                    <a:cubicBezTo>
                      <a:pt x="176830" y="0"/>
                      <a:pt x="188913" y="12083"/>
                      <a:pt x="188913" y="26988"/>
                    </a:cubicBezTo>
                    <a:lnTo>
                      <a:pt x="188913" y="107950"/>
                    </a:lnTo>
                    <a:cubicBezTo>
                      <a:pt x="188913" y="122855"/>
                      <a:pt x="176830" y="134938"/>
                      <a:pt x="161925" y="134938"/>
                    </a:cubicBezTo>
                    <a:lnTo>
                      <a:pt x="26988" y="134938"/>
                    </a:lnTo>
                    <a:cubicBezTo>
                      <a:pt x="12083" y="134938"/>
                      <a:pt x="0" y="122855"/>
                      <a:pt x="0" y="107950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3282" y="189785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2800" y="17359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107950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cubicBezTo>
                      <a:pt x="83785" y="0"/>
                      <a:pt x="107950" y="24165"/>
                      <a:pt x="107950" y="53975"/>
                    </a:cubicBezTo>
                    <a:lnTo>
                      <a:pt x="107950" y="10795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33856" y="1748790"/>
              <a:ext cx="1869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Confidentiality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6468" y="2393632"/>
              <a:ext cx="2609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Core Mandate &amp; Scope: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868" y="2965132"/>
              <a:ext cx="373627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Preserves authorized restrictions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on information access &amp; disclosure.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Protects personal privacy and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proprietary business records.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8868" y="4584382"/>
              <a:ext cx="3107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Protection Mechanism: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8868" y="4965382"/>
              <a:ext cx="395630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Prevents unauthorized reading,</a:t>
              </a:r>
              <a:br/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network interception, or data leakage</a:t>
              </a:r>
              <a:br/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to unintended malicious recipients.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289596" y="1735931"/>
              <a:ext cx="263510" cy="242888"/>
              <a:chOff x="5289596" y="1735931"/>
              <a:chExt cx="263510" cy="2428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289596" y="17359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469732" y="192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696331" y="17487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Integrity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8943" y="2393632"/>
              <a:ext cx="2609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Core Mandate &amp; Scope: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67325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11724" y="2973229"/>
              <a:ext cx="3838575" cy="12224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Guards against improper modification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or malicious destruction of data.</a:t>
              </a:r>
            </a:p>
            <a:p>
              <a:pPr marL="170561" indent="-170561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Ensures information is changed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only in an authorized manner.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67325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11343" y="4584382"/>
              <a:ext cx="3107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Protection Mechanism: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1343" y="4965382"/>
              <a:ext cx="355815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Guarantees data and software</a:t>
              </a:r>
              <a:br/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are authentic, accurate, and free</a:t>
              </a:r>
              <a:br/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from unauthorized tampering.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64386" cy="874204"/>
            <a:chOff x="462534" y="375285"/>
            <a:chExt cx="5864386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59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CIA Triad: Availability and Complete Triad Synthesis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6250" y="1524000"/>
            <a:ext cx="9167283" cy="4857750"/>
            <a:chOff x="476250" y="1524000"/>
            <a:chExt cx="9167283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45331" y="1749425"/>
              <a:ext cx="242888" cy="215900"/>
              <a:chOff x="745331" y="1749425"/>
              <a:chExt cx="242888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45331" y="17494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5331" y="185737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9306" y="180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9306" y="19113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33856" y="1748790"/>
              <a:ext cx="1385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Availability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" y="2393632"/>
              <a:ext cx="2609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Core Mandate &amp; Scope: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868" y="2965132"/>
              <a:ext cx="379914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Ensures timely and reliable access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to and use of information.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Guarantees systems work promptly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without denial of service.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868" y="4584382"/>
              <a:ext cx="3107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Protection Mechanism: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8868" y="4965382"/>
              <a:ext cx="393534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Protects against server outages,</a:t>
              </a:r>
              <a:br/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network DoS floods, hardware faults,</a:t>
              </a:r>
              <a:br/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and resource exhaustion bottlenecks.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89596" y="1735931"/>
              <a:ext cx="263510" cy="242888"/>
              <a:chOff x="5289596" y="1735931"/>
              <a:chExt cx="263510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289596" y="17359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469732" y="192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696331" y="1748790"/>
              <a:ext cx="1941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Triad Synthesis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8943" y="2393632"/>
              <a:ext cx="43845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Three Pillars of Information Security: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67325" y="2762250"/>
              <a:ext cx="3781425" cy="3333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11724" y="3020854"/>
              <a:ext cx="3903288" cy="261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8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1. Confidentiality (C):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Keeping secrets secret.</a:t>
              </a:r>
            </a:p>
            <a:p>
              <a:pPr algn="l">
                <a:lnSpc>
                  <a:spcPts val="2250"/>
                </a:lnSpc>
                <a:spcBef>
                  <a:spcPts val="750"/>
                </a:spcBef>
              </a:pPr>
              <a:r>
                <a:rPr lang="en-US" sz="158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2. Integrity (I):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Keeping info unaltered.</a:t>
              </a:r>
            </a:p>
            <a:p>
              <a:pPr algn="l">
                <a:lnSpc>
                  <a:spcPts val="2250"/>
                </a:lnSpc>
                <a:spcBef>
                  <a:spcPts val="750"/>
                </a:spcBef>
              </a:pPr>
              <a:r>
                <a:rPr lang="en-US" sz="158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3. Availability (A):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Keeping systems accessible.</a:t>
              </a:r>
            </a:p>
            <a:p>
              <a:pPr algn="l">
                <a:lnSpc>
                  <a:spcPts val="2250"/>
                </a:lnSpc>
                <a:spcBef>
                  <a:spcPts val="900"/>
                </a:spcBef>
              </a:pPr>
              <a:r>
                <a:rPr lang="en-US" sz="158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Together, they form the cornerstone</a:t>
              </a:r>
              <a:br/>
              <a:r>
                <a:rPr lang="en-US" sz="158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of all security policy designs.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59469" cy="874204"/>
            <a:chOff x="462534" y="375285"/>
            <a:chExt cx="515946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154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Other Goals: Accountability and Authenticity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76250" y="1524000"/>
            <a:ext cx="8880920" cy="4857750"/>
            <a:chOff x="476250" y="1524000"/>
            <a:chExt cx="888092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46006" y="1734047"/>
              <a:ext cx="248987" cy="254704"/>
              <a:chOff x="746006" y="1734047"/>
              <a:chExt cx="248987" cy="2547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6775" y="1803400"/>
                <a:ext cx="26988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80963">
                    <a:moveTo>
                      <a:pt x="0" y="0"/>
                    </a:moveTo>
                    <a:lnTo>
                      <a:pt x="0" y="53975"/>
                    </a:lnTo>
                    <a:lnTo>
                      <a:pt x="26988" y="80963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6006" y="1734047"/>
                <a:ext cx="248987" cy="254704"/>
              </a:xfrm>
              <a:custGeom>
                <a:avLst/>
                <a:gdLst/>
                <a:ahLst/>
                <a:cxnLst/>
                <a:rect l="l" t="t" r="r" b="b"/>
                <a:pathLst>
                  <a:path w="248987" h="254704">
                    <a:moveTo>
                      <a:pt x="0" y="109835"/>
                    </a:moveTo>
                    <a:cubicBezTo>
                      <a:pt x="6260" y="48377"/>
                      <a:pt x="57660" y="1411"/>
                      <a:pt x="119432" y="706"/>
                    </a:cubicBezTo>
                    <a:cubicBezTo>
                      <a:pt x="181204" y="0"/>
                      <a:pt x="233663" y="45779"/>
                      <a:pt x="241325" y="107078"/>
                    </a:cubicBezTo>
                    <a:cubicBezTo>
                      <a:pt x="248987" y="168377"/>
                      <a:pt x="209412" y="225661"/>
                      <a:pt x="149366" y="240183"/>
                    </a:cubicBezTo>
                    <a:cubicBezTo>
                      <a:pt x="89321" y="254704"/>
                      <a:pt x="27943" y="221836"/>
                      <a:pt x="6747" y="163810"/>
                    </a:cubicBezTo>
                    <a:moveTo>
                      <a:pt x="0" y="231279"/>
                    </a:moveTo>
                    <a:lnTo>
                      <a:pt x="0" y="163810"/>
                    </a:lnTo>
                    <a:lnTo>
                      <a:pt x="67469" y="16381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33856" y="1748790"/>
              <a:ext cx="1793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Accountability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6468" y="2393632"/>
              <a:ext cx="3073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Core Mandate &amp; Definition: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868" y="2965132"/>
              <a:ext cx="3851529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Actions of an entity must be traced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uniquely to that specific entity.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Guarantees non-repudiation and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verifiable audit trail enforcement.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868" y="4584382"/>
              <a:ext cx="3338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Operational Capabilities: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8868" y="4965382"/>
              <a:ext cx="411346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Deterrence of malicious behavior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Precise fault &amp; intrusion isolation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Forensic investigation &amp; legal evidence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348288" y="1735931"/>
              <a:ext cx="202407" cy="242889"/>
              <a:chOff x="5348288" y="1735931"/>
              <a:chExt cx="202407" cy="24288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375275" y="17359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348288" y="1897857"/>
                <a:ext cx="107950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469732" y="192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696331" y="1748790"/>
              <a:ext cx="15776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Authenticity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8943" y="2393632"/>
              <a:ext cx="3073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Core Mandate &amp; Definition: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67325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11724" y="2973229"/>
              <a:ext cx="3928872" cy="12224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Property of being genuine, verifiable,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genuinely trustworthy.</a:t>
              </a:r>
            </a:p>
            <a:p>
              <a:pPr marL="170561" indent="-170561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Complete confidence in the validity</a:t>
              </a:r>
              <a:br/>
              <a:r>
                <a:rPr lang="en-US" sz="15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of transmissions and identities.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67325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11343" y="4584382"/>
              <a:ext cx="3338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Operational Capabilities: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1343" y="4965382"/>
              <a:ext cx="394582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Reliable identity verification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Digital signature authentication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Defense against masquerade attacks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307040" cy="874204"/>
            <a:chOff x="462534" y="375285"/>
            <a:chExt cx="630704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3017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Other Goals: Reliability and Extended Trust Framework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9712" y="173593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FFB8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3856" y="1748790"/>
              <a:ext cx="1245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Reliability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6468" y="2393632"/>
              <a:ext cx="3073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Core Mandate &amp; Definition: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868" y="2965132"/>
              <a:ext cx="411346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Ensures system performs its intended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function in an unimpaired manner.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Guarantees consistent operations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free from accidental failures.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868" y="4584382"/>
              <a:ext cx="3338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Operational Capabilities: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8868" y="4965382"/>
              <a:ext cx="412394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Systematic IT security management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High-availability operational resilience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64748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Fault-tolerant system engineering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321300" y="1749425"/>
              <a:ext cx="215900" cy="215900"/>
              <a:chOff x="5321300" y="1749425"/>
              <a:chExt cx="215900" cy="2159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375275" y="17494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21300" y="18034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696331" y="1748790"/>
              <a:ext cx="2777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Extended Goals Matrix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8943" y="2393632"/>
              <a:ext cx="2920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Complete Security Model: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67325" y="2762250"/>
              <a:ext cx="3781425" cy="3333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11343" y="3012758"/>
              <a:ext cx="3285744" cy="2551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2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Confidentiality: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Authorized disclosure control</a:t>
              </a:r>
            </a:p>
            <a:p>
              <a:pPr marL="187023" indent="-187023" algn="l">
                <a:lnSpc>
                  <a:spcPts val="2250"/>
                </a:lnSpc>
                <a:spcBef>
                  <a:spcPts val="600"/>
                </a:spcBef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Integrity: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Data &amp; system authenticity</a:t>
              </a:r>
            </a:p>
            <a:p>
              <a:pPr marL="187023" indent="-187023" algn="l">
                <a:lnSpc>
                  <a:spcPts val="2250"/>
                </a:lnSpc>
                <a:spcBef>
                  <a:spcPts val="600"/>
                </a:spcBef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Availability: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Timely and usable access</a:t>
              </a:r>
            </a:p>
            <a:p>
              <a:pPr marL="187023" indent="-187023" algn="l">
                <a:lnSpc>
                  <a:spcPts val="2250"/>
                </a:lnSpc>
                <a:spcBef>
                  <a:spcPts val="600"/>
                </a:spcBef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Accountability &amp; Reliability: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Traceability &amp; operational trust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26755" cy="874204"/>
            <a:chOff x="462534" y="375285"/>
            <a:chExt cx="6426755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421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Example: Alice’s Market (AM) Case Study (CIA Analysis)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76250" y="1428750"/>
            <a:ext cx="8801100" cy="4953000"/>
            <a:chOff x="476250" y="1428750"/>
            <a:chExt cx="8801100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3905250" cy="49530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428750"/>
              <a:ext cx="3905250" cy="571500"/>
            </a:xfrm>
            <a:prstGeom prst="roundRect">
              <a:avLst>
                <a:gd name="adj" fmla="val 33333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0088" y="1629960"/>
              <a:ext cx="209550" cy="162329"/>
              <a:chOff x="700088" y="1629960"/>
              <a:chExt cx="209550" cy="16232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0088" y="1774423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0088" y="1629960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0088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0100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0113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1628775"/>
              <a:ext cx="2231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E-Commerce Scenario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468" y="2203132"/>
              <a:ext cx="3196685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launches an online store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called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“Alice’s Market (AM).”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2857500"/>
              <a:ext cx="3524250" cy="16668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243" y="3012758"/>
              <a:ext cx="444193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creates account to buy T-shirt.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Enters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credit card number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for payment.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seeks attack opportunities.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4714875"/>
              <a:ext cx="3524250" cy="1476375"/>
            </a:xfrm>
            <a:prstGeom prst="roundRect">
              <a:avLst>
                <a:gd name="adj" fmla="val 9032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2424" y="4937138"/>
              <a:ext cx="240143" cy="206314"/>
              <a:chOff x="832424" y="4937138"/>
              <a:chExt cx="240143" cy="20631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952500" y="5012531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2424" y="4937138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52500" y="5095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182243" y="4946332"/>
              <a:ext cx="17707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Trudy's Threat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243" y="5346382"/>
              <a:ext cx="371532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May steal Bob’s payment info, alter</a:t>
              </a:r>
              <a:br/>
              <a:r>
                <a:rPr lang="en-US" sz="16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order items, or take the site down.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4667250" y="1428750"/>
              <a:ext cx="4610100" cy="4953000"/>
              <a:chOff x="4667250" y="1428750"/>
              <a:chExt cx="4610100" cy="495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667250" y="1428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857750" y="1619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008563" y="1747838"/>
                <a:ext cx="155575" cy="200025"/>
                <a:chOff x="5008563" y="1747838"/>
                <a:chExt cx="15557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008563" y="18367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075238" y="18811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3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3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3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041900" y="17478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8890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8890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5420106" y="1729740"/>
                <a:ext cx="1869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Confidentiality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420868" y="2155508"/>
                <a:ext cx="3799142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Only authorized parties can access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Bob’s personal and credit card data.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667250" y="31432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857750" y="33337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4971341" y="3462338"/>
                <a:ext cx="217008" cy="200025"/>
                <a:chOff x="4971341" y="3462338"/>
                <a:chExt cx="217008" cy="20002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971341" y="3462338"/>
                  <a:ext cx="217008" cy="19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08" h="198314">
                      <a:moveTo>
                        <a:pt x="109009" y="198314"/>
                      </a:moveTo>
                      <a:cubicBezTo>
                        <a:pt x="39394" y="176735"/>
                        <a:pt x="0" y="103262"/>
                        <a:pt x="20553" y="33338"/>
                      </a:cubicBezTo>
                      <a:cubicBezTo>
                        <a:pt x="55175" y="34922"/>
                        <a:pt x="89053" y="22965"/>
                        <a:pt x="115010" y="0"/>
                      </a:cubicBezTo>
                      <a:cubicBezTo>
                        <a:pt x="140967" y="22965"/>
                        <a:pt x="174845" y="34922"/>
                        <a:pt x="209466" y="33338"/>
                      </a:cubicBezTo>
                      <a:cubicBezTo>
                        <a:pt x="217008" y="58998"/>
                        <a:pt x="216660" y="86333"/>
                        <a:pt x="208466" y="111792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119688" y="36179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5420106" y="344424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Integrity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20868" y="3870008"/>
                <a:ext cx="380961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Bob’s order and billing details remain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accurate and completely unaltered.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667250" y="4857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4857750" y="5048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4986338" y="5187950"/>
                <a:ext cx="200026" cy="177800"/>
                <a:chOff x="4986338" y="5187950"/>
                <a:chExt cx="200026" cy="1778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986338" y="51879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986338" y="52768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030788" y="5232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030788" y="53213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5420106" y="5158740"/>
                <a:ext cx="13859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Availability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420868" y="5584508"/>
                <a:ext cx="31390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Alice’s Market remains online,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responsive, and usable 24/7.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08249" cy="874204"/>
            <a:chOff x="462534" y="375285"/>
            <a:chExt cx="580824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02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Example: Alice’s Market (Extended Goals Analysis)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6250" y="1428750"/>
            <a:ext cx="8848534" cy="4953000"/>
            <a:chOff x="476250" y="1428750"/>
            <a:chExt cx="8848534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3905250" cy="49530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428750"/>
              <a:ext cx="3905250" cy="571500"/>
            </a:xfrm>
            <a:prstGeom prst="roundRect">
              <a:avLst>
                <a:gd name="adj" fmla="val 33333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0088" y="1629960"/>
              <a:ext cx="209550" cy="162329"/>
              <a:chOff x="700088" y="1629960"/>
              <a:chExt cx="209550" cy="16232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0088" y="1774423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0088" y="1629960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0088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0100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0113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1628775"/>
              <a:ext cx="1851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Extended Analysis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468" y="2203132"/>
              <a:ext cx="346019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Beyond basic CIA protection,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e-commerce platforms mandate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strict verification &amp; resilience.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3429000"/>
              <a:ext cx="352425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42963" y="3652838"/>
              <a:ext cx="200026" cy="200026"/>
              <a:chOff x="842963" y="3652838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31863" y="37417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87413" y="36972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2963" y="3652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183005" y="3648075"/>
              <a:ext cx="2360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Business Requirements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243" y="4060508"/>
              <a:ext cx="3652457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Non-repudiation of transactions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Impersonation defense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Consistent checkout performance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Unbroken transactional trust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4667250" y="1428750"/>
              <a:ext cx="4657534" cy="4953000"/>
              <a:chOff x="4667250" y="1428750"/>
              <a:chExt cx="4657534" cy="4953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667250" y="1428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857750" y="1619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4986893" y="1746286"/>
                <a:ext cx="205049" cy="209757"/>
                <a:chOff x="4986893" y="1746286"/>
                <a:chExt cx="205049" cy="209757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5086350" y="1803400"/>
                  <a:ext cx="222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66675">
                      <a:moveTo>
                        <a:pt x="0" y="0"/>
                      </a:moveTo>
                      <a:lnTo>
                        <a:pt x="0" y="44450"/>
                      </a:lnTo>
                      <a:lnTo>
                        <a:pt x="22225" y="6667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986893" y="1746286"/>
                  <a:ext cx="205049" cy="209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49" h="209757">
                      <a:moveTo>
                        <a:pt x="0" y="90452"/>
                      </a:moveTo>
                      <a:cubicBezTo>
                        <a:pt x="5156" y="39840"/>
                        <a:pt x="47484" y="1162"/>
                        <a:pt x="98356" y="581"/>
                      </a:cubicBezTo>
                      <a:cubicBezTo>
                        <a:pt x="149227" y="0"/>
                        <a:pt x="192428" y="37701"/>
                        <a:pt x="198738" y="88182"/>
                      </a:cubicBezTo>
                      <a:cubicBezTo>
                        <a:pt x="205049" y="138664"/>
                        <a:pt x="172457" y="185839"/>
                        <a:pt x="123008" y="197798"/>
                      </a:cubicBezTo>
                      <a:cubicBezTo>
                        <a:pt x="73559" y="209757"/>
                        <a:pt x="23012" y="182689"/>
                        <a:pt x="5556" y="134902"/>
                      </a:cubicBezTo>
                      <a:moveTo>
                        <a:pt x="0" y="190465"/>
                      </a:moveTo>
                      <a:lnTo>
                        <a:pt x="0" y="134902"/>
                      </a:lnTo>
                      <a:lnTo>
                        <a:pt x="55563" y="134902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420106" y="1729740"/>
                <a:ext cx="17937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Accountability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420868" y="2155508"/>
                <a:ext cx="3504200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Every order and login is logged,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uniquely traced to Bob or Trudy.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667250" y="31432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857750" y="33337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5019675" y="3462338"/>
                <a:ext cx="166688" cy="200025"/>
                <a:chOff x="5019675" y="3462338"/>
                <a:chExt cx="166688" cy="20002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5041900" y="34623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5019675" y="3595688"/>
                  <a:ext cx="889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119688" y="36179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5420106" y="3444240"/>
                <a:ext cx="1577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Authenticity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420868" y="3870008"/>
                <a:ext cx="3903916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Alice's Market verifies the purchaser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is genuinely Bob and not Trudy.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4667250" y="4857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857750" y="5048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981710" y="517683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420106" y="5158740"/>
                <a:ext cx="12458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Reliability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420868" y="5584508"/>
                <a:ext cx="37792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Transactions execute correctly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without accidental system failure.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C476FE6-8929-47A5-9A2B-4A9DFCD09E5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E5EE390-DD09-4FFF-927A-57A4AECDC918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3" name="자유형 14">
                <a:extLst>
                  <a:ext uri="{FF2B5EF4-FFF2-40B4-BE49-F238E27FC236}">
                    <a16:creationId xmlns:a16="http://schemas.microsoft.com/office/drawing/2014/main" id="{1E8613EC-D2AA-420B-9489-EDA14FD71BA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087900" y="0"/>
                <a:ext cx="7104100" cy="6574971"/>
              </a:xfrm>
              <a:custGeom>
                <a:avLst/>
                <a:gdLst>
                  <a:gd name="connsiteX0" fmla="*/ 537704 w 7104100"/>
                  <a:gd name="connsiteY0" fmla="*/ 0 h 6574971"/>
                  <a:gd name="connsiteX1" fmla="*/ 3201464 w 7104100"/>
                  <a:gd name="connsiteY1" fmla="*/ 0 h 6574971"/>
                  <a:gd name="connsiteX2" fmla="*/ 3475529 w 7104100"/>
                  <a:gd name="connsiteY2" fmla="*/ 0 h 6574971"/>
                  <a:gd name="connsiteX3" fmla="*/ 3548500 w 7104100"/>
                  <a:gd name="connsiteY3" fmla="*/ 0 h 6574971"/>
                  <a:gd name="connsiteX4" fmla="*/ 6851802 w 7104100"/>
                  <a:gd name="connsiteY4" fmla="*/ 0 h 6574971"/>
                  <a:gd name="connsiteX5" fmla="*/ 7104100 w 7104100"/>
                  <a:gd name="connsiteY5" fmla="*/ 0 h 6574971"/>
                  <a:gd name="connsiteX6" fmla="*/ 7104100 w 7104100"/>
                  <a:gd name="connsiteY6" fmla="*/ 252373 h 6574971"/>
                  <a:gd name="connsiteX7" fmla="*/ 7104100 w 7104100"/>
                  <a:gd name="connsiteY7" fmla="*/ 3254555 h 6574971"/>
                  <a:gd name="connsiteX8" fmla="*/ 7104100 w 7104100"/>
                  <a:gd name="connsiteY8" fmla="*/ 3628571 h 6574971"/>
                  <a:gd name="connsiteX9" fmla="*/ 7104100 w 7104100"/>
                  <a:gd name="connsiteY9" fmla="*/ 3629420 h 6574971"/>
                  <a:gd name="connsiteX10" fmla="*/ 7104100 w 7104100"/>
                  <a:gd name="connsiteY10" fmla="*/ 6548406 h 6574971"/>
                  <a:gd name="connsiteX11" fmla="*/ 7104100 w 7104100"/>
                  <a:gd name="connsiteY11" fmla="*/ 6574971 h 6574971"/>
                  <a:gd name="connsiteX12" fmla="*/ 6639340 w 7104100"/>
                  <a:gd name="connsiteY12" fmla="*/ 6276109 h 6574971"/>
                  <a:gd name="connsiteX13" fmla="*/ 5736378 w 7104100"/>
                  <a:gd name="connsiteY13" fmla="*/ 5558839 h 6574971"/>
                  <a:gd name="connsiteX14" fmla="*/ 4634232 w 7104100"/>
                  <a:gd name="connsiteY14" fmla="*/ 5319750 h 6574971"/>
                  <a:gd name="connsiteX15" fmla="*/ 3678154 w 7104100"/>
                  <a:gd name="connsiteY15" fmla="*/ 5904191 h 6574971"/>
                  <a:gd name="connsiteX16" fmla="*/ 2489696 w 7104100"/>
                  <a:gd name="connsiteY16" fmla="*/ 6442144 h 6574971"/>
                  <a:gd name="connsiteX17" fmla="*/ 1228205 w 7104100"/>
                  <a:gd name="connsiteY17" fmla="*/ 6189771 h 6574971"/>
                  <a:gd name="connsiteX18" fmla="*/ 683771 w 7104100"/>
                  <a:gd name="connsiteY18" fmla="*/ 5060736 h 6574971"/>
                  <a:gd name="connsiteX19" fmla="*/ 1075498 w 7104100"/>
                  <a:gd name="connsiteY19" fmla="*/ 3639479 h 6574971"/>
                  <a:gd name="connsiteX20" fmla="*/ 384997 w 7104100"/>
                  <a:gd name="connsiteY20" fmla="*/ 2563575 h 6574971"/>
                  <a:gd name="connsiteX21" fmla="*/ 26468 w 7104100"/>
                  <a:gd name="connsiteY21" fmla="*/ 1036056 h 6574971"/>
                  <a:gd name="connsiteX22" fmla="*/ 537704 w 7104100"/>
                  <a:gd name="connsiteY22" fmla="*/ 0 h 657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04100" h="6574971">
                    <a:moveTo>
                      <a:pt x="537704" y="0"/>
                    </a:moveTo>
                    <a:cubicBezTo>
                      <a:pt x="537704" y="0"/>
                      <a:pt x="537704" y="0"/>
                      <a:pt x="3201464" y="0"/>
                    </a:cubicBezTo>
                    <a:lnTo>
                      <a:pt x="3475529" y="0"/>
                    </a:lnTo>
                    <a:lnTo>
                      <a:pt x="3548500" y="0"/>
                    </a:lnTo>
                    <a:cubicBezTo>
                      <a:pt x="4391523" y="0"/>
                      <a:pt x="5470593" y="0"/>
                      <a:pt x="6851802" y="0"/>
                    </a:cubicBezTo>
                    <a:lnTo>
                      <a:pt x="7104100" y="0"/>
                    </a:lnTo>
                    <a:lnTo>
                      <a:pt x="7104100" y="252373"/>
                    </a:lnTo>
                    <a:cubicBezTo>
                      <a:pt x="7104100" y="252373"/>
                      <a:pt x="7104100" y="252373"/>
                      <a:pt x="7104100" y="3254555"/>
                    </a:cubicBezTo>
                    <a:lnTo>
                      <a:pt x="7104100" y="3628571"/>
                    </a:lnTo>
                    <a:lnTo>
                      <a:pt x="7104100" y="3629420"/>
                    </a:lnTo>
                    <a:cubicBezTo>
                      <a:pt x="7104100" y="4408738"/>
                      <a:pt x="7104100" y="5367900"/>
                      <a:pt x="7104100" y="6548406"/>
                    </a:cubicBezTo>
                    <a:cubicBezTo>
                      <a:pt x="7104100" y="6555047"/>
                      <a:pt x="7104100" y="6561688"/>
                      <a:pt x="7104100" y="6574971"/>
                    </a:cubicBezTo>
                    <a:cubicBezTo>
                      <a:pt x="6931475" y="6515199"/>
                      <a:pt x="6778768" y="6395654"/>
                      <a:pt x="6639340" y="6276109"/>
                    </a:cubicBezTo>
                    <a:cubicBezTo>
                      <a:pt x="6340566" y="6030378"/>
                      <a:pt x="6061710" y="5758081"/>
                      <a:pt x="5736378" y="5558839"/>
                    </a:cubicBezTo>
                    <a:cubicBezTo>
                      <a:pt x="5404406" y="5359598"/>
                      <a:pt x="5006040" y="5233412"/>
                      <a:pt x="4634232" y="5319750"/>
                    </a:cubicBezTo>
                    <a:cubicBezTo>
                      <a:pt x="4269064" y="5412729"/>
                      <a:pt x="3976928" y="5685026"/>
                      <a:pt x="3678154" y="5904191"/>
                    </a:cubicBezTo>
                    <a:cubicBezTo>
                      <a:pt x="3319625" y="6163205"/>
                      <a:pt x="2921259" y="6369088"/>
                      <a:pt x="2489696" y="6442144"/>
                    </a:cubicBezTo>
                    <a:cubicBezTo>
                      <a:pt x="2051494" y="6515199"/>
                      <a:pt x="1586734" y="6442144"/>
                      <a:pt x="1228205" y="6189771"/>
                    </a:cubicBezTo>
                    <a:cubicBezTo>
                      <a:pt x="869675" y="5944040"/>
                      <a:pt x="637295" y="5499067"/>
                      <a:pt x="683771" y="5060736"/>
                    </a:cubicBezTo>
                    <a:cubicBezTo>
                      <a:pt x="743526" y="4569273"/>
                      <a:pt x="1135253" y="4130942"/>
                      <a:pt x="1075498" y="3639479"/>
                    </a:cubicBezTo>
                    <a:cubicBezTo>
                      <a:pt x="1015743" y="3214430"/>
                      <a:pt x="637295" y="2915568"/>
                      <a:pt x="384997" y="2563575"/>
                    </a:cubicBezTo>
                    <a:cubicBezTo>
                      <a:pt x="66304" y="2131885"/>
                      <a:pt x="-59845" y="1567367"/>
                      <a:pt x="26468" y="1036056"/>
                    </a:cubicBezTo>
                    <a:cubicBezTo>
                      <a:pt x="26468" y="664139"/>
                      <a:pt x="285406" y="278938"/>
                      <a:pt x="5377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  <a:effectLst>
                <a:outerShdw blurRad="279400" dist="25400" dir="84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9FC0844A-F4A8-4F5B-9FA2-80D17E30977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rot="1528689">
                <a:off x="8366267" y="466771"/>
                <a:ext cx="3610121" cy="3682792"/>
              </a:xfrm>
              <a:custGeom>
                <a:avLst/>
                <a:gdLst>
                  <a:gd name="T0" fmla="*/ 1782 w 1827"/>
                  <a:gd name="T1" fmla="*/ 887 h 1863"/>
                  <a:gd name="T2" fmla="*/ 1593 w 1827"/>
                  <a:gd name="T3" fmla="*/ 1374 h 1863"/>
                  <a:gd name="T4" fmla="*/ 930 w 1827"/>
                  <a:gd name="T5" fmla="*/ 1788 h 1863"/>
                  <a:gd name="T6" fmla="*/ 254 w 1827"/>
                  <a:gd name="T7" fmla="*/ 1636 h 1863"/>
                  <a:gd name="T8" fmla="*/ 45 w 1827"/>
                  <a:gd name="T9" fmla="*/ 929 h 1863"/>
                  <a:gd name="T10" fmla="*/ 408 w 1827"/>
                  <a:gd name="T11" fmla="*/ 232 h 1863"/>
                  <a:gd name="T12" fmla="*/ 930 w 1827"/>
                  <a:gd name="T13" fmla="*/ 51 h 1863"/>
                  <a:gd name="T14" fmla="*/ 1440 w 1827"/>
                  <a:gd name="T15" fmla="*/ 406 h 1863"/>
                  <a:gd name="T16" fmla="*/ 1782 w 1827"/>
                  <a:gd name="T17" fmla="*/ 887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7" h="1863">
                    <a:moveTo>
                      <a:pt x="1782" y="887"/>
                    </a:moveTo>
                    <a:cubicBezTo>
                      <a:pt x="1827" y="1047"/>
                      <a:pt x="1752" y="1204"/>
                      <a:pt x="1593" y="1374"/>
                    </a:cubicBezTo>
                    <a:cubicBezTo>
                      <a:pt x="1436" y="1539"/>
                      <a:pt x="1194" y="1716"/>
                      <a:pt x="930" y="1788"/>
                    </a:cubicBezTo>
                    <a:cubicBezTo>
                      <a:pt x="666" y="1863"/>
                      <a:pt x="421" y="1800"/>
                      <a:pt x="254" y="1636"/>
                    </a:cubicBezTo>
                    <a:cubicBezTo>
                      <a:pt x="88" y="1474"/>
                      <a:pt x="0" y="1211"/>
                      <a:pt x="45" y="929"/>
                    </a:cubicBezTo>
                    <a:cubicBezTo>
                      <a:pt x="87" y="646"/>
                      <a:pt x="243" y="393"/>
                      <a:pt x="408" y="232"/>
                    </a:cubicBezTo>
                    <a:cubicBezTo>
                      <a:pt x="576" y="70"/>
                      <a:pt x="752" y="0"/>
                      <a:pt x="930" y="51"/>
                    </a:cubicBezTo>
                    <a:cubicBezTo>
                      <a:pt x="1108" y="99"/>
                      <a:pt x="1280" y="251"/>
                      <a:pt x="1440" y="406"/>
                    </a:cubicBezTo>
                    <a:cubicBezTo>
                      <a:pt x="1596" y="566"/>
                      <a:pt x="1740" y="728"/>
                      <a:pt x="1782" y="88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C4F3FB">
                      <a:alpha val="46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5" name="자유형 15">
                <a:extLst>
                  <a:ext uri="{FF2B5EF4-FFF2-40B4-BE49-F238E27FC236}">
                    <a16:creationId xmlns:a16="http://schemas.microsoft.com/office/drawing/2014/main" id="{2A2A401B-1DDF-4086-B1CF-73B2044A7B15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703986 w 12192000"/>
                  <a:gd name="connsiteY0" fmla="*/ 250372 h 6858000"/>
                  <a:gd name="connsiteX1" fmla="*/ 268514 w 12192000"/>
                  <a:gd name="connsiteY1" fmla="*/ 685844 h 6858000"/>
                  <a:gd name="connsiteX2" fmla="*/ 268514 w 12192000"/>
                  <a:gd name="connsiteY2" fmla="*/ 6172157 h 6858000"/>
                  <a:gd name="connsiteX3" fmla="*/ 703986 w 12192000"/>
                  <a:gd name="connsiteY3" fmla="*/ 6607629 h 6858000"/>
                  <a:gd name="connsiteX4" fmla="*/ 11488014 w 12192000"/>
                  <a:gd name="connsiteY4" fmla="*/ 6607629 h 6858000"/>
                  <a:gd name="connsiteX5" fmla="*/ 11923486 w 12192000"/>
                  <a:gd name="connsiteY5" fmla="*/ 6172157 h 6858000"/>
                  <a:gd name="connsiteX6" fmla="*/ 11923486 w 12192000"/>
                  <a:gd name="connsiteY6" fmla="*/ 685844 h 6858000"/>
                  <a:gd name="connsiteX7" fmla="*/ 11488014 w 12192000"/>
                  <a:gd name="connsiteY7" fmla="*/ 250372 h 6858000"/>
                  <a:gd name="connsiteX8" fmla="*/ 0 w 12192000"/>
                  <a:gd name="connsiteY8" fmla="*/ 0 h 6858000"/>
                  <a:gd name="connsiteX9" fmla="*/ 12192000 w 12192000"/>
                  <a:gd name="connsiteY9" fmla="*/ 0 h 6858000"/>
                  <a:gd name="connsiteX10" fmla="*/ 12192000 w 12192000"/>
                  <a:gd name="connsiteY10" fmla="*/ 6858000 h 6858000"/>
                  <a:gd name="connsiteX11" fmla="*/ 0 w 12192000"/>
                  <a:gd name="connsiteY11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92000" h="6858000">
                    <a:moveTo>
                      <a:pt x="703986" y="250372"/>
                    </a:moveTo>
                    <a:cubicBezTo>
                      <a:pt x="463481" y="250372"/>
                      <a:pt x="268514" y="445339"/>
                      <a:pt x="268514" y="685844"/>
                    </a:cubicBezTo>
                    <a:lnTo>
                      <a:pt x="268514" y="6172157"/>
                    </a:lnTo>
                    <a:cubicBezTo>
                      <a:pt x="268514" y="6412662"/>
                      <a:pt x="463481" y="6607629"/>
                      <a:pt x="703986" y="6607629"/>
                    </a:cubicBezTo>
                    <a:lnTo>
                      <a:pt x="11488014" y="6607629"/>
                    </a:lnTo>
                    <a:cubicBezTo>
                      <a:pt x="11728519" y="6607629"/>
                      <a:pt x="11923486" y="6412662"/>
                      <a:pt x="11923486" y="6172157"/>
                    </a:cubicBezTo>
                    <a:lnTo>
                      <a:pt x="11923486" y="685844"/>
                    </a:lnTo>
                    <a:cubicBezTo>
                      <a:pt x="11923486" y="445339"/>
                      <a:pt x="11728519" y="250372"/>
                      <a:pt x="11488014" y="250372"/>
                    </a:cubicBezTo>
                    <a:close/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32" name="Picture 4">
              <a:extLst>
                <a:ext uri="{FF2B5EF4-FFF2-40B4-BE49-F238E27FC236}">
                  <a16:creationId xmlns:a16="http://schemas.microsoft.com/office/drawing/2014/main" id="{594854D0-F797-43E6-86A0-05C2A85EA8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60572" y="677967"/>
              <a:ext cx="3724924" cy="3565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UNIT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80635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spc="150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WEEK 01 · SYSTEM MODELING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474" y="2723198"/>
            <a:ext cx="5003673" cy="1208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4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Security Concepts and</a:t>
            </a:r>
            <a:br/>
            <a:r>
              <a:rPr lang="en-US" sz="34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Threat Analysis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9528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4234815"/>
            <a:ext cx="78648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Entity Relationships, Attack Surfaces, and Attack Trees Modeling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4762500"/>
            <a:ext cx="8838115" cy="1238250"/>
            <a:chOff x="762000" y="4762500"/>
            <a:chExt cx="8838115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31081" y="4993481"/>
              <a:ext cx="242888" cy="242888"/>
              <a:chOff x="1031081" y="49934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5538" y="4993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9994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8310" y="5128419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52525" y="5047456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420368" y="5003482"/>
              <a:ext cx="281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Concepts &amp; Relationships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5442585"/>
              <a:ext cx="4264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Assets, Threats, Vulnerabilities, Risk, and Controls.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262563" y="5020469"/>
              <a:ext cx="161925" cy="188913"/>
              <a:chOff x="5262563" y="5020469"/>
              <a:chExt cx="161925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16538" y="5020469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84007" y="5020469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16538" y="5141913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3" y="5087938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11368" y="5003482"/>
              <a:ext cx="2816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Surfaces &amp; Attack Trees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75504" y="5442585"/>
              <a:ext cx="4424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Reachable vectors, tree structures, and AND/OR logic.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7174783" cy="874204"/>
            <a:chOff x="462534" y="375285"/>
            <a:chExt cx="717478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71747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Threat Analysis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3592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35831" y="1983581"/>
              <a:ext cx="242888" cy="242888"/>
              <a:chOff x="935831" y="1983581"/>
              <a:chExt cx="242888" cy="2428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30288" y="19835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5831" y="21724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4744" y="21724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3060" y="2118519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7275" y="2037556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52094" y="2551748"/>
              <a:ext cx="2321100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&amp; Relationships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23850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618" y="3584258"/>
              <a:ext cx="3118104" cy="2265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Core Definitions: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Asset, Threat, Vulnerability,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Attack, and Control.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Interaction Dynamics: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Owners minimize Risk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Threats exploit Vulnerabilities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Countermeasures reduce Risk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5324475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538788" y="2010569"/>
              <a:ext cx="161925" cy="188913"/>
              <a:chOff x="5538788" y="2010569"/>
              <a:chExt cx="161925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592763" y="2010569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60232" y="2010569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592763" y="2132013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538788" y="2078038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314569" y="2551748"/>
              <a:ext cx="2100072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&amp; Attack Trees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24475" y="323850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16093" y="3584258"/>
              <a:ext cx="3212402" cy="1961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3 Attack Surface Types: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Network, Software, and Human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 Tree Modeling (1999):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Root Goals, Sub-Goals, Leaves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AND-Decomposition Logic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OR-Decomposition Logic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741709" cy="874204"/>
            <a:chOff x="462534" y="375285"/>
            <a:chExt cx="674170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625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Five Core Building Blocks of Information Security (Part 1)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76250" y="1524000"/>
            <a:ext cx="8875395" cy="4857750"/>
            <a:chOff x="476250" y="1524000"/>
            <a:chExt cx="8875395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3172" y="1841182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Asset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35505" y="1781175"/>
              <a:ext cx="7187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 system resource or capability of value to an owner requiring protection.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Includes computer hardware, software apps, data records, and networks.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6250" y="32385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66750" y="34290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9034" y="35556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Threat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35505" y="3495675"/>
              <a:ext cx="7187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Potential for a threat actor to exploit a vulnerability and breach security.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Any circumstance capable of adversely impacting organization operations.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6250" y="4953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66750" y="5143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435" y="5286375"/>
              <a:ext cx="1324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Vulnerability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5505" y="5210175"/>
              <a:ext cx="721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 flaw or weakness in system design, implementation, or internal controls.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Leaves a system susceptible to exploitation, disruption, or data theft.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741709" cy="874204"/>
            <a:chOff x="462534" y="375285"/>
            <a:chExt cx="674170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625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Five Core Building Blocks of Information Security (Part 2)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6250" y="1524000"/>
            <a:ext cx="8884920" cy="4667250"/>
            <a:chOff x="476250" y="1524000"/>
            <a:chExt cx="8884920" cy="46672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752600"/>
              <a:ext cx="1333500" cy="533400"/>
            </a:xfrm>
            <a:prstGeom prst="roundRect">
              <a:avLst>
                <a:gd name="adj" fmla="val 21429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8683" y="1891665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Attack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6856" y="1882140"/>
              <a:ext cx="3589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Deliberate Security Violation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8380" y="2362200"/>
              <a:ext cx="7082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 malicious threat action carried out that results in a security violation.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Represents active or passive attempts from inside or outside adversaries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to disrupt, alter, or steal organizational system resources.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400050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04850" y="4229100"/>
              <a:ext cx="1333500" cy="533400"/>
            </a:xfrm>
            <a:prstGeom prst="roundRect">
              <a:avLst>
                <a:gd name="adj" fmla="val 21429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0775" y="4368165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Control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6856" y="4358640"/>
              <a:ext cx="4980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Countermeasures &amp; Defense Mechanisms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8380" y="4838700"/>
              <a:ext cx="6739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Actions, devices, procedures, or techniques that reduce overall risk.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Eliminates vulnerabilities or minimizes impacts of potential violations.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Encompasses technical, operational, and managerial safeguards.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741709" cy="1140904"/>
            <a:chOff x="462534" y="375285"/>
            <a:chExt cx="6741709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1448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Relationships Among Assets, Threats, Vulnerabilities,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Risk, and Countermeasures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485775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14" name="Group 14"/>
            <p:cNvGrpSpPr/>
            <p:nvPr/>
          </p:nvGrpSpPr>
          <p:grpSpPr>
            <a:xfrm>
              <a:off x="1047750" y="1905000"/>
              <a:ext cx="2095500" cy="762000"/>
              <a:chOff x="1047750" y="1905000"/>
              <a:chExt cx="209550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47750" y="1905000"/>
                <a:ext cx="20955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314450" y="2171700"/>
                <a:ext cx="190500" cy="228600"/>
                <a:chOff x="1314450" y="2171700"/>
                <a:chExt cx="190500" cy="2286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339850" y="21717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314450" y="2324100"/>
                  <a:ext cx="1016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428750" y="23494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657731" y="2167890"/>
                <a:ext cx="9685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Owners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610350" y="1905000"/>
              <a:ext cx="2392129" cy="762000"/>
              <a:chOff x="6610350" y="1905000"/>
              <a:chExt cx="2392129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610350" y="1905000"/>
                <a:ext cx="20955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877050" y="2171700"/>
                <a:ext cx="203199" cy="241299"/>
                <a:chOff x="6877050" y="2171700"/>
                <a:chExt cx="203199" cy="241299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6902450" y="21717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6877050" y="2324100"/>
                  <a:ext cx="952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016749" y="2349499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63500" y="63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016749" y="2349499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7220331" y="2167890"/>
                <a:ext cx="17821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Threat agents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924300" y="3333750"/>
              <a:ext cx="1905000" cy="857250"/>
              <a:chOff x="3924300" y="3333750"/>
              <a:chExt cx="1905000" cy="857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924300" y="3333750"/>
                <a:ext cx="190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2B6CB0"/>
              </a:solidFill>
              <a:ln w="19050">
                <a:solidFill>
                  <a:srgbClr val="FFB800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168775" y="3640931"/>
                <a:ext cx="215901" cy="242888"/>
                <a:chOff x="4168775" y="3640931"/>
                <a:chExt cx="215901" cy="242888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168775" y="364093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rgbClr val="FFB80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168775" y="368141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rgbClr val="FFB80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168775" y="376237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rgbClr val="FFB800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533519" y="3647122"/>
                <a:ext cx="78638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Asset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47750" y="3429000"/>
              <a:ext cx="2329880" cy="666750"/>
              <a:chOff x="1047750" y="3429000"/>
              <a:chExt cx="2329880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047750" y="3429000"/>
                <a:ext cx="2095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2B6CB0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1586" y="3638550"/>
                <a:ext cx="248008" cy="228599"/>
                <a:chOff x="1211586" y="3638550"/>
                <a:chExt cx="248008" cy="228599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211586" y="3638550"/>
                  <a:ext cx="248008" cy="226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08" h="226644">
                      <a:moveTo>
                        <a:pt x="124581" y="226644"/>
                      </a:moveTo>
                      <a:cubicBezTo>
                        <a:pt x="45021" y="201982"/>
                        <a:pt x="0" y="118013"/>
                        <a:pt x="23489" y="38100"/>
                      </a:cubicBezTo>
                      <a:cubicBezTo>
                        <a:pt x="63056" y="39910"/>
                        <a:pt x="101774" y="26245"/>
                        <a:pt x="131439" y="0"/>
                      </a:cubicBezTo>
                      <a:cubicBezTo>
                        <a:pt x="161104" y="26245"/>
                        <a:pt x="199822" y="39910"/>
                        <a:pt x="239389" y="38100"/>
                      </a:cubicBezTo>
                      <a:cubicBezTo>
                        <a:pt x="248008" y="67426"/>
                        <a:pt x="247610" y="98665"/>
                        <a:pt x="238246" y="127762"/>
                      </a:cubicBezTo>
                    </a:path>
                  </a:pathLst>
                </a:custGeom>
                <a:noFill/>
                <a:ln w="25400">
                  <a:solidFill>
                    <a:srgbClr val="2B6CB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81125" y="381634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2B6CB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564005" y="3686175"/>
                <a:ext cx="18136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Countermeasures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10350" y="3429000"/>
              <a:ext cx="2095500" cy="666750"/>
              <a:chOff x="6610350" y="3429000"/>
              <a:chExt cx="2095500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610350" y="3429000"/>
                <a:ext cx="2095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5B67F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16725" y="3625850"/>
                <a:ext cx="177800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41299">
                    <a:moveTo>
                      <a:pt x="88900" y="113550"/>
                    </a:moveTo>
                    <a:cubicBezTo>
                      <a:pt x="118529" y="71539"/>
                      <a:pt x="91021" y="14199"/>
                      <a:pt x="76200" y="0"/>
                    </a:cubicBezTo>
                    <a:cubicBezTo>
                      <a:pt x="76200" y="43116"/>
                      <a:pt x="47815" y="67297"/>
                      <a:pt x="29629" y="85166"/>
                    </a:cubicBezTo>
                    <a:cubicBezTo>
                      <a:pt x="11468" y="103048"/>
                      <a:pt x="0" y="127000"/>
                      <a:pt x="0" y="156133"/>
                    </a:cubicBezTo>
                    <a:cubicBezTo>
                      <a:pt x="0" y="203174"/>
                      <a:pt x="39802" y="241299"/>
                      <a:pt x="88900" y="241299"/>
                    </a:cubicBezTo>
                    <a:cubicBezTo>
                      <a:pt x="137998" y="241299"/>
                      <a:pt x="177800" y="203174"/>
                      <a:pt x="177800" y="156133"/>
                    </a:cubicBezTo>
                    <a:cubicBezTo>
                      <a:pt x="177800" y="134391"/>
                      <a:pt x="162153" y="100215"/>
                      <a:pt x="148171" y="85166"/>
                    </a:cubicBezTo>
                    <a:cubicBezTo>
                      <a:pt x="121704" y="127749"/>
                      <a:pt x="106807" y="127749"/>
                      <a:pt x="88900" y="113550"/>
                    </a:cubicBezTo>
                  </a:path>
                </a:pathLst>
              </a:custGeom>
              <a:noFill/>
              <a:ln w="25400">
                <a:solidFill>
                  <a:srgbClr val="5B67F2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25843" y="3669982"/>
                <a:ext cx="793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5B67F2"/>
                    </a:solidFill>
                    <a:latin typeface="Arial"/>
                    <a:ea typeface="Arial"/>
                    <a:cs typeface="Arial"/>
                  </a:rPr>
                  <a:t>Threat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3924300" y="5143500"/>
              <a:ext cx="1905000" cy="762000"/>
              <a:chOff x="3924300" y="5143500"/>
              <a:chExt cx="1905000" cy="762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924300" y="5143500"/>
                <a:ext cx="19050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139119" y="5405981"/>
                <a:ext cx="256151" cy="220068"/>
                <a:chOff x="4139119" y="5405981"/>
                <a:chExt cx="256151" cy="220068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4267200" y="54864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139119" y="5405981"/>
                  <a:ext cx="256151" cy="220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151" h="220068">
                      <a:moveTo>
                        <a:pt x="107291" y="11725"/>
                      </a:moveTo>
                      <a:lnTo>
                        <a:pt x="4345" y="183606"/>
                      </a:lnTo>
                      <a:cubicBezTo>
                        <a:pt x="26" y="191085"/>
                        <a:pt x="0" y="200293"/>
                        <a:pt x="4276" y="207796"/>
                      </a:cubicBezTo>
                      <a:cubicBezTo>
                        <a:pt x="8551" y="215299"/>
                        <a:pt x="16487" y="219971"/>
                        <a:pt x="25122" y="220068"/>
                      </a:cubicBezTo>
                      <a:lnTo>
                        <a:pt x="231039" y="220068"/>
                      </a:lnTo>
                      <a:cubicBezTo>
                        <a:pt x="239671" y="219968"/>
                        <a:pt x="247602" y="215299"/>
                        <a:pt x="251877" y="207800"/>
                      </a:cubicBezTo>
                      <a:cubicBezTo>
                        <a:pt x="256151" y="200300"/>
                        <a:pt x="256128" y="191097"/>
                        <a:pt x="251816" y="183619"/>
                      </a:cubicBezTo>
                      <a:lnTo>
                        <a:pt x="148870" y="11712"/>
                      </a:lnTo>
                      <a:cubicBezTo>
                        <a:pt x="144465" y="4441"/>
                        <a:pt x="136582" y="0"/>
                        <a:pt x="128081" y="0"/>
                      </a:cubicBezTo>
                      <a:cubicBezTo>
                        <a:pt x="119579" y="0"/>
                        <a:pt x="111696" y="4441"/>
                        <a:pt x="107291" y="11712"/>
                      </a:cubicBez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267200" y="557529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27" y="0"/>
                      </a:lnTo>
                    </a:path>
                  </a:pathLst>
                </a:custGeom>
                <a:noFill/>
                <a:ln w="25400">
                  <a:solidFill>
                    <a:srgbClr val="FFB800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534281" y="5406390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Risk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3143250" y="2286000"/>
              <a:ext cx="781050" cy="1238250"/>
            </a:xfrm>
            <a:custGeom>
              <a:avLst/>
              <a:gdLst/>
              <a:ahLst/>
              <a:cxnLst/>
              <a:rect l="l" t="t" r="r" b="b"/>
              <a:pathLst>
                <a:path w="781050" h="1238250">
                  <a:moveTo>
                    <a:pt x="0" y="0"/>
                  </a:moveTo>
                  <a:lnTo>
                    <a:pt x="781050" y="1238250"/>
                  </a:lnTo>
                </a:path>
              </a:pathLst>
            </a:custGeom>
            <a:noFill/>
            <a:ln w="23812">
              <a:solidFill>
                <a:srgbClr val="2B6CB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33750" y="2714625"/>
              <a:ext cx="57150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426543" y="2772728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Value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2095500" y="2667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23812">
              <a:solidFill>
                <a:srgbClr val="2B6CB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762125" y="2905125"/>
              <a:ext cx="66675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46711" y="2963228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Impose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93750" y="2286000"/>
              <a:ext cx="3130550" cy="3238500"/>
            </a:xfrm>
            <a:custGeom>
              <a:avLst/>
              <a:gdLst/>
              <a:ahLst/>
              <a:cxnLst/>
              <a:rect l="l" t="t" r="r" b="b"/>
              <a:pathLst>
                <a:path w="3130550" h="3238500">
                  <a:moveTo>
                    <a:pt x="254000" y="0"/>
                  </a:moveTo>
                  <a:cubicBezTo>
                    <a:pt x="0" y="1270000"/>
                    <a:pt x="958850" y="2349500"/>
                    <a:pt x="3130550" y="3238500"/>
                  </a:cubicBezTo>
                </a:path>
              </a:pathLst>
            </a:custGeom>
            <a:noFill/>
            <a:ln w="23812">
              <a:solidFill>
                <a:srgbClr val="2B6CB0"/>
              </a:solidFill>
              <a:custDash>
                <a:ds d="240000" sp="160000"/>
              </a:custDash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500" y="4095750"/>
              <a:ext cx="1285875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5717" y="4230052"/>
              <a:ext cx="1187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Wish to minimize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829300" y="2286000"/>
              <a:ext cx="781050" cy="1238250"/>
            </a:xfrm>
            <a:custGeom>
              <a:avLst/>
              <a:gdLst/>
              <a:ahLst/>
              <a:cxnLst/>
              <a:rect l="l" t="t" r="r" b="b"/>
              <a:pathLst>
                <a:path w="781050" h="1238250">
                  <a:moveTo>
                    <a:pt x="781050" y="0"/>
                  </a:moveTo>
                  <a:lnTo>
                    <a:pt x="0" y="1238250"/>
                  </a:lnTo>
                </a:path>
              </a:pathLst>
            </a:custGeom>
            <a:noFill/>
            <a:ln w="23812">
              <a:solidFill>
                <a:srgbClr val="5B67F2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72125" y="2647950"/>
              <a:ext cx="152400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89076" y="2771299"/>
              <a:ext cx="1490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Wish to abuse/damage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658100" y="2667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23812">
              <a:solidFill>
                <a:srgbClr val="5B67F2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81850" y="2905125"/>
              <a:ext cx="95250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34842" y="2963228"/>
              <a:ext cx="846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Give rise to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095500" y="4095750"/>
              <a:ext cx="1828800" cy="1238250"/>
            </a:xfrm>
            <a:custGeom>
              <a:avLst/>
              <a:gdLst/>
              <a:ahLst/>
              <a:cxnLst/>
              <a:rect l="l" t="t" r="r" b="b"/>
              <a:pathLst>
                <a:path w="1828800" h="1238250">
                  <a:moveTo>
                    <a:pt x="0" y="0"/>
                  </a:moveTo>
                  <a:lnTo>
                    <a:pt x="1828800" y="1238250"/>
                  </a:lnTo>
                </a:path>
              </a:pathLst>
            </a:custGeom>
            <a:noFill/>
            <a:ln w="23812">
              <a:solidFill>
                <a:srgbClr val="2B6CB0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571750" y="4619625"/>
              <a:ext cx="85725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643790" y="4677728"/>
              <a:ext cx="713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To reduce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829300" y="4095750"/>
              <a:ext cx="1828800" cy="1238250"/>
            </a:xfrm>
            <a:custGeom>
              <a:avLst/>
              <a:gdLst/>
              <a:ahLst/>
              <a:cxnLst/>
              <a:rect l="l" t="t" r="r" b="b"/>
              <a:pathLst>
                <a:path w="1828800" h="1238250">
                  <a:moveTo>
                    <a:pt x="1828800" y="0"/>
                  </a:moveTo>
                  <a:lnTo>
                    <a:pt x="0" y="1238250"/>
                  </a:lnTo>
                </a:path>
              </a:pathLst>
            </a:custGeom>
            <a:noFill/>
            <a:ln w="23812">
              <a:solidFill>
                <a:srgbClr val="5B67F2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86500" y="4619625"/>
              <a:ext cx="1000125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80647" y="4677728"/>
              <a:ext cx="100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That increase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4876800" y="41910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95250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5B67F2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4686300" y="4572000"/>
              <a:ext cx="38100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787526" y="4630102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18976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095750" cy="485775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30212" y="1983581"/>
              <a:ext cx="254127" cy="242888"/>
              <a:chOff x="930212" y="1983581"/>
              <a:chExt cx="254127" cy="2428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30212" y="1983581"/>
                <a:ext cx="254127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4127" h="242888">
                    <a:moveTo>
                      <a:pt x="127063" y="0"/>
                    </a:moveTo>
                    <a:cubicBezTo>
                      <a:pt x="158583" y="27886"/>
                      <a:pt x="199720" y="42405"/>
                      <a:pt x="241761" y="40481"/>
                    </a:cubicBezTo>
                    <a:cubicBezTo>
                      <a:pt x="254127" y="82549"/>
                      <a:pt x="248904" y="127833"/>
                      <a:pt x="227287" y="165981"/>
                    </a:cubicBezTo>
                    <a:cubicBezTo>
                      <a:pt x="205670" y="204129"/>
                      <a:pt x="169506" y="231879"/>
                      <a:pt x="127063" y="242888"/>
                    </a:cubicBezTo>
                    <a:cubicBezTo>
                      <a:pt x="84621" y="231879"/>
                      <a:pt x="48457" y="204129"/>
                      <a:pt x="26840" y="165981"/>
                    </a:cubicBezTo>
                    <a:cubicBezTo>
                      <a:pt x="5222" y="127833"/>
                      <a:pt x="0" y="82549"/>
                      <a:pt x="12366" y="40481"/>
                    </a:cubicBezTo>
                    <a:cubicBezTo>
                      <a:pt x="54407" y="42405"/>
                      <a:pt x="95544" y="27886"/>
                      <a:pt x="127063" y="0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3782" y="2078038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7275" y="2105025"/>
                <a:ext cx="952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734">
                    <a:moveTo>
                      <a:pt x="0" y="0"/>
                    </a:moveTo>
                    <a:lnTo>
                      <a:pt x="0" y="33734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52094" y="2551748"/>
              <a:ext cx="32569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 Analysis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95275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3190875"/>
              <a:ext cx="3524250" cy="2905125"/>
            </a:xfrm>
            <a:prstGeom prst="roundRect">
              <a:avLst>
                <a:gd name="adj" fmla="val 459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6493" y="3393758"/>
              <a:ext cx="3203496" cy="2075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Reachable and exploitable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vulnerabilities in a system.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Evaluates the </a:t>
              </a: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scale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and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severity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of potential threats.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Identifies where defense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mechanisms are required.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4895850" y="1524000"/>
              <a:ext cx="4381500" cy="4857750"/>
              <a:chOff x="4895850" y="1524000"/>
              <a:chExt cx="4381500" cy="485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895850" y="1524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124450" y="1752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5262563" y="1890713"/>
                <a:ext cx="200026" cy="200026"/>
                <a:chOff x="5262563" y="1890713"/>
                <a:chExt cx="200026" cy="200026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262563" y="1890713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100013"/>
                      </a:moveTo>
                      <a:cubicBezTo>
                        <a:pt x="0" y="155248"/>
                        <a:pt x="44777" y="200026"/>
                        <a:pt x="100013" y="200026"/>
                      </a:cubicBezTo>
                      <a:cubicBezTo>
                        <a:pt x="155248" y="200026"/>
                        <a:pt x="200026" y="155248"/>
                        <a:pt x="200026" y="100013"/>
                      </a:cubicBezTo>
                      <a:cubicBezTo>
                        <a:pt x="200026" y="44777"/>
                        <a:pt x="155248" y="0"/>
                        <a:pt x="100013" y="0"/>
                      </a:cubicBezTo>
                      <a:cubicBezTo>
                        <a:pt x="44777" y="0"/>
                        <a:pt x="0" y="44777"/>
                        <a:pt x="0" y="100013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269230" y="1957388"/>
                  <a:ext cx="18669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91" h="9525">
                      <a:moveTo>
                        <a:pt x="0" y="0"/>
                      </a:moveTo>
                      <a:lnTo>
                        <a:pt x="186691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269230" y="2024063"/>
                  <a:ext cx="18669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91" h="9525">
                      <a:moveTo>
                        <a:pt x="0" y="0"/>
                      </a:moveTo>
                      <a:lnTo>
                        <a:pt x="186691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318825" y="1890713"/>
                  <a:ext cx="38194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4" h="200026">
                      <a:moveTo>
                        <a:pt x="38194" y="0"/>
                      </a:moveTo>
                      <a:cubicBezTo>
                        <a:pt x="0" y="61205"/>
                        <a:pt x="0" y="138820"/>
                        <a:pt x="38194" y="200026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368132" y="1890713"/>
                  <a:ext cx="38194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4" h="200026">
                      <a:moveTo>
                        <a:pt x="0" y="0"/>
                      </a:moveTo>
                      <a:cubicBezTo>
                        <a:pt x="38194" y="61205"/>
                        <a:pt x="38194" y="138820"/>
                        <a:pt x="0" y="200026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5744718" y="1822132"/>
                <a:ext cx="27922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Network Attack Surface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745861" y="2227421"/>
                <a:ext cx="3513074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Vulnerabilities reachable over network,</a:t>
                </a:r>
                <a:br/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open ports, protocols, and services.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895850" y="32385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24450" y="34671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262563" y="3616325"/>
                <a:ext cx="200025" cy="177801"/>
                <a:chOff x="5262563" y="3616325"/>
                <a:chExt cx="200025" cy="177801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262563" y="3660775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44450" y="0"/>
                      </a:moveTo>
                      <a:lnTo>
                        <a:pt x="0" y="44450"/>
                      </a:lnTo>
                      <a:lnTo>
                        <a:pt x="44450" y="8890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418138" y="3660775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0" y="0"/>
                      </a:moveTo>
                      <a:lnTo>
                        <a:pt x="44450" y="44450"/>
                      </a:lnTo>
                      <a:lnTo>
                        <a:pt x="0" y="8890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340350" y="3616325"/>
                  <a:ext cx="444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77801">
                      <a:moveTo>
                        <a:pt x="44450" y="0"/>
                      </a:moveTo>
                      <a:lnTo>
                        <a:pt x="0" y="177801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5744718" y="3536632"/>
                <a:ext cx="29204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Software Attack Surface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745861" y="3941921"/>
                <a:ext cx="3107309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Vulnerabilities in application code,</a:t>
                </a:r>
                <a:br/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web APIs, libraries, and OS kernel.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895850" y="4953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124450" y="5181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5262563" y="5319713"/>
                <a:ext cx="200026" cy="200025"/>
                <a:chOff x="5262563" y="5319713"/>
                <a:chExt cx="200026" cy="20002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5284788" y="531971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262563" y="545306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407026" y="5321157"/>
                  <a:ext cx="33425" cy="8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25" h="86122">
                      <a:moveTo>
                        <a:pt x="0" y="0"/>
                      </a:moveTo>
                      <a:cubicBezTo>
                        <a:pt x="19668" y="5036"/>
                        <a:pt x="33425" y="22758"/>
                        <a:pt x="33425" y="43061"/>
                      </a:cubicBezTo>
                      <a:cubicBezTo>
                        <a:pt x="33425" y="63364"/>
                        <a:pt x="19668" y="81086"/>
                        <a:pt x="0" y="86122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29251" y="5454730"/>
                  <a:ext cx="33338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5008">
                      <a:moveTo>
                        <a:pt x="33338" y="65008"/>
                      </a:moveTo>
                      <a:lnTo>
                        <a:pt x="33338" y="42783"/>
                      </a:lnTo>
                      <a:cubicBezTo>
                        <a:pt x="33222" y="22609"/>
                        <a:pt x="19534" y="5043"/>
                        <a:pt x="0" y="0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5744718" y="5251132"/>
                <a:ext cx="25358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Human Attack Surface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745861" y="5656421"/>
                <a:ext cx="3458972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Vulnerabilities introduced by people:</a:t>
                </a:r>
                <a:br/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social engineering and password reuse.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046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Types of Attack Surface: Definitions and Examples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2819400" cy="485775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2819400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2819400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7231" y="1735931"/>
              <a:ext cx="242888" cy="242888"/>
              <a:chOff x="707231" y="173593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7231" y="17359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5328" y="181689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15328" y="189785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5550" y="173593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5422" y="173593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86993" y="1764982"/>
              <a:ext cx="19447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Network Surface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0654" y="2394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2667000"/>
              <a:ext cx="24384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243" y="2822258"/>
              <a:ext cx="202844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Reachable over a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network connection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or wireless link.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0654" y="3918585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EXAMPLES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" y="4191000"/>
              <a:ext cx="24384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243" y="4393882"/>
              <a:ext cx="2195036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Open Ports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Exposed Services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Network Protocols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Web Endpoints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67100" y="1524000"/>
              <a:ext cx="2819400" cy="485775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3467100" y="1524000"/>
              <a:ext cx="2819400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67100" y="1952625"/>
              <a:ext cx="2819400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698081" y="1749425"/>
              <a:ext cx="242888" cy="215901"/>
              <a:chOff x="3698081" y="1749425"/>
              <a:chExt cx="242888" cy="2159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698081" y="180340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53975" y="0"/>
                    </a:moveTo>
                    <a:lnTo>
                      <a:pt x="0" y="53975"/>
                    </a:lnTo>
                    <a:lnTo>
                      <a:pt x="53975" y="10795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886994" y="180340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0" y="0"/>
                    </a:moveTo>
                    <a:lnTo>
                      <a:pt x="53975" y="53975"/>
                    </a:ln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792538" y="1749425"/>
                <a:ext cx="53975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1">
                    <a:moveTo>
                      <a:pt x="53975" y="0"/>
                    </a:moveTo>
                    <a:lnTo>
                      <a:pt x="0" y="215901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4077843" y="1764982"/>
              <a:ext cx="20729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Software Surface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51504" y="2394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657600" y="2667000"/>
              <a:ext cx="24384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92093" y="2822258"/>
              <a:ext cx="1766506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Vulnerabilities in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application code,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libraries, or OS.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51504" y="3918585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EXAMPLES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57600" y="4191000"/>
              <a:ext cx="24384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92093" y="4393882"/>
              <a:ext cx="1644968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Web Apps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Libraries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OS Drivers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Database SQL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57950" y="1524000"/>
              <a:ext cx="2819400" cy="485775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6457950" y="1524000"/>
              <a:ext cx="2819400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57950" y="1952625"/>
              <a:ext cx="2819400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88931" y="1735931"/>
              <a:ext cx="242888" cy="242889"/>
              <a:chOff x="6688931" y="1735931"/>
              <a:chExt cx="242888" cy="24288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715919" y="17359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88931" y="189785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64351" y="173768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91338" y="189988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068693" y="1764982"/>
              <a:ext cx="1688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Human Surface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42354" y="2394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48450" y="2667000"/>
              <a:ext cx="24384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2943" y="2822258"/>
              <a:ext cx="1934146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Vulnerabilities in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people, behaviors,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or access policy.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42354" y="3918585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EXAMPLES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48450" y="4191000"/>
              <a:ext cx="24384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2943" y="4393882"/>
              <a:ext cx="2030016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Phishing Victim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Contractor Roles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Password Reuse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Social Eng.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8718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Trees: Systematic Threat Modeling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76250" y="1524000"/>
            <a:ext cx="8872855" cy="4857750"/>
            <a:chOff x="476250" y="1524000"/>
            <a:chExt cx="8872855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095750" cy="485775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36506" y="1981697"/>
              <a:ext cx="248987" cy="254704"/>
              <a:chOff x="936506" y="1981697"/>
              <a:chExt cx="248987" cy="2547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57275" y="2051050"/>
                <a:ext cx="26988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80963">
                    <a:moveTo>
                      <a:pt x="0" y="0"/>
                    </a:moveTo>
                    <a:lnTo>
                      <a:pt x="0" y="53975"/>
                    </a:lnTo>
                    <a:lnTo>
                      <a:pt x="26988" y="80963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6506" y="1981697"/>
                <a:ext cx="248987" cy="254704"/>
              </a:xfrm>
              <a:custGeom>
                <a:avLst/>
                <a:gdLst/>
                <a:ahLst/>
                <a:cxnLst/>
                <a:rect l="l" t="t" r="r" b="b"/>
                <a:pathLst>
                  <a:path w="248987" h="254704">
                    <a:moveTo>
                      <a:pt x="0" y="109835"/>
                    </a:moveTo>
                    <a:cubicBezTo>
                      <a:pt x="6260" y="48377"/>
                      <a:pt x="57660" y="1411"/>
                      <a:pt x="119432" y="706"/>
                    </a:cubicBezTo>
                    <a:cubicBezTo>
                      <a:pt x="181204" y="0"/>
                      <a:pt x="233663" y="45779"/>
                      <a:pt x="241325" y="107078"/>
                    </a:cubicBezTo>
                    <a:cubicBezTo>
                      <a:pt x="248987" y="168377"/>
                      <a:pt x="209412" y="225661"/>
                      <a:pt x="149366" y="240183"/>
                    </a:cubicBezTo>
                    <a:cubicBezTo>
                      <a:pt x="89321" y="254704"/>
                      <a:pt x="27943" y="221836"/>
                      <a:pt x="6747" y="163810"/>
                    </a:cubicBezTo>
                    <a:moveTo>
                      <a:pt x="0" y="231279"/>
                    </a:moveTo>
                    <a:lnTo>
                      <a:pt x="0" y="163810"/>
                    </a:lnTo>
                    <a:lnTo>
                      <a:pt x="67469" y="16381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51332" y="2535555"/>
              <a:ext cx="21771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Bruce Schneier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618" y="2888932"/>
              <a:ext cx="209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(1999 Foundation)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23850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3476625"/>
              <a:ext cx="3524250" cy="2619375"/>
            </a:xfrm>
            <a:prstGeom prst="roundRect">
              <a:avLst>
                <a:gd name="adj" fmla="val 509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6493" y="3679508"/>
              <a:ext cx="3380042" cy="23039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Bruce Schneier introduced the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 tree concept in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1999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to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systematically identify threats.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Formal, methodical foundation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for analyzing complex attacks.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30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Replaces guesswork with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structured hierarchical trees.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4895850" y="1524000"/>
              <a:ext cx="4453255" cy="4857750"/>
              <a:chOff x="4895850" y="1524000"/>
              <a:chExt cx="4453255" cy="485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895850" y="1524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124450" y="1752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5247566" y="1890713"/>
                <a:ext cx="217008" cy="200025"/>
                <a:chOff x="5247566" y="1890713"/>
                <a:chExt cx="217008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247566" y="1890713"/>
                  <a:ext cx="217008" cy="19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08" h="198314">
                      <a:moveTo>
                        <a:pt x="109009" y="198314"/>
                      </a:moveTo>
                      <a:cubicBezTo>
                        <a:pt x="39394" y="176735"/>
                        <a:pt x="0" y="103262"/>
                        <a:pt x="20553" y="33338"/>
                      </a:cubicBezTo>
                      <a:cubicBezTo>
                        <a:pt x="55175" y="34922"/>
                        <a:pt x="89053" y="22965"/>
                        <a:pt x="115010" y="0"/>
                      </a:cubicBezTo>
                      <a:cubicBezTo>
                        <a:pt x="140967" y="22965"/>
                        <a:pt x="174845" y="34922"/>
                        <a:pt x="209466" y="33338"/>
                      </a:cubicBezTo>
                      <a:cubicBezTo>
                        <a:pt x="217008" y="58998"/>
                        <a:pt x="216660" y="86333"/>
                        <a:pt x="208466" y="111792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395913" y="2046288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5744718" y="1822132"/>
                <a:ext cx="31289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System Security Evaluation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745861" y="2227421"/>
                <a:ext cx="3603244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Evaluate overall security based on</a:t>
                </a:r>
                <a:br/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structured, repeatable threat vectors.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4895850" y="32385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5124450" y="34671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284788" y="3605213"/>
                <a:ext cx="155575" cy="200026"/>
                <a:chOff x="5284788" y="3605213"/>
                <a:chExt cx="155575" cy="200026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384800" y="3605213"/>
                  <a:ext cx="55563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3" y="55563"/>
                      </a:cubicBezTo>
                      <a:lnTo>
                        <a:pt x="55563" y="55563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284788" y="3605213"/>
                  <a:ext cx="155575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200026">
                      <a:moveTo>
                        <a:pt x="133350" y="200026"/>
                      </a:moveTo>
                      <a:lnTo>
                        <a:pt x="22225" y="200026"/>
                      </a:lnTo>
                      <a:cubicBezTo>
                        <a:pt x="9950" y="200026"/>
                        <a:pt x="0" y="190075"/>
                        <a:pt x="0" y="177801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3" y="0"/>
                      </a:lnTo>
                      <a:lnTo>
                        <a:pt x="155575" y="55563"/>
                      </a:lnTo>
                      <a:lnTo>
                        <a:pt x="155575" y="177801"/>
                      </a:lnTo>
                      <a:cubicBezTo>
                        <a:pt x="155575" y="190075"/>
                        <a:pt x="145625" y="200026"/>
                        <a:pt x="133350" y="200026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329238" y="3671888"/>
                  <a:ext cx="111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3" h="9525">
                      <a:moveTo>
                        <a:pt x="0" y="0"/>
                      </a:moveTo>
                      <a:lnTo>
                        <a:pt x="11113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329238" y="3716338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329238" y="3760788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5744718" y="3536632"/>
                <a:ext cx="227160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Formal &amp; Methodical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45861" y="3941921"/>
                <a:ext cx="3017139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Provide reproducible frameworks</a:t>
                </a:r>
                <a:br/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for describing security postures.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895850" y="4953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124450" y="5181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5262563" y="5319713"/>
                <a:ext cx="200025" cy="200025"/>
                <a:chOff x="5262563" y="5319713"/>
                <a:chExt cx="200025" cy="2000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5340350" y="531971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262563" y="54752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418138" y="54752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301456" y="5430838"/>
                  <a:ext cx="122238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50006">
                      <a:moveTo>
                        <a:pt x="0" y="50006"/>
                      </a:moveTo>
                      <a:lnTo>
                        <a:pt x="61119" y="0"/>
                      </a:lnTo>
                      <a:lnTo>
                        <a:pt x="122238" y="50006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362575" y="5364163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5744718" y="5251132"/>
                <a:ext cx="23519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Tree Representation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745861" y="5656421"/>
                <a:ext cx="3026156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Represent attacks in an intuitive,</a:t>
                </a:r>
                <a:br/>
                <a:r>
                  <a:rPr lang="en-US" sz="142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hierarchical decomposition graph.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542076" cy="874204"/>
            <a:chOff x="462534" y="375285"/>
            <a:chExt cx="6542076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536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Structure of Attack Trees: Root, Sub-Goals, and Leaves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6250" y="1428750"/>
            <a:ext cx="8801100" cy="4953000"/>
            <a:chOff x="476250" y="1428750"/>
            <a:chExt cx="8801100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3619500" cy="49530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657350"/>
              <a:ext cx="3162300" cy="4495800"/>
            </a:xfrm>
            <a:prstGeom prst="roundRect">
              <a:avLst>
                <a:gd name="adj" fmla="val 421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6206" y="1824990"/>
              <a:ext cx="2121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Tree Components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21717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6968" y="2441258"/>
              <a:ext cx="3212402" cy="2894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1. Attacker’s Goal (Root)</a:t>
              </a:r>
            </a:p>
            <a:p>
              <a:pPr marL="178118" indent="-178118" algn="l">
                <a:lnSpc>
                  <a:spcPts val="2100"/>
                </a:lnSpc>
                <a:spcBef>
                  <a:spcPts val="1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Root node represents the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ultimate overall objective.</a:t>
              </a:r>
            </a:p>
            <a:p>
              <a:pPr algn="l">
                <a:lnSpc>
                  <a:spcPts val="2100"/>
                </a:lnSpc>
                <a:spcBef>
                  <a:spcPts val="1500"/>
                </a:spcBef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2. Sub-Goals (Intermediate)</a:t>
              </a:r>
            </a:p>
            <a:p>
              <a:pPr marL="178118" indent="-178118" algn="l">
                <a:lnSpc>
                  <a:spcPts val="2100"/>
                </a:lnSpc>
                <a:spcBef>
                  <a:spcPts val="1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Breaks the goal into finer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sub-steps to achieve it.</a:t>
              </a:r>
            </a:p>
            <a:p>
              <a:pPr algn="l">
                <a:lnSpc>
                  <a:spcPts val="2100"/>
                </a:lnSpc>
                <a:spcBef>
                  <a:spcPts val="1500"/>
                </a:spcBef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3. Leaf Attacks (Bottom)</a:t>
              </a:r>
            </a:p>
            <a:p>
              <a:pPr marL="178118" indent="-178118" algn="l">
                <a:lnSpc>
                  <a:spcPts val="2100"/>
                </a:lnSpc>
                <a:spcBef>
                  <a:spcPts val="1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Concrete, actionable attacks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directly attempted.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4381500" y="1428750"/>
              <a:ext cx="4895850" cy="4953000"/>
              <a:chOff x="4381500" y="1428750"/>
              <a:chExt cx="4895850" cy="4953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81500" y="1428750"/>
                <a:ext cx="4895850" cy="4953000"/>
              </a:xfrm>
              <a:prstGeom prst="roundRect">
                <a:avLst>
                  <a:gd name="adj" fmla="val 3891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81675" y="1714500"/>
                <a:ext cx="2095500" cy="714375"/>
              </a:xfrm>
              <a:prstGeom prst="roundRect">
                <a:avLst>
                  <a:gd name="adj" fmla="val 21333"/>
                </a:avLst>
              </a:prstGeom>
              <a:solidFill>
                <a:srgbClr val="2B6CB0"/>
              </a:solidFill>
              <a:ln w="19050">
                <a:solidFill>
                  <a:srgbClr val="FFB800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5998369" y="1931194"/>
                <a:ext cx="271462" cy="271462"/>
                <a:chOff x="5998369" y="1931194"/>
                <a:chExt cx="271462" cy="271462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6119018" y="2051843"/>
                  <a:ext cx="30162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30162">
                      <a:moveTo>
                        <a:pt x="0" y="15081"/>
                      </a:moveTo>
                      <a:cubicBezTo>
                        <a:pt x="0" y="23410"/>
                        <a:pt x="6752" y="30162"/>
                        <a:pt x="15081" y="30162"/>
                      </a:cubicBezTo>
                      <a:cubicBezTo>
                        <a:pt x="23410" y="30162"/>
                        <a:pt x="30162" y="23410"/>
                        <a:pt x="30162" y="15081"/>
                      </a:cubicBezTo>
                      <a:cubicBezTo>
                        <a:pt x="30162" y="6752"/>
                        <a:pt x="23410" y="0"/>
                        <a:pt x="15081" y="0"/>
                      </a:cubicBezTo>
                      <a:cubicBezTo>
                        <a:pt x="6752" y="0"/>
                        <a:pt x="0" y="6752"/>
                        <a:pt x="0" y="15081"/>
                      </a:cubicBezTo>
                    </a:path>
                  </a:pathLst>
                </a:custGeom>
                <a:noFill/>
                <a:ln w="30162">
                  <a:solidFill>
                    <a:srgbClr val="FFB800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6058694" y="1991519"/>
                  <a:ext cx="150812" cy="150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2" h="150812">
                      <a:moveTo>
                        <a:pt x="0" y="75406"/>
                      </a:moveTo>
                      <a:cubicBezTo>
                        <a:pt x="0" y="117052"/>
                        <a:pt x="33760" y="150812"/>
                        <a:pt x="75406" y="150812"/>
                      </a:cubicBezTo>
                      <a:cubicBezTo>
                        <a:pt x="117052" y="150812"/>
                        <a:pt x="150812" y="117052"/>
                        <a:pt x="150812" y="75406"/>
                      </a:cubicBezTo>
                      <a:cubicBezTo>
                        <a:pt x="150812" y="33760"/>
                        <a:pt x="117052" y="0"/>
                        <a:pt x="75406" y="0"/>
                      </a:cubicBezTo>
                      <a:cubicBezTo>
                        <a:pt x="33760" y="0"/>
                        <a:pt x="0" y="33760"/>
                        <a:pt x="0" y="75406"/>
                      </a:cubicBezTo>
                    </a:path>
                  </a:pathLst>
                </a:custGeom>
                <a:noFill/>
                <a:ln w="30162">
                  <a:solidFill>
                    <a:srgbClr val="FFB80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998369" y="1931194"/>
                  <a:ext cx="271462" cy="271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71462">
                      <a:moveTo>
                        <a:pt x="0" y="135731"/>
                      </a:moveTo>
                      <a:cubicBezTo>
                        <a:pt x="0" y="210693"/>
                        <a:pt x="60769" y="271462"/>
                        <a:pt x="135731" y="271462"/>
                      </a:cubicBezTo>
                      <a:cubicBezTo>
                        <a:pt x="210693" y="271462"/>
                        <a:pt x="271462" y="210693"/>
                        <a:pt x="271462" y="135731"/>
                      </a:cubicBezTo>
                      <a:cubicBezTo>
                        <a:pt x="271462" y="60769"/>
                        <a:pt x="210693" y="0"/>
                        <a:pt x="135731" y="0"/>
                      </a:cubicBezTo>
                      <a:cubicBezTo>
                        <a:pt x="60769" y="0"/>
                        <a:pt x="0" y="60769"/>
                        <a:pt x="0" y="135731"/>
                      </a:cubicBezTo>
                    </a:path>
                  </a:pathLst>
                </a:custGeom>
                <a:noFill/>
                <a:ln w="30162">
                  <a:solidFill>
                    <a:srgbClr val="FFB800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6421755" y="1885950"/>
                <a:ext cx="16727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Attacker’s Goal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23660" y="2145506"/>
                <a:ext cx="12672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Overall objective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619750" y="2428875"/>
                <a:ext cx="1209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1209675" h="809625">
                    <a:moveTo>
                      <a:pt x="1209675" y="0"/>
                    </a:moveTo>
                    <a:lnTo>
                      <a:pt x="0" y="809625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829425" y="2428875"/>
                <a:ext cx="1209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1209675" h="809625">
                    <a:moveTo>
                      <a:pt x="0" y="0"/>
                    </a:moveTo>
                    <a:lnTo>
                      <a:pt x="1209675" y="809625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762500" y="3238500"/>
                <a:ext cx="1714500" cy="714375"/>
              </a:xfrm>
              <a:prstGeom prst="roundRect">
                <a:avLst>
                  <a:gd name="adj" fmla="val 18667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70812" y="3400425"/>
                <a:ext cx="10978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Sub-Goal 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60918" y="3677602"/>
                <a:ext cx="11176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Refines the goal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7181850" y="3238500"/>
                <a:ext cx="1714500" cy="714375"/>
              </a:xfrm>
              <a:prstGeom prst="roundRect">
                <a:avLst>
                  <a:gd name="adj" fmla="val 18667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90162" y="3400425"/>
                <a:ext cx="10978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Sub-Goal B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62681" y="3677602"/>
                <a:ext cx="11528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Alternative path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514350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476250" y="0"/>
                    </a:moveTo>
                    <a:lnTo>
                      <a:pt x="0" y="809625"/>
                    </a:lnTo>
                  </a:path>
                </a:pathLst>
              </a:custGeom>
              <a:noFill/>
              <a:ln w="23812">
                <a:solidFill>
                  <a:srgbClr val="2B6CB0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61975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0" y="0"/>
                    </a:moveTo>
                    <a:lnTo>
                      <a:pt x="476250" y="809625"/>
                    </a:lnTo>
                  </a:path>
                </a:pathLst>
              </a:custGeom>
              <a:noFill/>
              <a:ln w="23812">
                <a:solidFill>
                  <a:srgbClr val="2B6CB0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756285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476250" y="0"/>
                    </a:moveTo>
                    <a:lnTo>
                      <a:pt x="0" y="809625"/>
                    </a:lnTo>
                  </a:path>
                </a:pathLst>
              </a:custGeom>
              <a:noFill/>
              <a:ln w="23812">
                <a:solidFill>
                  <a:srgbClr val="2B6CB0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803910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0" y="0"/>
                    </a:moveTo>
                    <a:lnTo>
                      <a:pt x="476250" y="809625"/>
                    </a:lnTo>
                  </a:path>
                </a:pathLst>
              </a:custGeom>
              <a:noFill/>
              <a:ln w="23812">
                <a:solidFill>
                  <a:srgbClr val="2B6CB0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524375" y="4762500"/>
                <a:ext cx="123825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606388" y="4958239"/>
                <a:ext cx="10742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Leaf Attack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08703" y="5276374"/>
                <a:ext cx="10695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64748B"/>
                    </a:solidFill>
                    <a:latin typeface="Arial"/>
                    <a:ea typeface="Arial"/>
                    <a:cs typeface="Arial"/>
                  </a:rPr>
                  <a:t>Concrete attack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5857875" y="4762500"/>
                <a:ext cx="123825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939888" y="4958239"/>
                <a:ext cx="10742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Leaf Attack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42203" y="5276374"/>
                <a:ext cx="10695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64748B"/>
                    </a:solidFill>
                    <a:latin typeface="Arial"/>
                    <a:ea typeface="Arial"/>
                    <a:cs typeface="Arial"/>
                  </a:rPr>
                  <a:t>Concrete attack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191375" y="4762500"/>
                <a:ext cx="952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472305" y="4994910"/>
                <a:ext cx="390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Leaf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30986" y="5285899"/>
                <a:ext cx="6732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64748B"/>
                    </a:solidFill>
                    <a:latin typeface="Arial"/>
                    <a:ea typeface="Arial"/>
                    <a:cs typeface="Arial"/>
                  </a:rPr>
                  <a:t>Actionable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239125" y="4762500"/>
                <a:ext cx="952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520055" y="4994910"/>
                <a:ext cx="390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Leaf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378736" y="5285899"/>
                <a:ext cx="6732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64748B"/>
                    </a:solidFill>
                    <a:latin typeface="Arial"/>
                    <a:ea typeface="Arial"/>
                    <a:cs typeface="Arial"/>
                  </a:rPr>
                  <a:t>Actionable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11882" y="5918835"/>
                <a:ext cx="30350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Hierarchical Goal Decomposition Flow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51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Relations: AND-Decomposition vs OR-Decomposition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6250" y="1428750"/>
            <a:ext cx="8868394" cy="4953000"/>
            <a:chOff x="476250" y="1428750"/>
            <a:chExt cx="8868394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8801100" cy="714375"/>
            </a:xfrm>
            <a:prstGeom prst="roundRect">
              <a:avLst>
                <a:gd name="adj" fmla="val 18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81050" y="1682750"/>
              <a:ext cx="152400" cy="177800"/>
              <a:chOff x="781050" y="1682750"/>
              <a:chExt cx="152400" cy="177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31850" y="1682750"/>
                <a:ext cx="101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77800">
                    <a:moveTo>
                      <a:pt x="12700" y="63500"/>
                    </a:moveTo>
                    <a:lnTo>
                      <a:pt x="12700" y="0"/>
                    </a:lnTo>
                    <a:lnTo>
                      <a:pt x="0" y="0"/>
                    </a:lnTo>
                    <a:moveTo>
                      <a:pt x="101600" y="177800"/>
                    </a:moveTo>
                    <a:lnTo>
                      <a:pt x="101600" y="114300"/>
                    </a:lnTo>
                    <a:lnTo>
                      <a:pt x="88900" y="1143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5350" y="1682750"/>
                <a:ext cx="381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3500">
                    <a:moveTo>
                      <a:pt x="0" y="6350"/>
                    </a:moveTo>
                    <a:cubicBezTo>
                      <a:pt x="0" y="2843"/>
                      <a:pt x="2843" y="0"/>
                      <a:pt x="6350" y="0"/>
                    </a:cubicBezTo>
                    <a:lnTo>
                      <a:pt x="31750" y="0"/>
                    </a:lnTo>
                    <a:cubicBezTo>
                      <a:pt x="35257" y="0"/>
                      <a:pt x="38100" y="2843"/>
                      <a:pt x="38100" y="6350"/>
                    </a:cubicBezTo>
                    <a:lnTo>
                      <a:pt x="38100" y="57150"/>
                    </a:lnTo>
                    <a:cubicBezTo>
                      <a:pt x="38100" y="60657"/>
                      <a:pt x="35257" y="63500"/>
                      <a:pt x="31750" y="63500"/>
                    </a:cubicBezTo>
                    <a:lnTo>
                      <a:pt x="6350" y="63500"/>
                    </a:lnTo>
                    <a:cubicBezTo>
                      <a:pt x="2843" y="63500"/>
                      <a:pt x="0" y="60657"/>
                      <a:pt x="0" y="57150"/>
                    </a:cubicBezTo>
                    <a:lnTo>
                      <a:pt x="0" y="635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1850" y="1797050"/>
                <a:ext cx="381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3500">
                    <a:moveTo>
                      <a:pt x="0" y="6350"/>
                    </a:moveTo>
                    <a:cubicBezTo>
                      <a:pt x="0" y="2843"/>
                      <a:pt x="2843" y="0"/>
                      <a:pt x="6350" y="0"/>
                    </a:cubicBezTo>
                    <a:lnTo>
                      <a:pt x="31750" y="0"/>
                    </a:lnTo>
                    <a:cubicBezTo>
                      <a:pt x="35257" y="0"/>
                      <a:pt x="38100" y="2843"/>
                      <a:pt x="38100" y="6350"/>
                    </a:cubicBezTo>
                    <a:lnTo>
                      <a:pt x="38100" y="57150"/>
                    </a:lnTo>
                    <a:cubicBezTo>
                      <a:pt x="38100" y="60657"/>
                      <a:pt x="35257" y="63500"/>
                      <a:pt x="31750" y="63500"/>
                    </a:cubicBezTo>
                    <a:lnTo>
                      <a:pt x="6350" y="63500"/>
                    </a:lnTo>
                    <a:cubicBezTo>
                      <a:pt x="2843" y="63500"/>
                      <a:pt x="0" y="60657"/>
                      <a:pt x="0" y="57150"/>
                    </a:cubicBezTo>
                    <a:lnTo>
                      <a:pt x="0" y="635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1050" y="17462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127" y="0"/>
                    </a:lnTo>
                    <a:moveTo>
                      <a:pt x="0" y="114300"/>
                    </a:moveTo>
                    <a:lnTo>
                      <a:pt x="127" y="1143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36142" y="1606868"/>
              <a:ext cx="6413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Each non-leaf node is either an </a:t>
              </a:r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AND-node</a:t>
              </a:r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 (all sub-goals required)</a:t>
              </a:r>
              <a:br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 an </a:t>
              </a:r>
              <a:r>
                <a:rPr lang="en-US" sz="13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OR-node</a:t>
              </a:r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 (at least one sub-goal required to achieve the objective).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476250" y="2333625"/>
              <a:ext cx="4418552" cy="4048125"/>
              <a:chOff x="476250" y="2333625"/>
              <a:chExt cx="4418552" cy="4048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76250" y="2333625"/>
                <a:ext cx="4238625" cy="4048125"/>
              </a:xfrm>
              <a:prstGeom prst="roundRect">
                <a:avLst>
                  <a:gd name="adj" fmla="val 4706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66750" y="2524125"/>
                <a:ext cx="3857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400532" y="2657475"/>
                <a:ext cx="23805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(1) AND-Decomposition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733550" y="3143250"/>
                <a:ext cx="1714500" cy="523875"/>
              </a:xfrm>
              <a:prstGeom prst="roundRect">
                <a:avLst>
                  <a:gd name="adj" fmla="val 21818"/>
                </a:avLst>
              </a:prstGeom>
              <a:solidFill>
                <a:srgbClr val="2B6CB0"/>
              </a:solidFill>
              <a:ln w="19050">
                <a:solidFill>
                  <a:srgbClr val="FFB80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944140" y="3322796"/>
                <a:ext cx="1293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Order as Bob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524000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106680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590800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0" y="0"/>
                    </a:moveTo>
                    <a:lnTo>
                      <a:pt x="1066800" y="85725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352675" y="3952875"/>
                <a:ext cx="476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B80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456090" y="4030028"/>
                <a:ext cx="2694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AND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54867" y="4729639"/>
                <a:ext cx="11382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Log in as Bob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2895600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946969" y="4729639"/>
                <a:ext cx="14212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Pass card check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66750" y="5238750"/>
                <a:ext cx="3857625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1243" y="5394008"/>
                <a:ext cx="40935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Trudy places an order </a:t>
                </a:r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only if</a:t>
                </a: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 she logs in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AND passes card check</a:t>
                </a: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 — both needed.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038725" y="2333625"/>
              <a:ext cx="4305919" cy="4048125"/>
              <a:chOff x="5038725" y="2333625"/>
              <a:chExt cx="4305919" cy="4048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038725" y="2333625"/>
                <a:ext cx="4238625" cy="4048125"/>
              </a:xfrm>
              <a:prstGeom prst="roundRect">
                <a:avLst>
                  <a:gd name="adj" fmla="val 4706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229225" y="2524125"/>
                <a:ext cx="3857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003832" y="2657475"/>
                <a:ext cx="22988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(2) OR-Decomposition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105525" y="3143250"/>
                <a:ext cx="2095500" cy="523875"/>
              </a:xfrm>
              <a:prstGeom prst="roundRect">
                <a:avLst>
                  <a:gd name="adj" fmla="val 21818"/>
                </a:avLst>
              </a:prstGeom>
              <a:solidFill>
                <a:srgbClr val="2B6CB0"/>
              </a:solidFill>
              <a:ln w="19050">
                <a:solidFill>
                  <a:srgbClr val="FFB800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065041" y="3322796"/>
                <a:ext cx="217646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Learn Bob’s password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6086475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106680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53275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0" y="0"/>
                    </a:moveTo>
                    <a:lnTo>
                      <a:pt x="1066800" y="857250"/>
                    </a:lnTo>
                  </a:path>
                </a:pathLst>
              </a:custGeom>
              <a:noFill/>
              <a:ln w="28575">
                <a:solidFill>
                  <a:srgbClr val="2B6CB0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962775" y="3952875"/>
                <a:ext cx="381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46008" y="4030028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OR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5324475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724333" y="4729639"/>
                <a:ext cx="7242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Guess it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458075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880732" y="4729639"/>
                <a:ext cx="67868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Phish it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229225" y="5238750"/>
                <a:ext cx="3857625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363718" y="5394008"/>
                <a:ext cx="3980926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Trudy gets password if she </a:t>
                </a:r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guesses it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OR phishes it</a:t>
                </a: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 — one success is enough.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974967" cy="1140904"/>
            <a:chOff x="462534" y="375285"/>
            <a:chExt cx="6974967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626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Takeaways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969633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 protects digital systems and valuable data assets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even in adversarial environments.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76250" y="1571625"/>
            <a:ext cx="8801100" cy="4386834"/>
            <a:chOff x="476250" y="1571625"/>
            <a:chExt cx="8801100" cy="4386834"/>
          </a:xfrm>
        </p:grpSpPr>
        <p:sp>
          <p:nvSpPr>
            <p:cNvPr id="7" name="Rectangle 7"/>
            <p:cNvSpPr/>
            <p:nvPr/>
          </p:nvSpPr>
          <p:spPr>
            <a:xfrm>
              <a:off x="476250" y="1571625"/>
              <a:ext cx="8801100" cy="1047750"/>
            </a:xfrm>
            <a:prstGeom prst="roundRect">
              <a:avLst>
                <a:gd name="adj" fmla="val 1636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800225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08916" y="1919288"/>
              <a:ext cx="217008" cy="200025"/>
              <a:chOff x="808916" y="1919288"/>
              <a:chExt cx="217008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08916" y="19192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7263" y="20748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77493" y="1850708"/>
              <a:ext cx="409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Adversarial Environment Protection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8636" y="2198846"/>
              <a:ext cx="679526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Cybersecurity protects digital systems, networks, and valuable data assets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even in the presence of active adversaries and hostile threat actors.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2762250"/>
              <a:ext cx="8801100" cy="1047750"/>
            </a:xfrm>
            <a:prstGeom prst="roundRect">
              <a:avLst>
                <a:gd name="adj" fmla="val 1636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704850" y="2990850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46138" y="3109913"/>
              <a:ext cx="155575" cy="200025"/>
              <a:chOff x="846138" y="3109913"/>
              <a:chExt cx="155575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46138" y="3198813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12813" y="32432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9475" y="31099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77493" y="3041332"/>
              <a:ext cx="3128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Fundamental Security Goals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8636" y="3389471"/>
              <a:ext cx="6335395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The CIA triad (Confidentiality, Integrity, Availability) alongside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authenticity, accountability, and reliability defines fundamental goals.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3952875"/>
              <a:ext cx="8801100" cy="1047750"/>
            </a:xfrm>
            <a:prstGeom prst="roundRect">
              <a:avLst>
                <a:gd name="adj" fmla="val 1636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704850" y="4181475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23913" y="4300538"/>
              <a:ext cx="200026" cy="200026"/>
              <a:chOff x="823913" y="430053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12813" y="43894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8363" y="43449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3913" y="43005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277493" y="4231958"/>
              <a:ext cx="28851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Risk Reduction &amp; Modeling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8636" y="4580096"/>
              <a:ext cx="6632956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Effective security reduces risk by analyzing attack surfaces, hierarchical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 trees, and implementing appropriate defense countermeasures.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" y="5143500"/>
              <a:ext cx="8801100" cy="809625"/>
            </a:xfrm>
            <a:prstGeom prst="roundRect">
              <a:avLst>
                <a:gd name="adj" fmla="val 18824"/>
              </a:avLst>
            </a:prstGeom>
            <a:solidFill>
              <a:srgbClr val="2B6CB0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33" name="Group 33"/>
            <p:cNvGrpSpPr/>
            <p:nvPr/>
          </p:nvGrpSpPr>
          <p:grpSpPr>
            <a:xfrm>
              <a:off x="854869" y="5407822"/>
              <a:ext cx="271459" cy="271459"/>
              <a:chOff x="854869" y="5407822"/>
              <a:chExt cx="271459" cy="27145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54869" y="5407822"/>
                <a:ext cx="271459" cy="271459"/>
              </a:xfrm>
              <a:custGeom>
                <a:avLst/>
                <a:gdLst/>
                <a:ahLst/>
                <a:cxnLst/>
                <a:rect l="l" t="t" r="r" b="b"/>
                <a:pathLst>
                  <a:path w="271459" h="271459">
                    <a:moveTo>
                      <a:pt x="204426" y="12711"/>
                    </a:moveTo>
                    <a:lnTo>
                      <a:pt x="258748" y="67033"/>
                    </a:lnTo>
                    <a:cubicBezTo>
                      <a:pt x="266887" y="75170"/>
                      <a:pt x="271459" y="86207"/>
                      <a:pt x="271459" y="97716"/>
                    </a:cubicBezTo>
                    <a:cubicBezTo>
                      <a:pt x="271459" y="109224"/>
                      <a:pt x="266887" y="120261"/>
                      <a:pt x="258748" y="128399"/>
                    </a:cubicBezTo>
                    <a:lnTo>
                      <a:pt x="218889" y="168258"/>
                    </a:lnTo>
                    <a:cubicBezTo>
                      <a:pt x="210752" y="176397"/>
                      <a:pt x="199715" y="180969"/>
                      <a:pt x="188206" y="180969"/>
                    </a:cubicBezTo>
                    <a:cubicBezTo>
                      <a:pt x="176698" y="180969"/>
                      <a:pt x="165660" y="176397"/>
                      <a:pt x="157523" y="168258"/>
                    </a:cubicBezTo>
                    <a:lnTo>
                      <a:pt x="152984" y="163719"/>
                    </a:lnTo>
                    <a:lnTo>
                      <a:pt x="54081" y="262621"/>
                    </a:lnTo>
                    <a:cubicBezTo>
                      <a:pt x="49070" y="267632"/>
                      <a:pt x="42455" y="270718"/>
                      <a:pt x="35396" y="271338"/>
                    </a:cubicBezTo>
                    <a:lnTo>
                      <a:pt x="32756" y="271459"/>
                    </a:lnTo>
                    <a:lnTo>
                      <a:pt x="15081" y="271459"/>
                    </a:lnTo>
                    <a:cubicBezTo>
                      <a:pt x="7435" y="271458"/>
                      <a:pt x="1000" y="265736"/>
                      <a:pt x="106" y="258142"/>
                    </a:cubicBezTo>
                    <a:lnTo>
                      <a:pt x="0" y="256378"/>
                    </a:lnTo>
                    <a:lnTo>
                      <a:pt x="0" y="238703"/>
                    </a:lnTo>
                    <a:cubicBezTo>
                      <a:pt x="2" y="231621"/>
                      <a:pt x="2495" y="224766"/>
                      <a:pt x="7043" y="219338"/>
                    </a:cubicBezTo>
                    <a:lnTo>
                      <a:pt x="8838" y="217378"/>
                    </a:lnTo>
                    <a:lnTo>
                      <a:pt x="15081" y="211134"/>
                    </a:lnTo>
                    <a:lnTo>
                      <a:pt x="45244" y="211134"/>
                    </a:lnTo>
                    <a:lnTo>
                      <a:pt x="45244" y="180972"/>
                    </a:lnTo>
                    <a:lnTo>
                      <a:pt x="75406" y="180972"/>
                    </a:lnTo>
                    <a:lnTo>
                      <a:pt x="75406" y="150809"/>
                    </a:lnTo>
                    <a:lnTo>
                      <a:pt x="107740" y="118475"/>
                    </a:lnTo>
                    <a:lnTo>
                      <a:pt x="103201" y="113936"/>
                    </a:lnTo>
                    <a:cubicBezTo>
                      <a:pt x="95062" y="105799"/>
                      <a:pt x="90490" y="94761"/>
                      <a:pt x="90490" y="83253"/>
                    </a:cubicBezTo>
                    <a:cubicBezTo>
                      <a:pt x="90490" y="71744"/>
                      <a:pt x="95062" y="60707"/>
                      <a:pt x="103201" y="52570"/>
                    </a:cubicBezTo>
                    <a:lnTo>
                      <a:pt x="143060" y="12711"/>
                    </a:lnTo>
                    <a:cubicBezTo>
                      <a:pt x="151198" y="4572"/>
                      <a:pt x="162235" y="0"/>
                      <a:pt x="173743" y="0"/>
                    </a:cubicBezTo>
                    <a:cubicBezTo>
                      <a:pt x="185252" y="0"/>
                      <a:pt x="196289" y="4572"/>
                      <a:pt x="204426" y="12711"/>
                    </a:cubicBezTo>
                  </a:path>
                </a:pathLst>
              </a:custGeom>
              <a:noFill/>
              <a:ln w="30162">
                <a:solidFill>
                  <a:srgbClr val="FFB80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35843" y="54983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30162">
                <a:solidFill>
                  <a:srgbClr val="FFB80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327404" y="5394960"/>
              <a:ext cx="1365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UPCOMING TOPIC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4356" y="5606415"/>
              <a:ext cx="4047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Next Week: Cryptography Basics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600281" y="5453062"/>
              <a:ext cx="211137" cy="180975"/>
              <a:chOff x="8600281" y="5453062"/>
              <a:chExt cx="211137" cy="1809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600281" y="5543550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rgbClr val="FFB80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20931" y="5543550"/>
                <a:ext cx="90487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0487">
                    <a:moveTo>
                      <a:pt x="0" y="90487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rgbClr val="FFB8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20931" y="5453062"/>
                <a:ext cx="90487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0487">
                    <a:moveTo>
                      <a:pt x="0" y="0"/>
                    </a:moveTo>
                    <a:lnTo>
                      <a:pt x="90487" y="90487"/>
                    </a:lnTo>
                  </a:path>
                </a:pathLst>
              </a:custGeom>
              <a:noFill/>
              <a:ln w="30162">
                <a:solidFill>
                  <a:srgbClr val="FFB800"/>
                </a:solidFill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yber_security_week1_blue_largefont">
  <a:themeElements>
    <a:clrScheme name="cyber_security_week1_blue_largefo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yber_security_week1_blue_largefon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yber_security_week1_blue_largefo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3072</Words>
  <Application>Microsoft Office PowerPoint</Application>
  <PresentationFormat>와이드스크린</PresentationFormat>
  <Paragraphs>576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Arial</vt:lpstr>
      <vt:lpstr>Calibri</vt:lpstr>
      <vt:lpstr>Georgia</vt:lpstr>
      <vt:lpstr>맑은 고딕</vt:lpstr>
      <vt:lpstr>cyber_security_week1_blue_largefont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김시원</cp:lastModifiedBy>
  <cp:revision>2</cp:revision>
  <dcterms:created xsi:type="dcterms:W3CDTF">2026-08-29T10:58:57Z</dcterms:created>
  <dcterms:modified xsi:type="dcterms:W3CDTF">2026-08-29T11:07:45Z</dcterms:modified>
  <cp:category/>
  <cp:contentStatus/>
  <dc:language/>
</cp:coreProperties>
</file>