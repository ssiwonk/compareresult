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7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yber_security_week1_largefo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yber_security_week1_largefo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/mnt/data/a_sleek_high_resolution_abstract_cybersecurity_te.png">
            <a:extLst>
              <a:ext uri="{FF2B5EF4-FFF2-40B4-BE49-F238E27FC236}">
                <a16:creationId xmlns:a16="http://schemas.microsoft.com/office/drawing/2014/main" id="{946F4909-0D7F-476F-A6C6-913E2882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1"/>
          <a:stretch/>
        </p:blipFill>
        <p:spPr>
          <a:xfrm>
            <a:off x="1" y="0"/>
            <a:ext cx="1219846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476250" y="476250"/>
            <a:ext cx="323850" cy="6362700"/>
          </a:xfrm>
          <a:custGeom>
            <a:avLst/>
            <a:gdLst/>
            <a:ahLst/>
            <a:cxnLst/>
            <a:rect l="l" t="t" r="r" b="b"/>
            <a:pathLst>
              <a:path w="323850" h="6362700">
                <a:moveTo>
                  <a:pt x="0" y="228600"/>
                </a:moveTo>
                <a:cubicBezTo>
                  <a:pt x="0" y="76200"/>
                  <a:pt x="76200" y="0"/>
                  <a:pt x="228600" y="0"/>
                </a:cubicBezTo>
                <a:lnTo>
                  <a:pt x="323850" y="0"/>
                </a:lnTo>
                <a:lnTo>
                  <a:pt x="323850" y="6362700"/>
                </a:lnTo>
                <a:lnTo>
                  <a:pt x="228600" y="6362700"/>
                </a:lnTo>
                <a:cubicBezTo>
                  <a:pt x="76200" y="6362700"/>
                  <a:pt x="0" y="6286500"/>
                  <a:pt x="0" y="6134100"/>
                </a:cubicBezTo>
                <a:close/>
              </a:path>
            </a:pathLst>
          </a:custGeom>
          <a:solidFill>
            <a:srgbClr val="4A000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047750" y="952500"/>
            <a:ext cx="2286000" cy="419100"/>
          </a:xfrm>
          <a:prstGeom prst="roundRect">
            <a:avLst>
              <a:gd name="adj" fmla="val 50000"/>
            </a:avLst>
          </a:prstGeom>
          <a:solidFill>
            <a:srgbClr val="4A0005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224758" y="1076325"/>
            <a:ext cx="179383" cy="171450"/>
          </a:xfrm>
          <a:custGeom>
            <a:avLst/>
            <a:gdLst/>
            <a:ahLst/>
            <a:cxnLst/>
            <a:rect l="l" t="t" r="r" b="b"/>
            <a:pathLst>
              <a:path w="179383" h="171450">
                <a:moveTo>
                  <a:pt x="89692" y="0"/>
                </a:moveTo>
                <a:cubicBezTo>
                  <a:pt x="111940" y="19684"/>
                  <a:pt x="140979" y="29933"/>
                  <a:pt x="170654" y="28575"/>
                </a:cubicBezTo>
                <a:cubicBezTo>
                  <a:pt x="179383" y="58269"/>
                  <a:pt x="175697" y="90235"/>
                  <a:pt x="160438" y="117163"/>
                </a:cubicBezTo>
                <a:cubicBezTo>
                  <a:pt x="145178" y="144091"/>
                  <a:pt x="119651" y="163679"/>
                  <a:pt x="89692" y="171450"/>
                </a:cubicBezTo>
                <a:cubicBezTo>
                  <a:pt x="59732" y="163679"/>
                  <a:pt x="34205" y="144091"/>
                  <a:pt x="18946" y="117163"/>
                </a:cubicBezTo>
                <a:cubicBezTo>
                  <a:pt x="3686" y="90235"/>
                  <a:pt x="0" y="58269"/>
                  <a:pt x="8729" y="28575"/>
                </a:cubicBezTo>
                <a:cubicBezTo>
                  <a:pt x="38405" y="29933"/>
                  <a:pt x="67443" y="19684"/>
                  <a:pt x="89692" y="0"/>
                </a:cubicBezTo>
              </a:path>
            </a:pathLst>
          </a:custGeom>
          <a:noFill/>
          <a:ln w="19050">
            <a:solidFill>
              <a:srgbClr val="F4B400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1304925" y="1143000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/>
          <a:ln w="19050">
            <a:solidFill>
              <a:srgbClr val="F4B400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1314450" y="1162050"/>
            <a:ext cx="9525" cy="23812"/>
          </a:xfrm>
          <a:custGeom>
            <a:avLst/>
            <a:gdLst/>
            <a:ahLst/>
            <a:cxnLst/>
            <a:rect l="l" t="t" r="r" b="b"/>
            <a:pathLst>
              <a:path w="9525" h="23812">
                <a:moveTo>
                  <a:pt x="0" y="0"/>
                </a:moveTo>
                <a:lnTo>
                  <a:pt x="0" y="23812"/>
                </a:lnTo>
              </a:path>
            </a:pathLst>
          </a:custGeom>
          <a:noFill/>
          <a:ln w="19050">
            <a:solidFill>
              <a:srgbClr val="F4B40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55242" y="1082992"/>
            <a:ext cx="17880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01 · LECTURE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801178"/>
            <a:ext cx="3664465" cy="126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405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Introduction to</a:t>
            </a:r>
            <a:br>
              <a:rPr>
                <a:solidFill>
                  <a:schemeClr val="bg1"/>
                </a:solidFill>
              </a:rPr>
            </a:br>
            <a:r>
              <a:rPr lang="en-US" sz="405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Cybersecurity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047750" y="3238500"/>
            <a:ext cx="1333500" cy="571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37844" y="3647122"/>
            <a:ext cx="739679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Fundamental Concepts, Principles, and Threat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9368" y="4089082"/>
            <a:ext cx="723916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An introductory course on securing digital assets in adversarial environments.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5143500"/>
            <a:ext cx="4286250" cy="914400"/>
          </a:xfrm>
          <a:prstGeom prst="roundRect">
            <a:avLst>
              <a:gd name="adj" fmla="val 16667"/>
            </a:avLst>
          </a:prstGeom>
          <a:solidFill>
            <a:srgbClr val="EFECE6"/>
          </a:solidFill>
          <a:ln w="14288">
            <a:solidFill>
              <a:srgbClr val="DDD7CE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1273175" y="5468937"/>
            <a:ext cx="349249" cy="174625"/>
          </a:xfrm>
          <a:custGeom>
            <a:avLst/>
            <a:gdLst/>
            <a:ahLst/>
            <a:cxnLst/>
            <a:rect l="l" t="t" r="r" b="b"/>
            <a:pathLst>
              <a:path w="349249" h="174625">
                <a:moveTo>
                  <a:pt x="349249" y="69850"/>
                </a:moveTo>
                <a:lnTo>
                  <a:pt x="174625" y="0"/>
                </a:lnTo>
                <a:lnTo>
                  <a:pt x="0" y="69850"/>
                </a:lnTo>
                <a:lnTo>
                  <a:pt x="174625" y="139700"/>
                </a:lnTo>
                <a:lnTo>
                  <a:pt x="349249" y="69850"/>
                </a:lnTo>
                <a:lnTo>
                  <a:pt x="349249" y="174625"/>
                </a:lnTo>
              </a:path>
            </a:pathLst>
          </a:custGeom>
          <a:noFill/>
          <a:ln w="34925">
            <a:solidFill>
              <a:srgbClr val="4A0005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1343025" y="5566727"/>
            <a:ext cx="209550" cy="146685"/>
          </a:xfrm>
          <a:custGeom>
            <a:avLst/>
            <a:gdLst/>
            <a:ahLst/>
            <a:cxnLst/>
            <a:rect l="l" t="t" r="r" b="b"/>
            <a:pathLst>
              <a:path w="209550" h="146685">
                <a:moveTo>
                  <a:pt x="0" y="0"/>
                </a:moveTo>
                <a:lnTo>
                  <a:pt x="0" y="94297"/>
                </a:lnTo>
                <a:cubicBezTo>
                  <a:pt x="0" y="123230"/>
                  <a:pt x="46909" y="146685"/>
                  <a:pt x="104775" y="146685"/>
                </a:cubicBezTo>
                <a:cubicBezTo>
                  <a:pt x="162640" y="146685"/>
                  <a:pt x="209550" y="123230"/>
                  <a:pt x="209550" y="94297"/>
                </a:cubicBezTo>
                <a:lnTo>
                  <a:pt x="209550" y="0"/>
                </a:lnTo>
              </a:path>
            </a:pathLst>
          </a:custGeom>
          <a:noFill/>
          <a:ln w="34925">
            <a:solidFill>
              <a:srgbClr val="4A0005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801368" y="5365432"/>
            <a:ext cx="25687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2892" y="5702618"/>
            <a:ext cx="32298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Department of Information Security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187281" y="2121694"/>
            <a:ext cx="122238" cy="157163"/>
            <a:chOff x="6187281" y="2121694"/>
            <a:chExt cx="122238" cy="157163"/>
          </a:xfrm>
        </p:grpSpPr>
        <p:sp>
          <p:nvSpPr>
            <p:cNvPr id="27" name="Freeform 27"/>
            <p:cNvSpPr/>
            <p:nvPr/>
          </p:nvSpPr>
          <p:spPr>
            <a:xfrm>
              <a:off x="6187281" y="2191544"/>
              <a:ext cx="122238" cy="87313"/>
            </a:xfrm>
            <a:custGeom>
              <a:avLst/>
              <a:gdLst/>
              <a:ahLst/>
              <a:cxnLst/>
              <a:rect l="l" t="t" r="r" b="b"/>
              <a:pathLst>
                <a:path w="122238" h="87313">
                  <a:moveTo>
                    <a:pt x="0" y="17463"/>
                  </a:moveTo>
                  <a:cubicBezTo>
                    <a:pt x="0" y="7818"/>
                    <a:pt x="7818" y="0"/>
                    <a:pt x="17463" y="0"/>
                  </a:cubicBezTo>
                  <a:lnTo>
                    <a:pt x="104775" y="0"/>
                  </a:lnTo>
                  <a:cubicBezTo>
                    <a:pt x="114419" y="0"/>
                    <a:pt x="122238" y="7818"/>
                    <a:pt x="122238" y="17463"/>
                  </a:cubicBezTo>
                  <a:lnTo>
                    <a:pt x="122238" y="69850"/>
                  </a:lnTo>
                  <a:cubicBezTo>
                    <a:pt x="122238" y="79494"/>
                    <a:pt x="114419" y="87313"/>
                    <a:pt x="104775" y="87313"/>
                  </a:cubicBezTo>
                  <a:lnTo>
                    <a:pt x="17463" y="87313"/>
                  </a:lnTo>
                  <a:cubicBezTo>
                    <a:pt x="7818" y="87313"/>
                    <a:pt x="0" y="79494"/>
                    <a:pt x="0" y="69850"/>
                  </a:cubicBezTo>
                  <a:lnTo>
                    <a:pt x="0" y="17463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239669" y="2226469"/>
              <a:ext cx="17463" cy="17463"/>
            </a:xfrm>
            <a:custGeom>
              <a:avLst/>
              <a:gdLst/>
              <a:ahLst/>
              <a:cxnLst/>
              <a:rect l="l" t="t" r="r" b="b"/>
              <a:pathLst>
                <a:path w="17463" h="17463">
                  <a:moveTo>
                    <a:pt x="0" y="8731"/>
                  </a:moveTo>
                  <a:cubicBezTo>
                    <a:pt x="0" y="13553"/>
                    <a:pt x="3909" y="17463"/>
                    <a:pt x="8731" y="17463"/>
                  </a:cubicBezTo>
                  <a:cubicBezTo>
                    <a:pt x="13553" y="17463"/>
                    <a:pt x="17463" y="13553"/>
                    <a:pt x="17463" y="8731"/>
                  </a:cubicBezTo>
                  <a:cubicBezTo>
                    <a:pt x="17463" y="3909"/>
                    <a:pt x="13553" y="0"/>
                    <a:pt x="8731" y="0"/>
                  </a:cubicBezTo>
                  <a:cubicBezTo>
                    <a:pt x="3909" y="0"/>
                    <a:pt x="0" y="3909"/>
                    <a:pt x="0" y="8731"/>
                  </a:cubicBez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213475" y="2121694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0" y="69850"/>
                  </a:moveTo>
                  <a:lnTo>
                    <a:pt x="0" y="34925"/>
                  </a:lnTo>
                  <a:cubicBezTo>
                    <a:pt x="0" y="15636"/>
                    <a:pt x="15636" y="0"/>
                    <a:pt x="34925" y="0"/>
                  </a:cubicBezTo>
                  <a:cubicBezTo>
                    <a:pt x="54214" y="0"/>
                    <a:pt x="69850" y="15636"/>
                    <a:pt x="69850" y="34925"/>
                  </a:cubicBezTo>
                  <a:lnTo>
                    <a:pt x="69850" y="69850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596188" y="4710906"/>
            <a:ext cx="104775" cy="122238"/>
            <a:chOff x="7596188" y="4710906"/>
            <a:chExt cx="104775" cy="122238"/>
          </a:xfrm>
        </p:grpSpPr>
        <p:sp>
          <p:nvSpPr>
            <p:cNvPr id="33" name="Freeform 33"/>
            <p:cNvSpPr/>
            <p:nvPr/>
          </p:nvSpPr>
          <p:spPr>
            <a:xfrm>
              <a:off x="7631113" y="4710906"/>
              <a:ext cx="69850" cy="122238"/>
            </a:xfrm>
            <a:custGeom>
              <a:avLst/>
              <a:gdLst/>
              <a:ahLst/>
              <a:cxnLst/>
              <a:rect l="l" t="t" r="r" b="b"/>
              <a:pathLst>
                <a:path w="69850" h="122238">
                  <a:moveTo>
                    <a:pt x="8731" y="43656"/>
                  </a:moveTo>
                  <a:lnTo>
                    <a:pt x="8731" y="0"/>
                  </a:lnTo>
                  <a:lnTo>
                    <a:pt x="0" y="0"/>
                  </a:lnTo>
                  <a:moveTo>
                    <a:pt x="69850" y="122238"/>
                  </a:moveTo>
                  <a:lnTo>
                    <a:pt x="69850" y="78581"/>
                  </a:lnTo>
                  <a:lnTo>
                    <a:pt x="61119" y="78581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674769" y="4710906"/>
              <a:ext cx="26194" cy="43656"/>
            </a:xfrm>
            <a:custGeom>
              <a:avLst/>
              <a:gdLst/>
              <a:ahLst/>
              <a:cxnLst/>
              <a:rect l="l" t="t" r="r" b="b"/>
              <a:pathLst>
                <a:path w="26194" h="43656">
                  <a:moveTo>
                    <a:pt x="0" y="4366"/>
                  </a:moveTo>
                  <a:cubicBezTo>
                    <a:pt x="0" y="1955"/>
                    <a:pt x="1955" y="0"/>
                    <a:pt x="4366" y="0"/>
                  </a:cubicBezTo>
                  <a:lnTo>
                    <a:pt x="21828" y="0"/>
                  </a:lnTo>
                  <a:cubicBezTo>
                    <a:pt x="24239" y="0"/>
                    <a:pt x="26194" y="1955"/>
                    <a:pt x="26194" y="4366"/>
                  </a:cubicBezTo>
                  <a:lnTo>
                    <a:pt x="26194" y="39291"/>
                  </a:lnTo>
                  <a:cubicBezTo>
                    <a:pt x="26194" y="41702"/>
                    <a:pt x="24239" y="43656"/>
                    <a:pt x="21828" y="43656"/>
                  </a:cubicBezTo>
                  <a:lnTo>
                    <a:pt x="4366" y="43656"/>
                  </a:lnTo>
                  <a:cubicBezTo>
                    <a:pt x="1955" y="43656"/>
                    <a:pt x="0" y="41702"/>
                    <a:pt x="0" y="39291"/>
                  </a:cubicBezTo>
                  <a:lnTo>
                    <a:pt x="0" y="4366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631113" y="4789488"/>
              <a:ext cx="26194" cy="43656"/>
            </a:xfrm>
            <a:custGeom>
              <a:avLst/>
              <a:gdLst/>
              <a:ahLst/>
              <a:cxnLst/>
              <a:rect l="l" t="t" r="r" b="b"/>
              <a:pathLst>
                <a:path w="26194" h="43656">
                  <a:moveTo>
                    <a:pt x="0" y="4366"/>
                  </a:moveTo>
                  <a:cubicBezTo>
                    <a:pt x="0" y="1955"/>
                    <a:pt x="1955" y="0"/>
                    <a:pt x="4366" y="0"/>
                  </a:cubicBezTo>
                  <a:lnTo>
                    <a:pt x="21828" y="0"/>
                  </a:lnTo>
                  <a:cubicBezTo>
                    <a:pt x="24239" y="0"/>
                    <a:pt x="26194" y="1955"/>
                    <a:pt x="26194" y="4366"/>
                  </a:cubicBezTo>
                  <a:lnTo>
                    <a:pt x="26194" y="39291"/>
                  </a:lnTo>
                  <a:cubicBezTo>
                    <a:pt x="26194" y="41702"/>
                    <a:pt x="24239" y="43656"/>
                    <a:pt x="21828" y="43656"/>
                  </a:cubicBezTo>
                  <a:lnTo>
                    <a:pt x="4366" y="43656"/>
                  </a:lnTo>
                  <a:cubicBezTo>
                    <a:pt x="1955" y="43656"/>
                    <a:pt x="0" y="41702"/>
                    <a:pt x="0" y="39291"/>
                  </a:cubicBezTo>
                  <a:lnTo>
                    <a:pt x="0" y="4366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596188" y="4754563"/>
              <a:ext cx="9525" cy="78581"/>
            </a:xfrm>
            <a:custGeom>
              <a:avLst/>
              <a:gdLst/>
              <a:ahLst/>
              <a:cxnLst/>
              <a:rect l="l" t="t" r="r" b="b"/>
              <a:pathLst>
                <a:path w="9525" h="78581">
                  <a:moveTo>
                    <a:pt x="0" y="0"/>
                  </a:moveTo>
                  <a:lnTo>
                    <a:pt x="87" y="0"/>
                  </a:lnTo>
                  <a:moveTo>
                    <a:pt x="0" y="78581"/>
                  </a:moveTo>
                  <a:lnTo>
                    <a:pt x="87" y="78581"/>
                  </a:lnTo>
                </a:path>
              </a:pathLst>
            </a:custGeom>
            <a:noFill/>
            <a:ln w="17463">
              <a:solidFill>
                <a:srgbClr val="4A0005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 descr="/mnt/data/a_sleek_high_resolution_abstract_cybersecurity_te.png">
            <a:extLst>
              <a:ext uri="{FF2B5EF4-FFF2-40B4-BE49-F238E27FC236}">
                <a16:creationId xmlns:a16="http://schemas.microsoft.com/office/drawing/2014/main" id="{87DD99A8-AC7E-4C96-9672-FBD7C079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1"/>
          <a:stretch/>
        </p:blipFill>
        <p:spPr>
          <a:xfrm>
            <a:off x="1" y="0"/>
            <a:ext cx="12198468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762000" y="762000"/>
            <a:ext cx="1524000" cy="3619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75756" y="870585"/>
            <a:ext cx="10964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UNIT SECTION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27821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spc="150" dirty="0">
                <a:solidFill>
                  <a:srgbClr val="F4B400"/>
                </a:solidFill>
                <a:latin typeface="Arial"/>
                <a:ea typeface="Arial"/>
                <a:cs typeface="Arial"/>
              </a:rPr>
              <a:t>COURSE ORIENTATION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2738438"/>
            <a:ext cx="3928961" cy="5770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75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Course Overview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4290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3806190"/>
            <a:ext cx="729078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Introduction to Cybersecurity Course Structure and Roadmap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62000" y="4572000"/>
            <a:ext cx="8001000" cy="1238250"/>
            <a:chOff x="762000" y="4572000"/>
            <a:chExt cx="8001000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92981" y="4821769"/>
              <a:ext cx="252413" cy="197113"/>
              <a:chOff x="992981" y="4821769"/>
              <a:chExt cx="252413" cy="19711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92981" y="4997188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2981" y="482176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2981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14425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235869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83030" y="4829175"/>
              <a:ext cx="1375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About Course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5223510"/>
              <a:ext cx="20924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Core mission and scope</a:t>
              </a:r>
              <a:br/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of cybersecurity discipline.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2425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761978" y="4823222"/>
              <a:ext cx="222648" cy="195659"/>
              <a:chOff x="3761978" y="4823222"/>
              <a:chExt cx="222648" cy="19565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761978" y="4823222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761978" y="4904185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761978" y="4985147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863182" y="4843463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863182" y="4924425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863182" y="5005388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145280" y="4829175"/>
              <a:ext cx="1736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Contents &amp; Goals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08654" y="5223510"/>
              <a:ext cx="20772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5 core curriculum areas and</a:t>
              </a:r>
              <a:br/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course learning objectives.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522906" y="4802981"/>
              <a:ext cx="232012" cy="241404"/>
              <a:chOff x="6522906" y="4802981"/>
              <a:chExt cx="232012" cy="24140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557963" y="480298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3"/>
                    </a:moveTo>
                    <a:cubicBezTo>
                      <a:pt x="0" y="125677"/>
                      <a:pt x="36248" y="161925"/>
                      <a:pt x="80963" y="161925"/>
                    </a:cubicBezTo>
                    <a:cubicBezTo>
                      <a:pt x="125677" y="161925"/>
                      <a:pt x="161925" y="125677"/>
                      <a:pt x="161925" y="80963"/>
                    </a:cubicBezTo>
                    <a:cubicBezTo>
                      <a:pt x="161925" y="36248"/>
                      <a:pt x="125677" y="0"/>
                      <a:pt x="80963" y="0"/>
                    </a:cubicBezTo>
                    <a:cubicBezTo>
                      <a:pt x="36248" y="0"/>
                      <a:pt x="0" y="36248"/>
                      <a:pt x="0" y="80963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38925" y="4924425"/>
                <a:ext cx="115993" cy="119960"/>
              </a:xfrm>
              <a:custGeom>
                <a:avLst/>
                <a:gdLst/>
                <a:ahLst/>
                <a:cxnLst/>
                <a:rect l="l" t="t" r="r" b="b"/>
                <a:pathLst>
                  <a:path w="115993" h="119960">
                    <a:moveTo>
                      <a:pt x="0" y="40481"/>
                    </a:moveTo>
                    <a:lnTo>
                      <a:pt x="45879" y="119960"/>
                    </a:lnTo>
                    <a:lnTo>
                      <a:pt x="67442" y="76334"/>
                    </a:lnTo>
                    <a:lnTo>
                      <a:pt x="115993" y="79465"/>
                    </a:lnTo>
                    <a:lnTo>
                      <a:pt x="70114" y="0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22906" y="4924425"/>
                <a:ext cx="115993" cy="119946"/>
              </a:xfrm>
              <a:custGeom>
                <a:avLst/>
                <a:gdLst/>
                <a:ahLst/>
                <a:cxnLst/>
                <a:rect l="l" t="t" r="r" b="b"/>
                <a:pathLst>
                  <a:path w="115993" h="119946">
                    <a:moveTo>
                      <a:pt x="45879" y="0"/>
                    </a:moveTo>
                    <a:lnTo>
                      <a:pt x="0" y="79478"/>
                    </a:lnTo>
                    <a:lnTo>
                      <a:pt x="48551" y="76334"/>
                    </a:lnTo>
                    <a:lnTo>
                      <a:pt x="70114" y="119946"/>
                    </a:lnTo>
                    <a:lnTo>
                      <a:pt x="115993" y="40481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907530" y="4829175"/>
              <a:ext cx="1230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Assessment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904" y="5223510"/>
              <a:ext cx="18638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Grading criteria and key</a:t>
              </a:r>
              <a:br/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course reference books.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3220723" cy="874204"/>
            <a:chOff x="462534" y="375285"/>
            <a:chExt cx="322072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2207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About the Course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26129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Cybersecurity is about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76250" y="1428750"/>
            <a:ext cx="8801100" cy="1143000"/>
            <a:chOff x="476250" y="1428750"/>
            <a:chExt cx="8801100" cy="1143000"/>
          </a:xfrm>
        </p:grpSpPr>
        <p:sp>
          <p:nvSpPr>
            <p:cNvPr id="7" name="Rectangle 7"/>
            <p:cNvSpPr/>
            <p:nvPr/>
          </p:nvSpPr>
          <p:spPr>
            <a:xfrm>
              <a:off x="476250" y="1428750"/>
              <a:ext cx="8801100" cy="1143000"/>
            </a:xfrm>
            <a:prstGeom prst="roundRect">
              <a:avLst>
                <a:gd name="adj" fmla="val 15000"/>
              </a:avLst>
            </a:prstGeom>
            <a:solidFill>
              <a:srgbClr val="4A0005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grpSp>
          <p:nvGrpSpPr>
            <p:cNvPr id="11" name="Group 11"/>
            <p:cNvGrpSpPr/>
            <p:nvPr/>
          </p:nvGrpSpPr>
          <p:grpSpPr>
            <a:xfrm>
              <a:off x="823521" y="1785938"/>
              <a:ext cx="448458" cy="428625"/>
              <a:chOff x="823521" y="1785938"/>
              <a:chExt cx="448458" cy="4286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23521" y="1785938"/>
                <a:ext cx="448458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448458" h="428625">
                    <a:moveTo>
                      <a:pt x="224229" y="0"/>
                    </a:moveTo>
                    <a:cubicBezTo>
                      <a:pt x="279851" y="49210"/>
                      <a:pt x="352447" y="74832"/>
                      <a:pt x="426635" y="71438"/>
                    </a:cubicBezTo>
                    <a:cubicBezTo>
                      <a:pt x="448458" y="145674"/>
                      <a:pt x="439242" y="225586"/>
                      <a:pt x="401094" y="292906"/>
                    </a:cubicBezTo>
                    <a:cubicBezTo>
                      <a:pt x="362946" y="360226"/>
                      <a:pt x="299128" y="409198"/>
                      <a:pt x="224229" y="428625"/>
                    </a:cubicBezTo>
                    <a:cubicBezTo>
                      <a:pt x="149330" y="409198"/>
                      <a:pt x="85512" y="360226"/>
                      <a:pt x="47364" y="292906"/>
                    </a:cubicBezTo>
                    <a:cubicBezTo>
                      <a:pt x="9216" y="225586"/>
                      <a:pt x="0" y="145674"/>
                      <a:pt x="21823" y="71438"/>
                    </a:cubicBezTo>
                    <a:cubicBezTo>
                      <a:pt x="96011" y="74832"/>
                      <a:pt x="168607" y="49210"/>
                      <a:pt x="224229" y="0"/>
                    </a:cubicBezTo>
                  </a:path>
                </a:pathLst>
              </a:custGeom>
              <a:noFill/>
              <a:ln w="47625">
                <a:solidFill>
                  <a:srgbClr val="F4B40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23938" y="19526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47625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7750" y="2000250"/>
                <a:ext cx="9525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9531">
                    <a:moveTo>
                      <a:pt x="0" y="0"/>
                    </a:moveTo>
                    <a:lnTo>
                      <a:pt x="0" y="59531"/>
                    </a:lnTo>
                  </a:path>
                </a:pathLst>
              </a:custGeom>
              <a:noFill/>
              <a:ln w="47625">
                <a:solidFill>
                  <a:srgbClr val="F4B4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13332" y="1697355"/>
              <a:ext cx="56909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protecting digital assets and systems,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3332" y="2078355"/>
              <a:ext cx="53792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even in the presence of adversaries.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76250" y="2809875"/>
            <a:ext cx="8801100" cy="3714750"/>
            <a:chOff x="476250" y="2809875"/>
            <a:chExt cx="8801100" cy="3714750"/>
          </a:xfrm>
        </p:grpSpPr>
        <p:sp>
          <p:nvSpPr>
            <p:cNvPr id="15" name="Rectangle 15"/>
            <p:cNvSpPr/>
            <p:nvPr/>
          </p:nvSpPr>
          <p:spPr>
            <a:xfrm>
              <a:off x="476250" y="2809875"/>
              <a:ext cx="2743200" cy="3714750"/>
            </a:xfrm>
            <a:prstGeom prst="roundRect">
              <a:avLst>
                <a:gd name="adj" fmla="val 625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666750" y="3038475"/>
              <a:ext cx="571500" cy="5715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38200" y="3195638"/>
              <a:ext cx="228600" cy="257175"/>
              <a:chOff x="838200" y="3195638"/>
              <a:chExt cx="228600" cy="2571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38200" y="3195638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32385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332422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56844" y="3818572"/>
              <a:ext cx="18826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Digital Assets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8368" y="4298632"/>
              <a:ext cx="2363724" cy="1351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Data, files, records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Intellectual property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Personal data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Critical business info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66750" y="5905500"/>
              <a:ext cx="23622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4192" y="6016942"/>
              <a:ext cx="1981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Target of Protection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505200" y="2809875"/>
              <a:ext cx="2743200" cy="3714750"/>
            </a:xfrm>
            <a:prstGeom prst="roundRect">
              <a:avLst>
                <a:gd name="adj" fmla="val 625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3695700" y="3038475"/>
              <a:ext cx="571500" cy="5715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3852862" y="3209925"/>
              <a:ext cx="257175" cy="228600"/>
              <a:chOff x="3852862" y="3209925"/>
              <a:chExt cx="257175" cy="228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852862" y="3209925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852862" y="3324225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910012" y="3267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910012" y="33813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3685794" y="3818572"/>
              <a:ext cx="20898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Digital Systems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87318" y="4298632"/>
              <a:ext cx="2206562" cy="1351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Computer HW &amp; OS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Networks &amp; routers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Cloud services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Web applications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695700" y="5905500"/>
              <a:ext cx="23622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803142" y="6016942"/>
              <a:ext cx="2163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Operating Environment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34150" y="2809875"/>
              <a:ext cx="2743200" cy="3714750"/>
            </a:xfrm>
            <a:prstGeom prst="roundRect">
              <a:avLst>
                <a:gd name="adj" fmla="val 625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6724650" y="3038475"/>
              <a:ext cx="571500" cy="5715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866309" y="3190891"/>
              <a:ext cx="288171" cy="247577"/>
              <a:chOff x="6866309" y="3190891"/>
              <a:chExt cx="288171" cy="24757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010400" y="3281362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66309" y="3190891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10400" y="33813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14744" y="3818572"/>
              <a:ext cx="16267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Adversaries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6268" y="4298632"/>
              <a:ext cx="2405634" cy="1351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Malicious hackers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Hostile intruders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Insider threat actors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Attack campaigns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24650" y="5905500"/>
              <a:ext cx="23622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32092" y="6016942"/>
              <a:ext cx="1342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Threat Source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159740" cy="1140904"/>
            <a:chOff x="462534" y="375285"/>
            <a:chExt cx="5159740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4289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Learning Contents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154406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In this course, you will explore five major areas</a:t>
              </a:r>
              <a:br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of cybersecurity (Part 1):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476250" y="1619250"/>
            <a:ext cx="8801100" cy="4714875"/>
            <a:chOff x="476250" y="1619250"/>
            <a:chExt cx="8801100" cy="4714875"/>
          </a:xfrm>
        </p:grpSpPr>
        <p:sp>
          <p:nvSpPr>
            <p:cNvPr id="7" name="Rectangle 7"/>
            <p:cNvSpPr/>
            <p:nvPr/>
          </p:nvSpPr>
          <p:spPr>
            <a:xfrm>
              <a:off x="476250" y="1619250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666750" y="1809750"/>
              <a:ext cx="571500" cy="5715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6795" y="198024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521619" y="1969297"/>
              <a:ext cx="271459" cy="271459"/>
              <a:chOff x="1521619" y="1969297"/>
              <a:chExt cx="271459" cy="27145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521619" y="1969297"/>
                <a:ext cx="271459" cy="271459"/>
              </a:xfrm>
              <a:custGeom>
                <a:avLst/>
                <a:gdLst/>
                <a:ahLst/>
                <a:cxnLst/>
                <a:rect l="l" t="t" r="r" b="b"/>
                <a:pathLst>
                  <a:path w="271459" h="271459">
                    <a:moveTo>
                      <a:pt x="204426" y="12711"/>
                    </a:moveTo>
                    <a:lnTo>
                      <a:pt x="258748" y="67033"/>
                    </a:lnTo>
                    <a:cubicBezTo>
                      <a:pt x="266887" y="75170"/>
                      <a:pt x="271459" y="86207"/>
                      <a:pt x="271459" y="97716"/>
                    </a:cubicBezTo>
                    <a:cubicBezTo>
                      <a:pt x="271459" y="109224"/>
                      <a:pt x="266887" y="120261"/>
                      <a:pt x="258748" y="128399"/>
                    </a:cubicBezTo>
                    <a:lnTo>
                      <a:pt x="218889" y="168258"/>
                    </a:lnTo>
                    <a:cubicBezTo>
                      <a:pt x="210752" y="176397"/>
                      <a:pt x="199715" y="180969"/>
                      <a:pt x="188206" y="180969"/>
                    </a:cubicBezTo>
                    <a:cubicBezTo>
                      <a:pt x="176698" y="180969"/>
                      <a:pt x="165660" y="176397"/>
                      <a:pt x="157523" y="168258"/>
                    </a:cubicBezTo>
                    <a:lnTo>
                      <a:pt x="152984" y="163719"/>
                    </a:lnTo>
                    <a:lnTo>
                      <a:pt x="54081" y="262621"/>
                    </a:lnTo>
                    <a:cubicBezTo>
                      <a:pt x="49070" y="267632"/>
                      <a:pt x="42455" y="270718"/>
                      <a:pt x="35396" y="271338"/>
                    </a:cubicBezTo>
                    <a:lnTo>
                      <a:pt x="32756" y="271459"/>
                    </a:lnTo>
                    <a:lnTo>
                      <a:pt x="15081" y="271459"/>
                    </a:lnTo>
                    <a:cubicBezTo>
                      <a:pt x="7435" y="271458"/>
                      <a:pt x="1000" y="265736"/>
                      <a:pt x="106" y="258142"/>
                    </a:cubicBezTo>
                    <a:lnTo>
                      <a:pt x="0" y="256378"/>
                    </a:lnTo>
                    <a:lnTo>
                      <a:pt x="0" y="238703"/>
                    </a:lnTo>
                    <a:cubicBezTo>
                      <a:pt x="2" y="231621"/>
                      <a:pt x="2495" y="224766"/>
                      <a:pt x="7043" y="219338"/>
                    </a:cubicBezTo>
                    <a:lnTo>
                      <a:pt x="8838" y="217378"/>
                    </a:lnTo>
                    <a:lnTo>
                      <a:pt x="15081" y="211134"/>
                    </a:lnTo>
                    <a:lnTo>
                      <a:pt x="45244" y="211134"/>
                    </a:lnTo>
                    <a:lnTo>
                      <a:pt x="45244" y="180972"/>
                    </a:lnTo>
                    <a:lnTo>
                      <a:pt x="75406" y="180972"/>
                    </a:lnTo>
                    <a:lnTo>
                      <a:pt x="75406" y="150809"/>
                    </a:lnTo>
                    <a:lnTo>
                      <a:pt x="107740" y="118475"/>
                    </a:lnTo>
                    <a:lnTo>
                      <a:pt x="103201" y="113936"/>
                    </a:lnTo>
                    <a:cubicBezTo>
                      <a:pt x="95062" y="105799"/>
                      <a:pt x="90490" y="94761"/>
                      <a:pt x="90490" y="83253"/>
                    </a:cubicBezTo>
                    <a:cubicBezTo>
                      <a:pt x="90490" y="71744"/>
                      <a:pt x="95062" y="60707"/>
                      <a:pt x="103201" y="52570"/>
                    </a:cubicBezTo>
                    <a:lnTo>
                      <a:pt x="143060" y="12711"/>
                    </a:lnTo>
                    <a:cubicBezTo>
                      <a:pt x="151198" y="4572"/>
                      <a:pt x="162235" y="0"/>
                      <a:pt x="173743" y="0"/>
                    </a:cubicBezTo>
                    <a:cubicBezTo>
                      <a:pt x="185252" y="0"/>
                      <a:pt x="196289" y="4572"/>
                      <a:pt x="204426" y="12711"/>
                    </a:cubicBezTo>
                  </a:path>
                </a:pathLst>
              </a:custGeom>
              <a:noFill/>
              <a:ln w="30162">
                <a:solidFill>
                  <a:srgbClr val="4A0005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702593" y="20597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30162">
                <a:solidFill>
                  <a:srgbClr val="4A0005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990344" y="1961198"/>
              <a:ext cx="44705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Concepts and Basic Cryptography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92249" y="2363629"/>
              <a:ext cx="4841875" cy="57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Foundations, standard terminology, ciphers,</a:t>
              </a:r>
              <a:br/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 essential symmetric/asymmetric algorithms.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76250" y="3286125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6" name="Ellipse 16"/>
            <p:cNvSpPr/>
            <p:nvPr/>
          </p:nvSpPr>
          <p:spPr>
            <a:xfrm>
              <a:off x="666750" y="3476625"/>
              <a:ext cx="571500" cy="5715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6795" y="3647122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566862" y="3636169"/>
              <a:ext cx="226218" cy="271462"/>
              <a:chOff x="1566862" y="3636169"/>
              <a:chExt cx="226218" cy="27146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597025" y="3636169"/>
                <a:ext cx="12065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120650">
                    <a:moveTo>
                      <a:pt x="0" y="60325"/>
                    </a:moveTo>
                    <a:cubicBezTo>
                      <a:pt x="0" y="93641"/>
                      <a:pt x="27008" y="120650"/>
                      <a:pt x="60325" y="120650"/>
                    </a:cubicBezTo>
                    <a:cubicBezTo>
                      <a:pt x="93641" y="120650"/>
                      <a:pt x="120650" y="93641"/>
                      <a:pt x="120650" y="60325"/>
                    </a:cubicBezTo>
                    <a:cubicBezTo>
                      <a:pt x="120650" y="27008"/>
                      <a:pt x="93641" y="0"/>
                      <a:pt x="60325" y="0"/>
                    </a:cubicBezTo>
                    <a:cubicBezTo>
                      <a:pt x="27008" y="0"/>
                      <a:pt x="0" y="27008"/>
                      <a:pt x="0" y="60325"/>
                    </a:cubicBezTo>
                  </a:path>
                </a:pathLst>
              </a:custGeom>
              <a:noFill/>
              <a:ln w="30162">
                <a:solidFill>
                  <a:srgbClr val="4A000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566862" y="3817143"/>
                <a:ext cx="120650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90487">
                    <a:moveTo>
                      <a:pt x="0" y="90487"/>
                    </a:moveTo>
                    <a:lnTo>
                      <a:pt x="0" y="60325"/>
                    </a:lnTo>
                    <a:cubicBezTo>
                      <a:pt x="0" y="27008"/>
                      <a:pt x="27008" y="0"/>
                      <a:pt x="60325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30162">
                <a:solidFill>
                  <a:srgbClr val="4A0005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702593" y="3847306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rgbClr val="4A0005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990344" y="3628072"/>
              <a:ext cx="46351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Authentication and Access Control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92249" y="4030504"/>
              <a:ext cx="4871974" cy="57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User identity verification, password systems,</a:t>
              </a:r>
              <a:br/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MFA frameworks, and enterprise access policies.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76250" y="4953000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5" name="Ellipse 25"/>
            <p:cNvSpPr/>
            <p:nvPr/>
          </p:nvSpPr>
          <p:spPr>
            <a:xfrm>
              <a:off x="666750" y="5143500"/>
              <a:ext cx="571500" cy="5715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6795" y="5313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521619" y="5303044"/>
              <a:ext cx="271462" cy="271462"/>
              <a:chOff x="1521619" y="5303044"/>
              <a:chExt cx="271462" cy="27146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521619" y="530304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135731"/>
                    </a:moveTo>
                    <a:cubicBezTo>
                      <a:pt x="0" y="210693"/>
                      <a:pt x="60769" y="271462"/>
                      <a:pt x="135731" y="271462"/>
                    </a:cubicBezTo>
                    <a:cubicBezTo>
                      <a:pt x="210693" y="271462"/>
                      <a:pt x="271462" y="210693"/>
                      <a:pt x="271462" y="135731"/>
                    </a:cubicBezTo>
                    <a:cubicBezTo>
                      <a:pt x="271462" y="60769"/>
                      <a:pt x="210693" y="0"/>
                      <a:pt x="135731" y="0"/>
                    </a:cubicBezTo>
                    <a:cubicBezTo>
                      <a:pt x="60769" y="0"/>
                      <a:pt x="0" y="60769"/>
                      <a:pt x="0" y="135731"/>
                    </a:cubicBezTo>
                  </a:path>
                </a:pathLst>
              </a:custGeom>
              <a:noFill/>
              <a:ln w="30162">
                <a:solidFill>
                  <a:srgbClr val="4A0005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530667" y="5393531"/>
                <a:ext cx="2533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3364" h="9525">
                    <a:moveTo>
                      <a:pt x="0" y="0"/>
                    </a:moveTo>
                    <a:lnTo>
                      <a:pt x="253364" y="0"/>
                    </a:lnTo>
                  </a:path>
                </a:pathLst>
              </a:custGeom>
              <a:noFill/>
              <a:ln w="30162">
                <a:solidFill>
                  <a:srgbClr val="4A0005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530667" y="5484018"/>
                <a:ext cx="2533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3364" h="9525">
                    <a:moveTo>
                      <a:pt x="0" y="0"/>
                    </a:moveTo>
                    <a:lnTo>
                      <a:pt x="253364" y="0"/>
                    </a:lnTo>
                  </a:path>
                </a:pathLst>
              </a:custGeom>
              <a:noFill/>
              <a:ln w="30162">
                <a:solidFill>
                  <a:srgbClr val="4A0005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597974" y="5303044"/>
                <a:ext cx="5183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51835" h="271462">
                    <a:moveTo>
                      <a:pt x="51835" y="0"/>
                    </a:moveTo>
                    <a:cubicBezTo>
                      <a:pt x="0" y="83064"/>
                      <a:pt x="0" y="188398"/>
                      <a:pt x="51835" y="271462"/>
                    </a:cubicBezTo>
                  </a:path>
                </a:pathLst>
              </a:custGeom>
              <a:noFill/>
              <a:ln w="30162">
                <a:solidFill>
                  <a:srgbClr val="4A0005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664890" y="5303044"/>
                <a:ext cx="5183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51835" h="271462">
                    <a:moveTo>
                      <a:pt x="0" y="0"/>
                    </a:moveTo>
                    <a:cubicBezTo>
                      <a:pt x="51835" y="83064"/>
                      <a:pt x="51835" y="188398"/>
                      <a:pt x="0" y="271462"/>
                    </a:cubicBezTo>
                  </a:path>
                </a:pathLst>
              </a:custGeom>
              <a:noFill/>
              <a:ln w="30162">
                <a:solidFill>
                  <a:srgbClr val="4A0005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990344" y="5294948"/>
              <a:ext cx="43051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Network Security and Protocols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92249" y="5697379"/>
              <a:ext cx="5193030" cy="57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Firewalls, Intrusion Detection/Prevention (IDS/IPS),</a:t>
              </a:r>
              <a:br/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TLS protocols, and network perimeter defense.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159740" cy="1140904"/>
            <a:chOff x="462534" y="375285"/>
            <a:chExt cx="5159740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4289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Learning Contents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154406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In this course, you will explore five major areas</a:t>
              </a:r>
              <a:br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of cybersecurity (Part 2):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76250" y="1619250"/>
            <a:ext cx="8846820" cy="4762500"/>
            <a:chOff x="476250" y="1619250"/>
            <a:chExt cx="8846820" cy="4762500"/>
          </a:xfrm>
        </p:grpSpPr>
        <p:sp>
          <p:nvSpPr>
            <p:cNvPr id="7" name="Rectangle 7"/>
            <p:cNvSpPr/>
            <p:nvPr/>
          </p:nvSpPr>
          <p:spPr>
            <a:xfrm>
              <a:off x="476250" y="1619250"/>
              <a:ext cx="8801100" cy="2238375"/>
            </a:xfrm>
            <a:prstGeom prst="roundRect">
              <a:avLst>
                <a:gd name="adj" fmla="val 8511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723900" y="1914525"/>
              <a:ext cx="647700" cy="6477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55452" y="21164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671637" y="2135187"/>
              <a:ext cx="314325" cy="261938"/>
              <a:chOff x="1671637" y="2135187"/>
              <a:chExt cx="314325" cy="26193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776412" y="2135187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69850"/>
                    </a:moveTo>
                    <a:lnTo>
                      <a:pt x="0" y="52387"/>
                    </a:lnTo>
                    <a:cubicBezTo>
                      <a:pt x="0" y="23455"/>
                      <a:pt x="23455" y="0"/>
                      <a:pt x="52387" y="0"/>
                    </a:cubicBezTo>
                    <a:cubicBezTo>
                      <a:pt x="81320" y="0"/>
                      <a:pt x="104775" y="23455"/>
                      <a:pt x="104775" y="52387"/>
                    </a:cubicBezTo>
                    <a:lnTo>
                      <a:pt x="104775" y="69850"/>
                    </a:lnTo>
                  </a:path>
                </a:pathLst>
              </a:custGeom>
              <a:noFill/>
              <a:ln w="34925">
                <a:solidFill>
                  <a:srgbClr val="4A0005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741487" y="2205037"/>
                <a:ext cx="174625" cy="192087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92087">
                    <a:moveTo>
                      <a:pt x="17462" y="0"/>
                    </a:moveTo>
                    <a:lnTo>
                      <a:pt x="157162" y="0"/>
                    </a:lnTo>
                    <a:cubicBezTo>
                      <a:pt x="167563" y="15587"/>
                      <a:pt x="173593" y="33678"/>
                      <a:pt x="174625" y="52387"/>
                    </a:cubicBezTo>
                    <a:lnTo>
                      <a:pt x="174625" y="104775"/>
                    </a:lnTo>
                    <a:cubicBezTo>
                      <a:pt x="174625" y="152996"/>
                      <a:pt x="135534" y="192087"/>
                      <a:pt x="87312" y="192087"/>
                    </a:cubicBezTo>
                    <a:cubicBezTo>
                      <a:pt x="39091" y="192087"/>
                      <a:pt x="0" y="152996"/>
                      <a:pt x="0" y="104775"/>
                    </a:cubicBezTo>
                    <a:lnTo>
                      <a:pt x="0" y="52387"/>
                    </a:lnTo>
                    <a:cubicBezTo>
                      <a:pt x="1032" y="33678"/>
                      <a:pt x="7062" y="15587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rgbClr val="4A000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71637" y="2274887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4A000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916112" y="2274887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4A000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828800" y="2292350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10477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4A000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689100" y="2344737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0" y="34925"/>
                    </a:moveTo>
                    <a:lnTo>
                      <a:pt x="58499" y="0"/>
                    </a:lnTo>
                  </a:path>
                </a:pathLst>
              </a:custGeom>
              <a:noFill/>
              <a:ln w="34925">
                <a:solidFill>
                  <a:srgbClr val="4A000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910000" y="2344737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58499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4A000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689100" y="2170112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0" y="0"/>
                    </a:moveTo>
                    <a:lnTo>
                      <a:pt x="65484" y="41910"/>
                    </a:lnTo>
                  </a:path>
                </a:pathLst>
              </a:custGeom>
              <a:noFill/>
              <a:ln w="34925">
                <a:solidFill>
                  <a:srgbClr val="4A000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903015" y="2170112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65484" y="0"/>
                    </a:moveTo>
                    <a:lnTo>
                      <a:pt x="0" y="41910"/>
                    </a:lnTo>
                  </a:path>
                </a:pathLst>
              </a:custGeom>
              <a:noFill/>
              <a:ln w="34925">
                <a:solidFill>
                  <a:srgbClr val="4A0005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180082" y="2097405"/>
              <a:ext cx="51590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Software, Malware, and Databases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83130" y="2552700"/>
              <a:ext cx="7139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Software vulnerabilities, memory bugs, and secure coding principles.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Malware categories: Viruses, worms, trojans, and ransomware payloads.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Database security: SQL injection attacks and backend storage protection.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6250" y="4143375"/>
              <a:ext cx="8801100" cy="2238375"/>
            </a:xfrm>
            <a:prstGeom prst="roundRect">
              <a:avLst>
                <a:gd name="adj" fmla="val 8511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Ellipse 23"/>
            <p:cNvSpPr/>
            <p:nvPr/>
          </p:nvSpPr>
          <p:spPr>
            <a:xfrm>
              <a:off x="723900" y="4438650"/>
              <a:ext cx="647700" cy="6477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55452" y="4640580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654175" y="4653899"/>
              <a:ext cx="349249" cy="232495"/>
            </a:xfrm>
            <a:custGeom>
              <a:avLst/>
              <a:gdLst/>
              <a:ahLst/>
              <a:cxnLst/>
              <a:rect l="l" t="t" r="r" b="b"/>
              <a:pathLst>
                <a:path w="349249" h="232495">
                  <a:moveTo>
                    <a:pt x="81323" y="232425"/>
                  </a:moveTo>
                  <a:cubicBezTo>
                    <a:pt x="36409" y="232425"/>
                    <a:pt x="0" y="197378"/>
                    <a:pt x="0" y="154141"/>
                  </a:cubicBezTo>
                  <a:cubicBezTo>
                    <a:pt x="0" y="110922"/>
                    <a:pt x="36409" y="75874"/>
                    <a:pt x="81323" y="75874"/>
                  </a:cubicBezTo>
                  <a:cubicBezTo>
                    <a:pt x="88185" y="45106"/>
                    <a:pt x="112650" y="19995"/>
                    <a:pt x="145497" y="9989"/>
                  </a:cubicBezTo>
                  <a:cubicBezTo>
                    <a:pt x="178327" y="0"/>
                    <a:pt x="214579" y="6618"/>
                    <a:pt x="240563" y="27451"/>
                  </a:cubicBezTo>
                  <a:cubicBezTo>
                    <a:pt x="266547" y="48231"/>
                    <a:pt x="278317" y="79961"/>
                    <a:pt x="271472" y="110730"/>
                  </a:cubicBezTo>
                  <a:lnTo>
                    <a:pt x="288759" y="110730"/>
                  </a:lnTo>
                  <a:cubicBezTo>
                    <a:pt x="322165" y="110730"/>
                    <a:pt x="349249" y="137971"/>
                    <a:pt x="349249" y="171604"/>
                  </a:cubicBezTo>
                  <a:cubicBezTo>
                    <a:pt x="349249" y="205254"/>
                    <a:pt x="322165" y="232495"/>
                    <a:pt x="288742" y="232495"/>
                  </a:cubicBezTo>
                  <a:lnTo>
                    <a:pt x="81323" y="232495"/>
                  </a:lnTo>
                </a:path>
              </a:pathLst>
            </a:custGeom>
            <a:noFill/>
            <a:ln w="34925">
              <a:solidFill>
                <a:srgbClr val="4A000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80082" y="4621530"/>
              <a:ext cx="4052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Cloud, AI, Risk, and Privacy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3130" y="5076825"/>
              <a:ext cx="6920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Cloud infrastructure security models and multi-tenant architectures.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AI threat modeling, adversarial attacks, and robust defense systems.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Enterprise risk management frameworks, compliance, and user privacy.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741688" cy="1140904"/>
            <a:chOff x="462534" y="375285"/>
            <a:chExt cx="4741688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7334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Learning Objectives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73635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By the end of the course, you will be able to</a:t>
              </a:r>
              <a:br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(Objectives 1–3):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76250" y="1619250"/>
            <a:ext cx="8801100" cy="4714875"/>
            <a:chOff x="476250" y="1619250"/>
            <a:chExt cx="8801100" cy="4714875"/>
          </a:xfrm>
        </p:grpSpPr>
        <p:sp>
          <p:nvSpPr>
            <p:cNvPr id="7" name="Rectangle 7"/>
            <p:cNvSpPr/>
            <p:nvPr/>
          </p:nvSpPr>
          <p:spPr>
            <a:xfrm>
              <a:off x="476250" y="1619250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685800" y="1828800"/>
              <a:ext cx="533400" cy="533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3387" y="19964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9606" y="1920240"/>
              <a:ext cx="4542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Explain core cybersecurity concepts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0368" y="2298382"/>
              <a:ext cx="458495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Explain terminology, requirements, security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principles, and cryptography basics.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" y="3286125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Ellipse 13"/>
            <p:cNvSpPr/>
            <p:nvPr/>
          </p:nvSpPr>
          <p:spPr>
            <a:xfrm>
              <a:off x="685800" y="3495675"/>
              <a:ext cx="533400" cy="533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3387" y="36633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9606" y="3587115"/>
              <a:ext cx="48352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Apply authentication &amp; access controls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0368" y="3965258"/>
              <a:ext cx="4616386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Apply user authentication and access control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mechanisms across enterprise systems.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6250" y="4953000"/>
              <a:ext cx="8801100" cy="1381125"/>
            </a:xfrm>
            <a:prstGeom prst="roundRect">
              <a:avLst>
                <a:gd name="adj" fmla="val 1241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8" name="Ellipse 18"/>
            <p:cNvSpPr/>
            <p:nvPr/>
          </p:nvSpPr>
          <p:spPr>
            <a:xfrm>
              <a:off x="685800" y="5162550"/>
              <a:ext cx="533400" cy="5334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3387" y="53301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9606" y="5253990"/>
              <a:ext cx="48737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Describe network defenses &amp; protocols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0368" y="5632132"/>
              <a:ext cx="450113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Describe network perimeter defenses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 real-world security protocols in detail.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741688" cy="1140904"/>
            <a:chOff x="462534" y="375285"/>
            <a:chExt cx="4741688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7334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Learning Objectives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73635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By the end of the course, you will be able to</a:t>
              </a:r>
              <a:br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(Objectives 4–5):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76250" y="1619250"/>
            <a:ext cx="8840915" cy="4667250"/>
            <a:chOff x="476250" y="1619250"/>
            <a:chExt cx="8840915" cy="4667250"/>
          </a:xfrm>
        </p:grpSpPr>
        <p:sp>
          <p:nvSpPr>
            <p:cNvPr id="7" name="Rectangle 7"/>
            <p:cNvSpPr/>
            <p:nvPr/>
          </p:nvSpPr>
          <p:spPr>
            <a:xfrm>
              <a:off x="476250" y="1619250"/>
              <a:ext cx="8801100" cy="2190750"/>
            </a:xfrm>
            <a:prstGeom prst="roundRect">
              <a:avLst>
                <a:gd name="adj" fmla="val 869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714375" y="1857375"/>
              <a:ext cx="571500" cy="5715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4420" y="20373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4094" y="1980248"/>
              <a:ext cx="58453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Analyze software, malware, and databases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5618" y="2536508"/>
              <a:ext cx="7466267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Identify and analyze common software bugs and application flaws.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Understand malware propagation methods and malicious behaviors.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Evaluate database integrity, injection attacks, and backend defenses.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" y="4095750"/>
              <a:ext cx="8801100" cy="2190750"/>
            </a:xfrm>
            <a:prstGeom prst="roundRect">
              <a:avLst>
                <a:gd name="adj" fmla="val 869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Ellipse 13"/>
            <p:cNvSpPr/>
            <p:nvPr/>
          </p:nvSpPr>
          <p:spPr>
            <a:xfrm>
              <a:off x="714375" y="4333875"/>
              <a:ext cx="571500" cy="571500"/>
            </a:xfrm>
            <a:prstGeom prst="ellipse">
              <a:avLst/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4420" y="45138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4094" y="4456748"/>
              <a:ext cx="49686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Evaluate cloud, AI, risk, and privacy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5618" y="5013008"/>
              <a:ext cx="7801547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Assess modern cloud architecture security and responsibility models.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Evaluate artificial intelligence threat models and emerging AI risks.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Apply risk management frameworks, compliance audits, and privacy rules.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311948" cy="874204"/>
            <a:chOff x="462534" y="375285"/>
            <a:chExt cx="5311948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141247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Grading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3066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Course Evaluation and Assessment Components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476250" y="1524000"/>
            <a:ext cx="8812339" cy="4857750"/>
            <a:chOff x="476250" y="1524000"/>
            <a:chExt cx="8812339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2286000"/>
            </a:xfrm>
            <a:prstGeom prst="roundRect">
              <a:avLst>
                <a:gd name="adj" fmla="val 750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04850" y="17526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82650" y="195580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25400">
              <a:solidFill>
                <a:srgbClr val="F4B40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81506" y="1882140"/>
              <a:ext cx="3354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Attendance &amp; Participation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6468" y="2536508"/>
              <a:ext cx="364197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Regular attendance &amp; online logins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Active lecture progress tracking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Discussion board Q&amp;A engagement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38725" y="1524000"/>
              <a:ext cx="4238625" cy="2286000"/>
            </a:xfrm>
            <a:prstGeom prst="roundRect">
              <a:avLst>
                <a:gd name="adj" fmla="val 750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5267325" y="17526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419725" y="1917700"/>
              <a:ext cx="228599" cy="203199"/>
              <a:chOff x="5419725" y="1917700"/>
              <a:chExt cx="228599" cy="20319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419725" y="19685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50800" y="0"/>
                    </a:moveTo>
                    <a:lnTo>
                      <a:pt x="0" y="50800"/>
                    </a:lnTo>
                    <a:lnTo>
                      <a:pt x="50800" y="10160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597524" y="19685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0" y="0"/>
                    </a:moveTo>
                    <a:lnTo>
                      <a:pt x="50800" y="50800"/>
                    </a:lnTo>
                    <a:lnTo>
                      <a:pt x="0" y="10160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508625" y="1917700"/>
                <a:ext cx="50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03199">
                    <a:moveTo>
                      <a:pt x="50800" y="0"/>
                    </a:moveTo>
                    <a:lnTo>
                      <a:pt x="0" y="203199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943981" y="1882140"/>
              <a:ext cx="29104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Assignments &amp; Projects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58943" y="2536508"/>
              <a:ext cx="4029646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Real-world case study reports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Threat analysis assignments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Practical security modeling exercises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76250" y="4095750"/>
              <a:ext cx="4238625" cy="2286000"/>
            </a:xfrm>
            <a:prstGeom prst="roundRect">
              <a:avLst>
                <a:gd name="adj" fmla="val 750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704850" y="43243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82650" y="4476750"/>
              <a:ext cx="177800" cy="228599"/>
              <a:chOff x="882650" y="4476750"/>
              <a:chExt cx="177800" cy="22859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96950" y="44767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82650" y="447675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33450" y="45529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33450" y="46037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33450" y="465454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381506" y="4453890"/>
              <a:ext cx="2591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Midterm Examination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6468" y="5108258"/>
              <a:ext cx="29504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Scope: Weeks 1 to 7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Core theoretical concepts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Terminology &amp; model review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038725" y="4095750"/>
              <a:ext cx="4238625" cy="2286000"/>
            </a:xfrm>
            <a:prstGeom prst="roundRect">
              <a:avLst>
                <a:gd name="adj" fmla="val 750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5267325" y="43243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424830" y="4476750"/>
              <a:ext cx="218364" cy="227203"/>
              <a:chOff x="5424830" y="4476750"/>
              <a:chExt cx="218364" cy="22720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457825" y="44767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534025" y="4591050"/>
                <a:ext cx="109169" cy="112903"/>
              </a:xfrm>
              <a:custGeom>
                <a:avLst/>
                <a:gdLst/>
                <a:ahLst/>
                <a:cxnLst/>
                <a:rect l="l" t="t" r="r" b="b"/>
                <a:pathLst>
                  <a:path w="109169" h="112903">
                    <a:moveTo>
                      <a:pt x="0" y="38100"/>
                    </a:moveTo>
                    <a:lnTo>
                      <a:pt x="43180" y="112903"/>
                    </a:lnTo>
                    <a:lnTo>
                      <a:pt x="63474" y="71844"/>
                    </a:lnTo>
                    <a:lnTo>
                      <a:pt x="109169" y="74790"/>
                    </a:lnTo>
                    <a:lnTo>
                      <a:pt x="65989" y="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424830" y="4591050"/>
                <a:ext cx="109169" cy="112890"/>
              </a:xfrm>
              <a:custGeom>
                <a:avLst/>
                <a:gdLst/>
                <a:ahLst/>
                <a:cxnLst/>
                <a:rect l="l" t="t" r="r" b="b"/>
                <a:pathLst>
                  <a:path w="109169" h="112890">
                    <a:moveTo>
                      <a:pt x="43180" y="0"/>
                    </a:moveTo>
                    <a:lnTo>
                      <a:pt x="0" y="74803"/>
                    </a:lnTo>
                    <a:lnTo>
                      <a:pt x="45694" y="71844"/>
                    </a:lnTo>
                    <a:lnTo>
                      <a:pt x="65989" y="112890"/>
                    </a:lnTo>
                    <a:lnTo>
                      <a:pt x="109169" y="3810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943981" y="4453890"/>
              <a:ext cx="21450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Final Examination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58943" y="5108258"/>
              <a:ext cx="351624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Comprehensive semester scope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Practical applied problem solving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Integrated synthesis of 5 areas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453521" cy="874204"/>
            <a:chOff x="462534" y="375285"/>
            <a:chExt cx="4453521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1383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References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4481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Recommended Textbooks and Standards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809750"/>
              <a:ext cx="3667125" cy="1238250"/>
            </a:xfrm>
            <a:prstGeom prst="roundRect">
              <a:avLst>
                <a:gd name="adj" fmla="val 10769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2069978"/>
              <a:ext cx="295276" cy="231897"/>
              <a:chOff x="1000125" y="2069978"/>
              <a:chExt cx="295276" cy="2318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00125" y="22763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0125" y="20699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0125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3000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4B4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85876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4B40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67231" y="2015490"/>
              <a:ext cx="2337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Computer Security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69517" y="2349818"/>
              <a:ext cx="2051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Principles and Practice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70279" y="2670810"/>
              <a:ext cx="2273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4th Edition · Pearson (2018)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618" y="3250882"/>
              <a:ext cx="9219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Authors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3618" y="3584258"/>
              <a:ext cx="33989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William Stallings, Lawrie Brown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3618" y="4155758"/>
              <a:ext cx="2117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Publication Details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618" y="4536758"/>
              <a:ext cx="2751392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Publisher: Pearson, 2018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Length: 778 pages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ISBN: 978-0-13-479410-5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5715000"/>
              <a:ext cx="3667125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8017" y="5835968"/>
              <a:ext cx="2446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Primary Course Reference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5324475" y="1809750"/>
              <a:ext cx="3667125" cy="1238250"/>
            </a:xfrm>
            <a:prstGeom prst="roundRect">
              <a:avLst>
                <a:gd name="adj" fmla="val 10769"/>
              </a:avLst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562600" y="2069978"/>
              <a:ext cx="295276" cy="231897"/>
              <a:chOff x="5562600" y="2069978"/>
              <a:chExt cx="295276" cy="23189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562600" y="22763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F4B4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562600" y="20699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F4B40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562600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4B40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705475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4B40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848351" y="20955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F4B40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029706" y="2015490"/>
              <a:ext cx="2628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Information Security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31992" y="2349818"/>
              <a:ext cx="2051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Principles and Practice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32754" y="2670810"/>
              <a:ext cx="2047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2nd Edition · Wiley (2011)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16093" y="325088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Author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6093" y="3584258"/>
              <a:ext cx="1287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Mark Stamp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16093" y="4155758"/>
              <a:ext cx="2117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Publication Details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16093" y="4536758"/>
              <a:ext cx="3683889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Publisher: John Wiley &amp; Sons, 2011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Length: 606 pages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ISBN: 978-0-470-62639-9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24475" y="5715000"/>
              <a:ext cx="3667125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60492" y="5835968"/>
              <a:ext cx="2382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Supplementary Reference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/mnt/data/a_sleek_high_resolution_abstract_cybersecurity_te.png">
            <a:extLst>
              <a:ext uri="{FF2B5EF4-FFF2-40B4-BE49-F238E27FC236}">
                <a16:creationId xmlns:a16="http://schemas.microsoft.com/office/drawing/2014/main" id="{FE20B42D-9277-4F5D-BDD7-D7EC5F8E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1"/>
          <a:stretch/>
        </p:blipFill>
        <p:spPr>
          <a:xfrm>
            <a:off x="1" y="0"/>
            <a:ext cx="12198468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762000" y="762000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74831" y="870585"/>
            <a:ext cx="6125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UNIT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30343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spc="150" dirty="0">
                <a:solidFill>
                  <a:srgbClr val="F4B400"/>
                </a:solidFill>
                <a:latin typeface="Arial"/>
                <a:ea typeface="Arial"/>
                <a:cs typeface="Arial"/>
              </a:rPr>
              <a:t>WEEK 01 · FOUNDATION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2738438"/>
            <a:ext cx="5533566" cy="5770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75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Cybersecurity Concepts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4290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3806190"/>
            <a:ext cx="876174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Definition of Cybersecurity, Cast of Characters, and Core Security Goals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62000" y="4572000"/>
            <a:ext cx="8001000" cy="1238250"/>
            <a:chOff x="762000" y="4572000"/>
            <a:chExt cx="8001000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87362" y="4802981"/>
              <a:ext cx="254127" cy="242888"/>
            </a:xfrm>
            <a:custGeom>
              <a:avLst/>
              <a:gdLst/>
              <a:ahLst/>
              <a:cxnLst/>
              <a:rect l="l" t="t" r="r" b="b"/>
              <a:pathLst>
                <a:path w="254127" h="242888">
                  <a:moveTo>
                    <a:pt x="127063" y="0"/>
                  </a:moveTo>
                  <a:cubicBezTo>
                    <a:pt x="158583" y="27886"/>
                    <a:pt x="199720" y="42405"/>
                    <a:pt x="241761" y="40481"/>
                  </a:cubicBezTo>
                  <a:cubicBezTo>
                    <a:pt x="254127" y="82549"/>
                    <a:pt x="248904" y="127833"/>
                    <a:pt x="227287" y="165981"/>
                  </a:cubicBezTo>
                  <a:cubicBezTo>
                    <a:pt x="205670" y="204129"/>
                    <a:pt x="169506" y="231879"/>
                    <a:pt x="127063" y="242888"/>
                  </a:cubicBezTo>
                  <a:cubicBezTo>
                    <a:pt x="84621" y="231879"/>
                    <a:pt x="48457" y="204129"/>
                    <a:pt x="26840" y="165981"/>
                  </a:cubicBezTo>
                  <a:cubicBezTo>
                    <a:pt x="5222" y="127833"/>
                    <a:pt x="0" y="82549"/>
                    <a:pt x="12366" y="40481"/>
                  </a:cubicBezTo>
                  <a:cubicBezTo>
                    <a:pt x="54407" y="42405"/>
                    <a:pt x="95544" y="27886"/>
                    <a:pt x="127063" y="0"/>
                  </a:cubicBezTo>
                </a:path>
              </a:pathLst>
            </a:custGeom>
            <a:noFill/>
            <a:ln w="26988">
              <a:solidFill>
                <a:srgbClr val="4A000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83030" y="4829175"/>
              <a:ext cx="114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Definitions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404" y="5223510"/>
              <a:ext cx="17343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NISTIR 8170 standard</a:t>
              </a:r>
              <a:br/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and terminology scope.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2425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755231" y="4802981"/>
              <a:ext cx="242888" cy="242889"/>
              <a:chOff x="3755231" y="4802981"/>
              <a:chExt cx="242888" cy="24288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782219" y="48029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755231" y="4964907"/>
                <a:ext cx="1619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3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30651" y="4804736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2"/>
                      <a:pt x="23883" y="98462"/>
                      <a:pt x="0" y="104577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57638" y="4966931"/>
                <a:ext cx="40481" cy="7893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9">
                    <a:moveTo>
                      <a:pt x="40481" y="78939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145280" y="4829175"/>
              <a:ext cx="11879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Characters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08654" y="5223510"/>
              <a:ext cx="18257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Alice, Bob, Trudy and</a:t>
              </a:r>
              <a:br/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active/passive attacks.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517481" y="4802981"/>
              <a:ext cx="242888" cy="242888"/>
              <a:chOff x="6517481" y="4802981"/>
              <a:chExt cx="242888" cy="24288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25432" y="491093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71456" y="485695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517481" y="48029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907530" y="4829175"/>
              <a:ext cx="1501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904" y="5223510"/>
              <a:ext cx="20162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CIA triad, authenticity,</a:t>
              </a:r>
              <a:br/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accountability, reliability.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021763" cy="874204"/>
            <a:chOff x="462534" y="375285"/>
            <a:chExt cx="502176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7334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Learning Objectives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0164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By the end of this week, you will be able to: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685800" y="1733550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3387" y="19011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9606" y="1824990"/>
              <a:ext cx="44905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Define Core Cybersecurity Concepts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0368" y="2203132"/>
              <a:ext cx="5653659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Define core concepts and differentiate Cybersecurity,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Information Security, and Computer Security.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" y="32385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Ellipse 13"/>
            <p:cNvSpPr/>
            <p:nvPr/>
          </p:nvSpPr>
          <p:spPr>
            <a:xfrm>
              <a:off x="685800" y="3448050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3387" y="3615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9606" y="3539490"/>
              <a:ext cx="4973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Explain the CIA Triad and Extended Goals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0368" y="3917632"/>
              <a:ext cx="6292787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Explain the CIA triad (Confidentiality, Integrity, Availability)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alongside authenticity, accountability, and reliability.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6250" y="49530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8" name="Ellipse 18"/>
            <p:cNvSpPr/>
            <p:nvPr/>
          </p:nvSpPr>
          <p:spPr>
            <a:xfrm>
              <a:off x="685800" y="5162550"/>
              <a:ext cx="533400" cy="533400"/>
            </a:xfrm>
            <a:prstGeom prst="ellipse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3387" y="53301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9606" y="5253990"/>
              <a:ext cx="5720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Analyze Security Relationships &amp; Attack Trees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0368" y="5632132"/>
              <a:ext cx="676427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Analyze relationships among assets, threats, and vulnerabilities,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 evaluate systematic attack tree models.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478411" cy="874204"/>
            <a:chOff x="462534" y="375285"/>
            <a:chExt cx="4478411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44784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Cybersecurity Concepts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3592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This unit helps you understand: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2743200" cy="4857750"/>
            </a:xfrm>
            <a:prstGeom prst="roundRect">
              <a:avLst>
                <a:gd name="adj" fmla="val 694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04850" y="175260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6063" y="1909762"/>
              <a:ext cx="269075" cy="257175"/>
            </a:xfrm>
            <a:custGeom>
              <a:avLst/>
              <a:gdLst/>
              <a:ahLst/>
              <a:cxnLst/>
              <a:rect l="l" t="t" r="r" b="b"/>
              <a:pathLst>
                <a:path w="269075" h="257175">
                  <a:moveTo>
                    <a:pt x="134537" y="0"/>
                  </a:moveTo>
                  <a:cubicBezTo>
                    <a:pt x="167911" y="29526"/>
                    <a:pt x="211468" y="44899"/>
                    <a:pt x="255981" y="42862"/>
                  </a:cubicBezTo>
                  <a:cubicBezTo>
                    <a:pt x="269075" y="87404"/>
                    <a:pt x="263545" y="135352"/>
                    <a:pt x="240656" y="175744"/>
                  </a:cubicBezTo>
                  <a:cubicBezTo>
                    <a:pt x="217768" y="216136"/>
                    <a:pt x="179477" y="245519"/>
                    <a:pt x="134537" y="257175"/>
                  </a:cubicBezTo>
                  <a:cubicBezTo>
                    <a:pt x="89598" y="245519"/>
                    <a:pt x="51307" y="216136"/>
                    <a:pt x="28418" y="175744"/>
                  </a:cubicBezTo>
                  <a:cubicBezTo>
                    <a:pt x="5530" y="135352"/>
                    <a:pt x="0" y="87404"/>
                    <a:pt x="13094" y="42862"/>
                  </a:cubicBezTo>
                  <a:cubicBezTo>
                    <a:pt x="57607" y="44899"/>
                    <a:pt x="101164" y="29526"/>
                    <a:pt x="134537" y="0"/>
                  </a:cubicBezTo>
                </a:path>
              </a:pathLst>
            </a:custGeom>
            <a:noFill/>
            <a:ln w="28575">
              <a:solidFill>
                <a:srgbClr val="F4B40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4944" y="2551748"/>
              <a:ext cx="1814036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Definition of</a:t>
              </a:r>
              <a:br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04850" y="323850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6468" y="3584258"/>
              <a:ext cx="2510409" cy="1770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NISTIR 8170 definition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Cyberspace protection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Information Security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Computer Security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Domain comparison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05200" y="1524000"/>
              <a:ext cx="2743200" cy="4857750"/>
            </a:xfrm>
            <a:prstGeom prst="roundRect">
              <a:avLst>
                <a:gd name="adj" fmla="val 694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3733800" y="175260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890962" y="1909762"/>
              <a:ext cx="257175" cy="257176"/>
              <a:chOff x="3890962" y="1909762"/>
              <a:chExt cx="257175" cy="25717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919538" y="19097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890962" y="208121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076700" y="191162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105275" y="208335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723894" y="2551748"/>
              <a:ext cx="1449991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</a:t>
              </a:r>
              <a:br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Characters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733800" y="323850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25418" y="3584258"/>
              <a:ext cx="2101787" cy="1770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Alice (Sender)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Bob (Receiver)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Trudy (Adversary)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Passive Attacks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Active Attacks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34150" y="1524000"/>
              <a:ext cx="2743200" cy="4857750"/>
            </a:xfrm>
            <a:prstGeom prst="roundRect">
              <a:avLst>
                <a:gd name="adj" fmla="val 694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6762750" y="175260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919912" y="1909762"/>
              <a:ext cx="257175" cy="257175"/>
              <a:chOff x="6919912" y="1909762"/>
              <a:chExt cx="257175" cy="25717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034212" y="20240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77062" y="19669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919912" y="19097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F4B40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752844" y="2551748"/>
              <a:ext cx="1098947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</a:t>
              </a:r>
              <a:br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Goals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762750" y="323850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4368" y="3584258"/>
              <a:ext cx="2489454" cy="1770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CIA Triad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Confidentiality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Integrity &amp; Availability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Accountability &amp; Auth.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Reliability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145500" cy="874204"/>
            <a:chOff x="462534" y="375285"/>
            <a:chExt cx="514550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5145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Definition of Cybersecurity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16330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809750"/>
              <a:ext cx="1333500" cy="381000"/>
            </a:xfrm>
            <a:prstGeom prst="roundRect">
              <a:avLst>
                <a:gd name="adj" fmla="val 50000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7715" y="1927860"/>
              <a:ext cx="96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NISTIR 8170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950" y="2228850"/>
              <a:ext cx="3901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dirty="0">
                  <a:solidFill>
                    <a:srgbClr val="F4B400"/>
                  </a:solidFill>
                  <a:latin typeface="Georgia"/>
                  <a:ea typeface="Georgia"/>
                  <a:cs typeface="Georgia"/>
                </a:rPr>
                <a:t>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856" y="2853690"/>
              <a:ext cx="3474720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The ability to protect or</a:t>
              </a:r>
              <a:br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defend the use of cyberspace</a:t>
              </a:r>
              <a:br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from cyber attacks.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0950" y="3609975"/>
              <a:ext cx="3901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dirty="0">
                  <a:solidFill>
                    <a:srgbClr val="F4B400"/>
                  </a:solidFill>
                  <a:latin typeface="Georgia"/>
                  <a:ea typeface="Georgia"/>
                  <a:cs typeface="Georgia"/>
                </a:rPr>
                <a:t>”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4429125"/>
              <a:ext cx="3667125" cy="166687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118" y="4632008"/>
              <a:ext cx="21513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Key Mandate Focus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118" y="5013008"/>
              <a:ext cx="364197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Active cyberspace protection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Resilience against hostile attacks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Safeguarding online interaction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5315331" y="1805940"/>
              <a:ext cx="2704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Related Terminologies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5372100" y="2667000"/>
              <a:ext cx="3429000" cy="3143250"/>
              <a:chOff x="5372100" y="2667000"/>
              <a:chExt cx="3429000" cy="314325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5372100" y="2667000"/>
                <a:ext cx="2095500" cy="2095500"/>
              </a:xfrm>
              <a:prstGeom prst="ellipse">
                <a:avLst/>
              </a:prstGeom>
              <a:solidFill>
                <a:srgbClr val="4A0005">
                  <a:alpha val="18000"/>
                </a:srgbClr>
              </a:solidFill>
              <a:ln w="19050">
                <a:solidFill>
                  <a:srgbClr val="4A0005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6705600" y="2667000"/>
                <a:ext cx="2095500" cy="2095500"/>
              </a:xfrm>
              <a:prstGeom prst="ellipse">
                <a:avLst/>
              </a:prstGeom>
              <a:solidFill>
                <a:srgbClr val="F4B400">
                  <a:alpha val="25000"/>
                </a:srgbClr>
              </a:solidFill>
              <a:ln w="19050">
                <a:solidFill>
                  <a:srgbClr val="F4B400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6038850" y="3714750"/>
                <a:ext cx="2095500" cy="2095500"/>
              </a:xfrm>
              <a:prstGeom prst="ellipse">
                <a:avLst/>
              </a:prstGeom>
              <a:solidFill>
                <a:srgbClr val="6B141B">
                  <a:alpha val="20000"/>
                </a:srgbClr>
              </a:solidFill>
              <a:ln w="19050">
                <a:solidFill>
                  <a:srgbClr val="6B141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609677" y="3283268"/>
                <a:ext cx="1048845" cy="47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-US" sz="13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Information</a:t>
                </a:r>
                <a:br/>
                <a:r>
                  <a:rPr lang="en-US" sz="13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18190" y="3283268"/>
                <a:ext cx="841820" cy="473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-US" sz="13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Computer</a:t>
                </a:r>
                <a:br/>
                <a:r>
                  <a:rPr lang="en-US" sz="13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44304" y="5314950"/>
                <a:ext cx="14845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Cybersecurity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6562725" y="3952875"/>
                <a:ext cx="10477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62961" y="4050506"/>
                <a:ext cx="8472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Protection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800130" cy="874204"/>
            <a:chOff x="462534" y="375285"/>
            <a:chExt cx="580013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5145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Definition of Cybersecurity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794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Comparative Analysis of Security Domains (Part 1)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76250" y="1524000"/>
            <a:ext cx="8875395" cy="4857750"/>
            <a:chOff x="476250" y="1524000"/>
            <a:chExt cx="8875395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39712" y="1735931"/>
              <a:ext cx="254127" cy="242888"/>
            </a:xfrm>
            <a:custGeom>
              <a:avLst/>
              <a:gdLst/>
              <a:ahLst/>
              <a:cxnLst/>
              <a:rect l="l" t="t" r="r" b="b"/>
              <a:pathLst>
                <a:path w="254127" h="242888">
                  <a:moveTo>
                    <a:pt x="127063" y="0"/>
                  </a:moveTo>
                  <a:cubicBezTo>
                    <a:pt x="158583" y="27886"/>
                    <a:pt x="199720" y="42405"/>
                    <a:pt x="241761" y="40481"/>
                  </a:cubicBezTo>
                  <a:cubicBezTo>
                    <a:pt x="254127" y="82549"/>
                    <a:pt x="248904" y="127833"/>
                    <a:pt x="227287" y="165981"/>
                  </a:cubicBezTo>
                  <a:cubicBezTo>
                    <a:pt x="205670" y="204129"/>
                    <a:pt x="169506" y="231879"/>
                    <a:pt x="127063" y="242888"/>
                  </a:cubicBezTo>
                  <a:cubicBezTo>
                    <a:pt x="84621" y="231879"/>
                    <a:pt x="48457" y="204129"/>
                    <a:pt x="26840" y="165981"/>
                  </a:cubicBezTo>
                  <a:cubicBezTo>
                    <a:pt x="5222" y="127833"/>
                    <a:pt x="0" y="82549"/>
                    <a:pt x="12366" y="40481"/>
                  </a:cubicBezTo>
                  <a:cubicBezTo>
                    <a:pt x="54407" y="42405"/>
                    <a:pt x="95544" y="27886"/>
                    <a:pt x="127063" y="0"/>
                  </a:cubicBez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3856" y="1748790"/>
              <a:ext cx="1781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7992" y="2378392"/>
              <a:ext cx="1959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STANDARD DEFINITION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4850" y="2667000"/>
              <a:ext cx="3781425" cy="123825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005" y="2838450"/>
              <a:ext cx="37966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“The ability to protect or defend the</a:t>
              </a:r>
              <a:br/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use of cyberspace from cyber attacks.”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— NISTIR 8170 Standard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7992" y="4045268"/>
              <a:ext cx="2261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PRIMARY FOCUS &amp; SCOPE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" y="4333875"/>
              <a:ext cx="3781425" cy="1762125"/>
            </a:xfrm>
            <a:prstGeom prst="roundRect">
              <a:avLst>
                <a:gd name="adj" fmla="val 64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2005" y="4505325"/>
              <a:ext cx="4149090" cy="1169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021" indent="-170021" algn="l">
                <a:lnSpc>
                  <a:spcPts val="210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Focus: The secure use of cyberspace</a:t>
              </a:r>
            </a:p>
            <a:p>
              <a:pPr marL="161925" indent="-161925" algn="l">
                <a:lnSpc>
                  <a:spcPts val="2100"/>
                </a:lnSpc>
                <a:spcBef>
                  <a:spcPts val="3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Scope: Connected networks, cloud,</a:t>
              </a:r>
              <a:br/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digital communications, and web assets.</a:t>
              </a:r>
            </a:p>
            <a:p>
              <a:pPr marL="161925" indent="-161925" algn="l">
                <a:lnSpc>
                  <a:spcPts val="2100"/>
                </a:lnSpc>
                <a:spcBef>
                  <a:spcPts val="3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Defends against active online adversaries.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321300" y="1735931"/>
              <a:ext cx="215901" cy="242888"/>
              <a:chOff x="5321300" y="1735931"/>
              <a:chExt cx="215901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321300" y="17359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321300" y="17764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321300" y="18573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696331" y="1748790"/>
              <a:ext cx="2628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Information Security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60467" y="2378392"/>
              <a:ext cx="1959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STANDARD DEFINITION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267325" y="2667000"/>
              <a:ext cx="3781425" cy="123825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74005" y="2838450"/>
              <a:ext cx="39776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“Protection of info &amp; info systems from</a:t>
              </a:r>
              <a:br/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unauthorized access, use, or disruption.”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— NIST FIPS 200 Standard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60467" y="4045268"/>
              <a:ext cx="2261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PRIMARY FOCUS &amp; SCOPE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67325" y="4333875"/>
              <a:ext cx="3781425" cy="1762125"/>
            </a:xfrm>
            <a:prstGeom prst="roundRect">
              <a:avLst>
                <a:gd name="adj" fmla="val 64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74386" y="4513421"/>
              <a:ext cx="3720465" cy="1097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0953" indent="-160953" algn="l">
                <a:lnSpc>
                  <a:spcPts val="19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42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Focus: Information &amp; info systems</a:t>
              </a:r>
            </a:p>
            <a:p>
              <a:pPr marL="153289" indent="-153289" algn="l">
                <a:lnSpc>
                  <a:spcPts val="1950"/>
                </a:lnSpc>
                <a:spcBef>
                  <a:spcPts val="3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Scope: Information in any medium</a:t>
              </a:r>
              <a:br/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(electronic, physical, or paper records).</a:t>
              </a:r>
            </a:p>
            <a:p>
              <a:pPr marL="153289" indent="-153289" algn="l">
                <a:lnSpc>
                  <a:spcPts val="1950"/>
                </a:lnSpc>
                <a:spcBef>
                  <a:spcPts val="3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Preserves confidentiality &amp; integrity.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800130" cy="874204"/>
            <a:chOff x="462534" y="375285"/>
            <a:chExt cx="580013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5145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Definition of Cybersecurity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7947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Comparative Analysis of Security Domains (Part 2)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476250" y="1524000"/>
            <a:ext cx="8828532" cy="4857750"/>
            <a:chOff x="476250" y="1524000"/>
            <a:chExt cx="8828532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45331" y="1735931"/>
              <a:ext cx="242889" cy="242889"/>
              <a:chOff x="745331" y="1735931"/>
              <a:chExt cx="242889" cy="24288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72319" y="1762919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3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175419" y="0"/>
                    </a:lnTo>
                    <a:cubicBezTo>
                      <a:pt x="182872" y="0"/>
                      <a:pt x="188913" y="6041"/>
                      <a:pt x="188913" y="13494"/>
                    </a:cubicBezTo>
                    <a:lnTo>
                      <a:pt x="188913" y="175419"/>
                    </a:lnTo>
                    <a:cubicBezTo>
                      <a:pt x="188913" y="182872"/>
                      <a:pt x="182872" y="188913"/>
                      <a:pt x="175419" y="188913"/>
                    </a:cubicBezTo>
                    <a:lnTo>
                      <a:pt x="13494" y="188913"/>
                    </a:lnTo>
                    <a:cubicBezTo>
                      <a:pt x="6041" y="188913"/>
                      <a:pt x="0" y="182872"/>
                      <a:pt x="0" y="175419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26294" y="1816894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0"/>
                    </a:moveTo>
                    <a:lnTo>
                      <a:pt x="80963" y="0"/>
                    </a:lnTo>
                    <a:lnTo>
                      <a:pt x="80963" y="80963"/>
                    </a:lnTo>
                    <a:lnTo>
                      <a:pt x="0" y="80963"/>
                    </a:ln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5331" y="1830388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45331" y="1884363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9788" y="17359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3763" y="17359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61232" y="1830388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269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61232" y="1884363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269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93763" y="1951832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9788" y="1951832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133856" y="1748790"/>
              <a:ext cx="2337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Computer Security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7992" y="2378392"/>
              <a:ext cx="1959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STANDARD DEFINITION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4850" y="2667000"/>
              <a:ext cx="3781425" cy="123825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2005" y="2838450"/>
              <a:ext cx="353949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“Measures and controls that ensure</a:t>
              </a:r>
              <a:br/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CIA of data processed by computers.”</a:t>
              </a:r>
            </a:p>
            <a:p>
              <a:pPr algn="l">
                <a:lnSpc>
                  <a:spcPts val="2100"/>
                </a:lnSpc>
              </a:pPr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— CNSSI 4009-2015 Standard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7992" y="4045268"/>
              <a:ext cx="2261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PRIMARY FOCUS &amp; SCOPE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4850" y="4333875"/>
              <a:ext cx="3781425" cy="1762125"/>
            </a:xfrm>
            <a:prstGeom prst="roundRect">
              <a:avLst>
                <a:gd name="adj" fmla="val 64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2005" y="4505325"/>
              <a:ext cx="3949065" cy="1169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021" indent="-170021" algn="l">
                <a:lnSpc>
                  <a:spcPts val="210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Focus: Computer processing/storage</a:t>
              </a:r>
            </a:p>
            <a:p>
              <a:pPr marL="161925" indent="-161925" algn="l">
                <a:lnSpc>
                  <a:spcPts val="2100"/>
                </a:lnSpc>
                <a:spcBef>
                  <a:spcPts val="3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Scope: Computer hardware, operating</a:t>
              </a:r>
              <a:br/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systems, firmware, and local storage.</a:t>
              </a:r>
            </a:p>
            <a:p>
              <a:pPr marL="161925" indent="-161925" algn="l">
                <a:lnSpc>
                  <a:spcPts val="2100"/>
                </a:lnSpc>
                <a:spcBef>
                  <a:spcPts val="3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Protects endpoint computing machinery.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321300" y="1749425"/>
              <a:ext cx="215900" cy="215900"/>
              <a:chOff x="5321300" y="1749425"/>
              <a:chExt cx="215900" cy="2159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375275" y="1749425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321300" y="180340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696331" y="1748790"/>
              <a:ext cx="21331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Domain Synthesis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60467" y="2378392"/>
              <a:ext cx="1898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INTERRELATIONSHIPS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267325" y="2667000"/>
              <a:ext cx="3781425" cy="3429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11343" y="2869882"/>
              <a:ext cx="3893439" cy="23039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40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Information Security (Broadest):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Safeguards all information assets.</a:t>
              </a:r>
            </a:p>
            <a:p>
              <a:pPr marL="187023" indent="-187023" algn="l">
                <a:lnSpc>
                  <a:spcPts val="2400"/>
                </a:lnSpc>
                <a:spcBef>
                  <a:spcPts val="600"/>
                </a:spcBef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Computer Security (Endpoint):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Secures processing devices &amp; OS.</a:t>
              </a:r>
            </a:p>
            <a:p>
              <a:pPr marL="187023" indent="-187023" algn="l">
                <a:lnSpc>
                  <a:spcPts val="2400"/>
                </a:lnSpc>
                <a:spcBef>
                  <a:spcPts val="600"/>
                </a:spcBef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Cybersecurity (Cyberspace):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Defends networked &amp; connected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systems against adversarial attacks.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816750" cy="874204"/>
            <a:chOff x="462534" y="375285"/>
            <a:chExt cx="681675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8114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In cybersecurity, we often consider the following entities: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8801100" cy="4857750"/>
            </a:xfrm>
            <a:prstGeom prst="roundRect">
              <a:avLst>
                <a:gd name="adj" fmla="val 3922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Line 8"/>
            <p:cNvSpPr/>
            <p:nvPr/>
          </p:nvSpPr>
          <p:spPr>
            <a:xfrm>
              <a:off x="2381250" y="266700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38100">
              <a:solidFill>
                <a:srgbClr val="4A0005"/>
              </a:solidFill>
              <a:custDash>
                <a:ds d="200000" sp="150000"/>
              </a:custDash>
            </a:ln>
          </p:spPr>
        </p:sp>
        <p:sp>
          <p:nvSpPr>
            <p:cNvPr id="9" name="Polygon 9"/>
            <p:cNvSpPr/>
            <p:nvPr/>
          </p:nvSpPr>
          <p:spPr>
            <a:xfrm>
              <a:off x="7239000" y="2571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4A0005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191000" y="2333625"/>
              <a:ext cx="1371600" cy="628650"/>
            </a:xfrm>
            <a:prstGeom prst="roundRect">
              <a:avLst>
                <a:gd name="adj" fmla="val 21212"/>
              </a:avLst>
            </a:prstGeom>
            <a:solidFill>
              <a:srgbClr val="FFFFFF"/>
            </a:solidFill>
            <a:ln w="19050">
              <a:solidFill>
                <a:srgbClr val="4A0005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4762500" y="2482850"/>
              <a:ext cx="228599" cy="177800"/>
              <a:chOff x="4762500" y="2482850"/>
              <a:chExt cx="228599" cy="177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4762500" y="2482850"/>
                <a:ext cx="22859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77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199" y="0"/>
                    </a:lnTo>
                    <a:cubicBezTo>
                      <a:pt x="217227" y="0"/>
                      <a:pt x="228599" y="11372"/>
                      <a:pt x="228599" y="25400"/>
                    </a:cubicBezTo>
                    <a:lnTo>
                      <a:pt x="228599" y="152400"/>
                    </a:lnTo>
                    <a:cubicBezTo>
                      <a:pt x="228599" y="166428"/>
                      <a:pt x="217227" y="177800"/>
                      <a:pt x="203199" y="177800"/>
                    </a:cubicBezTo>
                    <a:lnTo>
                      <a:pt x="25400" y="177800"/>
                    </a:lnTo>
                    <a:cubicBezTo>
                      <a:pt x="11372" y="177800"/>
                      <a:pt x="0" y="166428"/>
                      <a:pt x="0" y="1524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4A000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762500" y="2508250"/>
                <a:ext cx="2285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76200">
                    <a:moveTo>
                      <a:pt x="0" y="0"/>
                    </a:moveTo>
                    <a:lnTo>
                      <a:pt x="114300" y="76200"/>
                    </a:ln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rgbClr val="4A0005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4483524" y="27117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message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57250" y="2000250"/>
              <a:ext cx="1714500" cy="2000250"/>
              <a:chOff x="857250" y="2000250"/>
              <a:chExt cx="1714500" cy="20002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57250" y="2000250"/>
                <a:ext cx="1714500" cy="2000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409700" y="2219325"/>
                <a:ext cx="609600" cy="6096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628775" y="2395538"/>
                <a:ext cx="171450" cy="257175"/>
                <a:chOff x="1628775" y="2395538"/>
                <a:chExt cx="171450" cy="25717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657350" y="2395538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628775" y="2566988"/>
                  <a:ext cx="17145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14300" y="0"/>
                      </a:lnTo>
                      <a:cubicBezTo>
                        <a:pt x="145863" y="0"/>
                        <a:pt x="171450" y="25587"/>
                        <a:pt x="171450" y="57150"/>
                      </a:cubicBezTo>
                      <a:lnTo>
                        <a:pt x="171450" y="8572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415880" y="2901315"/>
                <a:ext cx="59724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11580" y="3267075"/>
                <a:ext cx="1005840" cy="541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en-US" sz="150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Legitimate</a:t>
                </a:r>
                <a:br/>
                <a:r>
                  <a:rPr lang="en-US" sz="150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Sender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181850" y="2000250"/>
              <a:ext cx="1714500" cy="2000250"/>
              <a:chOff x="7181850" y="2000250"/>
              <a:chExt cx="1714500" cy="2000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181850" y="2000250"/>
                <a:ext cx="1714500" cy="2000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7734300" y="2219325"/>
                <a:ext cx="609600" cy="6096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7953375" y="2395538"/>
                <a:ext cx="171450" cy="257175"/>
                <a:chOff x="7953375" y="2395538"/>
                <a:chExt cx="171450" cy="25717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7981950" y="2395538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953375" y="2566988"/>
                  <a:ext cx="17145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14300" y="0"/>
                      </a:lnTo>
                      <a:cubicBezTo>
                        <a:pt x="145863" y="0"/>
                        <a:pt x="171450" y="25587"/>
                        <a:pt x="171450" y="57150"/>
                      </a:cubicBezTo>
                      <a:lnTo>
                        <a:pt x="171450" y="8572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7816089" y="2901315"/>
                <a:ext cx="4460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536180" y="3267075"/>
                <a:ext cx="1005840" cy="541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en-US" sz="150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Legitimate</a:t>
                </a:r>
                <a:br/>
                <a:r>
                  <a:rPr lang="en-US" sz="150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Receiver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162300" y="4191000"/>
              <a:ext cx="3965265" cy="1905000"/>
              <a:chOff x="3162300" y="4191000"/>
              <a:chExt cx="3965265" cy="1905000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4876800" y="41910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28575">
                <a:solidFill>
                  <a:srgbClr val="F4B400"/>
                </a:solidFill>
                <a:custDash>
                  <a:ds d="200000" sp="133333"/>
                </a:custDash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3162300" y="4572000"/>
                <a:ext cx="3429000" cy="1524000"/>
              </a:xfrm>
              <a:prstGeom prst="roundRect">
                <a:avLst>
                  <a:gd name="adj" fmla="val 11250"/>
                </a:avLst>
              </a:prstGeom>
              <a:solidFill>
                <a:srgbClr val="4A0005"/>
              </a:solidFill>
              <a:ln w="19050">
                <a:solidFill>
                  <a:srgbClr val="F4B400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3457575" y="5010150"/>
                <a:ext cx="647700" cy="6477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3695700" y="5205412"/>
                <a:ext cx="228600" cy="271464"/>
                <a:chOff x="3695700" y="5205412"/>
                <a:chExt cx="228600" cy="271464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3724275" y="5205412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28575">
                  <a:solidFill>
                    <a:srgbClr val="4A0005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695700" y="5376862"/>
                  <a:ext cx="107156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56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07156" y="0"/>
                      </a:lnTo>
                    </a:path>
                  </a:pathLst>
                </a:custGeom>
                <a:noFill/>
                <a:ln w="28575">
                  <a:solidFill>
                    <a:srgbClr val="4A0005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3852862" y="540543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71438" y="714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rgbClr val="4A0005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3852862" y="540543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71438"/>
                      </a:moveTo>
                      <a:lnTo>
                        <a:pt x="71438" y="0"/>
                      </a:lnTo>
                    </a:path>
                  </a:pathLst>
                </a:custGeom>
                <a:noFill/>
                <a:ln w="28575">
                  <a:solidFill>
                    <a:srgbClr val="4A0005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4294632" y="4916805"/>
                <a:ext cx="84687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4B400"/>
                    </a:solidFill>
                    <a:latin typeface="Arial"/>
                    <a:ea typeface="Arial"/>
                    <a:cs typeface="Arial"/>
                  </a:rPr>
                  <a:t>Trudy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296918" y="5298758"/>
                <a:ext cx="2049399" cy="589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650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Generic Adversary /</a:t>
                </a:r>
                <a:br/>
                <a:r>
                  <a:rPr lang="en-US" sz="1650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Intruder (Bad Guy)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299204" y="5833110"/>
                <a:ext cx="28283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F4B400"/>
                    </a:solidFill>
                    <a:latin typeface="Arial"/>
                    <a:ea typeface="Arial"/>
                    <a:cs typeface="Arial"/>
                  </a:rPr>
                  <a:t>Attempts passive or active attacks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3787561" cy="874204"/>
            <a:chOff x="462534" y="375285"/>
            <a:chExt cx="3787561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37822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What Trudy can do: Attack Types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45331" y="1776413"/>
              <a:ext cx="242888" cy="161925"/>
              <a:chOff x="745331" y="1776413"/>
              <a:chExt cx="242888" cy="1619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39788" y="183038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45331" y="1776413"/>
                <a:ext cx="2428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61925">
                    <a:moveTo>
                      <a:pt x="242888" y="80963"/>
                    </a:moveTo>
                    <a:cubicBezTo>
                      <a:pt x="210503" y="134938"/>
                      <a:pt x="170022" y="161925"/>
                      <a:pt x="121444" y="161925"/>
                    </a:cubicBezTo>
                    <a:cubicBezTo>
                      <a:pt x="72866" y="161925"/>
                      <a:pt x="32385" y="134938"/>
                      <a:pt x="0" y="80963"/>
                    </a:cubicBezTo>
                    <a:cubicBezTo>
                      <a:pt x="32385" y="26988"/>
                      <a:pt x="72866" y="0"/>
                      <a:pt x="121444" y="0"/>
                    </a:cubicBezTo>
                    <a:cubicBezTo>
                      <a:pt x="170022" y="0"/>
                      <a:pt x="210503" y="26988"/>
                      <a:pt x="242888" y="80963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33856" y="1748790"/>
              <a:ext cx="2006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Passive Attacks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4850" y="2381250"/>
              <a:ext cx="3781425" cy="104775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868" y="2536508"/>
              <a:ext cx="3715322" cy="894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Attempt to learn or use information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from system, </a:t>
              </a: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without affecting</a:t>
              </a:r>
              <a:br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system resources or operations.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" y="3584258"/>
              <a:ext cx="24091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Key Attack Methods: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4850" y="3952875"/>
              <a:ext cx="3781425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95350" y="4206875"/>
              <a:ext cx="228599" cy="177800"/>
              <a:chOff x="895350" y="4206875"/>
              <a:chExt cx="228599" cy="177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95350" y="4206875"/>
                <a:ext cx="22859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77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199" y="0"/>
                    </a:lnTo>
                    <a:cubicBezTo>
                      <a:pt x="217227" y="0"/>
                      <a:pt x="228599" y="11372"/>
                      <a:pt x="228599" y="25400"/>
                    </a:cubicBezTo>
                    <a:lnTo>
                      <a:pt x="228599" y="152400"/>
                    </a:lnTo>
                    <a:cubicBezTo>
                      <a:pt x="228599" y="166428"/>
                      <a:pt x="217227" y="177800"/>
                      <a:pt x="203199" y="177800"/>
                    </a:cubicBezTo>
                    <a:lnTo>
                      <a:pt x="25400" y="177800"/>
                    </a:lnTo>
                    <a:cubicBezTo>
                      <a:pt x="11372" y="177800"/>
                      <a:pt x="0" y="166428"/>
                      <a:pt x="0" y="1524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4A000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95350" y="4232275"/>
                <a:ext cx="2285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76200">
                    <a:moveTo>
                      <a:pt x="0" y="0"/>
                    </a:moveTo>
                    <a:lnTo>
                      <a:pt x="114300" y="76200"/>
                    </a:ln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rgbClr val="4A0005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277493" y="4155758"/>
              <a:ext cx="33168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Release of Message Contents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79017" y="4521518"/>
              <a:ext cx="3826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Eavesdropping on sensitive communications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4850" y="5095875"/>
              <a:ext cx="3781425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95350" y="5337175"/>
              <a:ext cx="228600" cy="212724"/>
              <a:chOff x="895350" y="5337175"/>
              <a:chExt cx="228600" cy="21272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95350" y="5438775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4A0005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47750" y="5387975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4A0005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71550" y="5337175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4A0005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08050" y="5540374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rgbClr val="4A0005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77493" y="5298758"/>
              <a:ext cx="18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Traffic Analysis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9017" y="5664518"/>
              <a:ext cx="41815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Observing patterns/lengths of encrypted data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5334794" y="1722438"/>
              <a:ext cx="188913" cy="256382"/>
            </a:xfrm>
            <a:custGeom>
              <a:avLst/>
              <a:gdLst/>
              <a:ahLst/>
              <a:cxnLst/>
              <a:rect l="l" t="t" r="r" b="b"/>
              <a:pathLst>
                <a:path w="188913" h="256382">
                  <a:moveTo>
                    <a:pt x="94456" y="120648"/>
                  </a:moveTo>
                  <a:cubicBezTo>
                    <a:pt x="125937" y="76010"/>
                    <a:pt x="96710" y="15086"/>
                    <a:pt x="80963" y="0"/>
                  </a:cubicBezTo>
                  <a:cubicBezTo>
                    <a:pt x="80963" y="45811"/>
                    <a:pt x="50804" y="71504"/>
                    <a:pt x="31481" y="90489"/>
                  </a:cubicBezTo>
                  <a:cubicBezTo>
                    <a:pt x="12185" y="109489"/>
                    <a:pt x="0" y="134938"/>
                    <a:pt x="0" y="165893"/>
                  </a:cubicBezTo>
                  <a:cubicBezTo>
                    <a:pt x="0" y="215874"/>
                    <a:pt x="42290" y="256382"/>
                    <a:pt x="94456" y="256382"/>
                  </a:cubicBezTo>
                  <a:cubicBezTo>
                    <a:pt x="146623" y="256382"/>
                    <a:pt x="188913" y="215874"/>
                    <a:pt x="188913" y="165893"/>
                  </a:cubicBezTo>
                  <a:cubicBezTo>
                    <a:pt x="188913" y="142791"/>
                    <a:pt x="172289" y="106479"/>
                    <a:pt x="157432" y="90489"/>
                  </a:cubicBezTo>
                  <a:cubicBezTo>
                    <a:pt x="129311" y="135734"/>
                    <a:pt x="113483" y="135734"/>
                    <a:pt x="94456" y="120648"/>
                  </a:cubicBez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96331" y="1748790"/>
              <a:ext cx="18661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Active Attacks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267325" y="2381250"/>
              <a:ext cx="3781425" cy="104775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11343" y="2536508"/>
              <a:ext cx="3713226" cy="894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Attempt to </a:t>
              </a: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modify data streams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or create false streams to disrupt</a:t>
              </a:r>
              <a:br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system resources and operations.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58943" y="3584258"/>
              <a:ext cx="24091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Key Attack Methods: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267325" y="3952875"/>
              <a:ext cx="1809750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476875" y="4129088"/>
              <a:ext cx="177801" cy="211138"/>
              <a:chOff x="5476875" y="4129088"/>
              <a:chExt cx="177801" cy="21113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499100" y="41290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476875" y="4262438"/>
                <a:ext cx="83344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3344" y="0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599113" y="42846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55563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599113" y="42846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55563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5402580" y="4457700"/>
              <a:ext cx="1230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Masquerade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04485" y="4717256"/>
              <a:ext cx="14407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Pretending identity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239000" y="3952875"/>
              <a:ext cx="1809750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426325" y="4135913"/>
              <a:ext cx="177801" cy="186375"/>
              <a:chOff x="7426325" y="4135913"/>
              <a:chExt cx="177801" cy="18637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426325" y="41359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426325" y="42402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374255" y="4457700"/>
              <a:ext cx="14385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Replay Attack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76160" y="4717256"/>
              <a:ext cx="1508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Retransmitting data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267325" y="5095875"/>
              <a:ext cx="1809750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5465763" y="5272088"/>
              <a:ext cx="155575" cy="200026"/>
              <a:chOff x="5465763" y="5272088"/>
              <a:chExt cx="155575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565775" y="52720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465763" y="527208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510213" y="533876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510213" y="53832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510213" y="54276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5402580" y="5600700"/>
              <a:ext cx="1007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Modifying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04485" y="5860256"/>
              <a:ext cx="1260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Altering message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239000" y="5095875"/>
              <a:ext cx="1809750" cy="1000125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403154" y="5268396"/>
              <a:ext cx="224134" cy="192560"/>
              <a:chOff x="7403154" y="5268396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515225" y="53387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403154" y="52683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515225" y="54165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374255" y="5600700"/>
              <a:ext cx="1149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DoS Attack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76160" y="5860256"/>
              <a:ext cx="1282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Denying facilities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986038" cy="874204"/>
            <a:chOff x="462534" y="375285"/>
            <a:chExt cx="5986038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980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Release of Message Contents &amp;amp; Traffic Analysis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476250" y="1524000"/>
            <a:ext cx="9046921" cy="4857750"/>
            <a:chOff x="476250" y="1524000"/>
            <a:chExt cx="9046921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666750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45344" y="1916906"/>
              <a:ext cx="214312" cy="166688"/>
              <a:chOff x="845344" y="1916906"/>
              <a:chExt cx="214312" cy="1666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45344" y="1916906"/>
                <a:ext cx="214312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66688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90500" y="0"/>
                    </a:lnTo>
                    <a:cubicBezTo>
                      <a:pt x="203651" y="0"/>
                      <a:pt x="214312" y="10661"/>
                      <a:pt x="214312" y="23812"/>
                    </a:cubicBezTo>
                    <a:lnTo>
                      <a:pt x="214312" y="142875"/>
                    </a:lnTo>
                    <a:cubicBezTo>
                      <a:pt x="214312" y="156026"/>
                      <a:pt x="203651" y="166688"/>
                      <a:pt x="190500" y="166688"/>
                    </a:cubicBezTo>
                    <a:lnTo>
                      <a:pt x="23812" y="166688"/>
                    </a:lnTo>
                    <a:cubicBezTo>
                      <a:pt x="10661" y="166688"/>
                      <a:pt x="0" y="156026"/>
                      <a:pt x="0" y="142875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5344" y="1940719"/>
                <a:ext cx="2143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71438">
                    <a:moveTo>
                      <a:pt x="0" y="0"/>
                    </a:moveTo>
                    <a:lnTo>
                      <a:pt x="107156" y="71438"/>
                    </a:lnTo>
                    <a:lnTo>
                      <a:pt x="214312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82243" y="1841182"/>
              <a:ext cx="22941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Release of Contents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4529" y="2194560"/>
              <a:ext cx="3517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– passive attack learning sensitive contents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66750" y="2714625"/>
              <a:ext cx="3857625" cy="3286125"/>
              <a:chOff x="666750" y="2714625"/>
              <a:chExt cx="3857625" cy="3286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66750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971550" y="3114675"/>
                <a:ext cx="533400" cy="5334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171575" y="3281363"/>
                <a:ext cx="133350" cy="200025"/>
                <a:chOff x="1171575" y="3281363"/>
                <a:chExt cx="133350" cy="200025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1193800" y="3281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171575" y="341471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014285" y="3711892"/>
                <a:ext cx="4479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3686175" y="3114675"/>
                <a:ext cx="533400" cy="5334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3886200" y="3281363"/>
                <a:ext cx="133350" cy="200025"/>
                <a:chOff x="3886200" y="3281363"/>
                <a:chExt cx="133350" cy="20002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3908425" y="3281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3886200" y="341471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3785617" y="3711892"/>
                <a:ext cx="3345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1619250" y="3381375"/>
                <a:ext cx="190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26" name="Polygon 26"/>
              <p:cNvSpPr/>
              <p:nvPr/>
            </p:nvSpPr>
            <p:spPr>
              <a:xfrm>
                <a:off x="3429000" y="3314700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142875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4A000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857485" y="3156585"/>
                <a:ext cx="14285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confidential data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2571750" y="3429000"/>
                <a:ext cx="9525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0">
                    <a:moveTo>
                      <a:pt x="0" y="0"/>
                    </a:moveTo>
                    <a:lnTo>
                      <a:pt x="0" y="104775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  <a:custDash>
                  <a:ds d="240000" sp="160000"/>
                </a:custDash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2286000" y="4476750"/>
                <a:ext cx="571500" cy="571500"/>
              </a:xfrm>
              <a:prstGeom prst="ellipse">
                <a:avLst/>
              </a:prstGeom>
              <a:solidFill>
                <a:srgbClr val="6B141B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2471738" y="4695825"/>
                <a:ext cx="200026" cy="133350"/>
                <a:chOff x="2471738" y="4695825"/>
                <a:chExt cx="200026" cy="1333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2549525" y="47402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2471738" y="4695825"/>
                  <a:ext cx="200026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133350">
                      <a:moveTo>
                        <a:pt x="200026" y="66675"/>
                      </a:moveTo>
                      <a:cubicBezTo>
                        <a:pt x="173355" y="111125"/>
                        <a:pt x="140018" y="133350"/>
                        <a:pt x="100013" y="133350"/>
                      </a:cubicBezTo>
                      <a:cubicBezTo>
                        <a:pt x="60008" y="133350"/>
                        <a:pt x="26670" y="111125"/>
                        <a:pt x="0" y="66675"/>
                      </a:cubicBezTo>
                      <a:cubicBezTo>
                        <a:pt x="26670" y="22225"/>
                        <a:pt x="60008" y="0"/>
                        <a:pt x="100013" y="0"/>
                      </a:cubicBezTo>
                      <a:cubicBezTo>
                        <a:pt x="140018" y="0"/>
                        <a:pt x="173355" y="22225"/>
                        <a:pt x="200026" y="66675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693133" y="5121592"/>
                <a:ext cx="17572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6B141B"/>
                    </a:solidFill>
                    <a:latin typeface="Arial"/>
                    <a:ea typeface="Arial"/>
                    <a:cs typeface="Arial"/>
                  </a:rPr>
                  <a:t>Trudy (eavesdrop)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62272" y="5457825"/>
                <a:ext cx="261895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Reads sensitive plaintext</a:t>
                </a:r>
              </a:p>
            </p:txBody>
          </p:sp>
        </p:grpSp>
        <p:sp>
          <p:nvSpPr>
            <p:cNvPr id="36" name="Rectangle 36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5229225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407819" y="1905000"/>
              <a:ext cx="214313" cy="200025"/>
              <a:chOff x="5407819" y="1905000"/>
              <a:chExt cx="214313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407819" y="2000250"/>
                <a:ext cx="71438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83344"/>
                    </a:lnTo>
                    <a:cubicBezTo>
                      <a:pt x="71438" y="89919"/>
                      <a:pt x="66107" y="95250"/>
                      <a:pt x="59531" y="95250"/>
                    </a:cubicBezTo>
                    <a:lnTo>
                      <a:pt x="11906" y="95250"/>
                    </a:lnTo>
                    <a:cubicBezTo>
                      <a:pt x="5331" y="95250"/>
                      <a:pt x="0" y="89919"/>
                      <a:pt x="0" y="83344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550694" y="1952625"/>
                <a:ext cx="7143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42875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130969"/>
                    </a:lnTo>
                    <a:cubicBezTo>
                      <a:pt x="71438" y="137544"/>
                      <a:pt x="66107" y="142875"/>
                      <a:pt x="59531" y="142875"/>
                    </a:cubicBezTo>
                    <a:lnTo>
                      <a:pt x="11906" y="142875"/>
                    </a:lnTo>
                    <a:cubicBezTo>
                      <a:pt x="5331" y="142875"/>
                      <a:pt x="0" y="137544"/>
                      <a:pt x="0" y="130969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479256" y="1905000"/>
                <a:ext cx="7143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90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178594"/>
                    </a:lnTo>
                    <a:cubicBezTo>
                      <a:pt x="71438" y="185169"/>
                      <a:pt x="66107" y="190500"/>
                      <a:pt x="59531" y="190500"/>
                    </a:cubicBezTo>
                    <a:lnTo>
                      <a:pt x="11906" y="190500"/>
                    </a:lnTo>
                    <a:cubicBezTo>
                      <a:pt x="5331" y="190500"/>
                      <a:pt x="0" y="185169"/>
                      <a:pt x="0" y="178594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419725" y="2095500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5744718" y="1841182"/>
              <a:ext cx="18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Traffic Analysis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47004" y="2194560"/>
              <a:ext cx="37761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– passive attack observing pattern &amp; frequency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5229225" y="2714625"/>
              <a:ext cx="3857625" cy="3286125"/>
              <a:chOff x="5229225" y="2714625"/>
              <a:chExt cx="3857625" cy="3286125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5229225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5534025" y="3114675"/>
                <a:ext cx="533400" cy="5334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5734050" y="3281363"/>
                <a:ext cx="133350" cy="200025"/>
                <a:chOff x="5734050" y="3281363"/>
                <a:chExt cx="133350" cy="200025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5756275" y="3281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5734050" y="341471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5576760" y="3711892"/>
                <a:ext cx="4479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8248650" y="3114675"/>
                <a:ext cx="533400" cy="5334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8448675" y="3281363"/>
                <a:ext cx="133350" cy="200025"/>
                <a:chOff x="8448675" y="3281363"/>
                <a:chExt cx="133350" cy="200025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8470900" y="3281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448675" y="341471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8348092" y="3711892"/>
                <a:ext cx="3345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6181725" y="3381375"/>
                <a:ext cx="190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57" name="Polygon 57"/>
              <p:cNvSpPr/>
              <p:nvPr/>
            </p:nvSpPr>
            <p:spPr>
              <a:xfrm>
                <a:off x="7991475" y="3314700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142875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4A0005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377555" y="3156585"/>
                <a:ext cx="15133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*** encrypted ***</a:t>
                </a:r>
              </a:p>
            </p:txBody>
          </p:sp>
          <p:sp>
            <p:nvSpPr>
              <p:cNvPr id="59" name="Line 59"/>
              <p:cNvSpPr/>
              <p:nvPr/>
            </p:nvSpPr>
            <p:spPr>
              <a:xfrm>
                <a:off x="7134225" y="3429000"/>
                <a:ext cx="9525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0">
                    <a:moveTo>
                      <a:pt x="0" y="0"/>
                    </a:moveTo>
                    <a:lnTo>
                      <a:pt x="0" y="104775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  <a:custDash>
                  <a:ds d="240000" sp="160000"/>
                </a:custDash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6848475" y="4476750"/>
                <a:ext cx="571500" cy="571500"/>
              </a:xfrm>
              <a:prstGeom prst="ellipse">
                <a:avLst/>
              </a:prstGeom>
              <a:solidFill>
                <a:srgbClr val="6B141B"/>
              </a:solidFill>
              <a:ln>
                <a:noFill/>
              </a:ln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7034213" y="4662488"/>
                <a:ext cx="200026" cy="200026"/>
                <a:chOff x="7034213" y="4662488"/>
                <a:chExt cx="200026" cy="200026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7109823" y="4746798"/>
                  <a:ext cx="40115" cy="40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15" h="40110">
                      <a:moveTo>
                        <a:pt x="8678" y="0"/>
                      </a:moveTo>
                      <a:cubicBezTo>
                        <a:pt x="0" y="8681"/>
                        <a:pt x="2" y="22754"/>
                        <a:pt x="8684" y="31432"/>
                      </a:cubicBezTo>
                      <a:cubicBezTo>
                        <a:pt x="17365" y="40110"/>
                        <a:pt x="31437" y="40107"/>
                        <a:pt x="40115" y="31426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7034213" y="4695808"/>
                  <a:ext cx="200026" cy="1334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133489">
                      <a:moveTo>
                        <a:pt x="152031" y="118622"/>
                      </a:moveTo>
                      <a:cubicBezTo>
                        <a:pt x="136442" y="128374"/>
                        <a:pt x="118400" y="133489"/>
                        <a:pt x="100013" y="133368"/>
                      </a:cubicBezTo>
                      <a:cubicBezTo>
                        <a:pt x="60008" y="133368"/>
                        <a:pt x="26670" y="111143"/>
                        <a:pt x="0" y="66693"/>
                      </a:cubicBezTo>
                      <a:cubicBezTo>
                        <a:pt x="14135" y="43134"/>
                        <a:pt x="30137" y="25821"/>
                        <a:pt x="48006" y="14753"/>
                      </a:cubicBezTo>
                      <a:moveTo>
                        <a:pt x="79788" y="2018"/>
                      </a:moveTo>
                      <a:cubicBezTo>
                        <a:pt x="86445" y="670"/>
                        <a:pt x="93221" y="0"/>
                        <a:pt x="100013" y="18"/>
                      </a:cubicBezTo>
                      <a:cubicBezTo>
                        <a:pt x="140018" y="18"/>
                        <a:pt x="173355" y="22243"/>
                        <a:pt x="200026" y="66693"/>
                      </a:cubicBezTo>
                      <a:cubicBezTo>
                        <a:pt x="192625" y="79028"/>
                        <a:pt x="184701" y="89662"/>
                        <a:pt x="176267" y="98586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7034213" y="4662488"/>
                  <a:ext cx="200026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200026">
                      <a:moveTo>
                        <a:pt x="0" y="0"/>
                      </a:moveTo>
                      <a:lnTo>
                        <a:pt x="200026" y="200026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6069555" y="5121592"/>
                <a:ext cx="2129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6B141B"/>
                    </a:solidFill>
                    <a:latin typeface="Arial"/>
                    <a:ea typeface="Arial"/>
                    <a:cs typeface="Arial"/>
                  </a:rPr>
                  <a:t>Trudy (pattern check)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538256" y="5457825"/>
                <a:ext cx="31919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Guesses nature via timing/size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603283" cy="874204"/>
            <a:chOff x="462534" y="375285"/>
            <a:chExt cx="460328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59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Masquerade Attack &amp;amp; Replay Attack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666750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81062" y="1893094"/>
              <a:ext cx="190500" cy="226218"/>
              <a:chOff x="881062" y="1893094"/>
              <a:chExt cx="190500" cy="22621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04875" y="1893094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81062" y="2035969"/>
                <a:ext cx="89297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89297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89297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12031" y="2059781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59531" y="59531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12031" y="2059781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59531"/>
                    </a:moveTo>
                    <a:lnTo>
                      <a:pt x="59531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82243" y="1841182"/>
              <a:ext cx="22011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Masquerade Attack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4529" y="2194560"/>
              <a:ext cx="37761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– unauthorized party pretends to be authorized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66750" y="2714625"/>
              <a:ext cx="4040315" cy="3286125"/>
              <a:chOff x="666750" y="2714625"/>
              <a:chExt cx="4040315" cy="328612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66750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047750" y="3095625"/>
                <a:ext cx="571500" cy="571500"/>
              </a:xfrm>
              <a:prstGeom prst="ellipse">
                <a:avLst/>
              </a:prstGeom>
              <a:solidFill>
                <a:srgbClr val="6B141B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262062" y="3274219"/>
                <a:ext cx="190500" cy="226218"/>
                <a:chOff x="1262062" y="3274219"/>
                <a:chExt cx="190500" cy="226218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1285875" y="3274219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23812">
                  <a:solidFill>
                    <a:srgbClr val="F4B400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262062" y="3417094"/>
                  <a:ext cx="89297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297" h="71438">
                      <a:moveTo>
                        <a:pt x="0" y="71438"/>
                      </a:move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89297" y="0"/>
                      </a:lnTo>
                    </a:path>
                  </a:pathLst>
                </a:custGeom>
                <a:noFill/>
                <a:ln w="23812">
                  <a:solidFill>
                    <a:srgbClr val="F4B400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393031" y="3440906"/>
                  <a:ext cx="59531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59531">
                      <a:moveTo>
                        <a:pt x="59531" y="5953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rgbClr val="F4B400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393031" y="3440906"/>
                  <a:ext cx="59531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59531">
                      <a:moveTo>
                        <a:pt x="0" y="59531"/>
                      </a:moveTo>
                      <a:lnTo>
                        <a:pt x="59531" y="0"/>
                      </a:lnTo>
                    </a:path>
                  </a:pathLst>
                </a:custGeom>
                <a:noFill/>
                <a:ln w="23812">
                  <a:solidFill>
                    <a:srgbClr val="F4B400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061289" y="3711892"/>
                <a:ext cx="5444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6B141B"/>
                    </a:solidFill>
                    <a:latin typeface="Arial"/>
                    <a:ea typeface="Arial"/>
                    <a:cs typeface="Arial"/>
                  </a:rPr>
                  <a:t>Trudy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905000" y="3114675"/>
                <a:ext cx="1524000" cy="533400"/>
              </a:xfrm>
              <a:prstGeom prst="roundRect">
                <a:avLst>
                  <a:gd name="adj" fmla="val 17857"/>
                </a:avLst>
              </a:prstGeom>
              <a:solidFill>
                <a:srgbClr val="F8F4EE"/>
              </a:solidFill>
              <a:ln w="14288">
                <a:solidFill>
                  <a:srgbClr val="4A000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50717" y="3229928"/>
                <a:ext cx="10325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“This message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124610" y="3420428"/>
                <a:ext cx="10847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is from Alice.”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3429000" y="3381375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3714750" y="3314700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142875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4A0005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3733800" y="3114675"/>
                <a:ext cx="533400" cy="5334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3933825" y="3281363"/>
                <a:ext cx="133350" cy="200025"/>
                <a:chOff x="3933825" y="3281363"/>
                <a:chExt cx="133350" cy="20002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3956050" y="3281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933825" y="341471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FFFFF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3833242" y="3711892"/>
                <a:ext cx="3345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57250" y="4143375"/>
                <a:ext cx="3476625" cy="1666875"/>
              </a:xfrm>
              <a:prstGeom prst="roundRect">
                <a:avLst>
                  <a:gd name="adj" fmla="val 6857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1021404" y="4363521"/>
                <a:ext cx="224134" cy="192560"/>
                <a:chOff x="1021404" y="4363521"/>
                <a:chExt cx="224134" cy="19256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1133475" y="4433888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22225">
                  <a:solidFill>
                    <a:srgbClr val="4A0005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021404" y="4363521"/>
                  <a:ext cx="224134" cy="19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34" h="192560">
                      <a:moveTo>
                        <a:pt x="93880" y="10259"/>
                      </a:moveTo>
                      <a:lnTo>
                        <a:pt x="3802" y="160656"/>
                      </a:lnTo>
                      <a:cubicBezTo>
                        <a:pt x="23" y="167200"/>
                        <a:pt x="0" y="175257"/>
                        <a:pt x="3741" y="181823"/>
                      </a:cubicBezTo>
                      <a:cubicBezTo>
                        <a:pt x="7482" y="188388"/>
                        <a:pt x="14426" y="192476"/>
                        <a:pt x="21982" y="192560"/>
                      </a:cubicBezTo>
                      <a:lnTo>
                        <a:pt x="202160" y="192560"/>
                      </a:lnTo>
                      <a:cubicBezTo>
                        <a:pt x="209713" y="192473"/>
                        <a:pt x="216653" y="188387"/>
                        <a:pt x="220393" y="181826"/>
                      </a:cubicBezTo>
                      <a:cubicBezTo>
                        <a:pt x="224134" y="175264"/>
                        <a:pt x="224114" y="167211"/>
                        <a:pt x="220341" y="160667"/>
                      </a:cubicBezTo>
                      <a:lnTo>
                        <a:pt x="130262" y="10248"/>
                      </a:lnTo>
                      <a:cubicBezTo>
                        <a:pt x="126408" y="3886"/>
                        <a:pt x="119510" y="0"/>
                        <a:pt x="112071" y="0"/>
                      </a:cubicBezTo>
                      <a:cubicBezTo>
                        <a:pt x="104633" y="0"/>
                        <a:pt x="97734" y="3886"/>
                        <a:pt x="93880" y="10248"/>
                      </a:cubicBezTo>
                    </a:path>
                  </a:pathLst>
                </a:custGeom>
                <a:noFill/>
                <a:ln w="22225">
                  <a:solidFill>
                    <a:srgbClr val="4A0005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133475" y="45116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22225">
                  <a:solidFill>
                    <a:srgbClr val="4A0005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1373505" y="4362450"/>
                <a:ext cx="179818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Identity Spoofing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91743" y="4774882"/>
                <a:ext cx="3715322" cy="932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Trudy crafts messages appearing to</a:t>
                </a:r>
                <a:br/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originate from Alice to gain trust</a:t>
                </a:r>
                <a:br/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and execute unauthorized actions.</a:t>
                </a:r>
              </a:p>
            </p:txBody>
          </p:sp>
        </p:grpSp>
        <p:sp>
          <p:nvSpPr>
            <p:cNvPr id="42" name="Rectangle 42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5229225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5419725" y="1900406"/>
              <a:ext cx="190500" cy="199688"/>
              <a:chOff x="5419725" y="1900406"/>
              <a:chExt cx="190500" cy="19968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419725" y="1900406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190500" y="87938"/>
                    </a:moveTo>
                    <a:cubicBezTo>
                      <a:pt x="184514" y="44867"/>
                      <a:pt x="150446" y="11129"/>
                      <a:pt x="107319" y="5565"/>
                    </a:cubicBezTo>
                    <a:cubicBezTo>
                      <a:pt x="64192" y="0"/>
                      <a:pt x="22676" y="23985"/>
                      <a:pt x="5953" y="64125"/>
                    </a:cubicBezTo>
                    <a:moveTo>
                      <a:pt x="0" y="16500"/>
                    </a:moveTo>
                    <a:lnTo>
                      <a:pt x="0" y="64125"/>
                    </a:lnTo>
                    <a:lnTo>
                      <a:pt x="47625" y="64125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419725" y="2012156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0" y="0"/>
                    </a:moveTo>
                    <a:cubicBezTo>
                      <a:pt x="5986" y="43070"/>
                      <a:pt x="40054" y="76808"/>
                      <a:pt x="83181" y="82373"/>
                    </a:cubicBezTo>
                    <a:cubicBezTo>
                      <a:pt x="126308" y="87938"/>
                      <a:pt x="167824" y="63953"/>
                      <a:pt x="184547" y="23812"/>
                    </a:cubicBezTo>
                    <a:moveTo>
                      <a:pt x="190500" y="71438"/>
                    </a:moveTo>
                    <a:lnTo>
                      <a:pt x="190500" y="23812"/>
                    </a:lnTo>
                    <a:lnTo>
                      <a:pt x="142875" y="23812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5744718" y="1841182"/>
              <a:ext cx="15823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Replay Attack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747004" y="2194560"/>
              <a:ext cx="3234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– captures data unit &amp; retransmits later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5229225" y="2714625"/>
              <a:ext cx="3987927" cy="3286125"/>
              <a:chOff x="5229225" y="2714625"/>
              <a:chExt cx="3987927" cy="3286125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229225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5572125" y="3009900"/>
                <a:ext cx="457200" cy="4572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5743575" y="3152775"/>
                <a:ext cx="114300" cy="171450"/>
                <a:chOff x="5743575" y="3152775"/>
                <a:chExt cx="114300" cy="171450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5762625" y="31527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5743575" y="3267075"/>
                  <a:ext cx="1143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7150">
                      <a:moveTo>
                        <a:pt x="0" y="5715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76200" y="0"/>
                      </a:lnTo>
                      <a:cubicBezTo>
                        <a:pt x="97242" y="0"/>
                        <a:pt x="114300" y="17058"/>
                        <a:pt x="114300" y="38100"/>
                      </a:cubicBezTo>
                      <a:lnTo>
                        <a:pt x="114300" y="571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5601645" y="3489960"/>
                <a:ext cx="398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8286750" y="3009900"/>
                <a:ext cx="457200" cy="4572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8458200" y="3152775"/>
                <a:ext cx="114300" cy="171450"/>
                <a:chOff x="8458200" y="3152775"/>
                <a:chExt cx="114300" cy="171450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8477250" y="31527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458200" y="3267075"/>
                  <a:ext cx="1143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7150">
                      <a:moveTo>
                        <a:pt x="0" y="5715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76200" y="0"/>
                      </a:lnTo>
                      <a:cubicBezTo>
                        <a:pt x="97242" y="0"/>
                        <a:pt x="114300" y="17058"/>
                        <a:pt x="114300" y="38100"/>
                      </a:cubicBezTo>
                      <a:lnTo>
                        <a:pt x="114300" y="571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8366676" y="3489960"/>
                <a:ext cx="2973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867525" y="3876675"/>
                <a:ext cx="533400" cy="533400"/>
              </a:xfrm>
              <a:prstGeom prst="ellipse">
                <a:avLst/>
              </a:prstGeom>
              <a:solidFill>
                <a:srgbClr val="6B141B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7045325" y="4050188"/>
                <a:ext cx="177801" cy="186375"/>
                <a:chOff x="7045325" y="4050188"/>
                <a:chExt cx="177801" cy="18637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7045325" y="4050188"/>
                  <a:ext cx="177801" cy="8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82075">
                      <a:moveTo>
                        <a:pt x="177801" y="82075"/>
                      </a:moveTo>
                      <a:cubicBezTo>
                        <a:pt x="172214" y="41876"/>
                        <a:pt x="140416" y="10388"/>
                        <a:pt x="100165" y="5194"/>
                      </a:cubicBezTo>
                      <a:cubicBezTo>
                        <a:pt x="59913" y="0"/>
                        <a:pt x="21164" y="22386"/>
                        <a:pt x="5556" y="59850"/>
                      </a:cubicBezTo>
                      <a:moveTo>
                        <a:pt x="0" y="15400"/>
                      </a:moveTo>
                      <a:lnTo>
                        <a:pt x="0" y="59850"/>
                      </a:lnTo>
                      <a:lnTo>
                        <a:pt x="44450" y="5985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7045325" y="4154488"/>
                  <a:ext cx="177801" cy="8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82075">
                      <a:moveTo>
                        <a:pt x="0" y="0"/>
                      </a:moveTo>
                      <a:cubicBezTo>
                        <a:pt x="5587" y="40199"/>
                        <a:pt x="37384" y="71688"/>
                        <a:pt x="77636" y="76881"/>
                      </a:cubicBezTo>
                      <a:cubicBezTo>
                        <a:pt x="117888" y="82075"/>
                        <a:pt x="156637" y="59689"/>
                        <a:pt x="172244" y="22225"/>
                      </a:cubicBezTo>
                      <a:moveTo>
                        <a:pt x="177801" y="66675"/>
                      </a:moveTo>
                      <a:lnTo>
                        <a:pt x="177801" y="22225"/>
                      </a:lnTo>
                      <a:lnTo>
                        <a:pt x="133350" y="22225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6560946" y="4442460"/>
                <a:ext cx="11465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6B141B"/>
                    </a:solidFill>
                    <a:latin typeface="Arial"/>
                    <a:ea typeface="Arial"/>
                    <a:cs typeface="Arial"/>
                  </a:rPr>
                  <a:t>Trudy (sniff)</a:t>
                </a:r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6181725" y="3238500"/>
                <a:ext cx="95250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619125">
                    <a:moveTo>
                      <a:pt x="0" y="0"/>
                    </a:moveTo>
                    <a:cubicBezTo>
                      <a:pt x="635000" y="0"/>
                      <a:pt x="952500" y="206375"/>
                      <a:pt x="952500" y="619125"/>
                    </a:cubicBezTo>
                  </a:path>
                </a:pathLst>
              </a:custGeom>
              <a:noFill/>
              <a:ln w="19050">
                <a:solidFill>
                  <a:srgbClr val="F4B400"/>
                </a:solidFill>
                <a:custDash>
                  <a:ds d="200000" sp="150000"/>
                </a:custDash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134225" y="3476625"/>
                <a:ext cx="1238250" cy="7937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793750">
                    <a:moveTo>
                      <a:pt x="0" y="666750"/>
                    </a:moveTo>
                    <a:cubicBezTo>
                      <a:pt x="508000" y="793750"/>
                      <a:pt x="920750" y="571500"/>
                      <a:pt x="1238250" y="0"/>
                    </a:cubicBez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67" name="Polygon 67"/>
              <p:cNvSpPr/>
              <p:nvPr/>
            </p:nvSpPr>
            <p:spPr>
              <a:xfrm>
                <a:off x="8277225" y="342900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142875" y="0"/>
                    </a:moveTo>
                    <a:lnTo>
                      <a:pt x="0" y="95250"/>
                    </a:lnTo>
                    <a:lnTo>
                      <a:pt x="95250" y="190500"/>
                    </a:lnTo>
                    <a:close/>
                  </a:path>
                </a:pathLst>
              </a:custGeom>
              <a:solidFill>
                <a:srgbClr val="4A0005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986141" y="4030028"/>
                <a:ext cx="8195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retransmit</a:t>
                </a: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5419725" y="4762500"/>
                <a:ext cx="3476625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8F4EE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5554218" y="4965382"/>
                <a:ext cx="366293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Trudy intercepts valid packets</a:t>
                </a:r>
                <a:br/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and replays them to repeat orders.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846110" cy="874204"/>
            <a:chOff x="462534" y="375285"/>
            <a:chExt cx="584611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40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Modifying Messages &amp;amp; Denial-of-Service (DoS)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476250" y="1524000"/>
            <a:ext cx="8885377" cy="4857750"/>
            <a:chOff x="476250" y="1524000"/>
            <a:chExt cx="8885377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666750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69156" y="1893094"/>
              <a:ext cx="166688" cy="214312"/>
              <a:chOff x="869156" y="1893094"/>
              <a:chExt cx="166688" cy="21431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76312" y="1893094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54201"/>
                      <a:pt x="5331" y="59531"/>
                      <a:pt x="11906" y="59531"/>
                    </a:cubicBezTo>
                    <a:lnTo>
                      <a:pt x="59531" y="59531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9156" y="1893094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42875" y="214312"/>
                    </a:moveTo>
                    <a:lnTo>
                      <a:pt x="23812" y="214312"/>
                    </a:lnTo>
                    <a:cubicBezTo>
                      <a:pt x="10661" y="214312"/>
                      <a:pt x="0" y="203651"/>
                      <a:pt x="0" y="19050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07156" y="0"/>
                    </a:lnTo>
                    <a:lnTo>
                      <a:pt x="166688" y="59531"/>
                    </a:lnTo>
                    <a:lnTo>
                      <a:pt x="166688" y="190500"/>
                    </a:lnTo>
                    <a:cubicBezTo>
                      <a:pt x="166688" y="203651"/>
                      <a:pt x="156026" y="214312"/>
                      <a:pt x="142875" y="214312"/>
                    </a:cubicBez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16781" y="1964531"/>
                <a:ext cx="11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" h="9525">
                    <a:moveTo>
                      <a:pt x="0" y="0"/>
                    </a:moveTo>
                    <a:lnTo>
                      <a:pt x="11906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16781" y="2012156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6781" y="2059781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82243" y="1841182"/>
              <a:ext cx="22589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Modifying Messages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4529" y="2194560"/>
              <a:ext cx="3897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– alters, delays, or reorders legitimate message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66750" y="2714625"/>
              <a:ext cx="3966972" cy="3286125"/>
              <a:chOff x="666750" y="2714625"/>
              <a:chExt cx="3966972" cy="328612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66750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990600" y="3133725"/>
                <a:ext cx="495300" cy="4953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1176337" y="3288506"/>
                <a:ext cx="123825" cy="185737"/>
                <a:chOff x="1176337" y="3288506"/>
                <a:chExt cx="123825" cy="185737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196975" y="3288506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0"/>
                        <a:pt x="18479" y="82550"/>
                        <a:pt x="41275" y="82550"/>
                      </a:cubicBezTo>
                      <a:cubicBezTo>
                        <a:pt x="64070" y="82550"/>
                        <a:pt x="82550" y="64070"/>
                        <a:pt x="82550" y="41275"/>
                      </a:cubicBezTo>
                      <a:cubicBezTo>
                        <a:pt x="82550" y="18479"/>
                        <a:pt x="64070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176337" y="3412331"/>
                  <a:ext cx="123825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61912">
                      <a:moveTo>
                        <a:pt x="0" y="61912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82550" y="0"/>
                      </a:lnTo>
                      <a:cubicBezTo>
                        <a:pt x="105345" y="0"/>
                        <a:pt x="123825" y="18479"/>
                        <a:pt x="123825" y="41275"/>
                      </a:cubicBezTo>
                      <a:lnTo>
                        <a:pt x="123825" y="61912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039170" y="3680460"/>
                <a:ext cx="398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2305050" y="3114675"/>
                <a:ext cx="533400" cy="533400"/>
              </a:xfrm>
              <a:prstGeom prst="ellipse">
                <a:avLst/>
              </a:prstGeom>
              <a:solidFill>
                <a:srgbClr val="6B141B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2471738" y="3303588"/>
                <a:ext cx="200025" cy="166688"/>
                <a:chOff x="2471738" y="3303588"/>
                <a:chExt cx="200025" cy="166688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2538413" y="3303588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44450"/>
                      </a:moveTo>
                      <a:lnTo>
                        <a:pt x="0" y="33338"/>
                      </a:lnTo>
                      <a:cubicBezTo>
                        <a:pt x="0" y="14926"/>
                        <a:pt x="14926" y="0"/>
                        <a:pt x="33338" y="0"/>
                      </a:cubicBez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4445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2516188" y="3348038"/>
                  <a:ext cx="111125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2238">
                      <a:moveTo>
                        <a:pt x="11113" y="0"/>
                      </a:moveTo>
                      <a:lnTo>
                        <a:pt x="100013" y="0"/>
                      </a:lnTo>
                      <a:cubicBezTo>
                        <a:pt x="106631" y="9919"/>
                        <a:pt x="110469" y="21431"/>
                        <a:pt x="111125" y="33338"/>
                      </a:cubicBezTo>
                      <a:lnTo>
                        <a:pt x="111125" y="66675"/>
                      </a:lnTo>
                      <a:cubicBezTo>
                        <a:pt x="111125" y="97362"/>
                        <a:pt x="86249" y="122238"/>
                        <a:pt x="55563" y="122238"/>
                      </a:cubicBezTo>
                      <a:cubicBezTo>
                        <a:pt x="24876" y="122238"/>
                        <a:pt x="0" y="97362"/>
                        <a:pt x="0" y="66675"/>
                      </a:cubicBezTo>
                      <a:lnTo>
                        <a:pt x="0" y="33338"/>
                      </a:lnTo>
                      <a:cubicBezTo>
                        <a:pt x="656" y="21431"/>
                        <a:pt x="4494" y="9919"/>
                        <a:pt x="11113" y="0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2471738" y="3392488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2627313" y="3392488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571750" y="3403600"/>
                  <a:ext cx="95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">
                      <a:moveTo>
                        <a:pt x="0" y="666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2482850" y="3436938"/>
                  <a:ext cx="37227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27" h="22225">
                      <a:moveTo>
                        <a:pt x="0" y="22225"/>
                      </a:moveTo>
                      <a:lnTo>
                        <a:pt x="37227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2623424" y="3436938"/>
                  <a:ext cx="37227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27" h="22225">
                      <a:moveTo>
                        <a:pt x="37227" y="222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2482850" y="3325813"/>
                  <a:ext cx="41672" cy="26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72" h="26670">
                      <a:moveTo>
                        <a:pt x="0" y="0"/>
                      </a:moveTo>
                      <a:lnTo>
                        <a:pt x="41672" y="2667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2618979" y="3325813"/>
                  <a:ext cx="41672" cy="26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72" h="26670">
                      <a:moveTo>
                        <a:pt x="41672" y="0"/>
                      </a:moveTo>
                      <a:lnTo>
                        <a:pt x="0" y="2667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998471" y="3680460"/>
                <a:ext cx="11465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6B141B"/>
                    </a:solidFill>
                    <a:latin typeface="Arial"/>
                    <a:ea typeface="Arial"/>
                    <a:cs typeface="Arial"/>
                  </a:rPr>
                  <a:t>Trudy (alter)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3705225" y="3133725"/>
                <a:ext cx="495300" cy="4953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3890962" y="3288506"/>
                <a:ext cx="123825" cy="185737"/>
                <a:chOff x="3890962" y="3288506"/>
                <a:chExt cx="123825" cy="185737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3911600" y="3288506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0"/>
                        <a:pt x="18479" y="82550"/>
                        <a:pt x="41275" y="82550"/>
                      </a:cubicBezTo>
                      <a:cubicBezTo>
                        <a:pt x="64070" y="82550"/>
                        <a:pt x="82550" y="64070"/>
                        <a:pt x="82550" y="41275"/>
                      </a:cubicBezTo>
                      <a:cubicBezTo>
                        <a:pt x="82550" y="18479"/>
                        <a:pt x="64070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3890962" y="3412331"/>
                  <a:ext cx="123825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61912">
                      <a:moveTo>
                        <a:pt x="0" y="61912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82550" y="0"/>
                      </a:lnTo>
                      <a:cubicBezTo>
                        <a:pt x="105345" y="0"/>
                        <a:pt x="123825" y="18479"/>
                        <a:pt x="123825" y="41275"/>
                      </a:cubicBezTo>
                      <a:lnTo>
                        <a:pt x="123825" y="61912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804201" y="3680460"/>
                <a:ext cx="2973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Bob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1571625" y="3381375"/>
                <a:ext cx="66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9525">
                    <a:moveTo>
                      <a:pt x="0" y="0"/>
                    </a:moveTo>
                    <a:lnTo>
                      <a:pt x="666750" y="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41" name="Polygon 41"/>
              <p:cNvSpPr/>
              <p:nvPr/>
            </p:nvSpPr>
            <p:spPr>
              <a:xfrm>
                <a:off x="2143125" y="3314700"/>
                <a:ext cx="1238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33350">
                    <a:moveTo>
                      <a:pt x="123825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4A0005"/>
              </a:solidFill>
              <a:ln>
                <a:noFill/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2905125" y="3381375"/>
                <a:ext cx="714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75" h="9525">
                    <a:moveTo>
                      <a:pt x="0" y="0"/>
                    </a:moveTo>
                    <a:lnTo>
                      <a:pt x="714375" y="0"/>
                    </a:lnTo>
                  </a:path>
                </a:pathLst>
              </a:custGeom>
              <a:noFill/>
              <a:ln w="28575">
                <a:solidFill>
                  <a:srgbClr val="6B141B"/>
                </a:solidFill>
                <a:custDash>
                  <a:ds d="133333" sp="100000"/>
                </a:custDash>
              </a:ln>
            </p:spPr>
          </p:sp>
          <p:sp>
            <p:nvSpPr>
              <p:cNvPr id="43" name="Polygon 43"/>
              <p:cNvSpPr/>
              <p:nvPr/>
            </p:nvSpPr>
            <p:spPr>
              <a:xfrm>
                <a:off x="3524250" y="3314700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142875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6B141B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57250" y="4095750"/>
                <a:ext cx="3476625" cy="1714500"/>
              </a:xfrm>
              <a:prstGeom prst="roundRect">
                <a:avLst>
                  <a:gd name="adj" fmla="val 6667"/>
                </a:avLst>
              </a:prstGeom>
              <a:solidFill>
                <a:srgbClr val="F8F4EE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92505" y="4267200"/>
                <a:ext cx="192481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Integrity Violation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91743" y="4632008"/>
                <a:ext cx="3641979" cy="970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lnSpc>
                    <a:spcPts val="2550"/>
                  </a:lnSpc>
                  <a:buClr>
                    <a:srgbClr val="222222"/>
                  </a:buClr>
                  <a:buSzTx/>
                  <a:buFontTx/>
                  <a:buChar char="•"/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Message content is rewritten</a:t>
                </a:r>
              </a:p>
              <a:p>
                <a:pPr marL="178118" indent="-178118" algn="l">
                  <a:lnSpc>
                    <a:spcPts val="2550"/>
                  </a:lnSpc>
                  <a:buClr>
                    <a:srgbClr val="222222"/>
                  </a:buClr>
                  <a:buSzTx/>
                  <a:buFontTx/>
                  <a:buChar char="•"/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Sequence reordered/delayed</a:t>
                </a:r>
              </a:p>
              <a:p>
                <a:pPr marL="178118" indent="-178118" algn="l">
                  <a:lnSpc>
                    <a:spcPts val="2550"/>
                  </a:lnSpc>
                  <a:buClr>
                    <a:srgbClr val="222222"/>
                  </a:buClr>
                  <a:buSzTx/>
                  <a:buFontTx/>
                  <a:buChar char="•"/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Bob receives corrupted commands</a:t>
                </a: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9" name="Rectangle 49"/>
            <p:cNvSpPr/>
            <p:nvPr/>
          </p:nvSpPr>
          <p:spPr>
            <a:xfrm>
              <a:off x="5229225" y="1714500"/>
              <a:ext cx="3857625" cy="857250"/>
            </a:xfrm>
            <a:prstGeom prst="roundRect">
              <a:avLst>
                <a:gd name="adj" fmla="val 15556"/>
              </a:avLst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394899" y="1889138"/>
              <a:ext cx="240143" cy="206314"/>
              <a:chOff x="5394899" y="1889138"/>
              <a:chExt cx="240143" cy="20631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514975" y="1964531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394899" y="1889138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514975" y="2047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5744718" y="1841182"/>
              <a:ext cx="27680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Denial-of-Service (DoS)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47004" y="2194560"/>
              <a:ext cx="3614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– prevents or inhibits normal use of facilities</a:t>
              </a: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5229225" y="2714625"/>
              <a:ext cx="3883152" cy="3286125"/>
              <a:chOff x="5229225" y="2714625"/>
              <a:chExt cx="3883152" cy="3286125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5229225" y="2714625"/>
                <a:ext cx="3857625" cy="3286125"/>
              </a:xfrm>
              <a:prstGeom prst="roundRect">
                <a:avLst>
                  <a:gd name="adj" fmla="val 4058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5553075" y="3133725"/>
                <a:ext cx="495300" cy="4953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5738812" y="3288506"/>
                <a:ext cx="123825" cy="185737"/>
                <a:chOff x="5738812" y="3288506"/>
                <a:chExt cx="123825" cy="185737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5759450" y="3288506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0"/>
                        <a:pt x="18479" y="82550"/>
                        <a:pt x="41275" y="82550"/>
                      </a:cubicBezTo>
                      <a:cubicBezTo>
                        <a:pt x="64070" y="82550"/>
                        <a:pt x="82550" y="64070"/>
                        <a:pt x="82550" y="41275"/>
                      </a:cubicBezTo>
                      <a:cubicBezTo>
                        <a:pt x="82550" y="18479"/>
                        <a:pt x="64070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5738812" y="3412331"/>
                  <a:ext cx="123825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61912">
                      <a:moveTo>
                        <a:pt x="0" y="61912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82550" y="0"/>
                      </a:lnTo>
                      <a:cubicBezTo>
                        <a:pt x="105345" y="0"/>
                        <a:pt x="123825" y="18479"/>
                        <a:pt x="123825" y="41275"/>
                      </a:cubicBezTo>
                      <a:lnTo>
                        <a:pt x="123825" y="61912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5601645" y="3680460"/>
                <a:ext cx="398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Alice</a:t>
                </a:r>
              </a:p>
            </p:txBody>
          </p:sp>
          <p:sp>
            <p:nvSpPr>
              <p:cNvPr id="62" name="Ellipse 62"/>
              <p:cNvSpPr/>
              <p:nvPr/>
            </p:nvSpPr>
            <p:spPr>
              <a:xfrm>
                <a:off x="6867525" y="4067175"/>
                <a:ext cx="533400" cy="533400"/>
              </a:xfrm>
              <a:prstGeom prst="ellipse">
                <a:avLst/>
              </a:prstGeom>
              <a:solidFill>
                <a:srgbClr val="6B141B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056438" y="4222750"/>
                <a:ext cx="155575" cy="211138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11138">
                    <a:moveTo>
                      <a:pt x="77788" y="99357"/>
                    </a:moveTo>
                    <a:cubicBezTo>
                      <a:pt x="103713" y="62597"/>
                      <a:pt x="79644" y="12424"/>
                      <a:pt x="66675" y="0"/>
                    </a:cubicBezTo>
                    <a:cubicBezTo>
                      <a:pt x="66675" y="37727"/>
                      <a:pt x="41839" y="58885"/>
                      <a:pt x="25926" y="74521"/>
                    </a:cubicBezTo>
                    <a:cubicBezTo>
                      <a:pt x="10035" y="90167"/>
                      <a:pt x="0" y="111125"/>
                      <a:pt x="0" y="136617"/>
                    </a:cubicBezTo>
                    <a:cubicBezTo>
                      <a:pt x="0" y="177778"/>
                      <a:pt x="34827" y="211138"/>
                      <a:pt x="77788" y="211138"/>
                    </a:cubicBezTo>
                    <a:cubicBezTo>
                      <a:pt x="120749" y="211138"/>
                      <a:pt x="155575" y="177778"/>
                      <a:pt x="155575" y="136617"/>
                    </a:cubicBezTo>
                    <a:cubicBezTo>
                      <a:pt x="155575" y="117593"/>
                      <a:pt x="141885" y="87689"/>
                      <a:pt x="129650" y="74521"/>
                    </a:cubicBezTo>
                    <a:cubicBezTo>
                      <a:pt x="106491" y="111781"/>
                      <a:pt x="93456" y="111781"/>
                      <a:pt x="77788" y="99357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6560946" y="4632960"/>
                <a:ext cx="11465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6B141B"/>
                    </a:solidFill>
                    <a:latin typeface="Arial"/>
                    <a:ea typeface="Arial"/>
                    <a:cs typeface="Arial"/>
                  </a:rPr>
                  <a:t>Trudy (flood)</a:t>
                </a:r>
              </a:p>
            </p:txBody>
          </p:sp>
          <p:sp>
            <p:nvSpPr>
              <p:cNvPr id="65" name="Ellipse 65"/>
              <p:cNvSpPr/>
              <p:nvPr/>
            </p:nvSpPr>
            <p:spPr>
              <a:xfrm>
                <a:off x="8267700" y="3133725"/>
                <a:ext cx="495300" cy="495300"/>
              </a:xfrm>
              <a:prstGeom prst="ellipse">
                <a:avLst/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>
                <a:off x="8422481" y="3298825"/>
                <a:ext cx="185737" cy="165100"/>
                <a:chOff x="8422481" y="3298825"/>
                <a:chExt cx="185737" cy="165100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8422481" y="3298825"/>
                  <a:ext cx="185737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82550">
                      <a:moveTo>
                        <a:pt x="0" y="30956"/>
                      </a:moveTo>
                      <a:cubicBezTo>
                        <a:pt x="0" y="13860"/>
                        <a:pt x="13860" y="0"/>
                        <a:pt x="30956" y="0"/>
                      </a:cubicBezTo>
                      <a:lnTo>
                        <a:pt x="154781" y="0"/>
                      </a:lnTo>
                      <a:cubicBezTo>
                        <a:pt x="171877" y="0"/>
                        <a:pt x="185737" y="13860"/>
                        <a:pt x="185737" y="30956"/>
                      </a:cubicBezTo>
                      <a:lnTo>
                        <a:pt x="185737" y="51594"/>
                      </a:lnTo>
                      <a:cubicBezTo>
                        <a:pt x="185737" y="68690"/>
                        <a:pt x="171877" y="82550"/>
                        <a:pt x="154781" y="82550"/>
                      </a:cubicBezTo>
                      <a:lnTo>
                        <a:pt x="30956" y="82550"/>
                      </a:lnTo>
                      <a:cubicBezTo>
                        <a:pt x="13860" y="82550"/>
                        <a:pt x="0" y="68690"/>
                        <a:pt x="0" y="51594"/>
                      </a:cubicBezTo>
                      <a:lnTo>
                        <a:pt x="0" y="30956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422481" y="3381375"/>
                  <a:ext cx="185737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82550">
                      <a:moveTo>
                        <a:pt x="0" y="30956"/>
                      </a:moveTo>
                      <a:cubicBezTo>
                        <a:pt x="0" y="13860"/>
                        <a:pt x="13860" y="0"/>
                        <a:pt x="30956" y="0"/>
                      </a:cubicBezTo>
                      <a:lnTo>
                        <a:pt x="154781" y="0"/>
                      </a:lnTo>
                      <a:cubicBezTo>
                        <a:pt x="171877" y="0"/>
                        <a:pt x="185737" y="13860"/>
                        <a:pt x="185737" y="30956"/>
                      </a:cubicBezTo>
                      <a:lnTo>
                        <a:pt x="185737" y="51594"/>
                      </a:lnTo>
                      <a:cubicBezTo>
                        <a:pt x="185737" y="68690"/>
                        <a:pt x="171877" y="82550"/>
                        <a:pt x="154781" y="82550"/>
                      </a:cubicBezTo>
                      <a:lnTo>
                        <a:pt x="30956" y="82550"/>
                      </a:lnTo>
                      <a:cubicBezTo>
                        <a:pt x="13860" y="82550"/>
                        <a:pt x="0" y="68690"/>
                        <a:pt x="0" y="51594"/>
                      </a:cubicBezTo>
                      <a:lnTo>
                        <a:pt x="0" y="30956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463756" y="3340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03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8463756" y="34226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03"/>
                      </a:lnTo>
                    </a:path>
                  </a:pathLst>
                </a:custGeom>
                <a:noFill/>
                <a:ln w="20637">
                  <a:solidFill>
                    <a:srgbClr val="FFFFFF"/>
                  </a:solidFill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7985402" y="3680460"/>
                <a:ext cx="10598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Bob / Server</a:t>
                </a:r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6134100" y="33813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7324725" y="3190875"/>
                <a:ext cx="133350" cy="381000"/>
              </a:xfrm>
              <a:prstGeom prst="roundRect">
                <a:avLst>
                  <a:gd name="adj" fmla="val 28571"/>
                </a:avLst>
              </a:prstGeom>
              <a:solidFill>
                <a:srgbClr val="6B141B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6996603" y="3609499"/>
                <a:ext cx="78959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6B141B"/>
                    </a:solidFill>
                    <a:latin typeface="Arial"/>
                    <a:ea typeface="Arial"/>
                    <a:cs typeface="Arial"/>
                  </a:rPr>
                  <a:t>X (Blocked)</a:t>
                </a: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5419725" y="4953000"/>
                <a:ext cx="3476625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8F4EE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5554218" y="5108258"/>
                <a:ext cx="355815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Server overloaded, denying access</a:t>
                </a:r>
                <a:br/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to legitimate authorized users.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4496452" cy="874204"/>
            <a:chOff x="462534" y="375285"/>
            <a:chExt cx="4496452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491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CIA Triad: Confidentiality and Integrity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72319" y="1735931"/>
              <a:ext cx="188913" cy="242889"/>
              <a:chOff x="772319" y="1735931"/>
              <a:chExt cx="188913" cy="24288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72319" y="1843882"/>
                <a:ext cx="188913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34938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61925" y="0"/>
                    </a:lnTo>
                    <a:cubicBezTo>
                      <a:pt x="176830" y="0"/>
                      <a:pt x="188913" y="12083"/>
                      <a:pt x="188913" y="26988"/>
                    </a:cubicBezTo>
                    <a:lnTo>
                      <a:pt x="188913" y="107950"/>
                    </a:lnTo>
                    <a:cubicBezTo>
                      <a:pt x="188913" y="122855"/>
                      <a:pt x="176830" y="134938"/>
                      <a:pt x="161925" y="134938"/>
                    </a:cubicBezTo>
                    <a:lnTo>
                      <a:pt x="26988" y="134938"/>
                    </a:lnTo>
                    <a:cubicBezTo>
                      <a:pt x="12083" y="134938"/>
                      <a:pt x="0" y="122855"/>
                      <a:pt x="0" y="107950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53282" y="1897857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12800" y="17359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107950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cubicBezTo>
                      <a:pt x="83785" y="0"/>
                      <a:pt x="107950" y="24165"/>
                      <a:pt x="107950" y="53975"/>
                    </a:cubicBezTo>
                    <a:lnTo>
                      <a:pt x="107950" y="10795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33856" y="1748790"/>
              <a:ext cx="1869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Confidentiality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6468" y="2393632"/>
              <a:ext cx="2609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Core Mandate &amp; Scope: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8868" y="2965132"/>
              <a:ext cx="3736276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Preserves authorized restrictions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on information access &amp; disclosure.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Protects personal privacy and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proprietary business records.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4850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8868" y="4584382"/>
              <a:ext cx="3107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Key Protection Mechanism: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8868" y="4965382"/>
              <a:ext cx="395630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Prevents unauthorized reading,</a:t>
              </a:r>
              <a:br/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network interception, or data leakage</a:t>
              </a:r>
              <a:br/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to unintended malicious recipients.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289596" y="1735931"/>
              <a:ext cx="263510" cy="242888"/>
              <a:chOff x="5289596" y="1735931"/>
              <a:chExt cx="263510" cy="24288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289596" y="1735931"/>
                <a:ext cx="263510" cy="240810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240810">
                    <a:moveTo>
                      <a:pt x="132368" y="240810"/>
                    </a:moveTo>
                    <a:cubicBezTo>
                      <a:pt x="47836" y="214607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5" y="0"/>
                    </a:cubicBezTo>
                    <a:cubicBezTo>
                      <a:pt x="171174" y="27886"/>
                      <a:pt x="212311" y="42405"/>
                      <a:pt x="254352" y="40481"/>
                    </a:cubicBezTo>
                    <a:cubicBezTo>
                      <a:pt x="263510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469732" y="19248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696331" y="1748790"/>
              <a:ext cx="1157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Integrity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58943" y="2393632"/>
              <a:ext cx="2609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Core Mandate &amp; Scope: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67325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11724" y="2973229"/>
              <a:ext cx="3838575" cy="12224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Guards against improper modification</a:t>
              </a:r>
              <a:br/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or malicious destruction of data.</a:t>
              </a:r>
            </a:p>
            <a:p>
              <a:pPr marL="170561" indent="-170561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Ensures information is changed</a:t>
              </a:r>
              <a:br/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only in an authorized manner.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67325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11343" y="4584382"/>
              <a:ext cx="3107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Key Protection Mechanism: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11343" y="4965382"/>
              <a:ext cx="355815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Guarantees data and software</a:t>
              </a:r>
              <a:br/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are authentic, accurate, and free</a:t>
              </a:r>
              <a:br/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from unauthorized tampering.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864386" cy="874204"/>
            <a:chOff x="462534" y="375285"/>
            <a:chExt cx="5864386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590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CIA Triad: Availability and Complete Triad Synthesis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76250" y="1524000"/>
            <a:ext cx="9167283" cy="4857750"/>
            <a:chOff x="476250" y="1524000"/>
            <a:chExt cx="9167283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45331" y="1749425"/>
              <a:ext cx="242888" cy="215900"/>
              <a:chOff x="745331" y="1749425"/>
              <a:chExt cx="242888" cy="2159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45331" y="1749425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4" y="107950"/>
                      <a:pt x="202407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45331" y="1857375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4" y="107950"/>
                      <a:pt x="202407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99306" y="1803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99306" y="19113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33856" y="1748790"/>
              <a:ext cx="13859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Availability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" y="2393632"/>
              <a:ext cx="2609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Core Mandate &amp; Scope: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4850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8868" y="2965132"/>
              <a:ext cx="3799142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Ensures timely and reliable access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to and use of information.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Guarantees systems work promptly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without denial of service.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4850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8868" y="4584382"/>
              <a:ext cx="3107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Key Protection Mechanism: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8868" y="4965382"/>
              <a:ext cx="393534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Protects against server outages,</a:t>
              </a:r>
              <a:br/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network DoS floods, hardware faults,</a:t>
              </a:r>
              <a:br/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and resource exhaustion bottlenecks.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289596" y="1735931"/>
              <a:ext cx="263510" cy="242888"/>
              <a:chOff x="5289596" y="1735931"/>
              <a:chExt cx="263510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289596" y="1735931"/>
                <a:ext cx="263510" cy="240810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240810">
                    <a:moveTo>
                      <a:pt x="132368" y="240810"/>
                    </a:moveTo>
                    <a:cubicBezTo>
                      <a:pt x="47836" y="214607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5" y="0"/>
                    </a:cubicBezTo>
                    <a:cubicBezTo>
                      <a:pt x="171174" y="27886"/>
                      <a:pt x="212311" y="42405"/>
                      <a:pt x="254352" y="40481"/>
                    </a:cubicBezTo>
                    <a:cubicBezTo>
                      <a:pt x="263510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469732" y="19248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696331" y="1748790"/>
              <a:ext cx="1941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Triad Synthesis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8943" y="2393632"/>
              <a:ext cx="43845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Three Pillars of Information Security: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67325" y="2762250"/>
              <a:ext cx="3781425" cy="33337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11724" y="3020854"/>
              <a:ext cx="3903288" cy="261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8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1. Confidentiality (C):</a:t>
              </a:r>
              <a:br/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Keeping secrets secret.</a:t>
              </a:r>
            </a:p>
            <a:p>
              <a:pPr algn="l">
                <a:lnSpc>
                  <a:spcPts val="2250"/>
                </a:lnSpc>
                <a:spcBef>
                  <a:spcPts val="750"/>
                </a:spcBef>
              </a:pPr>
              <a:r>
                <a:rPr lang="en-US" sz="158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2. Integrity (I):</a:t>
              </a:r>
              <a:br/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Keeping info unaltered.</a:t>
              </a:r>
            </a:p>
            <a:p>
              <a:pPr algn="l">
                <a:lnSpc>
                  <a:spcPts val="2250"/>
                </a:lnSpc>
                <a:spcBef>
                  <a:spcPts val="750"/>
                </a:spcBef>
              </a:pPr>
              <a:r>
                <a:rPr lang="en-US" sz="158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3. Availability (A):</a:t>
              </a:r>
              <a:br/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Keeping systems accessible.</a:t>
              </a:r>
            </a:p>
            <a:p>
              <a:pPr algn="l">
                <a:lnSpc>
                  <a:spcPts val="2250"/>
                </a:lnSpc>
                <a:spcBef>
                  <a:spcPts val="900"/>
                </a:spcBef>
              </a:pPr>
              <a:r>
                <a:rPr lang="en-US" sz="158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Together, they form the cornerstone</a:t>
              </a:r>
              <a:br/>
              <a:r>
                <a:rPr lang="en-US" sz="158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of all security policy designs.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159469" cy="874204"/>
            <a:chOff x="462534" y="375285"/>
            <a:chExt cx="5159469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154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Other Goals: Accountability and Authenticity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476250" y="1524000"/>
            <a:ext cx="8880920" cy="4857750"/>
            <a:chOff x="476250" y="1524000"/>
            <a:chExt cx="888092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46006" y="1734047"/>
              <a:ext cx="248987" cy="254704"/>
              <a:chOff x="746006" y="1734047"/>
              <a:chExt cx="248987" cy="25470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66775" y="1803400"/>
                <a:ext cx="26988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80963">
                    <a:moveTo>
                      <a:pt x="0" y="0"/>
                    </a:moveTo>
                    <a:lnTo>
                      <a:pt x="0" y="53975"/>
                    </a:lnTo>
                    <a:lnTo>
                      <a:pt x="26988" y="80963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46006" y="1734047"/>
                <a:ext cx="248987" cy="254704"/>
              </a:xfrm>
              <a:custGeom>
                <a:avLst/>
                <a:gdLst/>
                <a:ahLst/>
                <a:cxnLst/>
                <a:rect l="l" t="t" r="r" b="b"/>
                <a:pathLst>
                  <a:path w="248987" h="254704">
                    <a:moveTo>
                      <a:pt x="0" y="109835"/>
                    </a:moveTo>
                    <a:cubicBezTo>
                      <a:pt x="6260" y="48377"/>
                      <a:pt x="57660" y="1411"/>
                      <a:pt x="119432" y="706"/>
                    </a:cubicBezTo>
                    <a:cubicBezTo>
                      <a:pt x="181204" y="0"/>
                      <a:pt x="233663" y="45779"/>
                      <a:pt x="241325" y="107078"/>
                    </a:cubicBezTo>
                    <a:cubicBezTo>
                      <a:pt x="248987" y="168377"/>
                      <a:pt x="209412" y="225661"/>
                      <a:pt x="149366" y="240183"/>
                    </a:cubicBezTo>
                    <a:cubicBezTo>
                      <a:pt x="89321" y="254704"/>
                      <a:pt x="27943" y="221836"/>
                      <a:pt x="6747" y="163810"/>
                    </a:cubicBezTo>
                    <a:moveTo>
                      <a:pt x="0" y="231279"/>
                    </a:moveTo>
                    <a:lnTo>
                      <a:pt x="0" y="163810"/>
                    </a:lnTo>
                    <a:lnTo>
                      <a:pt x="67469" y="16381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33856" y="1748790"/>
              <a:ext cx="17937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Accountability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6468" y="2393632"/>
              <a:ext cx="30732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Core Mandate &amp; Definition: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04850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8868" y="2965132"/>
              <a:ext cx="3851529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Actions of an entity must be traced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uniquely to that specific entity.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Guarantees non-repudiation and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verifiable audit trail enforcement.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4850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8868" y="4584382"/>
              <a:ext cx="33385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Key Operational Capabilities: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8868" y="4965382"/>
              <a:ext cx="4113466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555555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Deterrence of malicious behavior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555555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Precise fault &amp; intrusion isolation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555555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Forensic investigation &amp; legal evidence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348288" y="1735931"/>
              <a:ext cx="202407" cy="242889"/>
              <a:chOff x="5348288" y="1735931"/>
              <a:chExt cx="202407" cy="24288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375275" y="17359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348288" y="1897857"/>
                <a:ext cx="107950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469732" y="19248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696331" y="1748790"/>
              <a:ext cx="15776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Authenticity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58943" y="2393632"/>
              <a:ext cx="30732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Core Mandate &amp; Definition: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67325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11724" y="2973229"/>
              <a:ext cx="3928872" cy="12224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Property of being genuine, verifiable,</a:t>
              </a:r>
              <a:br/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 genuinely trustworthy.</a:t>
              </a:r>
            </a:p>
            <a:p>
              <a:pPr marL="170561" indent="-170561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Complete confidence in the validity</a:t>
              </a:r>
              <a:br/>
              <a:r>
                <a:rPr lang="en-US" sz="158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of transmissions and identities.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67325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11343" y="4584382"/>
              <a:ext cx="33385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Key Operational Capabilities: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11343" y="4965382"/>
              <a:ext cx="3945827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555555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Reliable identity verification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555555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Digital signature authentication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555555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Defense against masquerade attacks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307040" cy="874204"/>
            <a:chOff x="462534" y="375285"/>
            <a:chExt cx="6307040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3017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Other Goals: Reliability and Extended Trust Framework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4238625" cy="238125"/>
            </a:xfrm>
            <a:prstGeom prst="rect">
              <a:avLst/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39712" y="1735931"/>
              <a:ext cx="254127" cy="242888"/>
            </a:xfrm>
            <a:custGeom>
              <a:avLst/>
              <a:gdLst/>
              <a:ahLst/>
              <a:cxnLst/>
              <a:rect l="l" t="t" r="r" b="b"/>
              <a:pathLst>
                <a:path w="254127" h="242888">
                  <a:moveTo>
                    <a:pt x="127063" y="0"/>
                  </a:moveTo>
                  <a:cubicBezTo>
                    <a:pt x="158583" y="27886"/>
                    <a:pt x="199720" y="42405"/>
                    <a:pt x="241761" y="40481"/>
                  </a:cubicBezTo>
                  <a:cubicBezTo>
                    <a:pt x="254127" y="82549"/>
                    <a:pt x="248904" y="127833"/>
                    <a:pt x="227287" y="165981"/>
                  </a:cubicBezTo>
                  <a:cubicBezTo>
                    <a:pt x="205670" y="204129"/>
                    <a:pt x="169506" y="231879"/>
                    <a:pt x="127063" y="242888"/>
                  </a:cubicBezTo>
                  <a:cubicBezTo>
                    <a:pt x="84621" y="231879"/>
                    <a:pt x="48457" y="204129"/>
                    <a:pt x="26840" y="165981"/>
                  </a:cubicBezTo>
                  <a:cubicBezTo>
                    <a:pt x="5222" y="127833"/>
                    <a:pt x="0" y="82549"/>
                    <a:pt x="12366" y="40481"/>
                  </a:cubicBezTo>
                  <a:cubicBezTo>
                    <a:pt x="54407" y="42405"/>
                    <a:pt x="95544" y="27886"/>
                    <a:pt x="127063" y="0"/>
                  </a:cubicBezTo>
                </a:path>
              </a:pathLst>
            </a:custGeom>
            <a:noFill/>
            <a:ln w="26988">
              <a:solidFill>
                <a:srgbClr val="F4B40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3856" y="1748790"/>
              <a:ext cx="12458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Reliability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6468" y="2393632"/>
              <a:ext cx="30732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Core Mandate &amp; Definition: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4850" y="2762250"/>
              <a:ext cx="378142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8868" y="2965132"/>
              <a:ext cx="4113466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Ensures system performs its intended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function in an unimpaired manner.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Guarantees consistent operations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free from accidental failures.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04850" y="4381500"/>
              <a:ext cx="378142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8868" y="4584382"/>
              <a:ext cx="33385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Key Operational Capabilities: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8868" y="4965382"/>
              <a:ext cx="412394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555555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Systematic IT security management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555555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High-availability operational resilience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555555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Fault-tolerant system engineering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5038725" y="1524000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38725" y="1952625"/>
              <a:ext cx="4238625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321300" y="1749425"/>
              <a:ext cx="215900" cy="215900"/>
              <a:chOff x="5321300" y="1749425"/>
              <a:chExt cx="215900" cy="2159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375275" y="1749425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321300" y="180340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696331" y="1748790"/>
              <a:ext cx="27778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Extended Goals Matrix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58943" y="2393632"/>
              <a:ext cx="2920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Complete Security Model: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67325" y="2762250"/>
              <a:ext cx="3781425" cy="33337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11343" y="3012758"/>
              <a:ext cx="3285744" cy="2551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2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Confidentiality: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Authorized disclosure control</a:t>
              </a:r>
            </a:p>
            <a:p>
              <a:pPr marL="187023" indent="-187023" algn="l">
                <a:lnSpc>
                  <a:spcPts val="2250"/>
                </a:lnSpc>
                <a:spcBef>
                  <a:spcPts val="600"/>
                </a:spcBef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Integrity: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Data &amp; system authenticity</a:t>
              </a:r>
            </a:p>
            <a:p>
              <a:pPr marL="187023" indent="-187023" algn="l">
                <a:lnSpc>
                  <a:spcPts val="2250"/>
                </a:lnSpc>
                <a:spcBef>
                  <a:spcPts val="600"/>
                </a:spcBef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Availability: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Timely and usable access</a:t>
              </a:r>
            </a:p>
            <a:p>
              <a:pPr marL="187023" indent="-187023" algn="l">
                <a:lnSpc>
                  <a:spcPts val="2250"/>
                </a:lnSpc>
                <a:spcBef>
                  <a:spcPts val="600"/>
                </a:spcBef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Accountability &amp; Reliability: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Traceability &amp; operational trust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426755" cy="874204"/>
            <a:chOff x="462534" y="375285"/>
            <a:chExt cx="6426755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421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Example: Alice’s Market (AM) Case Study (CIA Analysis)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476250" y="1428750"/>
            <a:ext cx="8801100" cy="4953000"/>
            <a:chOff x="476250" y="1428750"/>
            <a:chExt cx="8801100" cy="4953000"/>
          </a:xfrm>
        </p:grpSpPr>
        <p:sp>
          <p:nvSpPr>
            <p:cNvPr id="7" name="Rectangle 7"/>
            <p:cNvSpPr/>
            <p:nvPr/>
          </p:nvSpPr>
          <p:spPr>
            <a:xfrm>
              <a:off x="476250" y="1428750"/>
              <a:ext cx="3905250" cy="4953000"/>
            </a:xfrm>
            <a:prstGeom prst="roundRect">
              <a:avLst>
                <a:gd name="adj" fmla="val 4878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428750"/>
              <a:ext cx="3905250" cy="571500"/>
            </a:xfrm>
            <a:prstGeom prst="roundRect">
              <a:avLst>
                <a:gd name="adj" fmla="val 33333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809750"/>
              <a:ext cx="3905250" cy="190500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00088" y="1629960"/>
              <a:ext cx="209550" cy="162329"/>
              <a:chOff x="700088" y="1629960"/>
              <a:chExt cx="209550" cy="16232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00088" y="1774423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00088" y="1629960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0088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0100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00113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1628775"/>
              <a:ext cx="2231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E-Commerce Scenario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6468" y="2203132"/>
              <a:ext cx="3196685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Alice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launches an online store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called </a:t>
              </a:r>
              <a:r>
                <a:rPr lang="en-US" sz="1650" b="1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“Alice’s Market (AM).”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" y="2857500"/>
              <a:ext cx="3524250" cy="166687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1243" y="3012758"/>
              <a:ext cx="4441936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Bob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creates account to buy T-shirt.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Enters </a:t>
              </a:r>
              <a:r>
                <a:rPr lang="en-US" sz="1650" b="1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credit card number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for payment.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Trudy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seeks attack opportunities.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" y="4714875"/>
              <a:ext cx="3524250" cy="1476375"/>
            </a:xfrm>
            <a:prstGeom prst="roundRect">
              <a:avLst>
                <a:gd name="adj" fmla="val 9032"/>
              </a:avLst>
            </a:prstGeom>
            <a:solidFill>
              <a:srgbClr val="6B141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32424" y="4937138"/>
              <a:ext cx="240143" cy="206314"/>
              <a:chOff x="832424" y="4937138"/>
              <a:chExt cx="240143" cy="20631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952500" y="5012531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2424" y="4937138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52500" y="5095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rgbClr val="F4B40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182243" y="4946332"/>
              <a:ext cx="17707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Trudy's Threat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1243" y="5346382"/>
              <a:ext cx="3715322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May steal Bob’s payment info, alter</a:t>
              </a:r>
              <a:br/>
              <a:r>
                <a:rPr lang="en-US" sz="16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order items, or take the site down.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4667250" y="1428750"/>
              <a:ext cx="4610100" cy="4953000"/>
              <a:chOff x="4667250" y="1428750"/>
              <a:chExt cx="4610100" cy="4953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667250" y="14287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857750" y="16192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5008563" y="1747838"/>
                <a:ext cx="155575" cy="200025"/>
                <a:chOff x="5008563" y="1747838"/>
                <a:chExt cx="155575" cy="20002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5008563" y="1836738"/>
                  <a:ext cx="15557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111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33350" y="0"/>
                      </a:lnTo>
                      <a:cubicBezTo>
                        <a:pt x="145625" y="0"/>
                        <a:pt x="155575" y="9950"/>
                        <a:pt x="155575" y="22225"/>
                      </a:cubicBezTo>
                      <a:lnTo>
                        <a:pt x="155575" y="88900"/>
                      </a:lnTo>
                      <a:cubicBezTo>
                        <a:pt x="155575" y="101175"/>
                        <a:pt x="145625" y="111125"/>
                        <a:pt x="133350" y="111125"/>
                      </a:cubicBezTo>
                      <a:lnTo>
                        <a:pt x="22225" y="111125"/>
                      </a:lnTo>
                      <a:cubicBezTo>
                        <a:pt x="9950" y="111125"/>
                        <a:pt x="0" y="101175"/>
                        <a:pt x="0" y="889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5075238" y="1881188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3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3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3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041900" y="1747838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88900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8890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5420106" y="1729740"/>
                <a:ext cx="1869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Confidentiality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420868" y="2155508"/>
                <a:ext cx="3799142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Only authorized parties can access</a:t>
                </a:r>
                <a:br/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Bob’s personal and credit card data.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667250" y="31432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857750" y="33337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4971341" y="3462338"/>
                <a:ext cx="217008" cy="200025"/>
                <a:chOff x="4971341" y="3462338"/>
                <a:chExt cx="217008" cy="200025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4971341" y="3462338"/>
                  <a:ext cx="217008" cy="198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008" h="198314">
                      <a:moveTo>
                        <a:pt x="109009" y="198314"/>
                      </a:moveTo>
                      <a:cubicBezTo>
                        <a:pt x="39394" y="176735"/>
                        <a:pt x="0" y="103262"/>
                        <a:pt x="20553" y="33338"/>
                      </a:cubicBezTo>
                      <a:cubicBezTo>
                        <a:pt x="55175" y="34922"/>
                        <a:pt x="89053" y="22965"/>
                        <a:pt x="115010" y="0"/>
                      </a:cubicBezTo>
                      <a:cubicBezTo>
                        <a:pt x="140967" y="22965"/>
                        <a:pt x="174845" y="34922"/>
                        <a:pt x="209466" y="33338"/>
                      </a:cubicBezTo>
                      <a:cubicBezTo>
                        <a:pt x="217008" y="58998"/>
                        <a:pt x="216660" y="86333"/>
                        <a:pt x="208466" y="111792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119688" y="36179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5420106" y="3444240"/>
                <a:ext cx="1157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Integrity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420868" y="3870008"/>
                <a:ext cx="380961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Bob’s order and billing details remain</a:t>
                </a:r>
                <a:br/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accurate and completely unaltered.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4667250" y="48577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4857750" y="50482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4986338" y="5187950"/>
                <a:ext cx="200026" cy="177800"/>
                <a:chOff x="4986338" y="5187950"/>
                <a:chExt cx="200026" cy="1778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4986338" y="51879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4986338" y="52768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5030788" y="5232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5030788" y="532130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5420106" y="5158740"/>
                <a:ext cx="13859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Availability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420868" y="5584508"/>
                <a:ext cx="313905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Alice’s Market remains online,</a:t>
                </a:r>
                <a:br/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responsive, and usable 24/7.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5808249" cy="874204"/>
            <a:chOff x="462534" y="375285"/>
            <a:chExt cx="5808249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02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Example: Alice’s Market (Extended Goals Analysis)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76250" y="1428750"/>
            <a:ext cx="8848534" cy="4953000"/>
            <a:chOff x="476250" y="1428750"/>
            <a:chExt cx="8848534" cy="4953000"/>
          </a:xfrm>
        </p:grpSpPr>
        <p:sp>
          <p:nvSpPr>
            <p:cNvPr id="7" name="Rectangle 7"/>
            <p:cNvSpPr/>
            <p:nvPr/>
          </p:nvSpPr>
          <p:spPr>
            <a:xfrm>
              <a:off x="476250" y="1428750"/>
              <a:ext cx="3905250" cy="4953000"/>
            </a:xfrm>
            <a:prstGeom prst="roundRect">
              <a:avLst>
                <a:gd name="adj" fmla="val 4878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428750"/>
              <a:ext cx="3905250" cy="571500"/>
            </a:xfrm>
            <a:prstGeom prst="roundRect">
              <a:avLst>
                <a:gd name="adj" fmla="val 33333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809750"/>
              <a:ext cx="3905250" cy="190500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00088" y="1629960"/>
              <a:ext cx="209550" cy="162329"/>
              <a:chOff x="700088" y="1629960"/>
              <a:chExt cx="209550" cy="16232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00088" y="1774423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00088" y="1629960"/>
                <a:ext cx="200026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866">
                    <a:moveTo>
                      <a:pt x="0" y="17866"/>
                    </a:moveTo>
                    <a:cubicBezTo>
                      <a:pt x="30944" y="0"/>
                      <a:pt x="69069" y="0"/>
                      <a:pt x="100013" y="17866"/>
                    </a:cubicBezTo>
                    <a:cubicBezTo>
                      <a:pt x="130957" y="0"/>
                      <a:pt x="169082" y="0"/>
                      <a:pt x="200026" y="17866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0088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0100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00113" y="1647825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1628775"/>
              <a:ext cx="1851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Extended Analysis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6468" y="2203132"/>
              <a:ext cx="3460194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Beyond basic CIA protection,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e-commerce platforms mandate</a:t>
              </a:r>
              <a:br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strict verification &amp; resilience.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" y="3429000"/>
              <a:ext cx="3524250" cy="2667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42963" y="3652838"/>
              <a:ext cx="200026" cy="200026"/>
              <a:chOff x="842963" y="3652838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31863" y="37417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87413" y="369728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2963" y="3652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4A0005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183005" y="3648075"/>
              <a:ext cx="2360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Business Requirements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1243" y="4060508"/>
              <a:ext cx="3652457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Non-repudiation of transactions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Impersonation defense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Consistent checkout performance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Unbroken transactional trust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4667250" y="1428750"/>
              <a:ext cx="4657534" cy="4953000"/>
              <a:chOff x="4667250" y="1428750"/>
              <a:chExt cx="4657534" cy="4953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667250" y="14287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4857750" y="16192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4986893" y="1746286"/>
                <a:ext cx="205049" cy="209757"/>
                <a:chOff x="4986893" y="1746286"/>
                <a:chExt cx="205049" cy="209757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5086350" y="1803400"/>
                  <a:ext cx="222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66675">
                      <a:moveTo>
                        <a:pt x="0" y="0"/>
                      </a:moveTo>
                      <a:lnTo>
                        <a:pt x="0" y="44450"/>
                      </a:lnTo>
                      <a:lnTo>
                        <a:pt x="22225" y="66675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986893" y="1746286"/>
                  <a:ext cx="205049" cy="209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49" h="209757">
                      <a:moveTo>
                        <a:pt x="0" y="90452"/>
                      </a:moveTo>
                      <a:cubicBezTo>
                        <a:pt x="5156" y="39840"/>
                        <a:pt x="47484" y="1162"/>
                        <a:pt x="98356" y="581"/>
                      </a:cubicBezTo>
                      <a:cubicBezTo>
                        <a:pt x="149227" y="0"/>
                        <a:pt x="192428" y="37701"/>
                        <a:pt x="198738" y="88182"/>
                      </a:cubicBezTo>
                      <a:cubicBezTo>
                        <a:pt x="205049" y="138664"/>
                        <a:pt x="172457" y="185839"/>
                        <a:pt x="123008" y="197798"/>
                      </a:cubicBezTo>
                      <a:cubicBezTo>
                        <a:pt x="73559" y="209757"/>
                        <a:pt x="23012" y="182689"/>
                        <a:pt x="5556" y="134902"/>
                      </a:cubicBezTo>
                      <a:moveTo>
                        <a:pt x="0" y="190465"/>
                      </a:moveTo>
                      <a:lnTo>
                        <a:pt x="0" y="134902"/>
                      </a:lnTo>
                      <a:lnTo>
                        <a:pt x="55563" y="134902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5420106" y="1729740"/>
                <a:ext cx="17937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Accountability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420868" y="2155508"/>
                <a:ext cx="3504200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Every order and login is logged,</a:t>
                </a:r>
                <a:br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uniquely traced to Bob or Trudy.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667250" y="31432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4857750" y="33337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5019675" y="3462338"/>
                <a:ext cx="166688" cy="200025"/>
                <a:chOff x="5019675" y="3462338"/>
                <a:chExt cx="166688" cy="200025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5041900" y="3462338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5019675" y="3595688"/>
                  <a:ext cx="889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5119688" y="36179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5420106" y="3444240"/>
                <a:ext cx="15776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Authenticity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420868" y="3870008"/>
                <a:ext cx="3903916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Alice's Market verifies the purchaser</a:t>
                </a:r>
                <a:br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is genuinely Bob and not Trudy.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4667250" y="4857750"/>
                <a:ext cx="46101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4857750" y="50482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981710" y="5176838"/>
                <a:ext cx="20928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9281" h="200026">
                    <a:moveTo>
                      <a:pt x="104641" y="0"/>
                    </a:moveTo>
                    <a:cubicBezTo>
                      <a:pt x="130598" y="22965"/>
                      <a:pt x="164476" y="34922"/>
                      <a:pt x="199097" y="33338"/>
                    </a:cubicBezTo>
                    <a:cubicBezTo>
                      <a:pt x="209281" y="67981"/>
                      <a:pt x="204980" y="105274"/>
                      <a:pt x="187178" y="136690"/>
                    </a:cubicBezTo>
                    <a:cubicBezTo>
                      <a:pt x="169375" y="168106"/>
                      <a:pt x="139593" y="190959"/>
                      <a:pt x="104641" y="200026"/>
                    </a:cubicBezTo>
                    <a:cubicBezTo>
                      <a:pt x="69688" y="190959"/>
                      <a:pt x="39906" y="168106"/>
                      <a:pt x="22103" y="136690"/>
                    </a:cubicBezTo>
                    <a:cubicBezTo>
                      <a:pt x="4301" y="105274"/>
                      <a:pt x="0" y="67981"/>
                      <a:pt x="10184" y="33338"/>
                    </a:cubicBezTo>
                    <a:cubicBezTo>
                      <a:pt x="44805" y="34922"/>
                      <a:pt x="78684" y="22965"/>
                      <a:pt x="104641" y="0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420106" y="5158740"/>
                <a:ext cx="124584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Reliability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420868" y="5584508"/>
                <a:ext cx="377923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Transactions execute correctly</a:t>
                </a:r>
                <a:br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without accidental system failure.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/mnt/data/a_sleek_high_resolution_abstract_cybersecurity_te.png">
            <a:extLst>
              <a:ext uri="{FF2B5EF4-FFF2-40B4-BE49-F238E27FC236}">
                <a16:creationId xmlns:a16="http://schemas.microsoft.com/office/drawing/2014/main" id="{EB3167FE-A604-4388-95EF-F7FD5D47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1"/>
          <a:stretch/>
        </p:blipFill>
        <p:spPr>
          <a:xfrm>
            <a:off x="1" y="0"/>
            <a:ext cx="12198468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762000" y="762000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74831" y="870585"/>
            <a:ext cx="6125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4A0005"/>
                </a:solidFill>
                <a:latin typeface="Arial"/>
                <a:ea typeface="Arial"/>
                <a:cs typeface="Arial"/>
              </a:rPr>
              <a:t>UNIT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380635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spc="150" dirty="0">
                <a:solidFill>
                  <a:srgbClr val="F4B400"/>
                </a:solidFill>
                <a:latin typeface="Arial"/>
                <a:ea typeface="Arial"/>
                <a:cs typeface="Arial"/>
              </a:rPr>
              <a:t>WEEK 01 · SYSTEM MODELING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4474" y="2723198"/>
            <a:ext cx="4792979" cy="10432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45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Security Concepts and</a:t>
            </a:r>
            <a:br>
              <a:rPr>
                <a:solidFill>
                  <a:schemeClr val="bg1"/>
                </a:solidFill>
              </a:rPr>
            </a:br>
            <a:r>
              <a:rPr lang="en-US" sz="345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Threat Analysis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952875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4234815"/>
            <a:ext cx="78648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Entity Relationships, Attack Surfaces, and Attack Trees Modeling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4762500"/>
            <a:ext cx="8838115" cy="1238250"/>
            <a:chOff x="762000" y="4762500"/>
            <a:chExt cx="8838115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762500"/>
              <a:ext cx="3810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031081" y="4993481"/>
              <a:ext cx="242888" cy="242888"/>
              <a:chOff x="1031081" y="4993481"/>
              <a:chExt cx="242888" cy="2428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25538" y="4993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31081" y="51823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19994" y="51823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8310" y="5128419"/>
                <a:ext cx="148432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60722">
                    <a:moveTo>
                      <a:pt x="0" y="60722"/>
                    </a:moveTo>
                    <a:lnTo>
                      <a:pt x="74216" y="0"/>
                    </a:lnTo>
                    <a:lnTo>
                      <a:pt x="148432" y="60722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52525" y="5047456"/>
                <a:ext cx="95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3">
                    <a:moveTo>
                      <a:pt x="0" y="0"/>
                    </a:moveTo>
                    <a:lnTo>
                      <a:pt x="0" y="80963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420368" y="5003482"/>
              <a:ext cx="28188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Concepts &amp; Relationships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504" y="5442585"/>
              <a:ext cx="4264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Assets, Threats, Vulnerabilities, Risk, and Controls.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53000" y="4762500"/>
              <a:ext cx="3810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262563" y="5020469"/>
              <a:ext cx="161925" cy="188913"/>
              <a:chOff x="5262563" y="5020469"/>
              <a:chExt cx="161925" cy="1889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16538" y="5020469"/>
                <a:ext cx="10795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88913">
                    <a:moveTo>
                      <a:pt x="13494" y="67469"/>
                    </a:moveTo>
                    <a:lnTo>
                      <a:pt x="13494" y="0"/>
                    </a:lnTo>
                    <a:lnTo>
                      <a:pt x="0" y="0"/>
                    </a:lnTo>
                    <a:moveTo>
                      <a:pt x="107950" y="188913"/>
                    </a:moveTo>
                    <a:lnTo>
                      <a:pt x="107950" y="121444"/>
                    </a:lnTo>
                    <a:lnTo>
                      <a:pt x="94456" y="121444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84007" y="5020469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316538" y="5141913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2563" y="5087938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135" y="0"/>
                    </a:lnTo>
                    <a:moveTo>
                      <a:pt x="0" y="121444"/>
                    </a:moveTo>
                    <a:lnTo>
                      <a:pt x="135" y="121444"/>
                    </a:lnTo>
                  </a:path>
                </a:pathLst>
              </a:custGeom>
              <a:noFill/>
              <a:ln w="26988">
                <a:solidFill>
                  <a:srgbClr val="4A0005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611368" y="5003482"/>
              <a:ext cx="2816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Surfaces &amp; Attack Trees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75504" y="5442585"/>
              <a:ext cx="4424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Reachable vectors, tree structures, and AND/OR logic.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7174783" cy="874204"/>
            <a:chOff x="462534" y="375285"/>
            <a:chExt cx="717478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71747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Concepts and Threat Analysis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3592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This unit helps you understand: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8097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35831" y="1983581"/>
              <a:ext cx="242888" cy="242888"/>
              <a:chOff x="935831" y="1983581"/>
              <a:chExt cx="242888" cy="2428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30288" y="19835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5831" y="21724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24744" y="21724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83060" y="2118519"/>
                <a:ext cx="148432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60722">
                    <a:moveTo>
                      <a:pt x="0" y="60722"/>
                    </a:moveTo>
                    <a:lnTo>
                      <a:pt x="74216" y="0"/>
                    </a:lnTo>
                    <a:lnTo>
                      <a:pt x="148432" y="60722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57275" y="2037556"/>
                <a:ext cx="95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3">
                    <a:moveTo>
                      <a:pt x="0" y="0"/>
                    </a:moveTo>
                    <a:lnTo>
                      <a:pt x="0" y="80963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52094" y="2551748"/>
              <a:ext cx="2321100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Concepts</a:t>
              </a:r>
              <a:br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&amp; Relationships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238500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3618" y="3584258"/>
              <a:ext cx="3118104" cy="2265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Core Definitions: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Asset, Threat, Vulnerability,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Attack, and Control.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9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Interaction Dynamics: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Owners minimize Risk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Threats exploit Vulnerabilities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Countermeasures reduce Risk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38725" y="1524000"/>
              <a:ext cx="4238625" cy="4857750"/>
            </a:xfrm>
            <a:prstGeom prst="roundRect">
              <a:avLst>
                <a:gd name="adj" fmla="val 449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5324475" y="18097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538788" y="2010569"/>
              <a:ext cx="161925" cy="188913"/>
              <a:chOff x="5538788" y="2010569"/>
              <a:chExt cx="161925" cy="1889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592763" y="2010569"/>
                <a:ext cx="10795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88913">
                    <a:moveTo>
                      <a:pt x="13494" y="67469"/>
                    </a:moveTo>
                    <a:lnTo>
                      <a:pt x="13494" y="0"/>
                    </a:lnTo>
                    <a:lnTo>
                      <a:pt x="0" y="0"/>
                    </a:lnTo>
                    <a:moveTo>
                      <a:pt x="107950" y="188913"/>
                    </a:moveTo>
                    <a:lnTo>
                      <a:pt x="107950" y="121444"/>
                    </a:lnTo>
                    <a:lnTo>
                      <a:pt x="94456" y="121444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660232" y="2010569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592763" y="2132013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538788" y="2078038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135" y="0"/>
                    </a:lnTo>
                    <a:moveTo>
                      <a:pt x="0" y="121444"/>
                    </a:moveTo>
                    <a:lnTo>
                      <a:pt x="135" y="121444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314569" y="2551748"/>
              <a:ext cx="2100072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</a:t>
              </a:r>
              <a:br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&amp; Attack Trees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24475" y="3238500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16093" y="3584258"/>
              <a:ext cx="3212402" cy="1961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3 Attack Surface Types: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Network, Software, and Human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9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Attack Tree Modeling (1999):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Root Goals, Sub-Goals, Leaves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AND-Decomposition Logic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OR-Decomposition Logic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741709" cy="874204"/>
            <a:chOff x="462534" y="375285"/>
            <a:chExt cx="6741709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7417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Concepts and Relationships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625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Five Core Building Blocks of Information Security (Part 1)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76250" y="1524000"/>
            <a:ext cx="8875395" cy="4857750"/>
            <a:chOff x="476250" y="1524000"/>
            <a:chExt cx="8875395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666750" y="1714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53172" y="1841182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Asset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35505" y="1781175"/>
              <a:ext cx="7187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 system resource or capability of value to an owner requiring protection.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Includes computer hardware, software apps, data records, and networks.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76250" y="32385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666750" y="34290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9034" y="355568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Threat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35505" y="3495675"/>
              <a:ext cx="7187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Potential for a threat actor to exploit a vulnerability and breach security.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Any circumstance capable of adversely impacting organization operations.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76250" y="4953000"/>
              <a:ext cx="8801100" cy="1428750"/>
            </a:xfrm>
            <a:prstGeom prst="roundRect">
              <a:avLst>
                <a:gd name="adj" fmla="val 12000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666750" y="5143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435" y="5286375"/>
              <a:ext cx="13248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Vulnerability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35505" y="5210175"/>
              <a:ext cx="7216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 flaw or weakness in system design, implementation, or internal controls.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Leaves a system susceptible to exploitation, disruption, or data theft.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741709" cy="874204"/>
            <a:chOff x="462534" y="375285"/>
            <a:chExt cx="6741709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7417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Concepts and Relationships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625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Five Core Building Blocks of Information Security (Part 2)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76250" y="1524000"/>
            <a:ext cx="8884920" cy="4667250"/>
            <a:chOff x="476250" y="1524000"/>
            <a:chExt cx="8884920" cy="46672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8801100" cy="2190750"/>
            </a:xfrm>
            <a:prstGeom prst="roundRect">
              <a:avLst>
                <a:gd name="adj" fmla="val 869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04850" y="1752600"/>
              <a:ext cx="1333500" cy="533400"/>
            </a:xfrm>
            <a:prstGeom prst="roundRect">
              <a:avLst>
                <a:gd name="adj" fmla="val 21429"/>
              </a:avLst>
            </a:prstGeom>
            <a:solidFill>
              <a:srgbClr val="6B141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8683" y="1891665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Attack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76856" y="1882140"/>
              <a:ext cx="3589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Deliberate Security Violation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78380" y="2362200"/>
              <a:ext cx="7082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 malicious threat action carried out that results in a security violation.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Represents active or passive attempts from inside or outside adversaries</a:t>
              </a:r>
              <a:br/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to disrupt, alter, or steal organizational system resources.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" y="4000500"/>
              <a:ext cx="8801100" cy="2190750"/>
            </a:xfrm>
            <a:prstGeom prst="roundRect">
              <a:avLst>
                <a:gd name="adj" fmla="val 8696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04850" y="4229100"/>
              <a:ext cx="1333500" cy="533400"/>
            </a:xfrm>
            <a:prstGeom prst="roundRect">
              <a:avLst>
                <a:gd name="adj" fmla="val 21429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0775" y="4368165"/>
              <a:ext cx="9416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Control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76856" y="4358640"/>
              <a:ext cx="4980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Countermeasures &amp; Defense Mechanisms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78380" y="4838700"/>
              <a:ext cx="6739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Actions, devices, procedures, or techniques that reduce overall risk.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Eliminates vulnerabilities or minimizes impacts of potential violations.</a:t>
              </a:r>
            </a:p>
            <a:p>
              <a:pPr marL="161925" indent="-161925" algn="l">
                <a:lnSpc>
                  <a:spcPts val="225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Encompasses technical, operational, and managerial safeguards.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741709" cy="1140904"/>
            <a:chOff x="462534" y="375285"/>
            <a:chExt cx="6741709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7417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Security Concepts and Relationships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14489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Relationships Among Assets, Threats, Vulnerabilities,</a:t>
              </a:r>
              <a:br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Risk, and Countermeasures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8801100" cy="4857750"/>
            </a:xfrm>
            <a:prstGeom prst="roundRect">
              <a:avLst>
                <a:gd name="adj" fmla="val 3922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grpSp>
          <p:nvGrpSpPr>
            <p:cNvPr id="14" name="Group 14"/>
            <p:cNvGrpSpPr/>
            <p:nvPr/>
          </p:nvGrpSpPr>
          <p:grpSpPr>
            <a:xfrm>
              <a:off x="1047750" y="1905000"/>
              <a:ext cx="2095500" cy="762000"/>
              <a:chOff x="1047750" y="1905000"/>
              <a:chExt cx="2095500" cy="762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047750" y="1905000"/>
                <a:ext cx="20955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314450" y="2171700"/>
                <a:ext cx="190500" cy="228600"/>
                <a:chOff x="1314450" y="2171700"/>
                <a:chExt cx="190500" cy="22860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339850" y="217170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25400">
                  <a:solidFill>
                    <a:srgbClr val="F4B400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314450" y="2324100"/>
                  <a:ext cx="1016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</a:path>
                  </a:pathLst>
                </a:custGeom>
                <a:noFill/>
                <a:ln w="25400">
                  <a:solidFill>
                    <a:srgbClr val="F4B400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428750" y="234949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rgbClr val="F4B400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657731" y="2167890"/>
                <a:ext cx="9685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Owners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610350" y="1905000"/>
              <a:ext cx="2392129" cy="762000"/>
              <a:chOff x="6610350" y="1905000"/>
              <a:chExt cx="2392129" cy="762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610350" y="1905000"/>
                <a:ext cx="20955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6B141B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877050" y="2171700"/>
                <a:ext cx="203199" cy="241299"/>
                <a:chOff x="6877050" y="2171700"/>
                <a:chExt cx="203199" cy="241299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6902450" y="217170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25400">
                  <a:solidFill>
                    <a:srgbClr val="F4B40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6877050" y="2324100"/>
                  <a:ext cx="952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25400">
                  <a:solidFill>
                    <a:srgbClr val="F4B400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016749" y="2349499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63500" y="635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F4B400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016749" y="2349499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63500"/>
                      </a:moveTo>
                      <a:lnTo>
                        <a:pt x="63500" y="0"/>
                      </a:lnTo>
                    </a:path>
                  </a:pathLst>
                </a:custGeom>
                <a:noFill/>
                <a:ln w="25400">
                  <a:solidFill>
                    <a:srgbClr val="F4B400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7220331" y="2167890"/>
                <a:ext cx="17821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Threat agents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924300" y="3333750"/>
              <a:ext cx="1905000" cy="857250"/>
              <a:chOff x="3924300" y="3333750"/>
              <a:chExt cx="1905000" cy="857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924300" y="3333750"/>
                <a:ext cx="1905000" cy="857250"/>
              </a:xfrm>
              <a:prstGeom prst="roundRect">
                <a:avLst>
                  <a:gd name="adj" fmla="val 17778"/>
                </a:avLst>
              </a:prstGeom>
              <a:solidFill>
                <a:srgbClr val="4A0005"/>
              </a:solidFill>
              <a:ln w="19050">
                <a:solidFill>
                  <a:srgbClr val="F4B400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4168775" y="3640931"/>
                <a:ext cx="215901" cy="242888"/>
                <a:chOff x="4168775" y="3640931"/>
                <a:chExt cx="215901" cy="242888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4168775" y="3640931"/>
                  <a:ext cx="215901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80963">
                      <a:moveTo>
                        <a:pt x="0" y="40481"/>
                      </a:moveTo>
                      <a:cubicBezTo>
                        <a:pt x="0" y="62839"/>
                        <a:pt x="48331" y="80963"/>
                        <a:pt x="107950" y="80963"/>
                      </a:cubicBezTo>
                      <a:cubicBezTo>
                        <a:pt x="167570" y="80963"/>
                        <a:pt x="215901" y="62839"/>
                        <a:pt x="215901" y="40481"/>
                      </a:cubicBezTo>
                      <a:cubicBezTo>
                        <a:pt x="215901" y="18124"/>
                        <a:pt x="167570" y="0"/>
                        <a:pt x="107950" y="0"/>
                      </a:cubicBezTo>
                      <a:cubicBezTo>
                        <a:pt x="48331" y="0"/>
                        <a:pt x="0" y="18124"/>
                        <a:pt x="0" y="40481"/>
                      </a:cubicBezTo>
                    </a:path>
                  </a:pathLst>
                </a:custGeom>
                <a:noFill/>
                <a:ln w="26988">
                  <a:solidFill>
                    <a:srgbClr val="F4B40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168775" y="3681413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rgbClr val="F4B40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168775" y="3762375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0"/>
                      </a:moveTo>
                      <a:lnTo>
                        <a:pt x="0" y="80963"/>
                      </a:lnTo>
                      <a:cubicBezTo>
                        <a:pt x="0" y="103320"/>
                        <a:pt x="48331" y="121444"/>
                        <a:pt x="107950" y="121444"/>
                      </a:cubicBezTo>
                      <a:cubicBezTo>
                        <a:pt x="167570" y="121444"/>
                        <a:pt x="215901" y="103320"/>
                        <a:pt x="215901" y="80963"/>
                      </a:cubicBez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rgbClr val="F4B400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533519" y="3647122"/>
                <a:ext cx="78638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Asset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047750" y="3429000"/>
              <a:ext cx="2329880" cy="666750"/>
              <a:chOff x="1047750" y="3429000"/>
              <a:chExt cx="2329880" cy="666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047750" y="3429000"/>
                <a:ext cx="2095500" cy="666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19050">
                <a:solidFill>
                  <a:srgbClr val="4A0005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1211586" y="3638550"/>
                <a:ext cx="248008" cy="228599"/>
                <a:chOff x="1211586" y="3638550"/>
                <a:chExt cx="248008" cy="228599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1211586" y="3638550"/>
                  <a:ext cx="248008" cy="226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08" h="226644">
                      <a:moveTo>
                        <a:pt x="124581" y="226644"/>
                      </a:moveTo>
                      <a:cubicBezTo>
                        <a:pt x="45021" y="201982"/>
                        <a:pt x="0" y="118013"/>
                        <a:pt x="23489" y="38100"/>
                      </a:cubicBezTo>
                      <a:cubicBezTo>
                        <a:pt x="63056" y="39910"/>
                        <a:pt x="101774" y="26245"/>
                        <a:pt x="131439" y="0"/>
                      </a:cubicBezTo>
                      <a:cubicBezTo>
                        <a:pt x="161104" y="26245"/>
                        <a:pt x="199822" y="39910"/>
                        <a:pt x="239389" y="38100"/>
                      </a:cubicBezTo>
                      <a:cubicBezTo>
                        <a:pt x="248008" y="67426"/>
                        <a:pt x="247610" y="98665"/>
                        <a:pt x="238246" y="127762"/>
                      </a:cubicBezTo>
                    </a:path>
                  </a:pathLst>
                </a:custGeom>
                <a:noFill/>
                <a:ln w="25400">
                  <a:solidFill>
                    <a:srgbClr val="4A0005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381125" y="381634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rgbClr val="4A0005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564005" y="3686175"/>
                <a:ext cx="18136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Countermeasures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610350" y="3429000"/>
              <a:ext cx="2095500" cy="666750"/>
              <a:chOff x="6610350" y="3429000"/>
              <a:chExt cx="2095500" cy="6667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610350" y="3429000"/>
                <a:ext cx="2095500" cy="666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19050">
                <a:solidFill>
                  <a:srgbClr val="6B141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816725" y="3625850"/>
                <a:ext cx="177800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41299">
                    <a:moveTo>
                      <a:pt x="88900" y="113550"/>
                    </a:moveTo>
                    <a:cubicBezTo>
                      <a:pt x="118529" y="71539"/>
                      <a:pt x="91021" y="14199"/>
                      <a:pt x="76200" y="0"/>
                    </a:cubicBezTo>
                    <a:cubicBezTo>
                      <a:pt x="76200" y="43116"/>
                      <a:pt x="47815" y="67297"/>
                      <a:pt x="29629" y="85166"/>
                    </a:cubicBezTo>
                    <a:cubicBezTo>
                      <a:pt x="11468" y="103048"/>
                      <a:pt x="0" y="127000"/>
                      <a:pt x="0" y="156133"/>
                    </a:cubicBezTo>
                    <a:cubicBezTo>
                      <a:pt x="0" y="203174"/>
                      <a:pt x="39802" y="241299"/>
                      <a:pt x="88900" y="241299"/>
                    </a:cubicBezTo>
                    <a:cubicBezTo>
                      <a:pt x="137998" y="241299"/>
                      <a:pt x="177800" y="203174"/>
                      <a:pt x="177800" y="156133"/>
                    </a:cubicBezTo>
                    <a:cubicBezTo>
                      <a:pt x="177800" y="134391"/>
                      <a:pt x="162153" y="100215"/>
                      <a:pt x="148171" y="85166"/>
                    </a:cubicBezTo>
                    <a:cubicBezTo>
                      <a:pt x="121704" y="127749"/>
                      <a:pt x="106807" y="127749"/>
                      <a:pt x="88900" y="113550"/>
                    </a:cubicBezTo>
                  </a:path>
                </a:pathLst>
              </a:custGeom>
              <a:noFill/>
              <a:ln w="25400">
                <a:solidFill>
                  <a:srgbClr val="6B141B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125843" y="3669982"/>
                <a:ext cx="793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6B141B"/>
                    </a:solidFill>
                    <a:latin typeface="Arial"/>
                    <a:ea typeface="Arial"/>
                    <a:cs typeface="Arial"/>
                  </a:rPr>
                  <a:t>Threat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3924300" y="5143500"/>
              <a:ext cx="1905000" cy="762000"/>
              <a:chOff x="3924300" y="5143500"/>
              <a:chExt cx="1905000" cy="7620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924300" y="5143500"/>
                <a:ext cx="19050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6B141B"/>
              </a:solidFill>
              <a:ln>
                <a:noFill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4139119" y="5405981"/>
                <a:ext cx="256151" cy="220068"/>
                <a:chOff x="4139119" y="5405981"/>
                <a:chExt cx="256151" cy="220068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4267200" y="548640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5400">
                  <a:solidFill>
                    <a:srgbClr val="F4B400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4139119" y="5405981"/>
                  <a:ext cx="256151" cy="220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151" h="220068">
                      <a:moveTo>
                        <a:pt x="107291" y="11725"/>
                      </a:moveTo>
                      <a:lnTo>
                        <a:pt x="4345" y="183606"/>
                      </a:lnTo>
                      <a:cubicBezTo>
                        <a:pt x="26" y="191085"/>
                        <a:pt x="0" y="200293"/>
                        <a:pt x="4276" y="207796"/>
                      </a:cubicBezTo>
                      <a:cubicBezTo>
                        <a:pt x="8551" y="215299"/>
                        <a:pt x="16487" y="219971"/>
                        <a:pt x="25122" y="220068"/>
                      </a:cubicBezTo>
                      <a:lnTo>
                        <a:pt x="231039" y="220068"/>
                      </a:lnTo>
                      <a:cubicBezTo>
                        <a:pt x="239671" y="219968"/>
                        <a:pt x="247602" y="215299"/>
                        <a:pt x="251877" y="207800"/>
                      </a:cubicBezTo>
                      <a:cubicBezTo>
                        <a:pt x="256151" y="200300"/>
                        <a:pt x="256128" y="191097"/>
                        <a:pt x="251816" y="183619"/>
                      </a:cubicBezTo>
                      <a:lnTo>
                        <a:pt x="148870" y="11712"/>
                      </a:lnTo>
                      <a:cubicBezTo>
                        <a:pt x="144465" y="4441"/>
                        <a:pt x="136582" y="0"/>
                        <a:pt x="128081" y="0"/>
                      </a:cubicBezTo>
                      <a:cubicBezTo>
                        <a:pt x="119579" y="0"/>
                        <a:pt x="111696" y="4441"/>
                        <a:pt x="107291" y="11712"/>
                      </a:cubicBezTo>
                    </a:path>
                  </a:pathLst>
                </a:custGeom>
                <a:noFill/>
                <a:ln w="25400">
                  <a:solidFill>
                    <a:srgbClr val="F4B400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267200" y="557529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27" y="0"/>
                      </a:lnTo>
                    </a:path>
                  </a:pathLst>
                </a:custGeom>
                <a:noFill/>
                <a:ln w="25400">
                  <a:solidFill>
                    <a:srgbClr val="F4B400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4534281" y="5406390"/>
                <a:ext cx="5214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Risk</a:t>
                </a:r>
              </a:p>
            </p:txBody>
          </p:sp>
        </p:grpSp>
        <p:sp>
          <p:nvSpPr>
            <p:cNvPr id="47" name="Line 47"/>
            <p:cNvSpPr/>
            <p:nvPr/>
          </p:nvSpPr>
          <p:spPr>
            <a:xfrm>
              <a:off x="3143250" y="2286000"/>
              <a:ext cx="781050" cy="1238250"/>
            </a:xfrm>
            <a:custGeom>
              <a:avLst/>
              <a:gdLst/>
              <a:ahLst/>
              <a:cxnLst/>
              <a:rect l="l" t="t" r="r" b="b"/>
              <a:pathLst>
                <a:path w="781050" h="1238250">
                  <a:moveTo>
                    <a:pt x="0" y="0"/>
                  </a:moveTo>
                  <a:lnTo>
                    <a:pt x="781050" y="1238250"/>
                  </a:lnTo>
                </a:path>
              </a:pathLst>
            </a:custGeom>
            <a:noFill/>
            <a:ln w="23812">
              <a:solidFill>
                <a:srgbClr val="4A0005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3333750" y="2714625"/>
              <a:ext cx="571500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DDD7C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426543" y="2772728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Value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2095500" y="26670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23812">
              <a:solidFill>
                <a:srgbClr val="4A0005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762125" y="2905125"/>
              <a:ext cx="666750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DDD7CE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846711" y="2963228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Impose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793750" y="2286000"/>
              <a:ext cx="3130550" cy="3238500"/>
            </a:xfrm>
            <a:custGeom>
              <a:avLst/>
              <a:gdLst/>
              <a:ahLst/>
              <a:cxnLst/>
              <a:rect l="l" t="t" r="r" b="b"/>
              <a:pathLst>
                <a:path w="3130550" h="3238500">
                  <a:moveTo>
                    <a:pt x="254000" y="0"/>
                  </a:moveTo>
                  <a:cubicBezTo>
                    <a:pt x="0" y="1270000"/>
                    <a:pt x="958850" y="2349500"/>
                    <a:pt x="3130550" y="3238500"/>
                  </a:cubicBezTo>
                </a:path>
              </a:pathLst>
            </a:custGeom>
            <a:noFill/>
            <a:ln w="23812">
              <a:solidFill>
                <a:srgbClr val="4A0005"/>
              </a:solidFill>
              <a:custDash>
                <a:ds d="240000" sp="160000"/>
              </a:custDash>
            </a:ln>
          </p:spPr>
        </p:sp>
        <p:sp>
          <p:nvSpPr>
            <p:cNvPr id="54" name="Rectangle 54"/>
            <p:cNvSpPr/>
            <p:nvPr/>
          </p:nvSpPr>
          <p:spPr>
            <a:xfrm>
              <a:off x="571500" y="4095750"/>
              <a:ext cx="1285875" cy="40005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DD7CE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5717" y="4230052"/>
              <a:ext cx="1187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Wish to minimize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5829300" y="2286000"/>
              <a:ext cx="781050" cy="1238250"/>
            </a:xfrm>
            <a:custGeom>
              <a:avLst/>
              <a:gdLst/>
              <a:ahLst/>
              <a:cxnLst/>
              <a:rect l="l" t="t" r="r" b="b"/>
              <a:pathLst>
                <a:path w="781050" h="1238250">
                  <a:moveTo>
                    <a:pt x="781050" y="0"/>
                  </a:moveTo>
                  <a:lnTo>
                    <a:pt x="0" y="1238250"/>
                  </a:lnTo>
                </a:path>
              </a:pathLst>
            </a:custGeom>
            <a:noFill/>
            <a:ln w="23812">
              <a:solidFill>
                <a:srgbClr val="6B141B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72125" y="2647950"/>
              <a:ext cx="1524000" cy="361950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9525">
              <a:solidFill>
                <a:srgbClr val="DDD7CE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589076" y="2771299"/>
              <a:ext cx="14900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Wish to abuse/damage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7658100" y="26670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23812">
              <a:solidFill>
                <a:srgbClr val="6B141B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81850" y="2905125"/>
              <a:ext cx="952500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DDD7CE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34842" y="2963228"/>
              <a:ext cx="846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Give rise to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2095500" y="4095750"/>
              <a:ext cx="1828800" cy="1238250"/>
            </a:xfrm>
            <a:custGeom>
              <a:avLst/>
              <a:gdLst/>
              <a:ahLst/>
              <a:cxnLst/>
              <a:rect l="l" t="t" r="r" b="b"/>
              <a:pathLst>
                <a:path w="1828800" h="1238250">
                  <a:moveTo>
                    <a:pt x="0" y="0"/>
                  </a:moveTo>
                  <a:lnTo>
                    <a:pt x="1828800" y="1238250"/>
                  </a:lnTo>
                </a:path>
              </a:pathLst>
            </a:custGeom>
            <a:noFill/>
            <a:ln w="23812">
              <a:solidFill>
                <a:srgbClr val="4A0005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2571750" y="4619625"/>
              <a:ext cx="857250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DDD7CE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643790" y="4677728"/>
              <a:ext cx="713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To reduce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829300" y="4095750"/>
              <a:ext cx="1828800" cy="1238250"/>
            </a:xfrm>
            <a:custGeom>
              <a:avLst/>
              <a:gdLst/>
              <a:ahLst/>
              <a:cxnLst/>
              <a:rect l="l" t="t" r="r" b="b"/>
              <a:pathLst>
                <a:path w="1828800" h="1238250">
                  <a:moveTo>
                    <a:pt x="1828800" y="0"/>
                  </a:moveTo>
                  <a:lnTo>
                    <a:pt x="0" y="1238250"/>
                  </a:lnTo>
                </a:path>
              </a:pathLst>
            </a:custGeom>
            <a:noFill/>
            <a:ln w="23812">
              <a:solidFill>
                <a:srgbClr val="6B141B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86500" y="4619625"/>
              <a:ext cx="1000125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DDD7C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80647" y="4677728"/>
              <a:ext cx="1002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That increase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4876800" y="419100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95250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6B141B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4686300" y="4572000"/>
              <a:ext cx="381000" cy="2476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9525">
              <a:solidFill>
                <a:srgbClr val="DDD7CE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787526" y="4630102"/>
              <a:ext cx="178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B141B"/>
                  </a:solidFill>
                  <a:latin typeface="Arial"/>
                  <a:ea typeface="Arial"/>
                  <a:cs typeface="Arial"/>
                </a:rPr>
                <a:t>To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414013" cy="874204"/>
            <a:chOff x="462534" y="375285"/>
            <a:chExt cx="641401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18976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095750" cy="4857750"/>
            </a:xfrm>
            <a:prstGeom prst="roundRect">
              <a:avLst>
                <a:gd name="adj" fmla="val 4651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8097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30212" y="1983581"/>
              <a:ext cx="254127" cy="242888"/>
              <a:chOff x="930212" y="1983581"/>
              <a:chExt cx="254127" cy="2428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30212" y="1983581"/>
                <a:ext cx="254127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54127" h="242888">
                    <a:moveTo>
                      <a:pt x="127063" y="0"/>
                    </a:moveTo>
                    <a:cubicBezTo>
                      <a:pt x="158583" y="27886"/>
                      <a:pt x="199720" y="42405"/>
                      <a:pt x="241761" y="40481"/>
                    </a:cubicBezTo>
                    <a:cubicBezTo>
                      <a:pt x="254127" y="82549"/>
                      <a:pt x="248904" y="127833"/>
                      <a:pt x="227287" y="165981"/>
                    </a:cubicBezTo>
                    <a:cubicBezTo>
                      <a:pt x="205670" y="204129"/>
                      <a:pt x="169506" y="231879"/>
                      <a:pt x="127063" y="242888"/>
                    </a:cubicBezTo>
                    <a:cubicBezTo>
                      <a:pt x="84621" y="231879"/>
                      <a:pt x="48457" y="204129"/>
                      <a:pt x="26840" y="165981"/>
                    </a:cubicBezTo>
                    <a:cubicBezTo>
                      <a:pt x="5222" y="127833"/>
                      <a:pt x="0" y="82549"/>
                      <a:pt x="12366" y="40481"/>
                    </a:cubicBezTo>
                    <a:cubicBezTo>
                      <a:pt x="54407" y="42405"/>
                      <a:pt x="95544" y="27886"/>
                      <a:pt x="127063" y="0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3782" y="2078038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57275" y="2105025"/>
                <a:ext cx="952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734">
                    <a:moveTo>
                      <a:pt x="0" y="0"/>
                    </a:moveTo>
                    <a:lnTo>
                      <a:pt x="0" y="33734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752094" y="2551748"/>
              <a:ext cx="32569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 Analysis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952750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" y="3190875"/>
              <a:ext cx="3524250" cy="2905125"/>
            </a:xfrm>
            <a:prstGeom prst="roundRect">
              <a:avLst>
                <a:gd name="adj" fmla="val 4590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6493" y="3393758"/>
              <a:ext cx="3203496" cy="2075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Reachable and exploitable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vulnerabilities in a system.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9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Evaluates the </a:t>
              </a: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scale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and</a:t>
              </a:r>
              <a:br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severity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of potential threats.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9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Identifies where defense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mechanisms are required.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4895850" y="1524000"/>
              <a:ext cx="4381500" cy="4857750"/>
              <a:chOff x="4895850" y="1524000"/>
              <a:chExt cx="4381500" cy="4857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895850" y="15240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124450" y="17526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5262563" y="1890713"/>
                <a:ext cx="200026" cy="200026"/>
                <a:chOff x="5262563" y="1890713"/>
                <a:chExt cx="200026" cy="200026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5262563" y="1890713"/>
                  <a:ext cx="200026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200026">
                      <a:moveTo>
                        <a:pt x="0" y="100013"/>
                      </a:moveTo>
                      <a:cubicBezTo>
                        <a:pt x="0" y="155248"/>
                        <a:pt x="44777" y="200026"/>
                        <a:pt x="100013" y="200026"/>
                      </a:cubicBezTo>
                      <a:cubicBezTo>
                        <a:pt x="155248" y="200026"/>
                        <a:pt x="200026" y="155248"/>
                        <a:pt x="200026" y="100013"/>
                      </a:cubicBezTo>
                      <a:cubicBezTo>
                        <a:pt x="200026" y="44777"/>
                        <a:pt x="155248" y="0"/>
                        <a:pt x="100013" y="0"/>
                      </a:cubicBezTo>
                      <a:cubicBezTo>
                        <a:pt x="44777" y="0"/>
                        <a:pt x="0" y="44777"/>
                        <a:pt x="0" y="100013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269230" y="1957388"/>
                  <a:ext cx="18669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691" h="9525">
                      <a:moveTo>
                        <a:pt x="0" y="0"/>
                      </a:moveTo>
                      <a:lnTo>
                        <a:pt x="186691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269230" y="2024063"/>
                  <a:ext cx="18669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691" h="9525">
                      <a:moveTo>
                        <a:pt x="0" y="0"/>
                      </a:moveTo>
                      <a:lnTo>
                        <a:pt x="186691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318825" y="1890713"/>
                  <a:ext cx="38194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4" h="200026">
                      <a:moveTo>
                        <a:pt x="38194" y="0"/>
                      </a:moveTo>
                      <a:cubicBezTo>
                        <a:pt x="0" y="61205"/>
                        <a:pt x="0" y="138820"/>
                        <a:pt x="38194" y="200026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5368132" y="1890713"/>
                  <a:ext cx="38194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4" h="200026">
                      <a:moveTo>
                        <a:pt x="0" y="0"/>
                      </a:moveTo>
                      <a:cubicBezTo>
                        <a:pt x="38194" y="61205"/>
                        <a:pt x="38194" y="138820"/>
                        <a:pt x="0" y="200026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5744718" y="1822132"/>
                <a:ext cx="27922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Network Attack Surface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745861" y="2227421"/>
                <a:ext cx="3513074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Vulnerabilities reachable over network,</a:t>
                </a:r>
                <a:br/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open ports, protocols, and services.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895850" y="32385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124450" y="34671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5262563" y="3616325"/>
                <a:ext cx="200025" cy="177801"/>
                <a:chOff x="5262563" y="3616325"/>
                <a:chExt cx="200025" cy="177801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5262563" y="3660775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44450" y="0"/>
                      </a:moveTo>
                      <a:lnTo>
                        <a:pt x="0" y="44450"/>
                      </a:lnTo>
                      <a:lnTo>
                        <a:pt x="44450" y="8890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5418138" y="3660775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0" y="0"/>
                      </a:moveTo>
                      <a:lnTo>
                        <a:pt x="44450" y="44450"/>
                      </a:lnTo>
                      <a:lnTo>
                        <a:pt x="0" y="8890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340350" y="3616325"/>
                  <a:ext cx="44450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177801">
                      <a:moveTo>
                        <a:pt x="44450" y="0"/>
                      </a:moveTo>
                      <a:lnTo>
                        <a:pt x="0" y="177801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5744718" y="3536632"/>
                <a:ext cx="29204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Software Attack Surface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745861" y="3941921"/>
                <a:ext cx="3107309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Vulnerabilities in application code,</a:t>
                </a:r>
                <a:br/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web APIs, libraries, and OS kernel.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895850" y="49530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5124450" y="51816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5262563" y="5319713"/>
                <a:ext cx="200026" cy="200025"/>
                <a:chOff x="5262563" y="5319713"/>
                <a:chExt cx="200026" cy="200025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5284788" y="531971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262563" y="5453063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5407026" y="5321157"/>
                  <a:ext cx="33425" cy="86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25" h="86122">
                      <a:moveTo>
                        <a:pt x="0" y="0"/>
                      </a:moveTo>
                      <a:cubicBezTo>
                        <a:pt x="19668" y="5036"/>
                        <a:pt x="33425" y="22758"/>
                        <a:pt x="33425" y="43061"/>
                      </a:cubicBezTo>
                      <a:cubicBezTo>
                        <a:pt x="33425" y="63364"/>
                        <a:pt x="19668" y="81086"/>
                        <a:pt x="0" y="86122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429251" y="5454730"/>
                  <a:ext cx="33338" cy="65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5008">
                      <a:moveTo>
                        <a:pt x="33338" y="65008"/>
                      </a:moveTo>
                      <a:lnTo>
                        <a:pt x="33338" y="42783"/>
                      </a:lnTo>
                      <a:cubicBezTo>
                        <a:pt x="33222" y="22609"/>
                        <a:pt x="19534" y="5043"/>
                        <a:pt x="0" y="0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5744718" y="5251132"/>
                <a:ext cx="25358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Human Attack Surface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745861" y="5656421"/>
                <a:ext cx="3458972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Vulnerabilities introduced by people:</a:t>
                </a:r>
                <a:br/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social engineering and password reuse.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414013" cy="874204"/>
            <a:chOff x="462534" y="375285"/>
            <a:chExt cx="641401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046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Types of Attack Surface: Definitions and Examples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476250" y="1524000"/>
            <a:ext cx="8801100" cy="4857750"/>
            <a:chOff x="476250" y="1524000"/>
            <a:chExt cx="8801100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2819400" cy="4857750"/>
            </a:xfrm>
            <a:prstGeom prst="roundRect">
              <a:avLst>
                <a:gd name="adj" fmla="val 6757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476250" y="1524000"/>
              <a:ext cx="2819400" cy="666750"/>
            </a:xfrm>
            <a:prstGeom prst="roundRect">
              <a:avLst>
                <a:gd name="adj" fmla="val 28571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76250" y="1952625"/>
              <a:ext cx="2819400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07231" y="1735931"/>
              <a:ext cx="242888" cy="242888"/>
              <a:chOff x="707231" y="1735931"/>
              <a:chExt cx="242888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07231" y="17359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15328" y="1816894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15328" y="1897857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5550" y="173593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46379" y="0"/>
                    </a:moveTo>
                    <a:cubicBezTo>
                      <a:pt x="0" y="74321"/>
                      <a:pt x="0" y="168567"/>
                      <a:pt x="46379" y="242888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5422" y="173593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0" y="0"/>
                    </a:moveTo>
                    <a:cubicBezTo>
                      <a:pt x="46379" y="74321"/>
                      <a:pt x="46379" y="168567"/>
                      <a:pt x="0" y="242888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86993" y="1764982"/>
              <a:ext cx="19447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Network Surface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0654" y="2394585"/>
              <a:ext cx="899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DEFINITION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" y="2667000"/>
              <a:ext cx="24384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1243" y="2822258"/>
              <a:ext cx="2028444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Reachable over a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network connection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or wireless link.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0654" y="3918585"/>
              <a:ext cx="836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EXAMPLES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66750" y="4191000"/>
              <a:ext cx="24384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1243" y="4393882"/>
              <a:ext cx="2195036" cy="1408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Open Ports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Exposed Services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Network Protocols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Web Endpoints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67100" y="1524000"/>
              <a:ext cx="2819400" cy="4857750"/>
            </a:xfrm>
            <a:prstGeom prst="roundRect">
              <a:avLst>
                <a:gd name="adj" fmla="val 6757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3467100" y="1524000"/>
              <a:ext cx="2819400" cy="666750"/>
            </a:xfrm>
            <a:prstGeom prst="roundRect">
              <a:avLst>
                <a:gd name="adj" fmla="val 28571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467100" y="1952625"/>
              <a:ext cx="2819400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3698081" y="1749425"/>
              <a:ext cx="242888" cy="215901"/>
              <a:chOff x="3698081" y="1749425"/>
              <a:chExt cx="242888" cy="21590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698081" y="1803400"/>
                <a:ext cx="5397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07950">
                    <a:moveTo>
                      <a:pt x="53975" y="0"/>
                    </a:moveTo>
                    <a:lnTo>
                      <a:pt x="0" y="53975"/>
                    </a:lnTo>
                    <a:lnTo>
                      <a:pt x="53975" y="10795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886994" y="1803400"/>
                <a:ext cx="5397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07950">
                    <a:moveTo>
                      <a:pt x="0" y="0"/>
                    </a:moveTo>
                    <a:lnTo>
                      <a:pt x="53975" y="53975"/>
                    </a:ln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792538" y="1749425"/>
                <a:ext cx="53975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15901">
                    <a:moveTo>
                      <a:pt x="53975" y="0"/>
                    </a:moveTo>
                    <a:lnTo>
                      <a:pt x="0" y="215901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4077843" y="1764982"/>
              <a:ext cx="20729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Software Surface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51504" y="2394585"/>
              <a:ext cx="899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DEFINITION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657600" y="2667000"/>
              <a:ext cx="24384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92093" y="2822258"/>
              <a:ext cx="1766506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Vulnerabilities in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application code,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libraries, or OS.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51504" y="3918585"/>
              <a:ext cx="836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EXAMPLES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657600" y="4191000"/>
              <a:ext cx="24384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92093" y="4393882"/>
              <a:ext cx="1644968" cy="1408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Web Apps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Libraries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OS Drivers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Database SQL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57950" y="1524000"/>
              <a:ext cx="2819400" cy="4857750"/>
            </a:xfrm>
            <a:prstGeom prst="roundRect">
              <a:avLst>
                <a:gd name="adj" fmla="val 6757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6457950" y="1524000"/>
              <a:ext cx="2819400" cy="666750"/>
            </a:xfrm>
            <a:prstGeom prst="roundRect">
              <a:avLst>
                <a:gd name="adj" fmla="val 28571"/>
              </a:avLst>
            </a:prstGeom>
            <a:solidFill>
              <a:srgbClr val="4A000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57950" y="1952625"/>
              <a:ext cx="2819400" cy="238125"/>
            </a:xfrm>
            <a:prstGeom prst="rect">
              <a:avLst/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688931" y="1735931"/>
              <a:ext cx="242888" cy="242889"/>
              <a:chOff x="6688931" y="1735931"/>
              <a:chExt cx="242888" cy="242889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715919" y="17359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688931" y="1897857"/>
                <a:ext cx="1619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3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864351" y="1737686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2"/>
                      <a:pt x="23883" y="98462"/>
                      <a:pt x="0" y="104577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891338" y="1899881"/>
                <a:ext cx="40481" cy="7893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9">
                    <a:moveTo>
                      <a:pt x="40481" y="78939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068693" y="1764982"/>
              <a:ext cx="1688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Human Surface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42354" y="2394585"/>
              <a:ext cx="899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DEFINITION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48450" y="2667000"/>
              <a:ext cx="24384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82943" y="2822258"/>
              <a:ext cx="1934146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Vulnerabilities in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people, behaviors,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or access policy.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42354" y="3918585"/>
              <a:ext cx="836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EXAMPLES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48450" y="4191000"/>
              <a:ext cx="24384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2943" y="4393882"/>
              <a:ext cx="2030016" cy="1408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Phishing Victim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Contractor Roles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Password Reuse</a:t>
              </a:r>
            </a:p>
            <a:p>
              <a:pPr marL="187023" indent="-187023" algn="l">
                <a:lnSpc>
                  <a:spcPts val="2850"/>
                </a:lnSpc>
                <a:buClr>
                  <a:srgbClr val="4A0005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Social Eng.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414013" cy="874204"/>
            <a:chOff x="462534" y="375285"/>
            <a:chExt cx="641401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48718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Trees: Systematic Threat Modeling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476250" y="1524000"/>
            <a:ext cx="8872855" cy="4857750"/>
            <a:chOff x="476250" y="1524000"/>
            <a:chExt cx="8872855" cy="4857750"/>
          </a:xfrm>
        </p:grpSpPr>
        <p:sp>
          <p:nvSpPr>
            <p:cNvPr id="7" name="Rectangle 7"/>
            <p:cNvSpPr/>
            <p:nvPr/>
          </p:nvSpPr>
          <p:spPr>
            <a:xfrm>
              <a:off x="476250" y="1524000"/>
              <a:ext cx="4095750" cy="4857750"/>
            </a:xfrm>
            <a:prstGeom prst="roundRect">
              <a:avLst>
                <a:gd name="adj" fmla="val 4651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8097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36506" y="1981697"/>
              <a:ext cx="248987" cy="254704"/>
              <a:chOff x="936506" y="1981697"/>
              <a:chExt cx="248987" cy="2547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57275" y="2051050"/>
                <a:ext cx="26988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80963">
                    <a:moveTo>
                      <a:pt x="0" y="0"/>
                    </a:moveTo>
                    <a:lnTo>
                      <a:pt x="0" y="53975"/>
                    </a:lnTo>
                    <a:lnTo>
                      <a:pt x="26988" y="80963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6506" y="1981697"/>
                <a:ext cx="248987" cy="254704"/>
              </a:xfrm>
              <a:custGeom>
                <a:avLst/>
                <a:gdLst/>
                <a:ahLst/>
                <a:cxnLst/>
                <a:rect l="l" t="t" r="r" b="b"/>
                <a:pathLst>
                  <a:path w="248987" h="254704">
                    <a:moveTo>
                      <a:pt x="0" y="109835"/>
                    </a:moveTo>
                    <a:cubicBezTo>
                      <a:pt x="6260" y="48377"/>
                      <a:pt x="57660" y="1411"/>
                      <a:pt x="119432" y="706"/>
                    </a:cubicBezTo>
                    <a:cubicBezTo>
                      <a:pt x="181204" y="0"/>
                      <a:pt x="233663" y="45779"/>
                      <a:pt x="241325" y="107078"/>
                    </a:cubicBezTo>
                    <a:cubicBezTo>
                      <a:pt x="248987" y="168377"/>
                      <a:pt x="209412" y="225661"/>
                      <a:pt x="149366" y="240183"/>
                    </a:cubicBezTo>
                    <a:cubicBezTo>
                      <a:pt x="89321" y="254704"/>
                      <a:pt x="27943" y="221836"/>
                      <a:pt x="6747" y="163810"/>
                    </a:cubicBezTo>
                    <a:moveTo>
                      <a:pt x="0" y="231279"/>
                    </a:moveTo>
                    <a:lnTo>
                      <a:pt x="0" y="163810"/>
                    </a:lnTo>
                    <a:lnTo>
                      <a:pt x="67469" y="163810"/>
                    </a:lnTo>
                  </a:path>
                </a:pathLst>
              </a:custGeom>
              <a:noFill/>
              <a:ln w="26988">
                <a:solidFill>
                  <a:srgbClr val="F4B4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51332" y="2535555"/>
              <a:ext cx="21771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Bruce Schneier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618" y="2888932"/>
              <a:ext cx="20925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(1999 Foundation)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238500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" y="3476625"/>
              <a:ext cx="3524250" cy="2619375"/>
            </a:xfrm>
            <a:prstGeom prst="roundRect">
              <a:avLst>
                <a:gd name="adj" fmla="val 5091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6493" y="3679508"/>
              <a:ext cx="3380042" cy="23039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Bruce Schneier introduced the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attack tree concept in </a:t>
              </a:r>
              <a:r>
                <a:rPr lang="en-US" sz="1650" b="1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1999</a:t>
              </a: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 to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systematically identify threats.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9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Formal, methodical foundation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for analyzing complex attacks.</a:t>
              </a:r>
            </a:p>
            <a:p>
              <a:pPr marL="178118" indent="-178118" algn="l">
                <a:lnSpc>
                  <a:spcPts val="2400"/>
                </a:lnSpc>
                <a:spcBef>
                  <a:spcPts val="30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Replaces guesswork with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structured hierarchical trees.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4895850" y="1524000"/>
              <a:ext cx="4453255" cy="4857750"/>
              <a:chOff x="4895850" y="1524000"/>
              <a:chExt cx="4453255" cy="4857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895850" y="15240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124450" y="17526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5247566" y="1890713"/>
                <a:ext cx="217008" cy="200025"/>
                <a:chOff x="5247566" y="1890713"/>
                <a:chExt cx="217008" cy="20002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5247566" y="1890713"/>
                  <a:ext cx="217008" cy="198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008" h="198314">
                      <a:moveTo>
                        <a:pt x="109009" y="198314"/>
                      </a:moveTo>
                      <a:cubicBezTo>
                        <a:pt x="39394" y="176735"/>
                        <a:pt x="0" y="103262"/>
                        <a:pt x="20553" y="33338"/>
                      </a:cubicBezTo>
                      <a:cubicBezTo>
                        <a:pt x="55175" y="34922"/>
                        <a:pt x="89053" y="22965"/>
                        <a:pt x="115010" y="0"/>
                      </a:cubicBezTo>
                      <a:cubicBezTo>
                        <a:pt x="140967" y="22965"/>
                        <a:pt x="174845" y="34922"/>
                        <a:pt x="209466" y="33338"/>
                      </a:cubicBezTo>
                      <a:cubicBezTo>
                        <a:pt x="217008" y="58998"/>
                        <a:pt x="216660" y="86333"/>
                        <a:pt x="208466" y="111792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395913" y="2046288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5744718" y="1822132"/>
                <a:ext cx="312891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System Security Evaluation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745861" y="2227421"/>
                <a:ext cx="3603244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Evaluate overall security based on</a:t>
                </a:r>
                <a:br/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structured, repeatable threat vectors.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4895850" y="32385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5124450" y="34671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5284788" y="3605213"/>
                <a:ext cx="155575" cy="200026"/>
                <a:chOff x="5284788" y="3605213"/>
                <a:chExt cx="155575" cy="200026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5384800" y="3605213"/>
                  <a:ext cx="55563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55563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3"/>
                        <a:pt x="11113" y="55563"/>
                      </a:cubicBezTo>
                      <a:lnTo>
                        <a:pt x="55563" y="55563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5284788" y="3605213"/>
                  <a:ext cx="155575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200026">
                      <a:moveTo>
                        <a:pt x="133350" y="200026"/>
                      </a:moveTo>
                      <a:lnTo>
                        <a:pt x="22225" y="200026"/>
                      </a:lnTo>
                      <a:cubicBezTo>
                        <a:pt x="9950" y="200026"/>
                        <a:pt x="0" y="190075"/>
                        <a:pt x="0" y="177801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3" y="0"/>
                      </a:lnTo>
                      <a:lnTo>
                        <a:pt x="155575" y="55563"/>
                      </a:lnTo>
                      <a:lnTo>
                        <a:pt x="155575" y="177801"/>
                      </a:lnTo>
                      <a:cubicBezTo>
                        <a:pt x="155575" y="190075"/>
                        <a:pt x="145625" y="200026"/>
                        <a:pt x="133350" y="200026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329238" y="3671888"/>
                  <a:ext cx="1111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3" h="9525">
                      <a:moveTo>
                        <a:pt x="0" y="0"/>
                      </a:moveTo>
                      <a:lnTo>
                        <a:pt x="11113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5329238" y="3716338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5329238" y="3760788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5744718" y="3536632"/>
                <a:ext cx="227160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Formal &amp; Methodical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745861" y="3941921"/>
                <a:ext cx="3017139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Provide reproducible frameworks</a:t>
                </a:r>
                <a:br/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for describing security postures.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895850" y="49530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5124450" y="5181600"/>
                <a:ext cx="476250" cy="476250"/>
              </a:xfrm>
              <a:prstGeom prst="roundRect">
                <a:avLst>
                  <a:gd name="adj" fmla="val 28000"/>
                </a:avLst>
              </a:prstGeom>
              <a:solidFill>
                <a:srgbClr val="4A0005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5262563" y="5319713"/>
                <a:ext cx="200025" cy="200025"/>
                <a:chOff x="5262563" y="5319713"/>
                <a:chExt cx="200025" cy="200025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5340350" y="5319713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5262563" y="547528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418138" y="547528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5301456" y="5430838"/>
                  <a:ext cx="122238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50006">
                      <a:moveTo>
                        <a:pt x="0" y="50006"/>
                      </a:moveTo>
                      <a:lnTo>
                        <a:pt x="61119" y="0"/>
                      </a:lnTo>
                      <a:lnTo>
                        <a:pt x="122238" y="50006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362575" y="5364163"/>
                  <a:ext cx="95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6675">
                      <a:moveTo>
                        <a:pt x="0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22225">
                  <a:solidFill>
                    <a:srgbClr val="F4B400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5744718" y="5251132"/>
                <a:ext cx="235198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Tree Representation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745861" y="5656421"/>
                <a:ext cx="3026156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Represent attacks in an intuitive,</a:t>
                </a:r>
                <a:br/>
                <a:r>
                  <a:rPr lang="en-US" sz="142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hierarchical decomposition graph.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542076" cy="874204"/>
            <a:chOff x="462534" y="375285"/>
            <a:chExt cx="6542076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536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Structure of Attack Trees: Root, Sub-Goals, and Leaves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76250" y="1428750"/>
            <a:ext cx="8801100" cy="4953000"/>
            <a:chOff x="476250" y="1428750"/>
            <a:chExt cx="8801100" cy="4953000"/>
          </a:xfrm>
        </p:grpSpPr>
        <p:sp>
          <p:nvSpPr>
            <p:cNvPr id="7" name="Rectangle 7"/>
            <p:cNvSpPr/>
            <p:nvPr/>
          </p:nvSpPr>
          <p:spPr>
            <a:xfrm>
              <a:off x="476250" y="1428750"/>
              <a:ext cx="3619500" cy="4953000"/>
            </a:xfrm>
            <a:prstGeom prst="roundRect">
              <a:avLst>
                <a:gd name="adj" fmla="val 5263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04850" y="1657350"/>
              <a:ext cx="3162300" cy="4495800"/>
            </a:xfrm>
            <a:prstGeom prst="roundRect">
              <a:avLst>
                <a:gd name="adj" fmla="val 4217"/>
              </a:avLst>
            </a:prstGeom>
            <a:solidFill>
              <a:srgbClr val="FFFFFF"/>
            </a:solidFill>
            <a:ln w="14288">
              <a:solidFill>
                <a:srgbClr val="DDD7C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6206" y="1824990"/>
              <a:ext cx="21214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Tree Components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95350" y="21717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6968" y="2441258"/>
              <a:ext cx="3212402" cy="2894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1. Attacker’s Goal (Root)</a:t>
              </a:r>
            </a:p>
            <a:p>
              <a:pPr marL="178118" indent="-178118" algn="l">
                <a:lnSpc>
                  <a:spcPts val="2100"/>
                </a:lnSpc>
                <a:spcBef>
                  <a:spcPts val="15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Root node represents the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ultimate overall objective.</a:t>
              </a:r>
            </a:p>
            <a:p>
              <a:pPr algn="l">
                <a:lnSpc>
                  <a:spcPts val="2100"/>
                </a:lnSpc>
                <a:spcBef>
                  <a:spcPts val="1500"/>
                </a:spcBef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2. Sub-Goals (Intermediate)</a:t>
              </a:r>
            </a:p>
            <a:p>
              <a:pPr marL="178118" indent="-178118" algn="l">
                <a:lnSpc>
                  <a:spcPts val="2100"/>
                </a:lnSpc>
                <a:spcBef>
                  <a:spcPts val="15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Breaks the goal into finer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sub-steps to achieve it.</a:t>
              </a:r>
            </a:p>
            <a:p>
              <a:pPr algn="l">
                <a:lnSpc>
                  <a:spcPts val="2100"/>
                </a:lnSpc>
                <a:spcBef>
                  <a:spcPts val="1500"/>
                </a:spcBef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3. Leaf Attacks (Bottom)</a:t>
              </a:r>
            </a:p>
            <a:p>
              <a:pPr marL="178118" indent="-178118" algn="l">
                <a:lnSpc>
                  <a:spcPts val="2100"/>
                </a:lnSpc>
                <a:spcBef>
                  <a:spcPts val="150"/>
                </a:spcBef>
                <a:buClr>
                  <a:srgbClr val="222222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Concrete, actionable attacks</a:t>
              </a:r>
              <a:br/>
              <a:r>
                <a:rPr lang="en-US" sz="165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directly attempted.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4381500" y="1428750"/>
              <a:ext cx="4895850" cy="4953000"/>
              <a:chOff x="4381500" y="1428750"/>
              <a:chExt cx="4895850" cy="4953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381500" y="1428750"/>
                <a:ext cx="4895850" cy="4953000"/>
              </a:xfrm>
              <a:prstGeom prst="roundRect">
                <a:avLst>
                  <a:gd name="adj" fmla="val 3891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781675" y="1714500"/>
                <a:ext cx="2095500" cy="714375"/>
              </a:xfrm>
              <a:prstGeom prst="roundRect">
                <a:avLst>
                  <a:gd name="adj" fmla="val 21333"/>
                </a:avLst>
              </a:prstGeom>
              <a:solidFill>
                <a:srgbClr val="4A0005"/>
              </a:solidFill>
              <a:ln w="19050">
                <a:solidFill>
                  <a:srgbClr val="F4B400"/>
                </a:solidFill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5998369" y="1931194"/>
                <a:ext cx="271462" cy="271462"/>
                <a:chOff x="5998369" y="1931194"/>
                <a:chExt cx="271462" cy="271462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6119018" y="2051843"/>
                  <a:ext cx="30162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30162">
                      <a:moveTo>
                        <a:pt x="0" y="15081"/>
                      </a:moveTo>
                      <a:cubicBezTo>
                        <a:pt x="0" y="23410"/>
                        <a:pt x="6752" y="30162"/>
                        <a:pt x="15081" y="30162"/>
                      </a:cubicBezTo>
                      <a:cubicBezTo>
                        <a:pt x="23410" y="30162"/>
                        <a:pt x="30162" y="23410"/>
                        <a:pt x="30162" y="15081"/>
                      </a:cubicBezTo>
                      <a:cubicBezTo>
                        <a:pt x="30162" y="6752"/>
                        <a:pt x="23410" y="0"/>
                        <a:pt x="15081" y="0"/>
                      </a:cubicBezTo>
                      <a:cubicBezTo>
                        <a:pt x="6752" y="0"/>
                        <a:pt x="0" y="6752"/>
                        <a:pt x="0" y="15081"/>
                      </a:cubicBezTo>
                    </a:path>
                  </a:pathLst>
                </a:custGeom>
                <a:noFill/>
                <a:ln w="30162">
                  <a:solidFill>
                    <a:srgbClr val="F4B400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6058694" y="1991519"/>
                  <a:ext cx="150812" cy="150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12" h="150812">
                      <a:moveTo>
                        <a:pt x="0" y="75406"/>
                      </a:moveTo>
                      <a:cubicBezTo>
                        <a:pt x="0" y="117052"/>
                        <a:pt x="33760" y="150812"/>
                        <a:pt x="75406" y="150812"/>
                      </a:cubicBezTo>
                      <a:cubicBezTo>
                        <a:pt x="117052" y="150812"/>
                        <a:pt x="150812" y="117052"/>
                        <a:pt x="150812" y="75406"/>
                      </a:cubicBezTo>
                      <a:cubicBezTo>
                        <a:pt x="150812" y="33760"/>
                        <a:pt x="117052" y="0"/>
                        <a:pt x="75406" y="0"/>
                      </a:cubicBezTo>
                      <a:cubicBezTo>
                        <a:pt x="33760" y="0"/>
                        <a:pt x="0" y="33760"/>
                        <a:pt x="0" y="75406"/>
                      </a:cubicBezTo>
                    </a:path>
                  </a:pathLst>
                </a:custGeom>
                <a:noFill/>
                <a:ln w="30162">
                  <a:solidFill>
                    <a:srgbClr val="F4B40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5998369" y="1931194"/>
                  <a:ext cx="271462" cy="271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271462">
                      <a:moveTo>
                        <a:pt x="0" y="135731"/>
                      </a:moveTo>
                      <a:cubicBezTo>
                        <a:pt x="0" y="210693"/>
                        <a:pt x="60769" y="271462"/>
                        <a:pt x="135731" y="271462"/>
                      </a:cubicBezTo>
                      <a:cubicBezTo>
                        <a:pt x="210693" y="271462"/>
                        <a:pt x="271462" y="210693"/>
                        <a:pt x="271462" y="135731"/>
                      </a:cubicBezTo>
                      <a:cubicBezTo>
                        <a:pt x="271462" y="60769"/>
                        <a:pt x="210693" y="0"/>
                        <a:pt x="135731" y="0"/>
                      </a:cubicBezTo>
                      <a:cubicBezTo>
                        <a:pt x="60769" y="0"/>
                        <a:pt x="0" y="60769"/>
                        <a:pt x="0" y="135731"/>
                      </a:cubicBezTo>
                    </a:path>
                  </a:pathLst>
                </a:custGeom>
                <a:noFill/>
                <a:ln w="30162">
                  <a:solidFill>
                    <a:srgbClr val="F4B400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6421755" y="1885950"/>
                <a:ext cx="16727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Attacker’s Goal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423660" y="2145506"/>
                <a:ext cx="126728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F4B400"/>
                    </a:solidFill>
                    <a:latin typeface="Arial"/>
                    <a:ea typeface="Arial"/>
                    <a:cs typeface="Arial"/>
                  </a:rPr>
                  <a:t>Overall objective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5619750" y="2428875"/>
                <a:ext cx="1209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1209675" h="809625">
                    <a:moveTo>
                      <a:pt x="1209675" y="0"/>
                    </a:moveTo>
                    <a:lnTo>
                      <a:pt x="0" y="809625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6829425" y="2428875"/>
                <a:ext cx="1209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1209675" h="809625">
                    <a:moveTo>
                      <a:pt x="0" y="0"/>
                    </a:moveTo>
                    <a:lnTo>
                      <a:pt x="1209675" y="809625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762500" y="3238500"/>
                <a:ext cx="1714500" cy="714375"/>
              </a:xfrm>
              <a:prstGeom prst="roundRect">
                <a:avLst>
                  <a:gd name="adj" fmla="val 18667"/>
                </a:avLst>
              </a:prstGeom>
              <a:solidFill>
                <a:srgbClr val="6B141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070812" y="3400425"/>
                <a:ext cx="109787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Sub-Goal A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060918" y="3677602"/>
                <a:ext cx="111766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4B400"/>
                    </a:solidFill>
                    <a:latin typeface="Arial"/>
                    <a:ea typeface="Arial"/>
                    <a:cs typeface="Arial"/>
                  </a:rPr>
                  <a:t>Refines the goal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7181850" y="3238500"/>
                <a:ext cx="1714500" cy="714375"/>
              </a:xfrm>
              <a:prstGeom prst="roundRect">
                <a:avLst>
                  <a:gd name="adj" fmla="val 18667"/>
                </a:avLst>
              </a:prstGeom>
              <a:solidFill>
                <a:srgbClr val="6B141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90162" y="3400425"/>
                <a:ext cx="109787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Sub-Goal B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462681" y="3677602"/>
                <a:ext cx="11528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4B400"/>
                    </a:solidFill>
                    <a:latin typeface="Arial"/>
                    <a:ea typeface="Arial"/>
                    <a:cs typeface="Arial"/>
                  </a:rPr>
                  <a:t>Alternative path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5143500" y="3952875"/>
                <a:ext cx="476250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809625">
                    <a:moveTo>
                      <a:pt x="476250" y="0"/>
                    </a:moveTo>
                    <a:lnTo>
                      <a:pt x="0" y="809625"/>
                    </a:lnTo>
                  </a:path>
                </a:pathLst>
              </a:custGeom>
              <a:noFill/>
              <a:ln w="23812">
                <a:solidFill>
                  <a:srgbClr val="4A0005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5619750" y="3952875"/>
                <a:ext cx="476250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809625">
                    <a:moveTo>
                      <a:pt x="0" y="0"/>
                    </a:moveTo>
                    <a:lnTo>
                      <a:pt x="476250" y="809625"/>
                    </a:lnTo>
                  </a:path>
                </a:pathLst>
              </a:custGeom>
              <a:noFill/>
              <a:ln w="23812">
                <a:solidFill>
                  <a:srgbClr val="4A0005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7562850" y="3952875"/>
                <a:ext cx="476250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809625">
                    <a:moveTo>
                      <a:pt x="476250" y="0"/>
                    </a:moveTo>
                    <a:lnTo>
                      <a:pt x="0" y="809625"/>
                    </a:lnTo>
                  </a:path>
                </a:pathLst>
              </a:custGeom>
              <a:noFill/>
              <a:ln w="23812">
                <a:solidFill>
                  <a:srgbClr val="4A0005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8039100" y="3952875"/>
                <a:ext cx="476250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809625">
                    <a:moveTo>
                      <a:pt x="0" y="0"/>
                    </a:moveTo>
                    <a:lnTo>
                      <a:pt x="476250" y="809625"/>
                    </a:lnTo>
                  </a:path>
                </a:pathLst>
              </a:custGeom>
              <a:noFill/>
              <a:ln w="23812">
                <a:solidFill>
                  <a:srgbClr val="4A0005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524375" y="4762500"/>
                <a:ext cx="123825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606388" y="4958239"/>
                <a:ext cx="107422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Leaf Attack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08703" y="5276374"/>
                <a:ext cx="10695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</a:rPr>
                  <a:t>Concrete attack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5857875" y="4762500"/>
                <a:ext cx="123825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939888" y="4958239"/>
                <a:ext cx="107422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Leaf Attack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942203" y="5276374"/>
                <a:ext cx="10695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</a:rPr>
                  <a:t>Concrete attack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7191375" y="4762500"/>
                <a:ext cx="9525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472305" y="4994910"/>
                <a:ext cx="390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Leaf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30986" y="5285899"/>
                <a:ext cx="67327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</a:rPr>
                  <a:t>Actionable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239125" y="4762500"/>
                <a:ext cx="9525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520055" y="4994910"/>
                <a:ext cx="390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Leaf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378736" y="5285899"/>
                <a:ext cx="67327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</a:rPr>
                  <a:t>Actionable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311882" y="5918835"/>
                <a:ext cx="303508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Hierarchical Goal Decomposition Flow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414013" cy="874204"/>
            <a:chOff x="462534" y="375285"/>
            <a:chExt cx="6414013" cy="8742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58514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Relations: AND-Decomposition vs OR-Decomposition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76250" y="1428750"/>
            <a:ext cx="8868394" cy="4953000"/>
            <a:chOff x="476250" y="1428750"/>
            <a:chExt cx="8868394" cy="4953000"/>
          </a:xfrm>
        </p:grpSpPr>
        <p:sp>
          <p:nvSpPr>
            <p:cNvPr id="7" name="Rectangle 7"/>
            <p:cNvSpPr/>
            <p:nvPr/>
          </p:nvSpPr>
          <p:spPr>
            <a:xfrm>
              <a:off x="476250" y="1428750"/>
              <a:ext cx="8801100" cy="714375"/>
            </a:xfrm>
            <a:prstGeom prst="roundRect">
              <a:avLst>
                <a:gd name="adj" fmla="val 1866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81050" y="1682750"/>
              <a:ext cx="152400" cy="177800"/>
              <a:chOff x="781050" y="1682750"/>
              <a:chExt cx="152400" cy="177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31850" y="1682750"/>
                <a:ext cx="101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77800">
                    <a:moveTo>
                      <a:pt x="12700" y="63500"/>
                    </a:moveTo>
                    <a:lnTo>
                      <a:pt x="12700" y="0"/>
                    </a:lnTo>
                    <a:lnTo>
                      <a:pt x="0" y="0"/>
                    </a:lnTo>
                    <a:moveTo>
                      <a:pt x="101600" y="177800"/>
                    </a:moveTo>
                    <a:lnTo>
                      <a:pt x="101600" y="114300"/>
                    </a:lnTo>
                    <a:lnTo>
                      <a:pt x="88900" y="11430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5350" y="1682750"/>
                <a:ext cx="381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63500">
                    <a:moveTo>
                      <a:pt x="0" y="6350"/>
                    </a:moveTo>
                    <a:cubicBezTo>
                      <a:pt x="0" y="2843"/>
                      <a:pt x="2843" y="0"/>
                      <a:pt x="6350" y="0"/>
                    </a:cubicBezTo>
                    <a:lnTo>
                      <a:pt x="31750" y="0"/>
                    </a:lnTo>
                    <a:cubicBezTo>
                      <a:pt x="35257" y="0"/>
                      <a:pt x="38100" y="2843"/>
                      <a:pt x="38100" y="6350"/>
                    </a:cubicBezTo>
                    <a:lnTo>
                      <a:pt x="38100" y="57150"/>
                    </a:lnTo>
                    <a:cubicBezTo>
                      <a:pt x="38100" y="60657"/>
                      <a:pt x="35257" y="63500"/>
                      <a:pt x="31750" y="63500"/>
                    </a:cubicBezTo>
                    <a:lnTo>
                      <a:pt x="6350" y="63500"/>
                    </a:lnTo>
                    <a:cubicBezTo>
                      <a:pt x="2843" y="63500"/>
                      <a:pt x="0" y="60657"/>
                      <a:pt x="0" y="57150"/>
                    </a:cubicBezTo>
                    <a:lnTo>
                      <a:pt x="0" y="635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1850" y="1797050"/>
                <a:ext cx="381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63500">
                    <a:moveTo>
                      <a:pt x="0" y="6350"/>
                    </a:moveTo>
                    <a:cubicBezTo>
                      <a:pt x="0" y="2843"/>
                      <a:pt x="2843" y="0"/>
                      <a:pt x="6350" y="0"/>
                    </a:cubicBezTo>
                    <a:lnTo>
                      <a:pt x="31750" y="0"/>
                    </a:lnTo>
                    <a:cubicBezTo>
                      <a:pt x="35257" y="0"/>
                      <a:pt x="38100" y="2843"/>
                      <a:pt x="38100" y="6350"/>
                    </a:cubicBezTo>
                    <a:lnTo>
                      <a:pt x="38100" y="57150"/>
                    </a:lnTo>
                    <a:cubicBezTo>
                      <a:pt x="38100" y="60657"/>
                      <a:pt x="35257" y="63500"/>
                      <a:pt x="31750" y="63500"/>
                    </a:cubicBezTo>
                    <a:lnTo>
                      <a:pt x="6350" y="63500"/>
                    </a:lnTo>
                    <a:cubicBezTo>
                      <a:pt x="2843" y="63500"/>
                      <a:pt x="0" y="60657"/>
                      <a:pt x="0" y="57150"/>
                    </a:cubicBezTo>
                    <a:lnTo>
                      <a:pt x="0" y="635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81050" y="17462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127" y="0"/>
                    </a:lnTo>
                    <a:moveTo>
                      <a:pt x="0" y="114300"/>
                    </a:moveTo>
                    <a:lnTo>
                      <a:pt x="127" y="114300"/>
                    </a:lnTo>
                  </a:path>
                </a:pathLst>
              </a:custGeom>
              <a:noFill/>
              <a:ln w="25400">
                <a:solidFill>
                  <a:srgbClr val="F4B40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36142" y="1606868"/>
              <a:ext cx="64135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Each non-leaf node is either an </a:t>
              </a:r>
              <a:r>
                <a:rPr lang="en-US" sz="13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AND-node</a:t>
              </a:r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 (all sub-goals required)</a:t>
              </a:r>
              <a:br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or an </a:t>
              </a:r>
              <a:r>
                <a:rPr lang="en-US" sz="135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OR-node</a:t>
              </a:r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 (at least one sub-goal required to achieve the objective).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476250" y="2333625"/>
              <a:ext cx="4418552" cy="4048125"/>
              <a:chOff x="476250" y="2333625"/>
              <a:chExt cx="4418552" cy="4048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76250" y="2333625"/>
                <a:ext cx="4238625" cy="4048125"/>
              </a:xfrm>
              <a:prstGeom prst="roundRect">
                <a:avLst>
                  <a:gd name="adj" fmla="val 4706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66750" y="2524125"/>
                <a:ext cx="38576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6B141B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400532" y="2657475"/>
                <a:ext cx="23805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(1) AND-Decomposition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733550" y="3143250"/>
                <a:ext cx="1714500" cy="523875"/>
              </a:xfrm>
              <a:prstGeom prst="roundRect">
                <a:avLst>
                  <a:gd name="adj" fmla="val 21818"/>
                </a:avLst>
              </a:prstGeom>
              <a:solidFill>
                <a:srgbClr val="4A0005"/>
              </a:solidFill>
              <a:ln w="19050">
                <a:solidFill>
                  <a:srgbClr val="F4B400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944140" y="3322796"/>
                <a:ext cx="129331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Order as Bob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1524000" y="3667125"/>
                <a:ext cx="10668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857250">
                    <a:moveTo>
                      <a:pt x="1066800" y="0"/>
                    </a:moveTo>
                    <a:lnTo>
                      <a:pt x="0" y="85725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2590800" y="3667125"/>
                <a:ext cx="10668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857250">
                    <a:moveTo>
                      <a:pt x="0" y="0"/>
                    </a:moveTo>
                    <a:lnTo>
                      <a:pt x="1066800" y="85725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352675" y="3952875"/>
                <a:ext cx="476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4B40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456090" y="4030028"/>
                <a:ext cx="2694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AND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762000" y="4524375"/>
                <a:ext cx="1524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4A0005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54867" y="4729639"/>
                <a:ext cx="11382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Log in as Bob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2895600" y="4524375"/>
                <a:ext cx="1524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4A000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946969" y="4729639"/>
                <a:ext cx="142126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Pass card check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66750" y="5238750"/>
                <a:ext cx="3857625" cy="1000125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01243" y="5394008"/>
                <a:ext cx="409355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Trudy places an order </a:t>
                </a:r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only if</a:t>
                </a: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 she logs in</a:t>
                </a:r>
                <a:br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AND passes card check</a:t>
                </a: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 — both needed.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038725" y="2333625"/>
              <a:ext cx="4305919" cy="4048125"/>
              <a:chOff x="5038725" y="2333625"/>
              <a:chExt cx="4305919" cy="4048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038725" y="2333625"/>
                <a:ext cx="4238625" cy="4048125"/>
              </a:xfrm>
              <a:prstGeom prst="roundRect">
                <a:avLst>
                  <a:gd name="adj" fmla="val 4706"/>
                </a:avLst>
              </a:prstGeom>
              <a:solidFill>
                <a:srgbClr val="F8F4EE"/>
              </a:solidFill>
              <a:ln w="14288">
                <a:solidFill>
                  <a:srgbClr val="DDD7CE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229225" y="2524125"/>
                <a:ext cx="38576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6B141B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003832" y="2657475"/>
                <a:ext cx="229888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(2) OR-Decomposition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105525" y="3143250"/>
                <a:ext cx="2095500" cy="523875"/>
              </a:xfrm>
              <a:prstGeom prst="roundRect">
                <a:avLst>
                  <a:gd name="adj" fmla="val 21818"/>
                </a:avLst>
              </a:prstGeom>
              <a:solidFill>
                <a:srgbClr val="4A0005"/>
              </a:solidFill>
              <a:ln w="19050">
                <a:solidFill>
                  <a:srgbClr val="F4B400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065041" y="3322796"/>
                <a:ext cx="217646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Learn Bob’s password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6086475" y="3667125"/>
                <a:ext cx="10668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857250">
                    <a:moveTo>
                      <a:pt x="1066800" y="0"/>
                    </a:moveTo>
                    <a:lnTo>
                      <a:pt x="0" y="85725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7153275" y="3667125"/>
                <a:ext cx="10668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857250">
                    <a:moveTo>
                      <a:pt x="0" y="0"/>
                    </a:moveTo>
                    <a:lnTo>
                      <a:pt x="1066800" y="857250"/>
                    </a:lnTo>
                  </a:path>
                </a:pathLst>
              </a:custGeom>
              <a:noFill/>
              <a:ln w="28575">
                <a:solidFill>
                  <a:srgbClr val="4A0005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962775" y="3952875"/>
                <a:ext cx="3810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6B141B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046008" y="4030028"/>
                <a:ext cx="2145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OR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5324475" y="4524375"/>
                <a:ext cx="1524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4A000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724333" y="4729639"/>
                <a:ext cx="72428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Guess it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7458075" y="4524375"/>
                <a:ext cx="1524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4288">
                <a:solidFill>
                  <a:srgbClr val="4A0005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880732" y="4729639"/>
                <a:ext cx="67868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Phish it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229225" y="5238750"/>
                <a:ext cx="3857625" cy="1000125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DDD7CE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363718" y="5394008"/>
                <a:ext cx="3980926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Trudy gets password if she </a:t>
                </a:r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guesses it</a:t>
                </a:r>
                <a:br/>
                <a:r>
                  <a:rPr lang="en-US" sz="1650" b="1" dirty="0">
                    <a:solidFill>
                      <a:srgbClr val="4A0005"/>
                    </a:solidFill>
                    <a:latin typeface="Arial"/>
                    <a:ea typeface="Arial"/>
                    <a:cs typeface="Arial"/>
                  </a:rPr>
                  <a:t>OR phishes it</a:t>
                </a:r>
                <a:r>
                  <a:rPr lang="en-US" sz="1650" dirty="0">
                    <a:solidFill>
                      <a:srgbClr val="222222"/>
                    </a:solidFill>
                    <a:latin typeface="Arial"/>
                    <a:ea typeface="Arial"/>
                    <a:cs typeface="Arial"/>
                  </a:rPr>
                  <a:t> — one success is enough.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375285"/>
            <a:ext cx="6974967" cy="1140904"/>
            <a:chOff x="462534" y="375285"/>
            <a:chExt cx="6974967" cy="1140904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375285"/>
              <a:ext cx="27626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Key Takeaways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7810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4B4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7868" y="926782"/>
              <a:ext cx="6969633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Cybersecurity protects digital systems and valuable data assets</a:t>
              </a:r>
              <a:br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even in adversarial environments.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888888"/>
                </a:solidFill>
                <a:latin typeface="Arial"/>
                <a:ea typeface="Arial"/>
                <a:cs typeface="Arial"/>
              </a:rPr>
              <a:t>Seoul Cyber University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76250" y="1571625"/>
            <a:ext cx="8801100" cy="4386834"/>
            <a:chOff x="476250" y="1571625"/>
            <a:chExt cx="8801100" cy="4386834"/>
          </a:xfrm>
        </p:grpSpPr>
        <p:sp>
          <p:nvSpPr>
            <p:cNvPr id="7" name="Rectangle 7"/>
            <p:cNvSpPr/>
            <p:nvPr/>
          </p:nvSpPr>
          <p:spPr>
            <a:xfrm>
              <a:off x="476250" y="1571625"/>
              <a:ext cx="8801100" cy="1047750"/>
            </a:xfrm>
            <a:prstGeom prst="roundRect">
              <a:avLst>
                <a:gd name="adj" fmla="val 1636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04850" y="1800225"/>
              <a:ext cx="438150" cy="438150"/>
            </a:xfrm>
            <a:prstGeom prst="roundRect">
              <a:avLst>
                <a:gd name="adj" fmla="val 2608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08916" y="1919288"/>
              <a:ext cx="217008" cy="200025"/>
              <a:chOff x="808916" y="1919288"/>
              <a:chExt cx="217008" cy="2000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08916" y="191928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57263" y="20748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77493" y="1850708"/>
              <a:ext cx="409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Adversarial Environment Protection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8636" y="2198846"/>
              <a:ext cx="6795262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Cybersecurity protects digital systems, networks, and valuable data assets</a:t>
              </a:r>
              <a:br/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even in the presence of active adversaries and hostile threat actors.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250" y="2762250"/>
              <a:ext cx="8801100" cy="1047750"/>
            </a:xfrm>
            <a:prstGeom prst="roundRect">
              <a:avLst>
                <a:gd name="adj" fmla="val 1636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704850" y="2990850"/>
              <a:ext cx="438150" cy="438150"/>
            </a:xfrm>
            <a:prstGeom prst="roundRect">
              <a:avLst>
                <a:gd name="adj" fmla="val 2608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46138" y="3109913"/>
              <a:ext cx="155575" cy="200025"/>
              <a:chOff x="846138" y="3109913"/>
              <a:chExt cx="155575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46138" y="3198813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12813" y="324326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9475" y="31099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889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88900"/>
                    </a:ln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77493" y="3041332"/>
              <a:ext cx="3128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Fundamental Security Goals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8636" y="3389471"/>
              <a:ext cx="6335395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The CIA triad (Confidentiality, Integrity, Availability) alongside</a:t>
              </a:r>
              <a:br/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authenticity, accountability, and reliability defines fundamental goals.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6250" y="3952875"/>
              <a:ext cx="8801100" cy="1047750"/>
            </a:xfrm>
            <a:prstGeom prst="roundRect">
              <a:avLst>
                <a:gd name="adj" fmla="val 16364"/>
              </a:avLst>
            </a:prstGeom>
            <a:solidFill>
              <a:srgbClr val="F8F4EE"/>
            </a:solidFill>
            <a:ln w="14288">
              <a:solidFill>
                <a:srgbClr val="DDD7CE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704850" y="4181475"/>
              <a:ext cx="438150" cy="438150"/>
            </a:xfrm>
            <a:prstGeom prst="roundRect">
              <a:avLst>
                <a:gd name="adj" fmla="val 26087"/>
              </a:avLst>
            </a:prstGeom>
            <a:solidFill>
              <a:srgbClr val="4A0005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23913" y="4300538"/>
              <a:ext cx="200026" cy="200026"/>
              <a:chOff x="823913" y="430053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12813" y="43894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68363" y="434498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3913" y="43005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F4B4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277493" y="4231958"/>
              <a:ext cx="28851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A0005"/>
                  </a:solidFill>
                  <a:latin typeface="Arial"/>
                  <a:ea typeface="Arial"/>
                  <a:cs typeface="Arial"/>
                </a:rPr>
                <a:t>Risk Reduction &amp; Modeling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8636" y="4580096"/>
              <a:ext cx="6632956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Effective security reduces risk by analyzing attack surfaces, hierarchical</a:t>
              </a:r>
              <a:br/>
              <a:r>
                <a:rPr lang="en-US" sz="1420" dirty="0">
                  <a:solidFill>
                    <a:srgbClr val="222222"/>
                  </a:solidFill>
                  <a:latin typeface="Arial"/>
                  <a:ea typeface="Arial"/>
                  <a:cs typeface="Arial"/>
                </a:rPr>
                <a:t>attack trees, and implementing appropriate defense countermeasures.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250" y="5143500"/>
              <a:ext cx="8801100" cy="809625"/>
            </a:xfrm>
            <a:prstGeom prst="roundRect">
              <a:avLst>
                <a:gd name="adj" fmla="val 18824"/>
              </a:avLst>
            </a:prstGeom>
            <a:solidFill>
              <a:srgbClr val="4A0005"/>
            </a:solidFill>
            <a:ln>
              <a:noFill/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grpSp>
          <p:nvGrpSpPr>
            <p:cNvPr id="33" name="Group 33"/>
            <p:cNvGrpSpPr/>
            <p:nvPr/>
          </p:nvGrpSpPr>
          <p:grpSpPr>
            <a:xfrm>
              <a:off x="854869" y="5407822"/>
              <a:ext cx="271459" cy="271459"/>
              <a:chOff x="854869" y="5407822"/>
              <a:chExt cx="271459" cy="27145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54869" y="5407822"/>
                <a:ext cx="271459" cy="271459"/>
              </a:xfrm>
              <a:custGeom>
                <a:avLst/>
                <a:gdLst/>
                <a:ahLst/>
                <a:cxnLst/>
                <a:rect l="l" t="t" r="r" b="b"/>
                <a:pathLst>
                  <a:path w="271459" h="271459">
                    <a:moveTo>
                      <a:pt x="204426" y="12711"/>
                    </a:moveTo>
                    <a:lnTo>
                      <a:pt x="258748" y="67033"/>
                    </a:lnTo>
                    <a:cubicBezTo>
                      <a:pt x="266887" y="75170"/>
                      <a:pt x="271459" y="86207"/>
                      <a:pt x="271459" y="97716"/>
                    </a:cubicBezTo>
                    <a:cubicBezTo>
                      <a:pt x="271459" y="109224"/>
                      <a:pt x="266887" y="120261"/>
                      <a:pt x="258748" y="128399"/>
                    </a:cubicBezTo>
                    <a:lnTo>
                      <a:pt x="218889" y="168258"/>
                    </a:lnTo>
                    <a:cubicBezTo>
                      <a:pt x="210752" y="176397"/>
                      <a:pt x="199715" y="180969"/>
                      <a:pt x="188206" y="180969"/>
                    </a:cubicBezTo>
                    <a:cubicBezTo>
                      <a:pt x="176698" y="180969"/>
                      <a:pt x="165660" y="176397"/>
                      <a:pt x="157523" y="168258"/>
                    </a:cubicBezTo>
                    <a:lnTo>
                      <a:pt x="152984" y="163719"/>
                    </a:lnTo>
                    <a:lnTo>
                      <a:pt x="54081" y="262621"/>
                    </a:lnTo>
                    <a:cubicBezTo>
                      <a:pt x="49070" y="267632"/>
                      <a:pt x="42455" y="270718"/>
                      <a:pt x="35396" y="271338"/>
                    </a:cubicBezTo>
                    <a:lnTo>
                      <a:pt x="32756" y="271459"/>
                    </a:lnTo>
                    <a:lnTo>
                      <a:pt x="15081" y="271459"/>
                    </a:lnTo>
                    <a:cubicBezTo>
                      <a:pt x="7435" y="271458"/>
                      <a:pt x="1000" y="265736"/>
                      <a:pt x="106" y="258142"/>
                    </a:cubicBezTo>
                    <a:lnTo>
                      <a:pt x="0" y="256378"/>
                    </a:lnTo>
                    <a:lnTo>
                      <a:pt x="0" y="238703"/>
                    </a:lnTo>
                    <a:cubicBezTo>
                      <a:pt x="2" y="231621"/>
                      <a:pt x="2495" y="224766"/>
                      <a:pt x="7043" y="219338"/>
                    </a:cubicBezTo>
                    <a:lnTo>
                      <a:pt x="8838" y="217378"/>
                    </a:lnTo>
                    <a:lnTo>
                      <a:pt x="15081" y="211134"/>
                    </a:lnTo>
                    <a:lnTo>
                      <a:pt x="45244" y="211134"/>
                    </a:lnTo>
                    <a:lnTo>
                      <a:pt x="45244" y="180972"/>
                    </a:lnTo>
                    <a:lnTo>
                      <a:pt x="75406" y="180972"/>
                    </a:lnTo>
                    <a:lnTo>
                      <a:pt x="75406" y="150809"/>
                    </a:lnTo>
                    <a:lnTo>
                      <a:pt x="107740" y="118475"/>
                    </a:lnTo>
                    <a:lnTo>
                      <a:pt x="103201" y="113936"/>
                    </a:lnTo>
                    <a:cubicBezTo>
                      <a:pt x="95062" y="105799"/>
                      <a:pt x="90490" y="94761"/>
                      <a:pt x="90490" y="83253"/>
                    </a:cubicBezTo>
                    <a:cubicBezTo>
                      <a:pt x="90490" y="71744"/>
                      <a:pt x="95062" y="60707"/>
                      <a:pt x="103201" y="52570"/>
                    </a:cubicBezTo>
                    <a:lnTo>
                      <a:pt x="143060" y="12711"/>
                    </a:lnTo>
                    <a:cubicBezTo>
                      <a:pt x="151198" y="4572"/>
                      <a:pt x="162235" y="0"/>
                      <a:pt x="173743" y="0"/>
                    </a:cubicBezTo>
                    <a:cubicBezTo>
                      <a:pt x="185252" y="0"/>
                      <a:pt x="196289" y="4572"/>
                      <a:pt x="204426" y="12711"/>
                    </a:cubicBezTo>
                  </a:path>
                </a:pathLst>
              </a:custGeom>
              <a:noFill/>
              <a:ln w="30162">
                <a:solidFill>
                  <a:srgbClr val="F4B40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35843" y="54983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30162">
                <a:solidFill>
                  <a:srgbClr val="F4B40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327404" y="5394960"/>
              <a:ext cx="1365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4B400"/>
                  </a:solidFill>
                  <a:latin typeface="Arial"/>
                  <a:ea typeface="Arial"/>
                  <a:cs typeface="Arial"/>
                </a:rPr>
                <a:t>UPCOMING TOPIC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4356" y="5606415"/>
              <a:ext cx="40476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Next Week: Cryptography Basics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8600281" y="5453062"/>
              <a:ext cx="211137" cy="180975"/>
              <a:chOff x="8600281" y="5453062"/>
              <a:chExt cx="211137" cy="18097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600281" y="5543550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30162">
                <a:solidFill>
                  <a:srgbClr val="F4B40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20931" y="5543550"/>
                <a:ext cx="90487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0487">
                    <a:moveTo>
                      <a:pt x="0" y="90487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rgbClr val="F4B40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20931" y="5453062"/>
                <a:ext cx="90487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0487">
                    <a:moveTo>
                      <a:pt x="0" y="0"/>
                    </a:moveTo>
                    <a:lnTo>
                      <a:pt x="90487" y="90487"/>
                    </a:lnTo>
                  </a:path>
                </a:pathLst>
              </a:custGeom>
              <a:noFill/>
              <a:ln w="30162">
                <a:solidFill>
                  <a:srgbClr val="F4B400"/>
                </a:solidFill>
              </a:ln>
            </p:spPr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yber_security_week1_largefont">
  <a:themeElements>
    <a:clrScheme name="cyber_security_week1_largefon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yber_security_week1_largefon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yber_security_week1_largefo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3070</Words>
  <Application>Microsoft Office PowerPoint</Application>
  <PresentationFormat>와이드스크린</PresentationFormat>
  <Paragraphs>576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1" baseType="lpstr">
      <vt:lpstr>Arial</vt:lpstr>
      <vt:lpstr>Calibri</vt:lpstr>
      <vt:lpstr>Georgia</vt:lpstr>
      <vt:lpstr>cyber_security_week1_largefont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/>
  <cp:lastModifiedBy>김시원</cp:lastModifiedBy>
  <cp:revision>2</cp:revision>
  <dcterms:created xsi:type="dcterms:W3CDTF">2026-08-29T10:54:45Z</dcterms:created>
  <dcterms:modified xsi:type="dcterms:W3CDTF">2026-08-29T11:02:41Z</dcterms:modified>
  <cp:category/>
  <cp:contentStatus/>
  <dc:language/>
</cp:coreProperties>
</file>