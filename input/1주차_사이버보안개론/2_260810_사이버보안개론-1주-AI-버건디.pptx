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6" r:id="rId2"/>
  </p:sldMasterIdLst>
  <p:sldIdLst>
    <p:sldId id="287" r:id="rId3"/>
    <p:sldId id="288" r:id="rId4"/>
    <p:sldId id="258" r:id="rId5"/>
    <p:sldId id="289" r:id="rId6"/>
    <p:sldId id="260" r:id="rId7"/>
    <p:sldId id="290" r:id="rId8"/>
    <p:sldId id="262" r:id="rId9"/>
    <p:sldId id="291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92" r:id="rId20"/>
    <p:sldId id="293" r:id="rId21"/>
    <p:sldId id="275" r:id="rId22"/>
    <p:sldId id="276" r:id="rId23"/>
    <p:sldId id="294" r:id="rId24"/>
    <p:sldId id="278" r:id="rId25"/>
    <p:sldId id="279" r:id="rId26"/>
    <p:sldId id="295" r:id="rId27"/>
    <p:sldId id="281" r:id="rId28"/>
    <p:sldId id="296" r:id="rId29"/>
    <p:sldId id="297" r:id="rId30"/>
    <p:sldId id="284" r:id="rId31"/>
    <p:sldId id="285" r:id="rId32"/>
    <p:sldId id="298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6" d="100"/>
          <a:sy n="46" d="100"/>
        </p:scale>
        <p:origin x="43" y="7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yber_security_week1_refine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yber_security_week1_largefon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682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yber_security_week1_refine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167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 descr="/mnt/data/a_sleek_high_resolution_abstract_cybersecurity_te.png">
            <a:extLst>
              <a:ext uri="{FF2B5EF4-FFF2-40B4-BE49-F238E27FC236}">
                <a16:creationId xmlns:a16="http://schemas.microsoft.com/office/drawing/2014/main" id="{946F4909-0D7F-476F-A6C6-913E28824F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1"/>
          <a:stretch/>
        </p:blipFill>
        <p:spPr>
          <a:xfrm>
            <a:off x="1" y="0"/>
            <a:ext cx="12198468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476250" y="476250"/>
            <a:ext cx="323850" cy="6362700"/>
          </a:xfrm>
          <a:custGeom>
            <a:avLst/>
            <a:gdLst/>
            <a:ahLst/>
            <a:cxnLst/>
            <a:rect l="l" t="t" r="r" b="b"/>
            <a:pathLst>
              <a:path w="323850" h="6362700">
                <a:moveTo>
                  <a:pt x="0" y="228600"/>
                </a:moveTo>
                <a:cubicBezTo>
                  <a:pt x="0" y="76200"/>
                  <a:pt x="76200" y="0"/>
                  <a:pt x="228600" y="0"/>
                </a:cubicBezTo>
                <a:lnTo>
                  <a:pt x="323850" y="0"/>
                </a:lnTo>
                <a:lnTo>
                  <a:pt x="323850" y="6362700"/>
                </a:lnTo>
                <a:lnTo>
                  <a:pt x="228600" y="6362700"/>
                </a:lnTo>
                <a:cubicBezTo>
                  <a:pt x="76200" y="6362700"/>
                  <a:pt x="0" y="6286500"/>
                  <a:pt x="0" y="6134100"/>
                </a:cubicBezTo>
                <a:close/>
              </a:path>
            </a:pathLst>
          </a:custGeom>
          <a:solidFill>
            <a:srgbClr val="4A000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047750" y="952500"/>
            <a:ext cx="2286000" cy="419100"/>
          </a:xfrm>
          <a:prstGeom prst="roundRect">
            <a:avLst>
              <a:gd name="adj" fmla="val 50000"/>
            </a:avLst>
          </a:prstGeom>
          <a:solidFill>
            <a:srgbClr val="4A0005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224758" y="1076325"/>
            <a:ext cx="179383" cy="171450"/>
          </a:xfrm>
          <a:custGeom>
            <a:avLst/>
            <a:gdLst/>
            <a:ahLst/>
            <a:cxnLst/>
            <a:rect l="l" t="t" r="r" b="b"/>
            <a:pathLst>
              <a:path w="179383" h="171450">
                <a:moveTo>
                  <a:pt x="89692" y="0"/>
                </a:moveTo>
                <a:cubicBezTo>
                  <a:pt x="111940" y="19684"/>
                  <a:pt x="140979" y="29933"/>
                  <a:pt x="170654" y="28575"/>
                </a:cubicBezTo>
                <a:cubicBezTo>
                  <a:pt x="179383" y="58269"/>
                  <a:pt x="175697" y="90235"/>
                  <a:pt x="160438" y="117163"/>
                </a:cubicBezTo>
                <a:cubicBezTo>
                  <a:pt x="145178" y="144091"/>
                  <a:pt x="119651" y="163679"/>
                  <a:pt x="89692" y="171450"/>
                </a:cubicBezTo>
                <a:cubicBezTo>
                  <a:pt x="59732" y="163679"/>
                  <a:pt x="34205" y="144091"/>
                  <a:pt x="18946" y="117163"/>
                </a:cubicBezTo>
                <a:cubicBezTo>
                  <a:pt x="3686" y="90235"/>
                  <a:pt x="0" y="58269"/>
                  <a:pt x="8729" y="28575"/>
                </a:cubicBezTo>
                <a:cubicBezTo>
                  <a:pt x="38405" y="29933"/>
                  <a:pt x="67443" y="19684"/>
                  <a:pt x="89692" y="0"/>
                </a:cubicBezTo>
              </a:path>
            </a:pathLst>
          </a:custGeom>
          <a:noFill/>
          <a:ln w="19050">
            <a:solidFill>
              <a:srgbClr val="F4B400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1304925" y="1143000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0" y="9525"/>
                </a:moveTo>
                <a:cubicBezTo>
                  <a:pt x="0" y="14786"/>
                  <a:pt x="4264" y="19050"/>
                  <a:pt x="9525" y="19050"/>
                </a:cubicBezTo>
                <a:cubicBezTo>
                  <a:pt x="14786" y="19050"/>
                  <a:pt x="19050" y="14786"/>
                  <a:pt x="19050" y="9525"/>
                </a:cubicBezTo>
                <a:cubicBezTo>
                  <a:pt x="19050" y="4264"/>
                  <a:pt x="14786" y="0"/>
                  <a:pt x="9525" y="0"/>
                </a:cubicBezTo>
                <a:cubicBezTo>
                  <a:pt x="4264" y="0"/>
                  <a:pt x="0" y="4264"/>
                  <a:pt x="0" y="9525"/>
                </a:cubicBezTo>
              </a:path>
            </a:pathLst>
          </a:custGeom>
          <a:noFill/>
          <a:ln w="19050">
            <a:solidFill>
              <a:srgbClr val="F4B400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1314450" y="1162050"/>
            <a:ext cx="9525" cy="23812"/>
          </a:xfrm>
          <a:custGeom>
            <a:avLst/>
            <a:gdLst/>
            <a:ahLst/>
            <a:cxnLst/>
            <a:rect l="l" t="t" r="r" b="b"/>
            <a:pathLst>
              <a:path w="9525" h="23812">
                <a:moveTo>
                  <a:pt x="0" y="0"/>
                </a:moveTo>
                <a:lnTo>
                  <a:pt x="0" y="23812"/>
                </a:lnTo>
              </a:path>
            </a:pathLst>
          </a:custGeom>
          <a:noFill/>
          <a:ln w="19050">
            <a:solidFill>
              <a:srgbClr val="F4B400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55242" y="1082992"/>
            <a:ext cx="178801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WEEK 01 · LECTURE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801178"/>
            <a:ext cx="3664465" cy="126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Introduction to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4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Cybersecurity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047750" y="3238500"/>
            <a:ext cx="1333500" cy="5715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37844" y="3647122"/>
            <a:ext cx="739679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Fundamental Concepts, Principles, and Threat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9368" y="4089082"/>
            <a:ext cx="7239161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 introductory course on securing digital assets in adversarial environments.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47750" y="5143500"/>
            <a:ext cx="4286250" cy="914400"/>
          </a:xfrm>
          <a:prstGeom prst="roundRect">
            <a:avLst>
              <a:gd name="adj" fmla="val 16667"/>
            </a:avLst>
          </a:prstGeom>
          <a:solidFill>
            <a:srgbClr val="EFECE6"/>
          </a:solidFill>
          <a:ln w="14288">
            <a:solidFill>
              <a:srgbClr val="DDD7CE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1273175" y="5468937"/>
            <a:ext cx="349249" cy="174625"/>
          </a:xfrm>
          <a:custGeom>
            <a:avLst/>
            <a:gdLst/>
            <a:ahLst/>
            <a:cxnLst/>
            <a:rect l="l" t="t" r="r" b="b"/>
            <a:pathLst>
              <a:path w="349249" h="174625">
                <a:moveTo>
                  <a:pt x="349249" y="69850"/>
                </a:moveTo>
                <a:lnTo>
                  <a:pt x="174625" y="0"/>
                </a:lnTo>
                <a:lnTo>
                  <a:pt x="0" y="69850"/>
                </a:lnTo>
                <a:lnTo>
                  <a:pt x="174625" y="139700"/>
                </a:lnTo>
                <a:lnTo>
                  <a:pt x="349249" y="69850"/>
                </a:lnTo>
                <a:lnTo>
                  <a:pt x="349249" y="174625"/>
                </a:lnTo>
              </a:path>
            </a:pathLst>
          </a:custGeom>
          <a:noFill/>
          <a:ln w="34925">
            <a:solidFill>
              <a:srgbClr val="4A0005"/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1343025" y="5566727"/>
            <a:ext cx="209550" cy="146685"/>
          </a:xfrm>
          <a:custGeom>
            <a:avLst/>
            <a:gdLst/>
            <a:ahLst/>
            <a:cxnLst/>
            <a:rect l="l" t="t" r="r" b="b"/>
            <a:pathLst>
              <a:path w="209550" h="146685">
                <a:moveTo>
                  <a:pt x="0" y="0"/>
                </a:moveTo>
                <a:lnTo>
                  <a:pt x="0" y="94297"/>
                </a:lnTo>
                <a:cubicBezTo>
                  <a:pt x="0" y="123230"/>
                  <a:pt x="46909" y="146685"/>
                  <a:pt x="104775" y="146685"/>
                </a:cubicBezTo>
                <a:cubicBezTo>
                  <a:pt x="162640" y="146685"/>
                  <a:pt x="209550" y="123230"/>
                  <a:pt x="209550" y="94297"/>
                </a:cubicBezTo>
                <a:lnTo>
                  <a:pt x="209550" y="0"/>
                </a:lnTo>
              </a:path>
            </a:pathLst>
          </a:custGeom>
          <a:noFill/>
          <a:ln w="34925">
            <a:solidFill>
              <a:srgbClr val="4A0005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1801368" y="5365432"/>
            <a:ext cx="256878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Seoul Cyber University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02892" y="5702618"/>
            <a:ext cx="32298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Department of Information Security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187281" y="2121694"/>
            <a:ext cx="122238" cy="157163"/>
            <a:chOff x="6187281" y="2121694"/>
            <a:chExt cx="122238" cy="157163"/>
          </a:xfrm>
        </p:grpSpPr>
        <p:sp>
          <p:nvSpPr>
            <p:cNvPr id="27" name="Freeform 27"/>
            <p:cNvSpPr/>
            <p:nvPr/>
          </p:nvSpPr>
          <p:spPr>
            <a:xfrm>
              <a:off x="6187281" y="2191544"/>
              <a:ext cx="122238" cy="87313"/>
            </a:xfrm>
            <a:custGeom>
              <a:avLst/>
              <a:gdLst/>
              <a:ahLst/>
              <a:cxnLst/>
              <a:rect l="l" t="t" r="r" b="b"/>
              <a:pathLst>
                <a:path w="122238" h="87313">
                  <a:moveTo>
                    <a:pt x="0" y="17463"/>
                  </a:moveTo>
                  <a:cubicBezTo>
                    <a:pt x="0" y="7818"/>
                    <a:pt x="7818" y="0"/>
                    <a:pt x="17463" y="0"/>
                  </a:cubicBezTo>
                  <a:lnTo>
                    <a:pt x="104775" y="0"/>
                  </a:lnTo>
                  <a:cubicBezTo>
                    <a:pt x="114419" y="0"/>
                    <a:pt x="122238" y="7818"/>
                    <a:pt x="122238" y="17463"/>
                  </a:cubicBezTo>
                  <a:lnTo>
                    <a:pt x="122238" y="69850"/>
                  </a:lnTo>
                  <a:cubicBezTo>
                    <a:pt x="122238" y="79494"/>
                    <a:pt x="114419" y="87313"/>
                    <a:pt x="104775" y="87313"/>
                  </a:cubicBezTo>
                  <a:lnTo>
                    <a:pt x="17463" y="87313"/>
                  </a:lnTo>
                  <a:cubicBezTo>
                    <a:pt x="7818" y="87313"/>
                    <a:pt x="0" y="79494"/>
                    <a:pt x="0" y="69850"/>
                  </a:cubicBezTo>
                  <a:lnTo>
                    <a:pt x="0" y="17463"/>
                  </a:lnTo>
                </a:path>
              </a:pathLst>
            </a:custGeom>
            <a:noFill/>
            <a:ln w="17463">
              <a:solidFill>
                <a:srgbClr val="4A000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239669" y="2226469"/>
              <a:ext cx="17463" cy="17463"/>
            </a:xfrm>
            <a:custGeom>
              <a:avLst/>
              <a:gdLst/>
              <a:ahLst/>
              <a:cxnLst/>
              <a:rect l="l" t="t" r="r" b="b"/>
              <a:pathLst>
                <a:path w="17463" h="17463">
                  <a:moveTo>
                    <a:pt x="0" y="8731"/>
                  </a:moveTo>
                  <a:cubicBezTo>
                    <a:pt x="0" y="13553"/>
                    <a:pt x="3909" y="17463"/>
                    <a:pt x="8731" y="17463"/>
                  </a:cubicBezTo>
                  <a:cubicBezTo>
                    <a:pt x="13553" y="17463"/>
                    <a:pt x="17463" y="13553"/>
                    <a:pt x="17463" y="8731"/>
                  </a:cubicBezTo>
                  <a:cubicBezTo>
                    <a:pt x="17463" y="3909"/>
                    <a:pt x="13553" y="0"/>
                    <a:pt x="8731" y="0"/>
                  </a:cubicBezTo>
                  <a:cubicBezTo>
                    <a:pt x="3909" y="0"/>
                    <a:pt x="0" y="3909"/>
                    <a:pt x="0" y="8731"/>
                  </a:cubicBezTo>
                </a:path>
              </a:pathLst>
            </a:custGeom>
            <a:noFill/>
            <a:ln w="17463">
              <a:solidFill>
                <a:srgbClr val="4A000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213475" y="2121694"/>
              <a:ext cx="69850" cy="69850"/>
            </a:xfrm>
            <a:custGeom>
              <a:avLst/>
              <a:gdLst/>
              <a:ahLst/>
              <a:cxnLst/>
              <a:rect l="l" t="t" r="r" b="b"/>
              <a:pathLst>
                <a:path w="69850" h="69850">
                  <a:moveTo>
                    <a:pt x="0" y="69850"/>
                  </a:moveTo>
                  <a:lnTo>
                    <a:pt x="0" y="34925"/>
                  </a:lnTo>
                  <a:cubicBezTo>
                    <a:pt x="0" y="15636"/>
                    <a:pt x="15636" y="0"/>
                    <a:pt x="34925" y="0"/>
                  </a:cubicBezTo>
                  <a:cubicBezTo>
                    <a:pt x="54214" y="0"/>
                    <a:pt x="69850" y="15636"/>
                    <a:pt x="69850" y="34925"/>
                  </a:cubicBezTo>
                  <a:lnTo>
                    <a:pt x="69850" y="69850"/>
                  </a:lnTo>
                </a:path>
              </a:pathLst>
            </a:custGeom>
            <a:noFill/>
            <a:ln w="17463">
              <a:solidFill>
                <a:srgbClr val="4A0005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7596188" y="4710906"/>
            <a:ext cx="104775" cy="122238"/>
            <a:chOff x="7596188" y="4710906"/>
            <a:chExt cx="104775" cy="122238"/>
          </a:xfrm>
        </p:grpSpPr>
        <p:sp>
          <p:nvSpPr>
            <p:cNvPr id="33" name="Freeform 33"/>
            <p:cNvSpPr/>
            <p:nvPr/>
          </p:nvSpPr>
          <p:spPr>
            <a:xfrm>
              <a:off x="7631113" y="4710906"/>
              <a:ext cx="69850" cy="122238"/>
            </a:xfrm>
            <a:custGeom>
              <a:avLst/>
              <a:gdLst/>
              <a:ahLst/>
              <a:cxnLst/>
              <a:rect l="l" t="t" r="r" b="b"/>
              <a:pathLst>
                <a:path w="69850" h="122238">
                  <a:moveTo>
                    <a:pt x="8731" y="43656"/>
                  </a:moveTo>
                  <a:lnTo>
                    <a:pt x="8731" y="0"/>
                  </a:lnTo>
                  <a:lnTo>
                    <a:pt x="0" y="0"/>
                  </a:lnTo>
                  <a:moveTo>
                    <a:pt x="69850" y="122238"/>
                  </a:moveTo>
                  <a:lnTo>
                    <a:pt x="69850" y="78581"/>
                  </a:lnTo>
                  <a:lnTo>
                    <a:pt x="61119" y="78581"/>
                  </a:lnTo>
                </a:path>
              </a:pathLst>
            </a:custGeom>
            <a:noFill/>
            <a:ln w="17463">
              <a:solidFill>
                <a:srgbClr val="4A000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674769" y="4710906"/>
              <a:ext cx="26194" cy="43656"/>
            </a:xfrm>
            <a:custGeom>
              <a:avLst/>
              <a:gdLst/>
              <a:ahLst/>
              <a:cxnLst/>
              <a:rect l="l" t="t" r="r" b="b"/>
              <a:pathLst>
                <a:path w="26194" h="43656">
                  <a:moveTo>
                    <a:pt x="0" y="4366"/>
                  </a:moveTo>
                  <a:cubicBezTo>
                    <a:pt x="0" y="1955"/>
                    <a:pt x="1955" y="0"/>
                    <a:pt x="4366" y="0"/>
                  </a:cubicBezTo>
                  <a:lnTo>
                    <a:pt x="21828" y="0"/>
                  </a:lnTo>
                  <a:cubicBezTo>
                    <a:pt x="24239" y="0"/>
                    <a:pt x="26194" y="1955"/>
                    <a:pt x="26194" y="4366"/>
                  </a:cubicBezTo>
                  <a:lnTo>
                    <a:pt x="26194" y="39291"/>
                  </a:lnTo>
                  <a:cubicBezTo>
                    <a:pt x="26194" y="41702"/>
                    <a:pt x="24239" y="43656"/>
                    <a:pt x="21828" y="43656"/>
                  </a:cubicBezTo>
                  <a:lnTo>
                    <a:pt x="4366" y="43656"/>
                  </a:lnTo>
                  <a:cubicBezTo>
                    <a:pt x="1955" y="43656"/>
                    <a:pt x="0" y="41702"/>
                    <a:pt x="0" y="39291"/>
                  </a:cubicBezTo>
                  <a:lnTo>
                    <a:pt x="0" y="4366"/>
                  </a:lnTo>
                </a:path>
              </a:pathLst>
            </a:custGeom>
            <a:noFill/>
            <a:ln w="17463">
              <a:solidFill>
                <a:srgbClr val="4A000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631113" y="4789488"/>
              <a:ext cx="26194" cy="43656"/>
            </a:xfrm>
            <a:custGeom>
              <a:avLst/>
              <a:gdLst/>
              <a:ahLst/>
              <a:cxnLst/>
              <a:rect l="l" t="t" r="r" b="b"/>
              <a:pathLst>
                <a:path w="26194" h="43656">
                  <a:moveTo>
                    <a:pt x="0" y="4366"/>
                  </a:moveTo>
                  <a:cubicBezTo>
                    <a:pt x="0" y="1955"/>
                    <a:pt x="1955" y="0"/>
                    <a:pt x="4366" y="0"/>
                  </a:cubicBezTo>
                  <a:lnTo>
                    <a:pt x="21828" y="0"/>
                  </a:lnTo>
                  <a:cubicBezTo>
                    <a:pt x="24239" y="0"/>
                    <a:pt x="26194" y="1955"/>
                    <a:pt x="26194" y="4366"/>
                  </a:cubicBezTo>
                  <a:lnTo>
                    <a:pt x="26194" y="39291"/>
                  </a:lnTo>
                  <a:cubicBezTo>
                    <a:pt x="26194" y="41702"/>
                    <a:pt x="24239" y="43656"/>
                    <a:pt x="21828" y="43656"/>
                  </a:cubicBezTo>
                  <a:lnTo>
                    <a:pt x="4366" y="43656"/>
                  </a:lnTo>
                  <a:cubicBezTo>
                    <a:pt x="1955" y="43656"/>
                    <a:pt x="0" y="41702"/>
                    <a:pt x="0" y="39291"/>
                  </a:cubicBezTo>
                  <a:lnTo>
                    <a:pt x="0" y="4366"/>
                  </a:lnTo>
                </a:path>
              </a:pathLst>
            </a:custGeom>
            <a:noFill/>
            <a:ln w="17463">
              <a:solidFill>
                <a:srgbClr val="4A000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596188" y="4754563"/>
              <a:ext cx="9525" cy="78581"/>
            </a:xfrm>
            <a:custGeom>
              <a:avLst/>
              <a:gdLst/>
              <a:ahLst/>
              <a:cxnLst/>
              <a:rect l="l" t="t" r="r" b="b"/>
              <a:pathLst>
                <a:path w="9525" h="78581">
                  <a:moveTo>
                    <a:pt x="0" y="0"/>
                  </a:moveTo>
                  <a:lnTo>
                    <a:pt x="87" y="0"/>
                  </a:lnTo>
                  <a:moveTo>
                    <a:pt x="0" y="78581"/>
                  </a:moveTo>
                  <a:lnTo>
                    <a:pt x="87" y="78581"/>
                  </a:lnTo>
                </a:path>
              </a:pathLst>
            </a:custGeom>
            <a:noFill/>
            <a:ln w="17463">
              <a:solidFill>
                <a:srgbClr val="4A0005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 descr="/mnt/data/a_sleek_high_resolution_abstract_cybersecurity_te.png">
            <a:extLst>
              <a:ext uri="{FF2B5EF4-FFF2-40B4-BE49-F238E27FC236}">
                <a16:creationId xmlns:a16="http://schemas.microsoft.com/office/drawing/2014/main" id="{87DD99A8-AC7E-4C96-9672-FBD7C07953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1"/>
          <a:stretch/>
        </p:blipFill>
        <p:spPr>
          <a:xfrm>
            <a:off x="1" y="0"/>
            <a:ext cx="12198468" cy="6858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762000" y="762000"/>
            <a:ext cx="1524000" cy="36195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75756" y="870585"/>
            <a:ext cx="10964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UNIT SECTION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3618" y="2298382"/>
            <a:ext cx="278217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150" normalizeH="0" baseline="0" noProof="0" dirty="0">
                <a:ln>
                  <a:noFill/>
                </a:ln>
                <a:solidFill>
                  <a:srgbClr val="F4B40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COURSE ORIENTATION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2950" y="2738438"/>
            <a:ext cx="3928961" cy="5770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Course Overview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3429000"/>
            <a:ext cx="857250" cy="5715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52856" y="3806190"/>
            <a:ext cx="729078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Introduction to Cybersecurity Course Structure and Roadmap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762000" y="4572000"/>
            <a:ext cx="8001000" cy="1238250"/>
            <a:chOff x="762000" y="4572000"/>
            <a:chExt cx="8001000" cy="1238250"/>
          </a:xfrm>
        </p:grpSpPr>
        <p:sp>
          <p:nvSpPr>
            <p:cNvPr id="10" name="Rectangle 10"/>
            <p:cNvSpPr/>
            <p:nvPr/>
          </p:nvSpPr>
          <p:spPr>
            <a:xfrm>
              <a:off x="76200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92981" y="4821769"/>
              <a:ext cx="252413" cy="197113"/>
              <a:chOff x="992981" y="4821769"/>
              <a:chExt cx="252413" cy="19711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92981" y="4997188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92981" y="4821769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92981" y="4843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14425" y="4843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235869" y="4843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383030" y="4829175"/>
              <a:ext cx="13754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About Course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404" y="5223510"/>
              <a:ext cx="20924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Core mission and scope</a:t>
              </a:r>
              <a:br>
                <a: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of cybersecurity discipline.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52425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761978" y="4823222"/>
              <a:ext cx="222648" cy="195659"/>
              <a:chOff x="3761978" y="4823222"/>
              <a:chExt cx="222648" cy="19565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761978" y="4823222"/>
                <a:ext cx="5397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33734">
                    <a:moveTo>
                      <a:pt x="0" y="13494"/>
                    </a:moveTo>
                    <a:lnTo>
                      <a:pt x="20241" y="33734"/>
                    </a:ln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761978" y="4904185"/>
                <a:ext cx="5397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33734">
                    <a:moveTo>
                      <a:pt x="0" y="13494"/>
                    </a:moveTo>
                    <a:lnTo>
                      <a:pt x="20241" y="33734"/>
                    </a:ln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761978" y="4985147"/>
                <a:ext cx="5397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33734">
                    <a:moveTo>
                      <a:pt x="0" y="13494"/>
                    </a:moveTo>
                    <a:lnTo>
                      <a:pt x="20241" y="33734"/>
                    </a:ln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863182" y="4843463"/>
                <a:ext cx="1214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9525">
                    <a:moveTo>
                      <a:pt x="0" y="0"/>
                    </a:moveTo>
                    <a:lnTo>
                      <a:pt x="121444" y="0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863182" y="4924425"/>
                <a:ext cx="1214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9525">
                    <a:moveTo>
                      <a:pt x="0" y="0"/>
                    </a:moveTo>
                    <a:lnTo>
                      <a:pt x="121444" y="0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863182" y="5005388"/>
                <a:ext cx="1214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9525">
                    <a:moveTo>
                      <a:pt x="0" y="0"/>
                    </a:moveTo>
                    <a:lnTo>
                      <a:pt x="121444" y="0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4145280" y="4829175"/>
              <a:ext cx="17369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Contents &amp; Goals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08654" y="5223510"/>
              <a:ext cx="20772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5 core curriculum areas and</a:t>
              </a:r>
              <a:br>
                <a: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course learning objectives.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522906" y="4802981"/>
              <a:ext cx="232012" cy="241404"/>
              <a:chOff x="6522906" y="4802981"/>
              <a:chExt cx="232012" cy="241404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557963" y="4802981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80963"/>
                    </a:moveTo>
                    <a:cubicBezTo>
                      <a:pt x="0" y="125677"/>
                      <a:pt x="36248" y="161925"/>
                      <a:pt x="80963" y="161925"/>
                    </a:cubicBezTo>
                    <a:cubicBezTo>
                      <a:pt x="125677" y="161925"/>
                      <a:pt x="161925" y="125677"/>
                      <a:pt x="161925" y="80963"/>
                    </a:cubicBezTo>
                    <a:cubicBezTo>
                      <a:pt x="161925" y="36248"/>
                      <a:pt x="125677" y="0"/>
                      <a:pt x="80963" y="0"/>
                    </a:cubicBezTo>
                    <a:cubicBezTo>
                      <a:pt x="36248" y="0"/>
                      <a:pt x="0" y="36248"/>
                      <a:pt x="0" y="80963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638925" y="4924425"/>
                <a:ext cx="115993" cy="119960"/>
              </a:xfrm>
              <a:custGeom>
                <a:avLst/>
                <a:gdLst/>
                <a:ahLst/>
                <a:cxnLst/>
                <a:rect l="l" t="t" r="r" b="b"/>
                <a:pathLst>
                  <a:path w="115993" h="119960">
                    <a:moveTo>
                      <a:pt x="0" y="40481"/>
                    </a:moveTo>
                    <a:lnTo>
                      <a:pt x="45879" y="119960"/>
                    </a:lnTo>
                    <a:lnTo>
                      <a:pt x="67442" y="76334"/>
                    </a:lnTo>
                    <a:lnTo>
                      <a:pt x="115993" y="79465"/>
                    </a:lnTo>
                    <a:lnTo>
                      <a:pt x="70114" y="0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22906" y="4924425"/>
                <a:ext cx="115993" cy="119946"/>
              </a:xfrm>
              <a:custGeom>
                <a:avLst/>
                <a:gdLst/>
                <a:ahLst/>
                <a:cxnLst/>
                <a:rect l="l" t="t" r="r" b="b"/>
                <a:pathLst>
                  <a:path w="115993" h="119946">
                    <a:moveTo>
                      <a:pt x="45879" y="0"/>
                    </a:moveTo>
                    <a:lnTo>
                      <a:pt x="0" y="79478"/>
                    </a:lnTo>
                    <a:lnTo>
                      <a:pt x="48551" y="76334"/>
                    </a:lnTo>
                    <a:lnTo>
                      <a:pt x="70114" y="119946"/>
                    </a:lnTo>
                    <a:lnTo>
                      <a:pt x="115993" y="40481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907530" y="4829175"/>
              <a:ext cx="12306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Assessment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0904" y="5223510"/>
              <a:ext cx="18638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Grading criteria and key</a:t>
              </a:r>
              <a:br>
                <a: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course reference books.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Seoul Cyber University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3220723" cy="803910"/>
            <a:chOff x="462534" y="260985"/>
            <a:chExt cx="3220723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32207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About the Course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2263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Cybersecurity is about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76250" y="1333500"/>
            <a:ext cx="8801100" cy="857250"/>
            <a:chOff x="476250" y="1333500"/>
            <a:chExt cx="8801100" cy="857250"/>
          </a:xfrm>
        </p:grpSpPr>
        <p:sp>
          <p:nvSpPr>
            <p:cNvPr id="6" name="Rectangle 6"/>
            <p:cNvSpPr/>
            <p:nvPr/>
          </p:nvSpPr>
          <p:spPr>
            <a:xfrm>
              <a:off x="476250" y="1333500"/>
              <a:ext cx="8801100" cy="857250"/>
            </a:xfrm>
            <a:prstGeom prst="roundRect">
              <a:avLst>
                <a:gd name="adj" fmla="val 17778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476250" y="1333500"/>
              <a:ext cx="95250" cy="857250"/>
            </a:xfrm>
            <a:prstGeom prst="roundRect">
              <a:avLst>
                <a:gd name="adj" fmla="val 40000"/>
              </a:avLst>
            </a:prstGeom>
            <a:solidFill>
              <a:srgbClr val="6B141B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731051" y="1619250"/>
              <a:ext cx="310011" cy="285751"/>
              <a:chOff x="731051" y="1619250"/>
              <a:chExt cx="310011" cy="28575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31051" y="1619250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31750">
                <a:solidFill>
                  <a:srgbClr val="4A0005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42975" y="1841501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4A0005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229868" y="1555432"/>
              <a:ext cx="766533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Cybersecurity is the practice of protecting digital assets and systems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from malicious attacks, unauthorized access, disruption, or destruction.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76250" y="2381250"/>
            <a:ext cx="8801100" cy="4286250"/>
            <a:chOff x="476250" y="2381250"/>
            <a:chExt cx="8801100" cy="4286250"/>
          </a:xfrm>
        </p:grpSpPr>
        <p:sp>
          <p:nvSpPr>
            <p:cNvPr id="13" name="Rectangle 13"/>
            <p:cNvSpPr/>
            <p:nvPr/>
          </p:nvSpPr>
          <p:spPr>
            <a:xfrm>
              <a:off x="476250" y="2381250"/>
              <a:ext cx="2781300" cy="4286250"/>
            </a:xfrm>
            <a:prstGeom prst="roundRect">
              <a:avLst>
                <a:gd name="adj" fmla="val 6849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4" name="Rectangle 14"/>
            <p:cNvSpPr/>
            <p:nvPr/>
          </p:nvSpPr>
          <p:spPr>
            <a:xfrm>
              <a:off x="704850" y="26098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76300" y="2767012"/>
              <a:ext cx="228600" cy="257176"/>
              <a:chOff x="876300" y="2767012"/>
              <a:chExt cx="228600" cy="25717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876300" y="2767012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76300" y="280987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76300" y="289560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694944" y="3408998"/>
              <a:ext cx="18826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Digital Assets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04850" y="3810000"/>
              <a:ext cx="3810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6468" y="4060508"/>
              <a:ext cx="2353246" cy="1694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Confidential data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Customer records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Intellectual property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Financial systems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Cloud storage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486150" y="2381250"/>
              <a:ext cx="2781300" cy="4286250"/>
            </a:xfrm>
            <a:prstGeom prst="roundRect">
              <a:avLst>
                <a:gd name="adj" fmla="val 6849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3714750" y="26098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3871912" y="2781300"/>
              <a:ext cx="257175" cy="228600"/>
              <a:chOff x="3871912" y="2781300"/>
              <a:chExt cx="257175" cy="2286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3871912" y="2781300"/>
                <a:ext cx="2571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14300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lnTo>
                      <a:pt x="214312" y="0"/>
                    </a:lnTo>
                    <a:cubicBezTo>
                      <a:pt x="237985" y="0"/>
                      <a:pt x="257175" y="19190"/>
                      <a:pt x="257175" y="42862"/>
                    </a:cubicBezTo>
                    <a:lnTo>
                      <a:pt x="257175" y="71438"/>
                    </a:lnTo>
                    <a:cubicBezTo>
                      <a:pt x="257175" y="95110"/>
                      <a:pt x="237985" y="114300"/>
                      <a:pt x="214312" y="114300"/>
                    </a:cubicBezTo>
                    <a:lnTo>
                      <a:pt x="42862" y="114300"/>
                    </a:lnTo>
                    <a:cubicBezTo>
                      <a:pt x="19190" y="114300"/>
                      <a:pt x="0" y="95110"/>
                      <a:pt x="0" y="71438"/>
                    </a:cubicBez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871912" y="2895600"/>
                <a:ext cx="2571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14300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lnTo>
                      <a:pt x="214312" y="0"/>
                    </a:lnTo>
                    <a:cubicBezTo>
                      <a:pt x="237985" y="0"/>
                      <a:pt x="257175" y="19190"/>
                      <a:pt x="257175" y="42862"/>
                    </a:cubicBezTo>
                    <a:lnTo>
                      <a:pt x="257175" y="71438"/>
                    </a:lnTo>
                    <a:cubicBezTo>
                      <a:pt x="257175" y="95110"/>
                      <a:pt x="237985" y="114300"/>
                      <a:pt x="214312" y="114300"/>
                    </a:cubicBezTo>
                    <a:lnTo>
                      <a:pt x="42862" y="114300"/>
                    </a:lnTo>
                    <a:cubicBezTo>
                      <a:pt x="19190" y="114300"/>
                      <a:pt x="0" y="95110"/>
                      <a:pt x="0" y="71438"/>
                    </a:cubicBez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929062" y="2838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929062" y="2952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3704844" y="3408998"/>
              <a:ext cx="20898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Digital Systems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714750" y="3810000"/>
              <a:ext cx="3810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06368" y="4060508"/>
              <a:ext cx="2185607" cy="1694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Computer networks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Cloud platforms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Mobile endpoints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Software apps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IoT &amp; ICS devices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96050" y="2381250"/>
              <a:ext cx="2781300" cy="4286250"/>
            </a:xfrm>
            <a:prstGeom prst="roundRect">
              <a:avLst>
                <a:gd name="adj" fmla="val 6849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3" name="Rectangle 33"/>
            <p:cNvSpPr/>
            <p:nvPr/>
          </p:nvSpPr>
          <p:spPr>
            <a:xfrm>
              <a:off x="6724650" y="26098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866309" y="2762266"/>
              <a:ext cx="288171" cy="247577"/>
              <a:chOff x="6866309" y="2762266"/>
              <a:chExt cx="288171" cy="24757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010400" y="285273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866309" y="2762266"/>
                <a:ext cx="288171" cy="247577"/>
              </a:xfrm>
              <a:custGeom>
                <a:avLst/>
                <a:gdLst/>
                <a:ahLst/>
                <a:cxnLst/>
                <a:rect l="l" t="t" r="r" b="b"/>
                <a:pathLst>
                  <a:path w="288171" h="247577">
                    <a:moveTo>
                      <a:pt x="120702" y="13191"/>
                    </a:moveTo>
                    <a:lnTo>
                      <a:pt x="4888" y="206558"/>
                    </a:lnTo>
                    <a:cubicBezTo>
                      <a:pt x="30" y="214971"/>
                      <a:pt x="0" y="225330"/>
                      <a:pt x="4810" y="233771"/>
                    </a:cubicBezTo>
                    <a:cubicBezTo>
                      <a:pt x="9620" y="242213"/>
                      <a:pt x="18548" y="247468"/>
                      <a:pt x="28262" y="247577"/>
                    </a:cubicBezTo>
                    <a:lnTo>
                      <a:pt x="259920" y="247577"/>
                    </a:lnTo>
                    <a:cubicBezTo>
                      <a:pt x="269630" y="247465"/>
                      <a:pt x="278553" y="242212"/>
                      <a:pt x="283362" y="233775"/>
                    </a:cubicBezTo>
                    <a:cubicBezTo>
                      <a:pt x="288171" y="225339"/>
                      <a:pt x="288145" y="214984"/>
                      <a:pt x="283294" y="206572"/>
                    </a:cubicBezTo>
                    <a:lnTo>
                      <a:pt x="167480" y="13176"/>
                    </a:lnTo>
                    <a:cubicBezTo>
                      <a:pt x="162524" y="4996"/>
                      <a:pt x="153655" y="0"/>
                      <a:pt x="144091" y="0"/>
                    </a:cubicBezTo>
                    <a:cubicBezTo>
                      <a:pt x="134527" y="0"/>
                      <a:pt x="125658" y="4996"/>
                      <a:pt x="120702" y="13176"/>
                    </a:cubicBez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010400" y="2952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714744" y="3408998"/>
              <a:ext cx="162671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Adversaries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724650" y="3810000"/>
              <a:ext cx="3810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16268" y="4060508"/>
              <a:ext cx="2279904" cy="1694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Cybercriminals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Ransomware actors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Malicious insiders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Nation-state groups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Hacktivists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6590815" cy="803910"/>
            <a:chOff x="462534" y="260985"/>
            <a:chExt cx="6590815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316301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70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Course Overview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65847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In this course, you will explore five major areas of cybersecurity: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476250" y="1381125"/>
            <a:ext cx="8801100" cy="5381625"/>
          </a:xfrm>
          <a:prstGeom prst="roundRect">
            <a:avLst>
              <a:gd name="adj" fmla="val 3540"/>
            </a:avLst>
          </a:prstGeom>
          <a:solidFill>
            <a:srgbClr val="F8F4EE"/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35" name="Rectangle 35"/>
          <p:cNvSpPr/>
          <p:nvPr/>
        </p:nvSpPr>
        <p:spPr>
          <a:xfrm>
            <a:off x="762000" y="2143125"/>
            <a:ext cx="4381500" cy="666750"/>
          </a:xfrm>
          <a:prstGeom prst="roundRect">
            <a:avLst>
              <a:gd name="adj" fmla="val 20000"/>
            </a:avLst>
          </a:prstGeom>
          <a:solidFill>
            <a:srgbClr val="EFECE6"/>
          </a:solidFill>
          <a:ln w="14288">
            <a:solidFill>
              <a:srgbClr val="DDD7CE"/>
            </a:solidFill>
          </a:ln>
        </p:spPr>
      </p:sp>
      <p:sp>
        <p:nvSpPr>
          <p:cNvPr id="36" name="Ellipse 36"/>
          <p:cNvSpPr/>
          <p:nvPr/>
        </p:nvSpPr>
        <p:spPr>
          <a:xfrm>
            <a:off x="885825" y="2266950"/>
            <a:ext cx="419100" cy="419100"/>
          </a:xfrm>
          <a:prstGeom prst="ellipse">
            <a:avLst/>
          </a:prstGeom>
          <a:solidFill>
            <a:srgbClr val="4A0005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029448" y="23907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20368" y="2217575"/>
            <a:ext cx="2058256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Concepts and </a:t>
            </a: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basic </a:t>
            </a:r>
            <a:b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</a:b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Cryptography</a:t>
            </a:r>
            <a:endParaRPr kumimoji="0" lang="en-US" sz="1650" b="1" i="0" u="none" strike="noStrike" kern="1200" cap="none" spc="0" normalizeH="0" baseline="0" noProof="0" dirty="0">
              <a:ln>
                <a:noFill/>
              </a:ln>
              <a:solidFill>
                <a:srgbClr val="4A0005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0" name="Rectangle 40"/>
          <p:cNvSpPr/>
          <p:nvPr/>
        </p:nvSpPr>
        <p:spPr>
          <a:xfrm>
            <a:off x="5143500" y="3000375"/>
            <a:ext cx="3905250" cy="666750"/>
          </a:xfrm>
          <a:prstGeom prst="roundRect">
            <a:avLst>
              <a:gd name="adj" fmla="val 20000"/>
            </a:avLst>
          </a:prstGeom>
          <a:solidFill>
            <a:srgbClr val="EFECE6"/>
          </a:solidFill>
          <a:ln w="14288">
            <a:solidFill>
              <a:srgbClr val="DDD7CE"/>
            </a:solidFill>
          </a:ln>
        </p:spPr>
      </p:sp>
      <p:sp>
        <p:nvSpPr>
          <p:cNvPr id="41" name="Ellipse 41"/>
          <p:cNvSpPr/>
          <p:nvPr/>
        </p:nvSpPr>
        <p:spPr>
          <a:xfrm>
            <a:off x="8505825" y="3124200"/>
            <a:ext cx="419100" cy="419100"/>
          </a:xfrm>
          <a:prstGeom prst="ellipse">
            <a:avLst/>
          </a:prstGeom>
          <a:solidFill>
            <a:srgbClr val="4A0005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649448" y="324802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895892" y="3084656"/>
            <a:ext cx="1978106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Authentication </a:t>
            </a: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and </a:t>
            </a:r>
            <a:b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</a:b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Access </a:t>
            </a: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44" name="Line 44"/>
          <p:cNvSpPr/>
          <p:nvPr/>
        </p:nvSpPr>
        <p:spPr>
          <a:xfrm>
            <a:off x="7277100" y="3333750"/>
            <a:ext cx="1228725" cy="9525"/>
          </a:xfrm>
          <a:custGeom>
            <a:avLst/>
            <a:gdLst/>
            <a:ahLst/>
            <a:cxnLst/>
            <a:rect l="l" t="t" r="r" b="b"/>
            <a:pathLst>
              <a:path w="1228725" h="9525">
                <a:moveTo>
                  <a:pt x="0" y="0"/>
                </a:moveTo>
                <a:lnTo>
                  <a:pt x="1228725" y="0"/>
                </a:lnTo>
              </a:path>
            </a:pathLst>
          </a:custGeom>
          <a:noFill/>
          <a:ln w="19050">
            <a:solidFill>
              <a:srgbClr val="4A0005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762000" y="3857625"/>
            <a:ext cx="4381500" cy="666750"/>
          </a:xfrm>
          <a:prstGeom prst="roundRect">
            <a:avLst>
              <a:gd name="adj" fmla="val 20000"/>
            </a:avLst>
          </a:prstGeom>
          <a:solidFill>
            <a:srgbClr val="EFECE6"/>
          </a:solidFill>
          <a:ln w="14288">
            <a:solidFill>
              <a:srgbClr val="DDD7CE"/>
            </a:solidFill>
          </a:ln>
        </p:spPr>
      </p:sp>
      <p:sp>
        <p:nvSpPr>
          <p:cNvPr id="46" name="Ellipse 46"/>
          <p:cNvSpPr/>
          <p:nvPr/>
        </p:nvSpPr>
        <p:spPr>
          <a:xfrm>
            <a:off x="885825" y="3981450"/>
            <a:ext cx="419100" cy="419100"/>
          </a:xfrm>
          <a:prstGeom prst="ellipse">
            <a:avLst/>
          </a:prstGeom>
          <a:solidFill>
            <a:srgbClr val="4A0005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029448" y="41052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20368" y="3922240"/>
            <a:ext cx="1785745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Network </a:t>
            </a: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Security </a:t>
            </a:r>
            <a:b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</a:b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and </a:t>
            </a: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Protocols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143500" y="4714875"/>
            <a:ext cx="3905250" cy="666750"/>
          </a:xfrm>
          <a:prstGeom prst="roundRect">
            <a:avLst>
              <a:gd name="adj" fmla="val 20000"/>
            </a:avLst>
          </a:prstGeom>
          <a:solidFill>
            <a:srgbClr val="EFECE6"/>
          </a:solidFill>
          <a:ln w="14288">
            <a:solidFill>
              <a:srgbClr val="DDD7CE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8505825" y="4838700"/>
            <a:ext cx="419100" cy="419100"/>
          </a:xfrm>
          <a:prstGeom prst="ellipse">
            <a:avLst/>
          </a:prstGeom>
          <a:solidFill>
            <a:srgbClr val="4A0005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649448" y="496252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935219" y="4769658"/>
            <a:ext cx="2399696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Software, Malware, </a:t>
            </a: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and </a:t>
            </a:r>
            <a:b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</a:b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Databases</a:t>
            </a:r>
            <a:endParaRPr kumimoji="0" lang="en-US" sz="1650" b="1" i="0" u="none" strike="noStrike" kern="1200" cap="none" spc="0" normalizeH="0" baseline="0" noProof="0" dirty="0">
              <a:ln>
                <a:noFill/>
              </a:ln>
              <a:solidFill>
                <a:srgbClr val="4A0005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54" name="Line 54"/>
          <p:cNvSpPr/>
          <p:nvPr/>
        </p:nvSpPr>
        <p:spPr>
          <a:xfrm>
            <a:off x="7372350" y="5048250"/>
            <a:ext cx="1133475" cy="9525"/>
          </a:xfrm>
          <a:custGeom>
            <a:avLst/>
            <a:gdLst/>
            <a:ahLst/>
            <a:cxnLst/>
            <a:rect l="l" t="t" r="r" b="b"/>
            <a:pathLst>
              <a:path w="1133475" h="9525">
                <a:moveTo>
                  <a:pt x="0" y="0"/>
                </a:moveTo>
                <a:lnTo>
                  <a:pt x="1133475" y="0"/>
                </a:lnTo>
              </a:path>
            </a:pathLst>
          </a:custGeom>
          <a:noFill/>
          <a:ln w="19050">
            <a:solidFill>
              <a:srgbClr val="4A0005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762000" y="5572125"/>
            <a:ext cx="4381500" cy="666750"/>
          </a:xfrm>
          <a:prstGeom prst="roundRect">
            <a:avLst>
              <a:gd name="adj" fmla="val 20000"/>
            </a:avLst>
          </a:prstGeom>
          <a:solidFill>
            <a:srgbClr val="EFECE6"/>
          </a:solidFill>
          <a:ln w="14288">
            <a:solidFill>
              <a:srgbClr val="DDD7CE"/>
            </a:solidFill>
          </a:ln>
        </p:spPr>
      </p:sp>
      <p:sp>
        <p:nvSpPr>
          <p:cNvPr id="56" name="Ellipse 56"/>
          <p:cNvSpPr/>
          <p:nvPr/>
        </p:nvSpPr>
        <p:spPr>
          <a:xfrm>
            <a:off x="885825" y="5695950"/>
            <a:ext cx="419100" cy="419100"/>
          </a:xfrm>
          <a:prstGeom prst="ellipse">
            <a:avLst/>
          </a:prstGeom>
          <a:solidFill>
            <a:srgbClr val="4A0005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1029448" y="58197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440033" y="5676069"/>
            <a:ext cx="2042419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Cloud, AI, Risk, </a:t>
            </a: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and </a:t>
            </a:r>
            <a:b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</a:b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Privacy</a:t>
            </a:r>
            <a:endParaRPr kumimoji="0" lang="en-US" sz="1650" b="1" i="0" u="none" strike="noStrike" kern="1200" cap="none" spc="0" normalizeH="0" baseline="0" noProof="0" dirty="0">
              <a:ln>
                <a:noFill/>
              </a:ln>
              <a:solidFill>
                <a:srgbClr val="4A0005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7" name="Ellipse 7"/>
          <p:cNvSpPr/>
          <p:nvPr/>
        </p:nvSpPr>
        <p:spPr>
          <a:xfrm>
            <a:off x="4067747" y="2019300"/>
            <a:ext cx="914400" cy="914400"/>
          </a:xfrm>
          <a:prstGeom prst="ellipse">
            <a:avLst/>
          </a:prstGeom>
          <a:solidFill>
            <a:srgbClr val="4A0005"/>
          </a:solidFill>
          <a:ln w="19050">
            <a:solidFill>
              <a:srgbClr val="F4B400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4391597" y="2305050"/>
            <a:ext cx="266700" cy="342900"/>
            <a:chOff x="5867400" y="2305050"/>
            <a:chExt cx="266700" cy="342900"/>
          </a:xfrm>
        </p:grpSpPr>
        <p:sp>
          <p:nvSpPr>
            <p:cNvPr id="8" name="Freeform 8"/>
            <p:cNvSpPr/>
            <p:nvPr/>
          </p:nvSpPr>
          <p:spPr>
            <a:xfrm>
              <a:off x="5867400" y="2457450"/>
              <a:ext cx="266700" cy="190500"/>
            </a:xfrm>
            <a:custGeom>
              <a:avLst/>
              <a:gdLst/>
              <a:ahLst/>
              <a:cxnLst/>
              <a:rect l="l" t="t" r="r" b="b"/>
              <a:pathLst>
                <a:path w="266700" h="190500">
                  <a:moveTo>
                    <a:pt x="0" y="38100"/>
                  </a:moveTo>
                  <a:cubicBezTo>
                    <a:pt x="0" y="17058"/>
                    <a:pt x="17058" y="0"/>
                    <a:pt x="38100" y="0"/>
                  </a:cubicBezTo>
                  <a:lnTo>
                    <a:pt x="228600" y="0"/>
                  </a:lnTo>
                  <a:cubicBezTo>
                    <a:pt x="249642" y="0"/>
                    <a:pt x="266700" y="17058"/>
                    <a:pt x="266700" y="38100"/>
                  </a:cubicBezTo>
                  <a:lnTo>
                    <a:pt x="266700" y="152400"/>
                  </a:lnTo>
                  <a:cubicBezTo>
                    <a:pt x="266700" y="173442"/>
                    <a:pt x="249642" y="190500"/>
                    <a:pt x="228600" y="190500"/>
                  </a:cubicBezTo>
                  <a:lnTo>
                    <a:pt x="38100" y="190500"/>
                  </a:lnTo>
                  <a:cubicBezTo>
                    <a:pt x="17058" y="190500"/>
                    <a:pt x="0" y="173442"/>
                    <a:pt x="0" y="152400"/>
                  </a:cubicBezTo>
                  <a:lnTo>
                    <a:pt x="0" y="38100"/>
                  </a:lnTo>
                </a:path>
              </a:pathLst>
            </a:custGeom>
            <a:noFill/>
            <a:ln w="38100">
              <a:solidFill>
                <a:srgbClr val="F4B40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981700" y="253365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19050"/>
                  </a:moveTo>
                  <a:cubicBezTo>
                    <a:pt x="0" y="29571"/>
                    <a:pt x="8529" y="38100"/>
                    <a:pt x="19050" y="38100"/>
                  </a:cubicBezTo>
                  <a:cubicBezTo>
                    <a:pt x="29571" y="38100"/>
                    <a:pt x="38100" y="29571"/>
                    <a:pt x="38100" y="19050"/>
                  </a:cubicBezTo>
                  <a:cubicBezTo>
                    <a:pt x="38100" y="8529"/>
                    <a:pt x="29571" y="0"/>
                    <a:pt x="19050" y="0"/>
                  </a:cubicBezTo>
                  <a:cubicBezTo>
                    <a:pt x="8529" y="0"/>
                    <a:pt x="0" y="8529"/>
                    <a:pt x="0" y="19050"/>
                  </a:cubicBezTo>
                </a:path>
              </a:pathLst>
            </a:custGeom>
            <a:noFill/>
            <a:ln w="38100">
              <a:solidFill>
                <a:srgbClr val="F4B4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924550" y="230505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lnTo>
                    <a:pt x="152400" y="152400"/>
                  </a:lnTo>
                </a:path>
              </a:pathLst>
            </a:custGeom>
            <a:noFill/>
            <a:ln w="38100">
              <a:solidFill>
                <a:srgbClr val="F4B400"/>
              </a:solidFill>
            </a:ln>
          </p:spPr>
        </p:sp>
      </p:grpSp>
      <p:sp>
        <p:nvSpPr>
          <p:cNvPr id="12" name="Ellipse 12"/>
          <p:cNvSpPr/>
          <p:nvPr/>
        </p:nvSpPr>
        <p:spPr>
          <a:xfrm>
            <a:off x="4963097" y="2914650"/>
            <a:ext cx="838200" cy="838200"/>
          </a:xfrm>
          <a:prstGeom prst="ellipse">
            <a:avLst/>
          </a:prstGeom>
          <a:solidFill>
            <a:srgbClr val="6B141B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5277422" y="3176587"/>
            <a:ext cx="261937" cy="314325"/>
            <a:chOff x="6753225" y="3176587"/>
            <a:chExt cx="261937" cy="314325"/>
          </a:xfrm>
        </p:grpSpPr>
        <p:sp>
          <p:nvSpPr>
            <p:cNvPr id="13" name="Freeform 13"/>
            <p:cNvSpPr/>
            <p:nvPr/>
          </p:nvSpPr>
          <p:spPr>
            <a:xfrm>
              <a:off x="6788150" y="3176587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139700" h="139700">
                  <a:moveTo>
                    <a:pt x="0" y="69850"/>
                  </a:moveTo>
                  <a:cubicBezTo>
                    <a:pt x="0" y="108427"/>
                    <a:pt x="31273" y="139700"/>
                    <a:pt x="69850" y="139700"/>
                  </a:cubicBezTo>
                  <a:cubicBezTo>
                    <a:pt x="108427" y="139700"/>
                    <a:pt x="139700" y="108427"/>
                    <a:pt x="139700" y="69850"/>
                  </a:cubicBezTo>
                  <a:cubicBezTo>
                    <a:pt x="139700" y="31273"/>
                    <a:pt x="108427" y="0"/>
                    <a:pt x="69850" y="0"/>
                  </a:cubicBezTo>
                  <a:cubicBezTo>
                    <a:pt x="31273" y="0"/>
                    <a:pt x="0" y="31273"/>
                    <a:pt x="0" y="69850"/>
                  </a:cubicBezTo>
                </a:path>
              </a:pathLst>
            </a:custGeom>
            <a:noFill/>
            <a:ln w="34925">
              <a:solidFill>
                <a:srgbClr val="FFFFFF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753225" y="3386137"/>
              <a:ext cx="139700" cy="104775"/>
            </a:xfrm>
            <a:custGeom>
              <a:avLst/>
              <a:gdLst/>
              <a:ahLst/>
              <a:cxnLst/>
              <a:rect l="l" t="t" r="r" b="b"/>
              <a:pathLst>
                <a:path w="139700" h="104775">
                  <a:moveTo>
                    <a:pt x="0" y="104775"/>
                  </a:moveTo>
                  <a:lnTo>
                    <a:pt x="0" y="69850"/>
                  </a:lnTo>
                  <a:cubicBezTo>
                    <a:pt x="0" y="31273"/>
                    <a:pt x="31273" y="0"/>
                    <a:pt x="69850" y="0"/>
                  </a:cubicBezTo>
                  <a:lnTo>
                    <a:pt x="139700" y="0"/>
                  </a:lnTo>
                </a:path>
              </a:pathLst>
            </a:custGeom>
            <a:noFill/>
            <a:ln w="34925">
              <a:solidFill>
                <a:srgbClr val="FFFFFF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910387" y="3421062"/>
              <a:ext cx="104775" cy="69850"/>
            </a:xfrm>
            <a:custGeom>
              <a:avLst/>
              <a:gdLst/>
              <a:ahLst/>
              <a:cxnLst/>
              <a:rect l="l" t="t" r="r" b="b"/>
              <a:pathLst>
                <a:path w="104775" h="69850">
                  <a:moveTo>
                    <a:pt x="0" y="34925"/>
                  </a:moveTo>
                  <a:lnTo>
                    <a:pt x="34925" y="69850"/>
                  </a:lnTo>
                  <a:lnTo>
                    <a:pt x="104775" y="0"/>
                  </a:lnTo>
                </a:path>
              </a:pathLst>
            </a:custGeom>
            <a:noFill/>
            <a:ln w="34925">
              <a:solidFill>
                <a:srgbClr val="FFFFFF"/>
              </a:solidFill>
            </a:ln>
          </p:spPr>
        </p:sp>
      </p:grpSp>
      <p:sp>
        <p:nvSpPr>
          <p:cNvPr id="17" name="Ellipse 17"/>
          <p:cNvSpPr/>
          <p:nvPr/>
        </p:nvSpPr>
        <p:spPr>
          <a:xfrm>
            <a:off x="4010597" y="3771900"/>
            <a:ext cx="838200" cy="838200"/>
          </a:xfrm>
          <a:prstGeom prst="ellipse">
            <a:avLst/>
          </a:prstGeom>
          <a:solidFill>
            <a:srgbClr val="4A0005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4272534" y="4033837"/>
            <a:ext cx="314324" cy="314324"/>
            <a:chOff x="5748337" y="4033837"/>
            <a:chExt cx="314324" cy="314324"/>
          </a:xfrm>
        </p:grpSpPr>
        <p:sp>
          <p:nvSpPr>
            <p:cNvPr id="18" name="Freeform 18"/>
            <p:cNvSpPr/>
            <p:nvPr/>
          </p:nvSpPr>
          <p:spPr>
            <a:xfrm>
              <a:off x="5748337" y="4033837"/>
              <a:ext cx="314324" cy="314324"/>
            </a:xfrm>
            <a:custGeom>
              <a:avLst/>
              <a:gdLst/>
              <a:ahLst/>
              <a:cxnLst/>
              <a:rect l="l" t="t" r="r" b="b"/>
              <a:pathLst>
                <a:path w="314324" h="314324">
                  <a:moveTo>
                    <a:pt x="0" y="157162"/>
                  </a:moveTo>
                  <a:cubicBezTo>
                    <a:pt x="0" y="243961"/>
                    <a:pt x="70364" y="314324"/>
                    <a:pt x="157162" y="314324"/>
                  </a:cubicBezTo>
                  <a:cubicBezTo>
                    <a:pt x="243961" y="314324"/>
                    <a:pt x="314324" y="243961"/>
                    <a:pt x="314324" y="157162"/>
                  </a:cubicBezTo>
                  <a:cubicBezTo>
                    <a:pt x="314324" y="70364"/>
                    <a:pt x="243961" y="0"/>
                    <a:pt x="157162" y="0"/>
                  </a:cubicBezTo>
                  <a:cubicBezTo>
                    <a:pt x="70364" y="0"/>
                    <a:pt x="0" y="70364"/>
                    <a:pt x="0" y="157162"/>
                  </a:cubicBezTo>
                </a:path>
              </a:pathLst>
            </a:custGeom>
            <a:noFill/>
            <a:ln w="34925">
              <a:solidFill>
                <a:srgbClr val="F4B400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758815" y="4138612"/>
              <a:ext cx="293369" cy="9525"/>
            </a:xfrm>
            <a:custGeom>
              <a:avLst/>
              <a:gdLst/>
              <a:ahLst/>
              <a:cxnLst/>
              <a:rect l="l" t="t" r="r" b="b"/>
              <a:pathLst>
                <a:path w="293369" h="9525">
                  <a:moveTo>
                    <a:pt x="0" y="0"/>
                  </a:moveTo>
                  <a:lnTo>
                    <a:pt x="293369" y="0"/>
                  </a:lnTo>
                </a:path>
              </a:pathLst>
            </a:custGeom>
            <a:noFill/>
            <a:ln w="34925">
              <a:solidFill>
                <a:srgbClr val="F4B400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758815" y="4243387"/>
              <a:ext cx="293369" cy="9525"/>
            </a:xfrm>
            <a:custGeom>
              <a:avLst/>
              <a:gdLst/>
              <a:ahLst/>
              <a:cxnLst/>
              <a:rect l="l" t="t" r="r" b="b"/>
              <a:pathLst>
                <a:path w="293369" h="9525">
                  <a:moveTo>
                    <a:pt x="0" y="0"/>
                  </a:moveTo>
                  <a:lnTo>
                    <a:pt x="293369" y="0"/>
                  </a:lnTo>
                </a:path>
              </a:pathLst>
            </a:custGeom>
            <a:noFill/>
            <a:ln w="34925">
              <a:solidFill>
                <a:srgbClr val="F4B400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836749" y="4033837"/>
              <a:ext cx="60020" cy="314324"/>
            </a:xfrm>
            <a:custGeom>
              <a:avLst/>
              <a:gdLst/>
              <a:ahLst/>
              <a:cxnLst/>
              <a:rect l="l" t="t" r="r" b="b"/>
              <a:pathLst>
                <a:path w="60020" h="314324">
                  <a:moveTo>
                    <a:pt x="60020" y="0"/>
                  </a:moveTo>
                  <a:cubicBezTo>
                    <a:pt x="0" y="96179"/>
                    <a:pt x="0" y="218145"/>
                    <a:pt x="60020" y="314324"/>
                  </a:cubicBezTo>
                </a:path>
              </a:pathLst>
            </a:custGeom>
            <a:noFill/>
            <a:ln w="34925">
              <a:solidFill>
                <a:srgbClr val="F4B400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914231" y="4033837"/>
              <a:ext cx="60020" cy="314324"/>
            </a:xfrm>
            <a:custGeom>
              <a:avLst/>
              <a:gdLst/>
              <a:ahLst/>
              <a:cxnLst/>
              <a:rect l="l" t="t" r="r" b="b"/>
              <a:pathLst>
                <a:path w="60020" h="314324">
                  <a:moveTo>
                    <a:pt x="0" y="0"/>
                  </a:moveTo>
                  <a:cubicBezTo>
                    <a:pt x="60020" y="96179"/>
                    <a:pt x="60020" y="218145"/>
                    <a:pt x="0" y="314324"/>
                  </a:cubicBezTo>
                </a:path>
              </a:pathLst>
            </a:custGeom>
            <a:noFill/>
            <a:ln w="34925">
              <a:solidFill>
                <a:srgbClr val="F4B400"/>
              </a:solidFill>
            </a:ln>
          </p:spPr>
        </p:sp>
      </p:grpSp>
      <p:sp>
        <p:nvSpPr>
          <p:cNvPr id="24" name="Ellipse 24"/>
          <p:cNvSpPr/>
          <p:nvPr/>
        </p:nvSpPr>
        <p:spPr>
          <a:xfrm>
            <a:off x="5058347" y="4629150"/>
            <a:ext cx="838200" cy="838200"/>
          </a:xfrm>
          <a:prstGeom prst="ellipse">
            <a:avLst/>
          </a:prstGeom>
          <a:solidFill>
            <a:srgbClr val="6B141B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5337747" y="4891087"/>
            <a:ext cx="279399" cy="314325"/>
            <a:chOff x="6813550" y="4891087"/>
            <a:chExt cx="279399" cy="314325"/>
          </a:xfrm>
        </p:grpSpPr>
        <p:sp>
          <p:nvSpPr>
            <p:cNvPr id="25" name="Freeform 25"/>
            <p:cNvSpPr/>
            <p:nvPr/>
          </p:nvSpPr>
          <p:spPr>
            <a:xfrm>
              <a:off x="6813550" y="4891087"/>
              <a:ext cx="279399" cy="104775"/>
            </a:xfrm>
            <a:custGeom>
              <a:avLst/>
              <a:gdLst/>
              <a:ahLst/>
              <a:cxnLst/>
              <a:rect l="l" t="t" r="r" b="b"/>
              <a:pathLst>
                <a:path w="279399" h="104775">
                  <a:moveTo>
                    <a:pt x="0" y="52387"/>
                  </a:moveTo>
                  <a:cubicBezTo>
                    <a:pt x="0" y="81320"/>
                    <a:pt x="62546" y="104775"/>
                    <a:pt x="139700" y="104775"/>
                  </a:cubicBezTo>
                  <a:cubicBezTo>
                    <a:pt x="216854" y="104775"/>
                    <a:pt x="279399" y="81320"/>
                    <a:pt x="279399" y="52387"/>
                  </a:cubicBezTo>
                  <a:cubicBezTo>
                    <a:pt x="279399" y="23455"/>
                    <a:pt x="216854" y="0"/>
                    <a:pt x="139700" y="0"/>
                  </a:cubicBezTo>
                  <a:cubicBezTo>
                    <a:pt x="62546" y="0"/>
                    <a:pt x="0" y="23455"/>
                    <a:pt x="0" y="52387"/>
                  </a:cubicBezTo>
                </a:path>
              </a:pathLst>
            </a:custGeom>
            <a:noFill/>
            <a:ln w="34925">
              <a:solidFill>
                <a:srgbClr val="FFFFFF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813550" y="4943475"/>
              <a:ext cx="279399" cy="157162"/>
            </a:xfrm>
            <a:custGeom>
              <a:avLst/>
              <a:gdLst/>
              <a:ahLst/>
              <a:cxnLst/>
              <a:rect l="l" t="t" r="r" b="b"/>
              <a:pathLst>
                <a:path w="279399" h="157162">
                  <a:moveTo>
                    <a:pt x="0" y="0"/>
                  </a:moveTo>
                  <a:lnTo>
                    <a:pt x="0" y="104775"/>
                  </a:lnTo>
                  <a:cubicBezTo>
                    <a:pt x="0" y="133708"/>
                    <a:pt x="62546" y="157162"/>
                    <a:pt x="139700" y="157162"/>
                  </a:cubicBezTo>
                  <a:cubicBezTo>
                    <a:pt x="216854" y="157162"/>
                    <a:pt x="279399" y="133708"/>
                    <a:pt x="279399" y="104775"/>
                  </a:cubicBezTo>
                  <a:lnTo>
                    <a:pt x="279399" y="0"/>
                  </a:lnTo>
                </a:path>
              </a:pathLst>
            </a:custGeom>
            <a:noFill/>
            <a:ln w="34925">
              <a:solidFill>
                <a:srgbClr val="FFFFFF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813550" y="5048250"/>
              <a:ext cx="279399" cy="157162"/>
            </a:xfrm>
            <a:custGeom>
              <a:avLst/>
              <a:gdLst/>
              <a:ahLst/>
              <a:cxnLst/>
              <a:rect l="l" t="t" r="r" b="b"/>
              <a:pathLst>
                <a:path w="279399" h="157162">
                  <a:moveTo>
                    <a:pt x="0" y="0"/>
                  </a:moveTo>
                  <a:lnTo>
                    <a:pt x="0" y="104775"/>
                  </a:lnTo>
                  <a:cubicBezTo>
                    <a:pt x="0" y="133708"/>
                    <a:pt x="62546" y="157162"/>
                    <a:pt x="139700" y="157162"/>
                  </a:cubicBezTo>
                  <a:cubicBezTo>
                    <a:pt x="216854" y="157162"/>
                    <a:pt x="279399" y="133708"/>
                    <a:pt x="279399" y="104775"/>
                  </a:cubicBezTo>
                  <a:lnTo>
                    <a:pt x="279399" y="0"/>
                  </a:lnTo>
                </a:path>
              </a:pathLst>
            </a:custGeom>
            <a:noFill/>
            <a:ln w="34925">
              <a:solidFill>
                <a:srgbClr val="FFFFFF"/>
              </a:solidFill>
            </a:ln>
          </p:spPr>
        </p:sp>
      </p:grpSp>
      <p:sp>
        <p:nvSpPr>
          <p:cNvPr id="29" name="Ellipse 29"/>
          <p:cNvSpPr/>
          <p:nvPr/>
        </p:nvSpPr>
        <p:spPr>
          <a:xfrm>
            <a:off x="4105847" y="5486400"/>
            <a:ext cx="838200" cy="838200"/>
          </a:xfrm>
          <a:prstGeom prst="ellipse">
            <a:avLst/>
          </a:prstGeom>
          <a:solidFill>
            <a:srgbClr val="4A0005"/>
          </a:solidFill>
          <a:ln>
            <a:noFill/>
          </a:ln>
        </p:spPr>
      </p:sp>
      <p:grpSp>
        <p:nvGrpSpPr>
          <p:cNvPr id="33" name="Group 33"/>
          <p:cNvGrpSpPr/>
          <p:nvPr/>
        </p:nvGrpSpPr>
        <p:grpSpPr>
          <a:xfrm>
            <a:off x="4347214" y="5776941"/>
            <a:ext cx="361089" cy="268258"/>
            <a:chOff x="5823017" y="5776941"/>
            <a:chExt cx="361089" cy="268258"/>
          </a:xfrm>
        </p:grpSpPr>
        <p:sp>
          <p:nvSpPr>
            <p:cNvPr id="30" name="Freeform 30"/>
            <p:cNvSpPr/>
            <p:nvPr/>
          </p:nvSpPr>
          <p:spPr>
            <a:xfrm>
              <a:off x="5823017" y="5776941"/>
              <a:ext cx="361089" cy="233334"/>
            </a:xfrm>
            <a:custGeom>
              <a:avLst/>
              <a:gdLst/>
              <a:ahLst/>
              <a:cxnLst/>
              <a:rect l="l" t="t" r="r" b="b"/>
              <a:pathLst>
                <a:path w="361089" h="233334">
                  <a:moveTo>
                    <a:pt x="299970" y="233334"/>
                  </a:moveTo>
                  <a:cubicBezTo>
                    <a:pt x="333725" y="233334"/>
                    <a:pt x="361089" y="205970"/>
                    <a:pt x="361089" y="172215"/>
                  </a:cubicBezTo>
                  <a:cubicBezTo>
                    <a:pt x="361089" y="138460"/>
                    <a:pt x="333725" y="111096"/>
                    <a:pt x="299970" y="111096"/>
                  </a:cubicBezTo>
                  <a:lnTo>
                    <a:pt x="282508" y="111096"/>
                  </a:lnTo>
                  <a:cubicBezTo>
                    <a:pt x="289440" y="80223"/>
                    <a:pt x="277531" y="48354"/>
                    <a:pt x="251285" y="27503"/>
                  </a:cubicBezTo>
                  <a:cubicBezTo>
                    <a:pt x="225039" y="6671"/>
                    <a:pt x="188420" y="0"/>
                    <a:pt x="155241" y="10041"/>
                  </a:cubicBezTo>
                  <a:cubicBezTo>
                    <a:pt x="122063" y="20082"/>
                    <a:pt x="97353" y="45298"/>
                    <a:pt x="90421" y="76171"/>
                  </a:cubicBezTo>
                  <a:cubicBezTo>
                    <a:pt x="52021" y="74635"/>
                    <a:pt x="17864" y="99327"/>
                    <a:pt x="8941" y="135072"/>
                  </a:cubicBezTo>
                  <a:cubicBezTo>
                    <a:pt x="0" y="170818"/>
                    <a:pt x="18790" y="207611"/>
                    <a:pt x="53749" y="222856"/>
                  </a:cubicBezTo>
                </a:path>
              </a:pathLst>
            </a:custGeom>
            <a:noFill/>
            <a:ln w="34925">
              <a:solidFill>
                <a:srgbClr val="F4B40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930900" y="5957887"/>
              <a:ext cx="139700" cy="87312"/>
            </a:xfrm>
            <a:custGeom>
              <a:avLst/>
              <a:gdLst/>
              <a:ahLst/>
              <a:cxnLst/>
              <a:rect l="l" t="t" r="r" b="b"/>
              <a:pathLst>
                <a:path w="139700" h="87312">
                  <a:moveTo>
                    <a:pt x="0" y="17462"/>
                  </a:moveTo>
                  <a:cubicBezTo>
                    <a:pt x="0" y="7818"/>
                    <a:pt x="7818" y="0"/>
                    <a:pt x="17462" y="0"/>
                  </a:cubicBezTo>
                  <a:lnTo>
                    <a:pt x="122237" y="0"/>
                  </a:lnTo>
                  <a:cubicBezTo>
                    <a:pt x="131882" y="0"/>
                    <a:pt x="139700" y="7818"/>
                    <a:pt x="139700" y="17462"/>
                  </a:cubicBezTo>
                  <a:lnTo>
                    <a:pt x="139700" y="69850"/>
                  </a:lnTo>
                  <a:cubicBezTo>
                    <a:pt x="139700" y="79494"/>
                    <a:pt x="131882" y="87312"/>
                    <a:pt x="122237" y="87312"/>
                  </a:cubicBezTo>
                  <a:lnTo>
                    <a:pt x="17462" y="87312"/>
                  </a:lnTo>
                  <a:cubicBezTo>
                    <a:pt x="7818" y="87312"/>
                    <a:pt x="0" y="79494"/>
                    <a:pt x="0" y="69850"/>
                  </a:cubicBezTo>
                  <a:lnTo>
                    <a:pt x="0" y="17462"/>
                  </a:lnTo>
                </a:path>
              </a:pathLst>
            </a:custGeom>
            <a:noFill/>
            <a:ln w="34925">
              <a:solidFill>
                <a:srgbClr val="F4B40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5965825" y="5888037"/>
              <a:ext cx="69850" cy="69850"/>
            </a:xfrm>
            <a:custGeom>
              <a:avLst/>
              <a:gdLst/>
              <a:ahLst/>
              <a:cxnLst/>
              <a:rect l="l" t="t" r="r" b="b"/>
              <a:pathLst>
                <a:path w="69850" h="69850">
                  <a:moveTo>
                    <a:pt x="0" y="69850"/>
                  </a:moveTo>
                  <a:lnTo>
                    <a:pt x="0" y="34925"/>
                  </a:lnTo>
                  <a:cubicBezTo>
                    <a:pt x="0" y="15636"/>
                    <a:pt x="15636" y="0"/>
                    <a:pt x="34925" y="0"/>
                  </a:cubicBezTo>
                  <a:cubicBezTo>
                    <a:pt x="54213" y="0"/>
                    <a:pt x="69850" y="15636"/>
                    <a:pt x="69850" y="34925"/>
                  </a:cubicBezTo>
                  <a:lnTo>
                    <a:pt x="69850" y="69850"/>
                  </a:lnTo>
                </a:path>
              </a:pathLst>
            </a:custGeom>
            <a:noFill/>
            <a:ln w="34925">
              <a:solidFill>
                <a:srgbClr val="F4B400"/>
              </a:solidFill>
            </a:ln>
          </p:spPr>
        </p:sp>
      </p:grpSp>
      <p:sp>
        <p:nvSpPr>
          <p:cNvPr id="34" name="Freeform 34"/>
          <p:cNvSpPr/>
          <p:nvPr/>
        </p:nvSpPr>
        <p:spPr>
          <a:xfrm>
            <a:off x="4429697" y="2476500"/>
            <a:ext cx="1047750" cy="3429000"/>
          </a:xfrm>
          <a:custGeom>
            <a:avLst/>
            <a:gdLst/>
            <a:ahLst/>
            <a:cxnLst/>
            <a:rect l="l" t="t" r="r" b="b"/>
            <a:pathLst>
              <a:path w="1047750" h="3429000">
                <a:moveTo>
                  <a:pt x="95250" y="0"/>
                </a:moveTo>
                <a:lnTo>
                  <a:pt x="952500" y="857250"/>
                </a:lnTo>
                <a:lnTo>
                  <a:pt x="0" y="1714500"/>
                </a:lnTo>
                <a:lnTo>
                  <a:pt x="1047750" y="2571750"/>
                </a:lnTo>
                <a:lnTo>
                  <a:pt x="95250" y="3429000"/>
                </a:lnTo>
              </a:path>
            </a:pathLst>
          </a:custGeom>
          <a:noFill/>
          <a:ln w="28575">
            <a:solidFill>
              <a:srgbClr val="F4B400"/>
            </a:solidFill>
            <a:custDash>
              <a:ds d="200000" sp="133333"/>
            </a:custDash>
          </a:ln>
        </p:spPr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BCF4AECA-488A-4925-A206-6A2312F620DA}"/>
              </a:ext>
            </a:extLst>
          </p:cNvPr>
          <p:cNvGrpSpPr/>
          <p:nvPr/>
        </p:nvGrpSpPr>
        <p:grpSpPr>
          <a:xfrm>
            <a:off x="2914650" y="2476500"/>
            <a:ext cx="1191197" cy="3438525"/>
            <a:chOff x="3667697" y="2476500"/>
            <a:chExt cx="438150" cy="3438525"/>
          </a:xfrm>
        </p:grpSpPr>
        <p:sp>
          <p:nvSpPr>
            <p:cNvPr id="39" name="Line 39"/>
            <p:cNvSpPr/>
            <p:nvPr/>
          </p:nvSpPr>
          <p:spPr>
            <a:xfrm>
              <a:off x="3667697" y="24765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rgbClr val="4A0005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3667697" y="41910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>
              <a:solidFill>
                <a:srgbClr val="4A0005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3667697" y="590550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4A0005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4471192" cy="803910"/>
            <a:chOff x="462534" y="260985"/>
            <a:chExt cx="4471192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37334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Learning Objectives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4465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By the end of the course, you will be able to: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76250" y="1381125"/>
            <a:ext cx="8801100" cy="5314950"/>
            <a:chOff x="476250" y="1381125"/>
            <a:chExt cx="8801100" cy="5314950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8801100" cy="933450"/>
            </a:xfrm>
            <a:prstGeom prst="roundRect">
              <a:avLst>
                <a:gd name="adj" fmla="val 14286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Ellipse 7"/>
            <p:cNvSpPr/>
            <p:nvPr/>
          </p:nvSpPr>
          <p:spPr>
            <a:xfrm>
              <a:off x="714375" y="1657350"/>
              <a:ext cx="381000" cy="3810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5540" y="17687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29868" y="1564958"/>
              <a:ext cx="6732842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Explain core cybersecurity concepts,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terminology, requirements, principles, and cryptography basics.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76250" y="2476500"/>
              <a:ext cx="8801100" cy="933450"/>
            </a:xfrm>
            <a:prstGeom prst="roundRect">
              <a:avLst>
                <a:gd name="adj" fmla="val 14286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1" name="Ellipse 11"/>
            <p:cNvSpPr/>
            <p:nvPr/>
          </p:nvSpPr>
          <p:spPr>
            <a:xfrm>
              <a:off x="714375" y="2752725"/>
              <a:ext cx="381000" cy="3810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540" y="2864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29868" y="2660332"/>
              <a:ext cx="6125147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Apply user authentication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and access control mechanisms across enterprise systems.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76250" y="3571875"/>
              <a:ext cx="8801100" cy="933450"/>
            </a:xfrm>
            <a:prstGeom prst="roundRect">
              <a:avLst>
                <a:gd name="adj" fmla="val 14286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5" name="Ellipse 15"/>
            <p:cNvSpPr/>
            <p:nvPr/>
          </p:nvSpPr>
          <p:spPr>
            <a:xfrm>
              <a:off x="714375" y="3848100"/>
              <a:ext cx="381000" cy="3810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5540" y="39595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29868" y="3755708"/>
              <a:ext cx="4501134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Describe network defenses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and real-world security protocols in detail.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76250" y="4667250"/>
              <a:ext cx="8801100" cy="933450"/>
            </a:xfrm>
            <a:prstGeom prst="roundRect">
              <a:avLst>
                <a:gd name="adj" fmla="val 14286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9" name="Ellipse 19"/>
            <p:cNvSpPr/>
            <p:nvPr/>
          </p:nvSpPr>
          <p:spPr>
            <a:xfrm>
              <a:off x="714375" y="4943475"/>
              <a:ext cx="381000" cy="3810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5540" y="50549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29868" y="4851082"/>
              <a:ext cx="6051804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Analyze software flaws, malware,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and database vulnerabilities across modern architectures.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76250" y="5762625"/>
              <a:ext cx="8801100" cy="933450"/>
            </a:xfrm>
            <a:prstGeom prst="roundRect">
              <a:avLst>
                <a:gd name="adj" fmla="val 14286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3" name="Ellipse 23"/>
            <p:cNvSpPr/>
            <p:nvPr/>
          </p:nvSpPr>
          <p:spPr>
            <a:xfrm>
              <a:off x="714375" y="6038850"/>
              <a:ext cx="381000" cy="3810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5540" y="61502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29868" y="5946458"/>
              <a:ext cx="5863209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Evaluate cloud and AI security,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risk management, and organizational privacy protection.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6">
            <a:extLst>
              <a:ext uri="{FF2B5EF4-FFF2-40B4-BE49-F238E27FC236}">
                <a16:creationId xmlns:a16="http://schemas.microsoft.com/office/drawing/2014/main" id="{081B0A2C-2A5D-4807-AFC6-2E89EE964000}"/>
              </a:ext>
            </a:extLst>
          </p:cNvPr>
          <p:cNvSpPr/>
          <p:nvPr/>
        </p:nvSpPr>
        <p:spPr>
          <a:xfrm>
            <a:off x="2153266" y="1258528"/>
            <a:ext cx="3606654" cy="1788180"/>
          </a:xfrm>
          <a:prstGeom prst="roundRect">
            <a:avLst>
              <a:gd name="adj" fmla="val 3636"/>
            </a:avLst>
          </a:prstGeom>
          <a:solidFill>
            <a:schemeClr val="bg2">
              <a:lumMod val="50000"/>
            </a:schemeClr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grpSp>
        <p:nvGrpSpPr>
          <p:cNvPr id="5" name="Group 5"/>
          <p:cNvGrpSpPr/>
          <p:nvPr/>
        </p:nvGrpSpPr>
        <p:grpSpPr>
          <a:xfrm>
            <a:off x="462534" y="260985"/>
            <a:ext cx="3163012" cy="803910"/>
            <a:chOff x="462534" y="260985"/>
            <a:chExt cx="3163012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316301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70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Course Overview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7480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Grading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76250" y="1428750"/>
            <a:ext cx="8763000" cy="4762500"/>
            <a:chOff x="476250" y="1428750"/>
            <a:chExt cx="8763000" cy="4762500"/>
          </a:xfrm>
        </p:grpSpPr>
        <p:sp>
          <p:nvSpPr>
            <p:cNvPr id="6" name="Rectangle 6"/>
            <p:cNvSpPr/>
            <p:nvPr/>
          </p:nvSpPr>
          <p:spPr>
            <a:xfrm>
              <a:off x="476250" y="1428750"/>
              <a:ext cx="1600200" cy="1428750"/>
            </a:xfrm>
            <a:prstGeom prst="roundRect">
              <a:avLst>
                <a:gd name="adj" fmla="val 10667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22957" y="1869758"/>
              <a:ext cx="13067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Attendance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1482" y="2313622"/>
              <a:ext cx="5297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0" b="1" i="0" u="none" strike="noStrike" kern="1200" cap="none" spc="0" normalizeH="0" baseline="0" noProof="0" dirty="0">
                  <a:ln>
                    <a:noFill/>
                  </a:ln>
                  <a:solidFill>
                    <a:srgbClr val="F4B4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10%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266950" y="1428750"/>
              <a:ext cx="1600200" cy="1428750"/>
            </a:xfrm>
            <a:prstGeom prst="roundRect">
              <a:avLst>
                <a:gd name="adj" fmla="val 10667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588438" y="1774508"/>
              <a:ext cx="957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Midterm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74833" y="2060258"/>
              <a:ext cx="584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Exam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02182" y="2408872"/>
              <a:ext cx="5297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20%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057650" y="1428750"/>
              <a:ext cx="1600200" cy="1428750"/>
            </a:xfrm>
            <a:prstGeom prst="roundRect">
              <a:avLst>
                <a:gd name="adj" fmla="val 10667"/>
              </a:avLst>
            </a:prstGeom>
            <a:solidFill>
              <a:srgbClr val="6B141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84015" y="1774508"/>
              <a:ext cx="547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Final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65533" y="2060258"/>
              <a:ext cx="584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Exam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92882" y="2408872"/>
              <a:ext cx="5297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0" b="1" i="0" u="none" strike="noStrike" kern="1200" cap="none" spc="0" normalizeH="0" baseline="0" noProof="0" dirty="0">
                  <a:ln>
                    <a:noFill/>
                  </a:ln>
                  <a:solidFill>
                    <a:srgbClr val="F4B4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30%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848350" y="1428750"/>
              <a:ext cx="1600200" cy="1428750"/>
            </a:xfrm>
            <a:prstGeom prst="roundRect">
              <a:avLst>
                <a:gd name="adj" fmla="val 10667"/>
              </a:avLst>
            </a:prstGeom>
            <a:solidFill>
              <a:srgbClr val="2E5A4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36780" y="1869758"/>
              <a:ext cx="14233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Assignments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83582" y="2313622"/>
              <a:ext cx="5297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0" b="1" i="0" u="none" strike="noStrike" kern="1200" cap="none" spc="0" normalizeH="0" baseline="0" noProof="0" dirty="0">
                  <a:ln>
                    <a:noFill/>
                  </a:ln>
                  <a:solidFill>
                    <a:srgbClr val="F4B4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30%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39050" y="1428750"/>
              <a:ext cx="1600200" cy="1428750"/>
            </a:xfrm>
            <a:prstGeom prst="roundRect">
              <a:avLst>
                <a:gd name="adj" fmla="val 10667"/>
              </a:avLst>
            </a:prstGeom>
            <a:solidFill>
              <a:srgbClr val="2B4C6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50091" y="1885950"/>
              <a:ext cx="13781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Participation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74282" y="2313622"/>
              <a:ext cx="5297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50" b="1" i="0" u="none" strike="noStrike" kern="1200" cap="none" spc="0" normalizeH="0" baseline="0" noProof="0" dirty="0">
                  <a:ln>
                    <a:noFill/>
                  </a:ln>
                  <a:solidFill>
                    <a:srgbClr val="F4B4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10%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962400" y="2952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4A0005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3914775" y="34766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4A0005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6648450" y="2952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4A0005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6600825" y="34766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4A0005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8439150" y="2952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4A0005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8391525" y="34766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4A000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266950" y="3714750"/>
              <a:ext cx="3390900" cy="2476500"/>
            </a:xfrm>
            <a:prstGeom prst="roundRect">
              <a:avLst>
                <a:gd name="adj" fmla="val 615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0" name="Rectangle 30"/>
            <p:cNvSpPr/>
            <p:nvPr/>
          </p:nvSpPr>
          <p:spPr>
            <a:xfrm>
              <a:off x="2457450" y="3905250"/>
              <a:ext cx="3009900" cy="419100"/>
            </a:xfrm>
            <a:prstGeom prst="roundRect">
              <a:avLst>
                <a:gd name="adj" fmla="val 18182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877312" y="4010025"/>
              <a:ext cx="2170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Examination Formats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15743" y="4536758"/>
              <a:ext cx="3416189" cy="1389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marR="0" lvl="0" indent="-187023" algn="l" defTabSz="457200" rtl="0" eaLnBrk="1" fontAlgn="auto" latinLnBrk="0" hangingPunct="1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0005"/>
                </a:buClr>
                <a:buSzTx/>
                <a:buFontTx/>
                <a:buChar char="■"/>
                <a:tabLst/>
                <a:defRPr/>
              </a:pPr>
              <a:r>
                <a:rPr kumimoji="0" 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Selected-Responses (SRs)</a:t>
              </a:r>
            </a:p>
            <a:p>
              <a:pPr marL="0" marR="0" lvl="0" indent="0" algn="l" defTabSz="457200" rtl="0" eaLnBrk="1" fontAlgn="auto" latinLnBrk="0" hangingPunct="1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Multiple choice theoretical tests</a:t>
              </a:r>
            </a:p>
            <a:p>
              <a:pPr marL="187023" marR="0" lvl="0" indent="-187023" algn="l" defTabSz="457200" rtl="0" eaLnBrk="1" fontAlgn="auto" latinLnBrk="0" hangingPunct="1">
                <a:lnSpc>
                  <a:spcPts val="24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4A0005"/>
                </a:buClr>
                <a:buSzTx/>
                <a:buFontTx/>
                <a:buChar char="■"/>
                <a:tabLst/>
                <a:defRPr/>
              </a:pPr>
              <a:r>
                <a:rPr kumimoji="0" 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Constructed-Responses (CRs)</a:t>
              </a:r>
            </a:p>
            <a:p>
              <a:pPr marL="0" marR="0" lvl="0" indent="0" algn="l" defTabSz="457200" rtl="0" eaLnBrk="1" fontAlgn="auto" latinLnBrk="0" hangingPunct="1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Short-answer &amp; descriptive questions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848350" y="3714750"/>
              <a:ext cx="1600200" cy="2476500"/>
            </a:xfrm>
            <a:prstGeom prst="roundRect">
              <a:avLst>
                <a:gd name="adj" fmla="val 952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4" name="Rectangle 34"/>
            <p:cNvSpPr/>
            <p:nvPr/>
          </p:nvSpPr>
          <p:spPr>
            <a:xfrm>
              <a:off x="5943600" y="3905250"/>
              <a:ext cx="1409700" cy="419100"/>
            </a:xfrm>
            <a:prstGeom prst="roundRect">
              <a:avLst>
                <a:gd name="adj" fmla="val 18182"/>
              </a:avLst>
            </a:prstGeom>
            <a:solidFill>
              <a:srgbClr val="2E5A4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66175" y="4026218"/>
              <a:ext cx="11645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Assignments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92368" y="4536758"/>
              <a:ext cx="1710976" cy="1046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marR="0" lvl="0" indent="-187023" algn="l" defTabSz="457200" rtl="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0005"/>
                </a:buClr>
                <a:buSzTx/>
                <a:buFontTx/>
                <a:buChar char="■"/>
                <a:tabLst/>
                <a:defRPr/>
              </a:pPr>
              <a:r>
                <a:rPr kumimoji="0" 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2 Assignments</a:t>
              </a:r>
            </a:p>
            <a:p>
              <a:pPr marL="187023" marR="0" lvl="0" indent="-187023" algn="l" defTabSz="457200" rtl="0" eaLnBrk="1" fontAlgn="auto" latinLnBrk="0" hangingPunct="1">
                <a:lnSpc>
                  <a:spcPts val="21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4A0005"/>
                </a:buClr>
                <a:buSzTx/>
                <a:buFontTx/>
                <a:buChar char="■"/>
                <a:tabLst/>
                <a:defRPr/>
              </a:pPr>
              <a:r>
                <a:rPr kumimoji="0" 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Notice Board</a:t>
              </a:r>
            </a:p>
            <a:p>
              <a:pPr marL="0" marR="0" lvl="0" indent="0" algn="l" defTabSz="457200" rtl="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Submissions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39050" y="3714750"/>
              <a:ext cx="1600200" cy="2476500"/>
            </a:xfrm>
            <a:prstGeom prst="roundRect">
              <a:avLst>
                <a:gd name="adj" fmla="val 952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8" name="Rectangle 38"/>
            <p:cNvSpPr/>
            <p:nvPr/>
          </p:nvSpPr>
          <p:spPr>
            <a:xfrm>
              <a:off x="7734300" y="3905250"/>
              <a:ext cx="1409700" cy="419100"/>
            </a:xfrm>
            <a:prstGeom prst="roundRect">
              <a:avLst>
                <a:gd name="adj" fmla="val 18182"/>
              </a:avLst>
            </a:prstGeom>
            <a:solidFill>
              <a:srgbClr val="2B4C6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818997" y="4026218"/>
              <a:ext cx="12403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Participation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83068" y="4536758"/>
              <a:ext cx="1424940" cy="1046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marR="0" lvl="0" indent="-187023" algn="l" defTabSz="457200" rtl="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0005"/>
                </a:buClr>
                <a:buSzTx/>
                <a:buFontTx/>
                <a:buChar char="■"/>
                <a:tabLst/>
                <a:defRPr/>
              </a:pPr>
              <a:r>
                <a:rPr kumimoji="0" 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Discussions</a:t>
              </a:r>
            </a:p>
            <a:p>
              <a:pPr marL="187023" marR="0" lvl="0" indent="-187023" algn="l" defTabSz="457200" rtl="0" eaLnBrk="1" fontAlgn="auto" latinLnBrk="0" hangingPunct="1">
                <a:lnSpc>
                  <a:spcPts val="21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4A0005"/>
                </a:buClr>
                <a:buSzTx/>
                <a:buFontTx/>
                <a:buChar char="■"/>
                <a:tabLst/>
                <a:defRPr/>
              </a:pPr>
              <a:r>
                <a:rPr kumimoji="0" 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Q&amp;A Boards</a:t>
              </a:r>
            </a:p>
            <a:p>
              <a:pPr marL="0" marR="0" lvl="0" indent="0" algn="l" defTabSz="457200" rtl="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Activity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3858066" cy="803910"/>
            <a:chOff x="462534" y="260985"/>
            <a:chExt cx="3858066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21383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References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3851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Recommended Textbooks and Standards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76250" y="1381125"/>
            <a:ext cx="8803989" cy="5381625"/>
            <a:chOff x="476250" y="1381125"/>
            <a:chExt cx="8803989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476250" y="1381125"/>
              <a:ext cx="95250" cy="5381625"/>
            </a:xfrm>
            <a:prstGeom prst="roundRect">
              <a:avLst>
                <a:gd name="adj" fmla="val 40000"/>
              </a:avLst>
            </a:prstGeom>
            <a:solidFill>
              <a:srgbClr val="4A0005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rcRect l="1608" r="1607"/>
            <a:stretch>
              <a:fillRect/>
            </a:stretch>
          </p:blipFill>
          <p:spPr>
            <a:xfrm>
              <a:off x="762000" y="1619250"/>
              <a:ext cx="1619250" cy="2190750"/>
            </a:xfrm>
            <a:prstGeom prst="rect">
              <a:avLst/>
            </a:prstGeom>
          </p:spPr>
        </p:pic>
        <p:grpSp>
          <p:nvGrpSpPr>
            <p:cNvPr id="14" name="Group 14"/>
            <p:cNvGrpSpPr/>
            <p:nvPr/>
          </p:nvGrpSpPr>
          <p:grpSpPr>
            <a:xfrm>
              <a:off x="2562606" y="1666875"/>
              <a:ext cx="2276589" cy="1724406"/>
              <a:chOff x="2562606" y="1666875"/>
              <a:chExt cx="2276589" cy="1724406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2571750" y="1666875"/>
                <a:ext cx="19050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791823" y="1756410"/>
                <a:ext cx="14648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Primary Textbook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562606" y="2139315"/>
                <a:ext cx="1122426" cy="618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US" sz="18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Computer</a:t>
                </a:r>
                <a:br/>
                <a:r>
                  <a:rPr lang="en-US" sz="18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Security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564892" y="2854642"/>
                <a:ext cx="21528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F4B400"/>
                    </a:solidFill>
                    <a:latin typeface="Arial"/>
                    <a:ea typeface="Arial"/>
                    <a:cs typeface="Arial"/>
                  </a:rPr>
                  <a:t>Principles and Practice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565654" y="3156585"/>
                <a:ext cx="22735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</a:rPr>
                  <a:t>4th Edition · Pearson (2018)</a:t>
                </a: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762000" y="4048125"/>
              <a:ext cx="3667125" cy="9525"/>
            </a:xfrm>
            <a:custGeom>
              <a:avLst/>
              <a:gdLst/>
              <a:ahLst/>
              <a:cxnLst/>
              <a:rect l="l" t="t" r="r" b="b"/>
              <a:pathLst>
                <a:path w="3667125" h="9525">
                  <a:moveTo>
                    <a:pt x="0" y="0"/>
                  </a:moveTo>
                  <a:lnTo>
                    <a:pt x="3667125" y="0"/>
                  </a:lnTo>
                </a:path>
              </a:pathLst>
            </a:custGeom>
            <a:noFill/>
            <a:ln w="14288">
              <a:solidFill>
                <a:srgbClr val="DDD7C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3618" y="4251008"/>
              <a:ext cx="9219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Authors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3618" y="4584382"/>
              <a:ext cx="33989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William Stallings, Lawrie Brown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618" y="5155882"/>
              <a:ext cx="21172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Publication Details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4380" y="5505450"/>
              <a:ext cx="2501265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Publisher: Pearson, 2018</a:t>
              </a:r>
            </a:p>
            <a:p>
              <a:pPr marL="161925" indent="-161925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Length: 778 pages</a:t>
              </a:r>
            </a:p>
            <a:p>
              <a:pPr marL="161925" indent="-161925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ISBN: 978-0-13-479410-5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038725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5038725" y="1381125"/>
              <a:ext cx="95250" cy="5381625"/>
            </a:xfrm>
            <a:prstGeom prst="roundRect">
              <a:avLst>
                <a:gd name="adj" fmla="val 40000"/>
              </a:avLst>
            </a:prstGeom>
            <a:solidFill>
              <a:srgbClr val="6B141B"/>
            </a:solidFill>
            <a:ln>
              <a:noFill/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rcRect t="5811" b="5811"/>
            <a:stretch>
              <a:fillRect/>
            </a:stretch>
          </p:blipFill>
          <p:spPr>
            <a:xfrm>
              <a:off x="5324475" y="1619250"/>
              <a:ext cx="1619250" cy="2190750"/>
            </a:xfrm>
            <a:prstGeom prst="rect">
              <a:avLst/>
            </a:prstGeom>
          </p:spPr>
        </p:pic>
        <p:grpSp>
          <p:nvGrpSpPr>
            <p:cNvPr id="28" name="Group 28"/>
            <p:cNvGrpSpPr/>
            <p:nvPr/>
          </p:nvGrpSpPr>
          <p:grpSpPr>
            <a:xfrm>
              <a:off x="7125081" y="1666875"/>
              <a:ext cx="2155158" cy="1724406"/>
              <a:chOff x="7125081" y="1666875"/>
              <a:chExt cx="2155158" cy="1724406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134225" y="1666875"/>
                <a:ext cx="19050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6B141B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443288" y="1756410"/>
                <a:ext cx="12868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Reference Book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125081" y="2139315"/>
                <a:ext cx="1398460" cy="618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US" sz="18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Information</a:t>
                </a:r>
                <a:br/>
                <a:r>
                  <a:rPr lang="en-US" sz="18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Security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127367" y="2854642"/>
                <a:ext cx="21528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F4B400"/>
                    </a:solidFill>
                    <a:latin typeface="Arial"/>
                    <a:ea typeface="Arial"/>
                    <a:cs typeface="Arial"/>
                  </a:rPr>
                  <a:t>Principles and Practice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128129" y="3156585"/>
                <a:ext cx="204782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</a:rPr>
                  <a:t>2nd Edition · Wiley (2011)</a:t>
                </a:r>
              </a:p>
            </p:txBody>
          </p:sp>
        </p:grpSp>
        <p:sp>
          <p:nvSpPr>
            <p:cNvPr id="29" name="Line 29"/>
            <p:cNvSpPr/>
            <p:nvPr/>
          </p:nvSpPr>
          <p:spPr>
            <a:xfrm>
              <a:off x="5324475" y="4048125"/>
              <a:ext cx="3667125" cy="9525"/>
            </a:xfrm>
            <a:custGeom>
              <a:avLst/>
              <a:gdLst/>
              <a:ahLst/>
              <a:cxnLst/>
              <a:rect l="l" t="t" r="r" b="b"/>
              <a:pathLst>
                <a:path w="3667125" h="9525">
                  <a:moveTo>
                    <a:pt x="0" y="0"/>
                  </a:moveTo>
                  <a:lnTo>
                    <a:pt x="3667125" y="0"/>
                  </a:lnTo>
                </a:path>
              </a:pathLst>
            </a:custGeom>
            <a:noFill/>
            <a:ln w="14288">
              <a:solidFill>
                <a:srgbClr val="DDD7CE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316093" y="4251008"/>
              <a:ext cx="793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Author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16093" y="4584382"/>
              <a:ext cx="12875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Mark Stamp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16093" y="5155882"/>
              <a:ext cx="21172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Publication Details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16855" y="5505450"/>
              <a:ext cx="334899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Publisher: John Wiley &amp; Sons, 2011</a:t>
              </a:r>
            </a:p>
            <a:p>
              <a:pPr marL="161925" indent="-161925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Length: 606 pages</a:t>
              </a:r>
            </a:p>
            <a:p>
              <a:pPr marL="161925" indent="-161925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ISBN: 978-0-470-62639-9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 descr="/mnt/data/a_sleek_high_resolution_abstract_cybersecurity_te.png">
            <a:extLst>
              <a:ext uri="{FF2B5EF4-FFF2-40B4-BE49-F238E27FC236}">
                <a16:creationId xmlns:a16="http://schemas.microsoft.com/office/drawing/2014/main" id="{FE20B42D-9277-4F5D-BDD7-D7EC5F8E1D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1"/>
          <a:stretch/>
        </p:blipFill>
        <p:spPr>
          <a:xfrm>
            <a:off x="1" y="0"/>
            <a:ext cx="12198468" cy="6858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762000" y="762000"/>
            <a:ext cx="1238250" cy="36195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74831" y="870585"/>
            <a:ext cx="6125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UNIT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3618" y="2298382"/>
            <a:ext cx="30343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150" normalizeH="0" baseline="0" noProof="0" dirty="0">
                <a:ln>
                  <a:noFill/>
                </a:ln>
                <a:solidFill>
                  <a:srgbClr val="F4B40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WEEK 01 · FOUNDATION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2950" y="2738438"/>
            <a:ext cx="5533566" cy="5770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Cybersecurity Concepts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3429000"/>
            <a:ext cx="857250" cy="5715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52856" y="3806190"/>
            <a:ext cx="876174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Definition of Cybersecurity, Cast of Characters, and Core Security Goals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62000" y="4572000"/>
            <a:ext cx="8001000" cy="1238250"/>
            <a:chOff x="762000" y="4572000"/>
            <a:chExt cx="8001000" cy="1238250"/>
          </a:xfrm>
        </p:grpSpPr>
        <p:sp>
          <p:nvSpPr>
            <p:cNvPr id="10" name="Rectangle 10"/>
            <p:cNvSpPr/>
            <p:nvPr/>
          </p:nvSpPr>
          <p:spPr>
            <a:xfrm>
              <a:off x="76200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987362" y="4802981"/>
              <a:ext cx="254127" cy="242888"/>
            </a:xfrm>
            <a:custGeom>
              <a:avLst/>
              <a:gdLst/>
              <a:ahLst/>
              <a:cxnLst/>
              <a:rect l="l" t="t" r="r" b="b"/>
              <a:pathLst>
                <a:path w="254127" h="242888">
                  <a:moveTo>
                    <a:pt x="127063" y="0"/>
                  </a:moveTo>
                  <a:cubicBezTo>
                    <a:pt x="158583" y="27886"/>
                    <a:pt x="199720" y="42405"/>
                    <a:pt x="241761" y="40481"/>
                  </a:cubicBezTo>
                  <a:cubicBezTo>
                    <a:pt x="254127" y="82549"/>
                    <a:pt x="248904" y="127833"/>
                    <a:pt x="227287" y="165981"/>
                  </a:cubicBezTo>
                  <a:cubicBezTo>
                    <a:pt x="205670" y="204129"/>
                    <a:pt x="169506" y="231879"/>
                    <a:pt x="127063" y="242888"/>
                  </a:cubicBezTo>
                  <a:cubicBezTo>
                    <a:pt x="84621" y="231879"/>
                    <a:pt x="48457" y="204129"/>
                    <a:pt x="26840" y="165981"/>
                  </a:cubicBezTo>
                  <a:cubicBezTo>
                    <a:pt x="5222" y="127833"/>
                    <a:pt x="0" y="82549"/>
                    <a:pt x="12366" y="40481"/>
                  </a:cubicBezTo>
                  <a:cubicBezTo>
                    <a:pt x="54407" y="42405"/>
                    <a:pt x="95544" y="27886"/>
                    <a:pt x="127063" y="0"/>
                  </a:cubicBezTo>
                </a:path>
              </a:pathLst>
            </a:custGeom>
            <a:noFill/>
            <a:ln w="26988">
              <a:solidFill>
                <a:srgbClr val="4A000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83030" y="4829175"/>
              <a:ext cx="11447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Definitions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404" y="5223510"/>
              <a:ext cx="17343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NISTIR 8170 standard</a:t>
              </a:r>
              <a:br>
                <a: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and terminology scope.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52425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3755231" y="4802981"/>
              <a:ext cx="242888" cy="242889"/>
              <a:chOff x="3755231" y="4802981"/>
              <a:chExt cx="242888" cy="24288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782219" y="480298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755231" y="4964907"/>
                <a:ext cx="161925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3">
                    <a:moveTo>
                      <a:pt x="0" y="80963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3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930651" y="4804736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2"/>
                      <a:pt x="23883" y="98462"/>
                      <a:pt x="0" y="104577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957638" y="4966931"/>
                <a:ext cx="40481" cy="7893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9">
                    <a:moveTo>
                      <a:pt x="40481" y="78939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145280" y="4829175"/>
              <a:ext cx="11879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Characters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08654" y="5223510"/>
              <a:ext cx="18257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Alice, Bob, Trudy and</a:t>
              </a:r>
              <a:br>
                <a: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active/passive attacks.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517481" y="4802981"/>
              <a:ext cx="242888" cy="242888"/>
              <a:chOff x="6517481" y="4802981"/>
              <a:chExt cx="242888" cy="24288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625432" y="4910932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571456" y="4856956"/>
                <a:ext cx="13493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8">
                    <a:moveTo>
                      <a:pt x="0" y="67469"/>
                    </a:moveTo>
                    <a:cubicBezTo>
                      <a:pt x="0" y="104731"/>
                      <a:pt x="30207" y="134938"/>
                      <a:pt x="67469" y="134938"/>
                    </a:cubicBezTo>
                    <a:cubicBezTo>
                      <a:pt x="104731" y="134938"/>
                      <a:pt x="134938" y="104731"/>
                      <a:pt x="134938" y="67469"/>
                    </a:cubicBezTo>
                    <a:cubicBezTo>
                      <a:pt x="134938" y="30207"/>
                      <a:pt x="104731" y="0"/>
                      <a:pt x="67469" y="0"/>
                    </a:cubicBezTo>
                    <a:cubicBezTo>
                      <a:pt x="30207" y="0"/>
                      <a:pt x="0" y="30207"/>
                      <a:pt x="0" y="67469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517481" y="480298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907530" y="4829175"/>
              <a:ext cx="15016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0904" y="5223510"/>
              <a:ext cx="20162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CIA triad, authenticity,</a:t>
              </a:r>
              <a:br>
                <a: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accountability, reliability.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Seoul Cyber University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4350050" cy="803910"/>
            <a:chOff x="462534" y="260985"/>
            <a:chExt cx="4350050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37334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Learning Objectives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4343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By the end of this week, you will be able to: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76250" y="1428750"/>
            <a:ext cx="8801100" cy="5238750"/>
            <a:chOff x="476250" y="1428750"/>
            <a:chExt cx="8801100" cy="5238750"/>
          </a:xfrm>
        </p:grpSpPr>
        <p:sp>
          <p:nvSpPr>
            <p:cNvPr id="6" name="Rectangle 6"/>
            <p:cNvSpPr/>
            <p:nvPr/>
          </p:nvSpPr>
          <p:spPr>
            <a:xfrm>
              <a:off x="476250" y="1428750"/>
              <a:ext cx="8801100" cy="1524000"/>
            </a:xfrm>
            <a:prstGeom prst="roundRect">
              <a:avLst>
                <a:gd name="adj" fmla="val 11250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Ellipse 7"/>
            <p:cNvSpPr/>
            <p:nvPr/>
          </p:nvSpPr>
          <p:spPr>
            <a:xfrm>
              <a:off x="685800" y="1685925"/>
              <a:ext cx="533400" cy="5334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3387" y="18535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19606" y="1758315"/>
              <a:ext cx="44905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Define Core Cybersecurity Concepts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20368" y="2203132"/>
              <a:ext cx="565365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Define core concepts and differentiate Cybersecurity,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Information Security, and Computer Security.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76250" y="3286125"/>
              <a:ext cx="8801100" cy="1524000"/>
            </a:xfrm>
            <a:prstGeom prst="roundRect">
              <a:avLst>
                <a:gd name="adj" fmla="val 11250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2" name="Ellipse 12"/>
            <p:cNvSpPr/>
            <p:nvPr/>
          </p:nvSpPr>
          <p:spPr>
            <a:xfrm>
              <a:off x="685800" y="3543300"/>
              <a:ext cx="533400" cy="5334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73387" y="37109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19606" y="3615690"/>
              <a:ext cx="4973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Explain the CIA Triad and Extended Goals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0368" y="4060508"/>
              <a:ext cx="6292787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Explain the CIA triad (Confidentiality, Integrity, Availability)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alongside authenticity, accountability, and reliability.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76250" y="5143500"/>
              <a:ext cx="8801100" cy="1524000"/>
            </a:xfrm>
            <a:prstGeom prst="roundRect">
              <a:avLst>
                <a:gd name="adj" fmla="val 11250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7" name="Ellipse 17"/>
            <p:cNvSpPr/>
            <p:nvPr/>
          </p:nvSpPr>
          <p:spPr>
            <a:xfrm>
              <a:off x="685800" y="5400675"/>
              <a:ext cx="533400" cy="5334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3387" y="55683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19606" y="5473065"/>
              <a:ext cx="57204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Analyze Security Relationships &amp; Attack Trees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20368" y="5917882"/>
              <a:ext cx="676427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Analyze relationships among assets, threats, and vulnerabilities,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and evaluate systematic attack tree models.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4478411" cy="803910"/>
            <a:chOff x="462534" y="260985"/>
            <a:chExt cx="4478411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447841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Cybersecurity Concepts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31114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This unit helps you understand: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76250" y="1428750"/>
            <a:ext cx="8801100" cy="5143500"/>
            <a:chOff x="476250" y="1428750"/>
            <a:chExt cx="8801100" cy="5143500"/>
          </a:xfrm>
        </p:grpSpPr>
        <p:sp>
          <p:nvSpPr>
            <p:cNvPr id="6" name="Rectangle 6"/>
            <p:cNvSpPr/>
            <p:nvPr/>
          </p:nvSpPr>
          <p:spPr>
            <a:xfrm>
              <a:off x="476250" y="1428750"/>
              <a:ext cx="2743200" cy="5143500"/>
            </a:xfrm>
            <a:prstGeom prst="roundRect">
              <a:avLst>
                <a:gd name="adj" fmla="val 694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704850" y="16573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56063" y="1814512"/>
              <a:ext cx="269075" cy="257175"/>
            </a:xfrm>
            <a:custGeom>
              <a:avLst/>
              <a:gdLst/>
              <a:ahLst/>
              <a:cxnLst/>
              <a:rect l="l" t="t" r="r" b="b"/>
              <a:pathLst>
                <a:path w="269075" h="257175">
                  <a:moveTo>
                    <a:pt x="134537" y="0"/>
                  </a:moveTo>
                  <a:cubicBezTo>
                    <a:pt x="167911" y="29526"/>
                    <a:pt x="211468" y="44899"/>
                    <a:pt x="255981" y="42862"/>
                  </a:cubicBezTo>
                  <a:cubicBezTo>
                    <a:pt x="269075" y="87404"/>
                    <a:pt x="263545" y="135352"/>
                    <a:pt x="240656" y="175744"/>
                  </a:cubicBezTo>
                  <a:cubicBezTo>
                    <a:pt x="217768" y="216136"/>
                    <a:pt x="179477" y="245519"/>
                    <a:pt x="134537" y="257175"/>
                  </a:cubicBezTo>
                  <a:cubicBezTo>
                    <a:pt x="89598" y="245519"/>
                    <a:pt x="51307" y="216136"/>
                    <a:pt x="28418" y="175744"/>
                  </a:cubicBezTo>
                  <a:cubicBezTo>
                    <a:pt x="5530" y="135352"/>
                    <a:pt x="0" y="87404"/>
                    <a:pt x="13094" y="42862"/>
                  </a:cubicBezTo>
                  <a:cubicBezTo>
                    <a:pt x="57607" y="44899"/>
                    <a:pt x="101164" y="29526"/>
                    <a:pt x="134537" y="0"/>
                  </a:cubicBezTo>
                </a:path>
              </a:pathLst>
            </a:custGeom>
            <a:noFill/>
            <a:ln w="28575">
              <a:solidFill>
                <a:srgbClr val="F4B40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4944" y="2456498"/>
              <a:ext cx="1814036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Definition of</a:t>
              </a:r>
              <a:br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Cybersecurity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04850" y="3143250"/>
              <a:ext cx="428625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6468" y="3489008"/>
              <a:ext cx="2510409" cy="1846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30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NISTIR 8170 definition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Cyberspace protection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Information Security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Computer Security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Domain comparison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505200" y="1428750"/>
              <a:ext cx="2743200" cy="5143500"/>
            </a:xfrm>
            <a:prstGeom prst="roundRect">
              <a:avLst>
                <a:gd name="adj" fmla="val 694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3733800" y="16573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890962" y="1814512"/>
              <a:ext cx="257175" cy="257176"/>
              <a:chOff x="3890962" y="1814512"/>
              <a:chExt cx="257175" cy="25717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919538" y="181451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890962" y="198596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4076700" y="181637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105275" y="198810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3723894" y="2456498"/>
              <a:ext cx="1449991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Cast of</a:t>
              </a:r>
              <a:br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Characters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733800" y="3143250"/>
              <a:ext cx="428625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25418" y="3489008"/>
              <a:ext cx="2101787" cy="1846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30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Alice (Sender)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Bob (Receiver)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Trudy (Adversary)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Passive Attacks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Active Attacks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534150" y="1428750"/>
              <a:ext cx="2743200" cy="5143500"/>
            </a:xfrm>
            <a:prstGeom prst="roundRect">
              <a:avLst>
                <a:gd name="adj" fmla="val 694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6762750" y="16573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919912" y="1814512"/>
              <a:ext cx="257175" cy="257175"/>
              <a:chOff x="6919912" y="1814512"/>
              <a:chExt cx="257175" cy="25717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034212" y="19288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977062" y="18716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919912" y="18145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752844" y="2456498"/>
              <a:ext cx="1098947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Security</a:t>
              </a:r>
              <a:br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Goals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762750" y="3143250"/>
              <a:ext cx="428625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54368" y="3489008"/>
              <a:ext cx="2217039" cy="1846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30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CIA Triad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Authenticity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Accountability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Reliability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Alice’s Market case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5145500" cy="803910"/>
            <a:chOff x="462534" y="260985"/>
            <a:chExt cx="5145500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514550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Definition of Cybersecurity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37803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Cybersecurity &amp; Related Terminologies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76250" y="1381125"/>
            <a:ext cx="8801100" cy="5381625"/>
            <a:chOff x="476250" y="1381125"/>
            <a:chExt cx="8801100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4000500" cy="5381625"/>
            </a:xfrm>
            <a:prstGeom prst="roundRect">
              <a:avLst>
                <a:gd name="adj" fmla="val 4762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476250" y="1381125"/>
              <a:ext cx="95250" cy="5381625"/>
            </a:xfrm>
            <a:prstGeom prst="roundRect">
              <a:avLst>
                <a:gd name="adj" fmla="val 40000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66875"/>
              <a:ext cx="1333500" cy="323850"/>
            </a:xfrm>
            <a:prstGeom prst="roundRect">
              <a:avLst>
                <a:gd name="adj" fmla="val 23529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7715" y="1756410"/>
              <a:ext cx="96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NISTIR 8170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2094" y="2218372"/>
              <a:ext cx="192997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Cybersecurity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571750"/>
              <a:ext cx="428625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14375" y="2905125"/>
              <a:ext cx="3524250" cy="247650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5731" y="3234690"/>
              <a:ext cx="2694623" cy="1380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“The ability to protect</a:t>
              </a:r>
              <a:br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or defend the use of</a:t>
              </a:r>
              <a:br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cyberspace from</a:t>
              </a:r>
              <a:br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cyber attacks.”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06022" y="4950142"/>
              <a:ext cx="1253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- NISTIR 8170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4380" y="5695950"/>
              <a:ext cx="441579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Defends all connected cyberspace assets.</a:t>
              </a:r>
            </a:p>
            <a:p>
              <a:pPr marL="161925" indent="-161925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Focuses on resilience against active attacks.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762500" y="1381125"/>
              <a:ext cx="4514850" cy="5381625"/>
            </a:xfrm>
            <a:prstGeom prst="roundRect">
              <a:avLst>
                <a:gd name="adj" fmla="val 4219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7" name="TextBox 17"/>
            <p:cNvSpPr txBox="1"/>
            <p:nvPr/>
          </p:nvSpPr>
          <p:spPr>
            <a:xfrm>
              <a:off x="5038344" y="1694498"/>
              <a:ext cx="29303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Related Terminologies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48250" y="2047875"/>
              <a:ext cx="47625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5238750" y="2809875"/>
              <a:ext cx="3810000" cy="3429000"/>
              <a:chOff x="5238750" y="2809875"/>
              <a:chExt cx="3810000" cy="342900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5238750" y="2809875"/>
                <a:ext cx="2667000" cy="2667000"/>
              </a:xfrm>
              <a:prstGeom prst="ellipse">
                <a:avLst/>
              </a:prstGeom>
              <a:solidFill>
                <a:srgbClr val="E8C547">
                  <a:alpha val="50000"/>
                </a:srgbClr>
              </a:solidFill>
              <a:ln w="19050">
                <a:solidFill>
                  <a:srgbClr val="D4AF37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6381750" y="2809875"/>
                <a:ext cx="2667000" cy="2667000"/>
              </a:xfrm>
              <a:prstGeom prst="ellipse">
                <a:avLst/>
              </a:prstGeom>
              <a:solidFill>
                <a:srgbClr val="5E9387">
                  <a:alpha val="50000"/>
                </a:srgbClr>
              </a:solidFill>
              <a:ln w="19050">
                <a:solidFill>
                  <a:srgbClr val="4A7C72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5905500" y="3762375"/>
                <a:ext cx="2476500" cy="2476500"/>
              </a:xfrm>
              <a:prstGeom prst="ellipse">
                <a:avLst/>
              </a:prstGeom>
              <a:solidFill>
                <a:srgbClr val="4A0005">
                  <a:alpha val="40000"/>
                </a:srgbClr>
              </a:solidFill>
              <a:ln w="23812">
                <a:solidFill>
                  <a:srgbClr val="4A0005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5455039" y="3774758"/>
                <a:ext cx="1281922" cy="589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2100"/>
                  </a:lnSpc>
                </a:pPr>
                <a:r>
                  <a:rPr lang="en-US" sz="16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Information</a:t>
                </a:r>
                <a:br/>
                <a:r>
                  <a:rPr lang="en-US" sz="16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Security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77055" y="3774758"/>
                <a:ext cx="1028891" cy="589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2100"/>
                  </a:lnSpc>
                </a:pPr>
                <a:r>
                  <a:rPr lang="en-US" sz="16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Computer</a:t>
                </a:r>
                <a:br/>
                <a:r>
                  <a:rPr lang="en-US" sz="16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Security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327224" y="5489258"/>
                <a:ext cx="163305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Cybersecurity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5145500" cy="803910"/>
            <a:chOff x="462534" y="260985"/>
            <a:chExt cx="5145500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514550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Definition of Cybersecurity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4109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Comparative Analysis of Security Domains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76250" y="1381125"/>
            <a:ext cx="8882380" cy="5381625"/>
            <a:chOff x="476250" y="1381125"/>
            <a:chExt cx="8882380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8801100" cy="5381625"/>
            </a:xfrm>
            <a:prstGeom prst="roundRect">
              <a:avLst>
                <a:gd name="adj" fmla="val 2832"/>
              </a:avLst>
            </a:prstGeom>
            <a:solidFill>
              <a:srgbClr val="F8F4EE"/>
            </a:solidFill>
            <a:ln w="19050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Freeform 7"/>
            <p:cNvSpPr/>
            <p:nvPr/>
          </p:nvSpPr>
          <p:spPr>
            <a:xfrm>
              <a:off x="476250" y="1381125"/>
              <a:ext cx="8801100" cy="523875"/>
            </a:xfrm>
            <a:custGeom>
              <a:avLst/>
              <a:gdLst/>
              <a:ahLst/>
              <a:cxnLst/>
              <a:rect l="l" t="t" r="r" b="b"/>
              <a:pathLst>
                <a:path w="8801100" h="523875">
                  <a:moveTo>
                    <a:pt x="0" y="152400"/>
                  </a:moveTo>
                  <a:cubicBezTo>
                    <a:pt x="0" y="50800"/>
                    <a:pt x="50800" y="0"/>
                    <a:pt x="152400" y="0"/>
                  </a:cubicBezTo>
                  <a:lnTo>
                    <a:pt x="8648700" y="0"/>
                  </a:lnTo>
                  <a:cubicBezTo>
                    <a:pt x="8750300" y="0"/>
                    <a:pt x="8801100" y="50800"/>
                    <a:pt x="8801100" y="152400"/>
                  </a:cubicBezTo>
                  <a:lnTo>
                    <a:pt x="8801100" y="523875"/>
                  </a:lnTo>
                  <a:lnTo>
                    <a:pt x="0" y="523875"/>
                  </a:lnTo>
                  <a:close/>
                </a:path>
              </a:pathLst>
            </a:custGeom>
            <a:solidFill>
              <a:srgbClr val="4A0005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809750" y="1381125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FFFFFF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286250" y="1381125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FFFFF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762750" y="1381125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FFFF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0654" y="1552575"/>
              <a:ext cx="964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Criterion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05704" y="1552575"/>
              <a:ext cx="14845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Cybersecurity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29102" y="1552575"/>
              <a:ext cx="21907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Information Security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46222" y="1552575"/>
              <a:ext cx="19476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Computer Security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76250" y="3429000"/>
              <a:ext cx="8801100" cy="9525"/>
            </a:xfrm>
            <a:custGeom>
              <a:avLst/>
              <a:gdLst/>
              <a:ahLst/>
              <a:cxnLst/>
              <a:rect l="l" t="t" r="r" b="b"/>
              <a:pathLst>
                <a:path w="8801100" h="9525">
                  <a:moveTo>
                    <a:pt x="0" y="0"/>
                  </a:moveTo>
                  <a:lnTo>
                    <a:pt x="8801100" y="0"/>
                  </a:lnTo>
                </a:path>
              </a:pathLst>
            </a:custGeom>
            <a:noFill/>
            <a:ln w="14288">
              <a:solidFill>
                <a:srgbClr val="DDD7CE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76250" y="4191000"/>
              <a:ext cx="8801100" cy="9525"/>
            </a:xfrm>
            <a:custGeom>
              <a:avLst/>
              <a:gdLst/>
              <a:ahLst/>
              <a:cxnLst/>
              <a:rect l="l" t="t" r="r" b="b"/>
              <a:pathLst>
                <a:path w="8801100" h="9525">
                  <a:moveTo>
                    <a:pt x="0" y="0"/>
                  </a:moveTo>
                  <a:lnTo>
                    <a:pt x="8801100" y="0"/>
                  </a:lnTo>
                </a:path>
              </a:pathLst>
            </a:custGeom>
            <a:noFill/>
            <a:ln w="14288">
              <a:solidFill>
                <a:srgbClr val="DDD7CE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76250" y="5334000"/>
              <a:ext cx="8801100" cy="9525"/>
            </a:xfrm>
            <a:custGeom>
              <a:avLst/>
              <a:gdLst/>
              <a:ahLst/>
              <a:cxnLst/>
              <a:rect l="l" t="t" r="r" b="b"/>
              <a:pathLst>
                <a:path w="8801100" h="9525">
                  <a:moveTo>
                    <a:pt x="0" y="0"/>
                  </a:moveTo>
                  <a:lnTo>
                    <a:pt x="8801100" y="0"/>
                  </a:lnTo>
                </a:path>
              </a:pathLst>
            </a:custGeom>
            <a:noFill/>
            <a:ln w="14288">
              <a:solidFill>
                <a:srgbClr val="DDD7CE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809750" y="1905000"/>
              <a:ext cx="9525" cy="4857750"/>
            </a:xfrm>
            <a:custGeom>
              <a:avLst/>
              <a:gdLst/>
              <a:ahLst/>
              <a:cxnLst/>
              <a:rect l="l" t="t" r="r" b="b"/>
              <a:pathLst>
                <a:path w="9525" h="4857750">
                  <a:moveTo>
                    <a:pt x="0" y="0"/>
                  </a:moveTo>
                  <a:lnTo>
                    <a:pt x="0" y="4857750"/>
                  </a:lnTo>
                </a:path>
              </a:pathLst>
            </a:custGeom>
            <a:noFill/>
            <a:ln w="14288">
              <a:solidFill>
                <a:srgbClr val="DDD7CE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286250" y="1905000"/>
              <a:ext cx="9525" cy="4857750"/>
            </a:xfrm>
            <a:custGeom>
              <a:avLst/>
              <a:gdLst/>
              <a:ahLst/>
              <a:cxnLst/>
              <a:rect l="l" t="t" r="r" b="b"/>
              <a:pathLst>
                <a:path w="9525" h="4857750">
                  <a:moveTo>
                    <a:pt x="0" y="0"/>
                  </a:moveTo>
                  <a:lnTo>
                    <a:pt x="0" y="4857750"/>
                  </a:lnTo>
                </a:path>
              </a:pathLst>
            </a:custGeom>
            <a:noFill/>
            <a:ln w="14288">
              <a:solidFill>
                <a:srgbClr val="DDD7CE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762750" y="1905000"/>
              <a:ext cx="9525" cy="4857750"/>
            </a:xfrm>
            <a:custGeom>
              <a:avLst/>
              <a:gdLst/>
              <a:ahLst/>
              <a:cxnLst/>
              <a:rect l="l" t="t" r="r" b="b"/>
              <a:pathLst>
                <a:path w="9525" h="4857750">
                  <a:moveTo>
                    <a:pt x="0" y="0"/>
                  </a:moveTo>
                  <a:lnTo>
                    <a:pt x="0" y="4857750"/>
                  </a:lnTo>
                </a:path>
              </a:pathLst>
            </a:custGeom>
            <a:noFill/>
            <a:ln w="14288">
              <a:solidFill>
                <a:srgbClr val="DDD7CE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967" y="2552700"/>
              <a:ext cx="1028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Definition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45767" y="2045018"/>
              <a:ext cx="248259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“The ability to protect or</a:t>
              </a:r>
              <a:br/>
              <a:r>
                <a:rPr lang="en-US" sz="13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defend the use of cyberspace</a:t>
              </a:r>
              <a:br/>
              <a:r>
                <a:rPr lang="en-US" sz="13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from cyber attacks.”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2648" y="2053114"/>
              <a:ext cx="3085338" cy="11637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“The protection of info &amp; systems</a:t>
              </a:r>
              <a:br/>
              <a:r>
                <a:rPr lang="en-US" sz="12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from unauthorized access, use,</a:t>
              </a:r>
              <a:br/>
              <a:r>
                <a:rPr lang="en-US" sz="12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disclosure, disruption, or destruction</a:t>
              </a:r>
              <a:br/>
              <a:r>
                <a:rPr lang="en-US" sz="12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to provide confidentiality, integrity,</a:t>
              </a:r>
              <a:br/>
              <a:r>
                <a:rPr lang="en-US" sz="12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and availability.”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99148" y="2053114"/>
              <a:ext cx="2288794" cy="11637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“Measures and controls</a:t>
              </a:r>
              <a:br/>
              <a:r>
                <a:rPr lang="en-US" sz="12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that ensure confidentiality,</a:t>
              </a:r>
              <a:br/>
              <a:r>
                <a:rPr lang="en-US" sz="12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integrity, and availability of</a:t>
              </a:r>
              <a:br/>
              <a:r>
                <a:rPr lang="en-US" sz="12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data processed and stored</a:t>
              </a:r>
              <a:br/>
              <a:r>
                <a:rPr lang="en-US" sz="12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by a computer.”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7314" y="3695700"/>
              <a:ext cx="1071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Reference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45005" y="3695700"/>
              <a:ext cx="120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NISTIR 8170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21505" y="3695700"/>
              <a:ext cx="1393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NIST FIPS 200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98005" y="3695700"/>
              <a:ext cx="17514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CNSSI 4009-2015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332" y="4505325"/>
              <a:ext cx="775335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Primary</a:t>
              </a:r>
              <a:br/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Focus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45386" y="4513421"/>
              <a:ext cx="1565402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42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The secure use of</a:t>
              </a:r>
              <a:br/>
              <a:r>
                <a:rPr lang="en-US" sz="142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cyberspace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21886" y="4513421"/>
              <a:ext cx="1835912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42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Information and</a:t>
              </a:r>
              <a:br/>
              <a:r>
                <a:rPr lang="en-US" sz="142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information systems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98386" y="4513421"/>
              <a:ext cx="2440051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42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Computer-based processing</a:t>
              </a:r>
              <a:br/>
              <a:r>
                <a:rPr lang="en-US" sz="142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and storage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0338" y="5743575"/>
              <a:ext cx="685324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Typical</a:t>
              </a:r>
              <a:br/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Scope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45767" y="5616892"/>
              <a:ext cx="2636901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Connected systems, networks,</a:t>
              </a:r>
              <a:br/>
              <a:r>
                <a:rPr lang="en-US" sz="13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services, and digital</a:t>
              </a:r>
              <a:br/>
              <a:r>
                <a:rPr lang="en-US" sz="13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communications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22267" y="5616892"/>
              <a:ext cx="282549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Information in any form</a:t>
              </a:r>
              <a:br/>
              <a:r>
                <a:rPr lang="en-US" sz="13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(electronic, physical, paper) and</a:t>
              </a:r>
              <a:br/>
              <a:r>
                <a:rPr lang="en-US" sz="13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the systems that handle it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99148" y="5624989"/>
              <a:ext cx="2459482" cy="7065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Computer hardware,</a:t>
              </a:r>
              <a:br/>
              <a:r>
                <a:rPr lang="en-US" sz="12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software, operating systems,</a:t>
              </a:r>
              <a:br/>
              <a:r>
                <a:rPr lang="en-US" sz="12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processing, and stored info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5904151" cy="803910"/>
            <a:chOff x="462534" y="260985"/>
            <a:chExt cx="5904151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36403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Cast of Characters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58980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In cybersecurity, we often consider the following entities: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76250" y="1381125"/>
            <a:ext cx="8801100" cy="5381625"/>
            <a:chOff x="476250" y="1381125"/>
            <a:chExt cx="8801100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2743200" cy="2190750"/>
            </a:xfrm>
            <a:prstGeom prst="roundRect">
              <a:avLst>
                <a:gd name="adj" fmla="val 8696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Ellipse 7"/>
            <p:cNvSpPr/>
            <p:nvPr/>
          </p:nvSpPr>
          <p:spPr>
            <a:xfrm>
              <a:off x="762000" y="1666875"/>
              <a:ext cx="571500" cy="5715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62025" y="1824038"/>
              <a:ext cx="171450" cy="257175"/>
              <a:chOff x="962025" y="1824038"/>
              <a:chExt cx="171450" cy="25717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90600" y="1824038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62025" y="1995488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13332" y="1773555"/>
              <a:ext cx="696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Alice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7230" y="2409825"/>
              <a:ext cx="18942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Legitimate Sender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7230" y="2790825"/>
              <a:ext cx="26917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Wishes to transmit sensitive</a:t>
              </a:r>
              <a:br/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messages securely to Bob.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505200" y="1381125"/>
              <a:ext cx="2743200" cy="2190750"/>
            </a:xfrm>
            <a:prstGeom prst="roundRect">
              <a:avLst>
                <a:gd name="adj" fmla="val 8696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5" name="Ellipse 15"/>
            <p:cNvSpPr/>
            <p:nvPr/>
          </p:nvSpPr>
          <p:spPr>
            <a:xfrm>
              <a:off x="3790950" y="1666875"/>
              <a:ext cx="571500" cy="5715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990975" y="1824038"/>
              <a:ext cx="171450" cy="257175"/>
              <a:chOff x="3990975" y="1824038"/>
              <a:chExt cx="171450" cy="25717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019550" y="1824038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990975" y="1995488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4542282" y="1773555"/>
              <a:ext cx="5203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Bob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26180" y="2409825"/>
              <a:ext cx="2074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Legitimate Receiver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26180" y="2790825"/>
              <a:ext cx="27203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Receives messages and</a:t>
              </a:r>
              <a:br/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verifies authenticity/origin.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534150" y="1381125"/>
              <a:ext cx="2743200" cy="2190750"/>
            </a:xfrm>
            <a:prstGeom prst="roundRect">
              <a:avLst>
                <a:gd name="adj" fmla="val 8696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3" name="Ellipse 23"/>
            <p:cNvSpPr/>
            <p:nvPr/>
          </p:nvSpPr>
          <p:spPr>
            <a:xfrm>
              <a:off x="6819900" y="1666875"/>
              <a:ext cx="571500" cy="571500"/>
            </a:xfrm>
            <a:prstGeom prst="ellipse">
              <a:avLst/>
            </a:prstGeom>
            <a:solidFill>
              <a:srgbClr val="6B141B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019925" y="1824038"/>
              <a:ext cx="228601" cy="271462"/>
              <a:chOff x="7019925" y="1824038"/>
              <a:chExt cx="228601" cy="27146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048500" y="1824038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019925" y="1995488"/>
                <a:ext cx="107156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07156" y="0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177088" y="20240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71438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177088" y="20240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lnTo>
                      <a:pt x="71438" y="0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7571232" y="1773555"/>
              <a:ext cx="8468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Trudy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55130" y="2409825"/>
              <a:ext cx="22563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Adversary (Intruder)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8267" y="2807018"/>
              <a:ext cx="256832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Attempts to intercept, alter,</a:t>
              </a:r>
              <a:br/>
              <a:r>
                <a:rPr lang="en-US" sz="13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replay, or block traffic.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76250" y="3857625"/>
              <a:ext cx="8801100" cy="2905125"/>
            </a:xfrm>
            <a:prstGeom prst="roundRect">
              <a:avLst>
                <a:gd name="adj" fmla="val 6557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3" name="TextBox 33"/>
            <p:cNvSpPr txBox="1"/>
            <p:nvPr/>
          </p:nvSpPr>
          <p:spPr>
            <a:xfrm>
              <a:off x="848868" y="4060508"/>
              <a:ext cx="44885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Transmission Channel Interaction Model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1485900" y="4962525"/>
              <a:ext cx="838200" cy="8382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1790700" y="5210175"/>
              <a:ext cx="228600" cy="342900"/>
              <a:chOff x="1790700" y="5210175"/>
              <a:chExt cx="228600" cy="3429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1828800" y="521017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790700" y="5438775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0" y="114300"/>
                    </a:move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lnTo>
                      <a:pt x="152400" y="0"/>
                    </a:lnTo>
                    <a:cubicBezTo>
                      <a:pt x="194484" y="0"/>
                      <a:pt x="228600" y="34116"/>
                      <a:pt x="228600" y="76200"/>
                    </a:cubicBezTo>
                    <a:lnTo>
                      <a:pt x="228600" y="11430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631265" y="5917882"/>
              <a:ext cx="547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Alice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429500" y="4962525"/>
              <a:ext cx="838200" cy="8382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734300" y="5210175"/>
              <a:ext cx="228600" cy="342900"/>
              <a:chOff x="7734300" y="5210175"/>
              <a:chExt cx="228600" cy="3429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772400" y="521017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34300" y="5438775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0" y="114300"/>
                    </a:move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lnTo>
                      <a:pt x="152400" y="0"/>
                    </a:lnTo>
                    <a:cubicBezTo>
                      <a:pt x="194484" y="0"/>
                      <a:pt x="228600" y="34116"/>
                      <a:pt x="228600" y="76200"/>
                    </a:cubicBezTo>
                    <a:lnTo>
                      <a:pt x="228600" y="11430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644173" y="5917882"/>
              <a:ext cx="4088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Bob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2428875" y="538162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38100">
              <a:solidFill>
                <a:srgbClr val="4A0005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7191375" y="5305425"/>
              <a:ext cx="142875" cy="152400"/>
            </a:xfrm>
            <a:custGeom>
              <a:avLst/>
              <a:gdLst/>
              <a:ahLst/>
              <a:cxnLst/>
              <a:rect l="l" t="t" r="r" b="b"/>
              <a:pathLst>
                <a:path w="142875" h="152400">
                  <a:moveTo>
                    <a:pt x="142875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4A000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924300" y="5048250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4081463" y="5160963"/>
              <a:ext cx="200026" cy="155575"/>
              <a:chOff x="4081463" y="5160963"/>
              <a:chExt cx="200026" cy="15557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4081463" y="5160963"/>
                <a:ext cx="200026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55575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77801" y="0"/>
                    </a:lnTo>
                    <a:cubicBezTo>
                      <a:pt x="190075" y="0"/>
                      <a:pt x="200026" y="9950"/>
                      <a:pt x="200026" y="22225"/>
                    </a:cubicBezTo>
                    <a:lnTo>
                      <a:pt x="200026" y="133350"/>
                    </a:lnTo>
                    <a:cubicBezTo>
                      <a:pt x="200026" y="145625"/>
                      <a:pt x="190075" y="155575"/>
                      <a:pt x="177801" y="155575"/>
                    </a:cubicBezTo>
                    <a:lnTo>
                      <a:pt x="22225" y="155575"/>
                    </a:lnTo>
                    <a:cubicBezTo>
                      <a:pt x="9950" y="155575"/>
                      <a:pt x="0" y="145625"/>
                      <a:pt x="0" y="133350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4081463" y="5183188"/>
                <a:ext cx="200026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66675">
                    <a:moveTo>
                      <a:pt x="0" y="0"/>
                    </a:moveTo>
                    <a:lnTo>
                      <a:pt x="100013" y="66675"/>
                    </a:lnTo>
                    <a:lnTo>
                      <a:pt x="200026" y="0"/>
                    </a:ln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4422267" y="5159692"/>
              <a:ext cx="12668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Message Flow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4810125" y="5314950"/>
              <a:ext cx="133350" cy="133350"/>
            </a:xfrm>
            <a:prstGeom prst="ellipse">
              <a:avLst/>
            </a:prstGeom>
            <a:solidFill>
              <a:srgbClr val="6B141B"/>
            </a:solidFill>
            <a:ln>
              <a:noFill/>
            </a:ln>
          </p:spPr>
        </p:sp>
        <p:sp>
          <p:nvSpPr>
            <p:cNvPr id="52" name="Line 52"/>
            <p:cNvSpPr/>
            <p:nvPr/>
          </p:nvSpPr>
          <p:spPr>
            <a:xfrm>
              <a:off x="4876800" y="5381625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28575">
              <a:solidFill>
                <a:srgbClr val="6B141B"/>
              </a:solidFill>
              <a:custDash>
                <a:ds d="200000" sp="133333"/>
              </a:custDash>
            </a:ln>
          </p:spPr>
        </p:sp>
        <p:sp>
          <p:nvSpPr>
            <p:cNvPr id="53" name="Ellipse 53"/>
            <p:cNvSpPr/>
            <p:nvPr/>
          </p:nvSpPr>
          <p:spPr>
            <a:xfrm>
              <a:off x="4572000" y="5934075"/>
              <a:ext cx="609600" cy="609600"/>
            </a:xfrm>
            <a:prstGeom prst="ellipse">
              <a:avLst/>
            </a:prstGeom>
            <a:solidFill>
              <a:srgbClr val="6B141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4791075" y="6110288"/>
              <a:ext cx="228601" cy="271462"/>
              <a:chOff x="4791075" y="6110288"/>
              <a:chExt cx="228601" cy="271462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4819650" y="6110288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4791075" y="6281738"/>
                <a:ext cx="107156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07156" y="0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4948238" y="631031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71438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4948238" y="631031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lnTo>
                      <a:pt x="71438" y="0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5374005" y="6153150"/>
              <a:ext cx="22651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Trudy (Threat Actor)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3640304" cy="803910"/>
            <a:chOff x="462534" y="260985"/>
            <a:chExt cx="3640304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36403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Cast of Characters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32753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What Trudy can do: Attack Types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76250" y="1381125"/>
            <a:ext cx="8801100" cy="5381625"/>
            <a:chOff x="476250" y="1381125"/>
            <a:chExt cx="8801100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476250" y="1381125"/>
              <a:ext cx="4238625" cy="714375"/>
            </a:xfrm>
            <a:prstGeom prst="roundRect">
              <a:avLst>
                <a:gd name="adj" fmla="val 26667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76250" y="1857375"/>
              <a:ext cx="4238625" cy="238125"/>
            </a:xfrm>
            <a:prstGeom prst="rect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47712" y="1657350"/>
              <a:ext cx="257175" cy="171450"/>
              <a:chOff x="747712" y="1657350"/>
              <a:chExt cx="257175" cy="1714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47725" y="17145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47712" y="1657350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257175" y="85725"/>
                    </a:moveTo>
                    <a:cubicBezTo>
                      <a:pt x="222885" y="142875"/>
                      <a:pt x="180023" y="171450"/>
                      <a:pt x="128588" y="171450"/>
                    </a:cubicBezTo>
                    <a:cubicBezTo>
                      <a:pt x="77152" y="171450"/>
                      <a:pt x="34290" y="142875"/>
                      <a:pt x="0" y="85725"/>
                    </a:cubicBezTo>
                    <a:cubicBezTo>
                      <a:pt x="34290" y="28575"/>
                      <a:pt x="77152" y="0"/>
                      <a:pt x="128588" y="0"/>
                    </a:cubicBezTo>
                    <a:cubicBezTo>
                      <a:pt x="180023" y="0"/>
                      <a:pt x="222885" y="28575"/>
                      <a:pt x="257175" y="85725"/>
                    </a:cubicBez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80719" y="1627822"/>
              <a:ext cx="21732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Passive Attacks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618" y="2298382"/>
              <a:ext cx="21551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Nature &amp; Objective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3618" y="2631758"/>
              <a:ext cx="3872484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Goal: Learn or make use of info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from the transmission system.</a:t>
              </a:r>
            </a:p>
            <a:p>
              <a:pPr marL="178118" indent="-178118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Does NOT affect system resources.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62000" y="3619500"/>
              <a:ext cx="3667125" cy="9525"/>
            </a:xfrm>
            <a:custGeom>
              <a:avLst/>
              <a:gdLst/>
              <a:ahLst/>
              <a:cxnLst/>
              <a:rect l="l" t="t" r="r" b="b"/>
              <a:pathLst>
                <a:path w="3667125" h="9525">
                  <a:moveTo>
                    <a:pt x="0" y="0"/>
                  </a:moveTo>
                  <a:lnTo>
                    <a:pt x="3667125" y="0"/>
                  </a:lnTo>
                </a:path>
              </a:pathLst>
            </a:custGeom>
            <a:noFill/>
            <a:ln w="14288">
              <a:solidFill>
                <a:srgbClr val="DDD7C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3618" y="3822382"/>
              <a:ext cx="16390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Two Key Types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4191000"/>
              <a:ext cx="3667125" cy="1143000"/>
            </a:xfrm>
            <a:prstGeom prst="roundRect">
              <a:avLst>
                <a:gd name="adj" fmla="val 10000"/>
              </a:avLst>
            </a:prstGeom>
            <a:solidFill>
              <a:srgbClr val="EFECE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6493" y="4393882"/>
              <a:ext cx="3471482" cy="12752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1. Release of Message Contents</a:t>
              </a:r>
            </a:p>
            <a:p>
              <a:pPr algn="l">
                <a:lnSpc>
                  <a:spcPts val="2250"/>
                </a:lnSpc>
              </a:pPr>
              <a:r>
                <a:rPr lang="en-US" sz="13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Eavesdropping on plaintext data.</a:t>
              </a:r>
            </a:p>
            <a:p>
              <a:pPr algn="l">
                <a:lnSpc>
                  <a:spcPts val="2250"/>
                </a:lnSpc>
                <a:spcBef>
                  <a:spcPts val="750"/>
                </a:spcBef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2. Traffic Analysis</a:t>
              </a:r>
            </a:p>
            <a:p>
              <a:pPr algn="l">
                <a:lnSpc>
                  <a:spcPts val="2250"/>
                </a:lnSpc>
              </a:pPr>
              <a:r>
                <a:rPr lang="en-US" sz="13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Observing pattern, frequency, &amp; length.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3618" y="5679758"/>
              <a:ext cx="20259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Defense Strategy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3618" y="6013132"/>
              <a:ext cx="4032266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Very difficult to detect (silent).</a:t>
              </a:r>
            </a:p>
            <a:p>
              <a:pPr marL="178118" indent="-178118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Focus is on </a:t>
              </a: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Prevention</a:t>
              </a: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 (Encryption).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038725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5038725" y="1381125"/>
              <a:ext cx="4238625" cy="714375"/>
            </a:xfrm>
            <a:prstGeom prst="roundRect">
              <a:avLst>
                <a:gd name="adj" fmla="val 26667"/>
              </a:avLst>
            </a:prstGeom>
            <a:solidFill>
              <a:srgbClr val="6B141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038725" y="1857375"/>
              <a:ext cx="4238625" cy="238125"/>
            </a:xfrm>
            <a:prstGeom prst="rect">
              <a:avLst/>
            </a:prstGeom>
            <a:solidFill>
              <a:srgbClr val="6B141B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338762" y="1600200"/>
              <a:ext cx="200025" cy="271462"/>
            </a:xfrm>
            <a:custGeom>
              <a:avLst/>
              <a:gdLst/>
              <a:ahLst/>
              <a:cxnLst/>
              <a:rect l="l" t="t" r="r" b="b"/>
              <a:pathLst>
                <a:path w="200025" h="271462">
                  <a:moveTo>
                    <a:pt x="100012" y="127745"/>
                  </a:moveTo>
                  <a:cubicBezTo>
                    <a:pt x="133345" y="80481"/>
                    <a:pt x="102399" y="15973"/>
                    <a:pt x="85725" y="0"/>
                  </a:cubicBezTo>
                  <a:cubicBezTo>
                    <a:pt x="85725" y="48506"/>
                    <a:pt x="53792" y="75709"/>
                    <a:pt x="33333" y="95812"/>
                  </a:cubicBezTo>
                  <a:cubicBezTo>
                    <a:pt x="12902" y="115929"/>
                    <a:pt x="0" y="142875"/>
                    <a:pt x="0" y="175651"/>
                  </a:cubicBezTo>
                  <a:cubicBezTo>
                    <a:pt x="0" y="228571"/>
                    <a:pt x="44777" y="271462"/>
                    <a:pt x="100012" y="271462"/>
                  </a:cubicBezTo>
                  <a:cubicBezTo>
                    <a:pt x="155248" y="271462"/>
                    <a:pt x="200025" y="228571"/>
                    <a:pt x="200025" y="175651"/>
                  </a:cubicBezTo>
                  <a:cubicBezTo>
                    <a:pt x="200025" y="151190"/>
                    <a:pt x="182423" y="112743"/>
                    <a:pt x="166692" y="95812"/>
                  </a:cubicBezTo>
                  <a:cubicBezTo>
                    <a:pt x="136917" y="143718"/>
                    <a:pt x="120158" y="143718"/>
                    <a:pt x="100012" y="127745"/>
                  </a:cubicBezTo>
                </a:path>
              </a:pathLst>
            </a:custGeom>
            <a:noFill/>
            <a:ln w="28575">
              <a:solidFill>
                <a:srgbClr val="F4B40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43194" y="1627822"/>
              <a:ext cx="20216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Active Attacks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16093" y="2298382"/>
              <a:ext cx="21551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Nature &amp; Objective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16093" y="2631758"/>
              <a:ext cx="3495294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Goal: Alter system resources or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affect their operation directly.</a:t>
              </a:r>
            </a:p>
            <a:p>
              <a:pPr marL="178118" indent="-178118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Involves active data tampering.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324475" y="3619500"/>
              <a:ext cx="3667125" cy="9525"/>
            </a:xfrm>
            <a:custGeom>
              <a:avLst/>
              <a:gdLst/>
              <a:ahLst/>
              <a:cxnLst/>
              <a:rect l="l" t="t" r="r" b="b"/>
              <a:pathLst>
                <a:path w="3667125" h="9525">
                  <a:moveTo>
                    <a:pt x="0" y="0"/>
                  </a:moveTo>
                  <a:lnTo>
                    <a:pt x="3667125" y="0"/>
                  </a:lnTo>
                </a:path>
              </a:pathLst>
            </a:custGeom>
            <a:noFill/>
            <a:ln w="14288">
              <a:solidFill>
                <a:srgbClr val="DDD7CE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316093" y="3822382"/>
              <a:ext cx="17197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Four Key Types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24475" y="4191000"/>
              <a:ext cx="3667125" cy="1143000"/>
            </a:xfrm>
            <a:prstGeom prst="roundRect">
              <a:avLst>
                <a:gd name="adj" fmla="val 10000"/>
              </a:avLst>
            </a:prstGeom>
            <a:solidFill>
              <a:srgbClr val="EFECE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60111" y="4322921"/>
              <a:ext cx="29380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1. Masquerade 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(Identity spoofing)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60111" y="4580096"/>
              <a:ext cx="32736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2. Replay 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(Retransmitting valid packets)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60111" y="4837271"/>
              <a:ext cx="37009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3. Modification 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(Altering message contents)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60111" y="5094446"/>
              <a:ext cx="34640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4. Denial of Service 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(Disrupting access)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16093" y="5679758"/>
              <a:ext cx="20259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Defense Strategy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16093" y="6013132"/>
              <a:ext cx="3738896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Hard to prevent completely.</a:t>
              </a:r>
            </a:p>
            <a:p>
              <a:pPr marL="178118" indent="-178118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Focus is on </a:t>
              </a:r>
              <a:r>
                <a:rPr lang="en-US" sz="165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Detection &amp; Recovery</a:t>
              </a: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4699430" cy="803910"/>
            <a:chOff x="462534" y="260985"/>
            <a:chExt cx="4699430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36403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Cast of Characters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4693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Release of Message Contents &amp; Traffic Analysis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476250" y="1381125"/>
            <a:ext cx="8801100" cy="5381625"/>
            <a:chOff x="476250" y="1381125"/>
            <a:chExt cx="8801100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695706" y="1615440"/>
              <a:ext cx="38223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4026" indent="-204026" algn="l"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Release of Message Contents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492" y="1997392"/>
              <a:ext cx="392277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- a passive attack that learns the contents of</a:t>
              </a:r>
              <a:br/>
              <a:r>
                <a:rPr lang="en-US" sz="13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sensitive transmissions.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66750" y="2714625"/>
              <a:ext cx="3857625" cy="3810000"/>
            </a:xfrm>
            <a:prstGeom prst="roundRect">
              <a:avLst>
                <a:gd name="adj" fmla="val 4000"/>
              </a:avLst>
            </a:prstGeom>
            <a:solidFill>
              <a:srgbClr val="EFECE6"/>
            </a:solidFill>
            <a:ln w="14288">
              <a:solidFill>
                <a:srgbClr val="DDD7CE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952500" y="3381375"/>
              <a:ext cx="571500" cy="5715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166812" y="3559969"/>
              <a:ext cx="142875" cy="214313"/>
              <a:chOff x="1166812" y="3559969"/>
              <a:chExt cx="142875" cy="21431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190625" y="35599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66812" y="370284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014285" y="4045268"/>
              <a:ext cx="447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Alice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3619500" y="3381375"/>
              <a:ext cx="571500" cy="5715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833812" y="3559969"/>
              <a:ext cx="142875" cy="214313"/>
              <a:chOff x="3833812" y="3559969"/>
              <a:chExt cx="142875" cy="21431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3857625" y="35599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833812" y="370284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3737992" y="4045268"/>
              <a:ext cx="334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Bob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571625" y="3667125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28575">
              <a:solidFill>
                <a:srgbClr val="4A0005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3476625" y="36099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A000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1905000" y="3333750"/>
              <a:ext cx="4191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4288">
              <a:solidFill>
                <a:srgbClr val="2E5A44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1985962" y="3421062"/>
              <a:ext cx="142875" cy="111125"/>
              <a:chOff x="1985962" y="3421062"/>
              <a:chExt cx="142875" cy="1111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985962" y="3421062"/>
                <a:ext cx="14287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1125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127000" y="0"/>
                    </a:lnTo>
                    <a:cubicBezTo>
                      <a:pt x="135767" y="0"/>
                      <a:pt x="142875" y="7107"/>
                      <a:pt x="142875" y="15875"/>
                    </a:cubicBezTo>
                    <a:lnTo>
                      <a:pt x="142875" y="95250"/>
                    </a:lnTo>
                    <a:cubicBezTo>
                      <a:pt x="142875" y="104017"/>
                      <a:pt x="135767" y="111125"/>
                      <a:pt x="127000" y="111125"/>
                    </a:cubicBezTo>
                    <a:lnTo>
                      <a:pt x="15875" y="111125"/>
                    </a:lnTo>
                    <a:cubicBezTo>
                      <a:pt x="7107" y="111125"/>
                      <a:pt x="0" y="104017"/>
                      <a:pt x="0" y="95250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5875">
                <a:solidFill>
                  <a:srgbClr val="2E5A44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985962" y="3436937"/>
                <a:ext cx="1428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47625">
                    <a:moveTo>
                      <a:pt x="0" y="0"/>
                    </a:moveTo>
                    <a:lnTo>
                      <a:pt x="71437" y="47625"/>
                    </a:lnTo>
                    <a:lnTo>
                      <a:pt x="142875" y="0"/>
                    </a:lnTo>
                  </a:path>
                </a:pathLst>
              </a:custGeom>
              <a:noFill/>
              <a:ln w="15875">
                <a:solidFill>
                  <a:srgbClr val="2E5A44"/>
                </a:solidFill>
              </a:ln>
            </p:spPr>
          </p:sp>
        </p:grpSp>
        <p:sp>
          <p:nvSpPr>
            <p:cNvPr id="26" name="Rectangle 26"/>
            <p:cNvSpPr/>
            <p:nvPr/>
          </p:nvSpPr>
          <p:spPr>
            <a:xfrm>
              <a:off x="2857500" y="3333750"/>
              <a:ext cx="4191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4288">
              <a:solidFill>
                <a:srgbClr val="2E5A44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2938462" y="3421062"/>
              <a:ext cx="142875" cy="111125"/>
              <a:chOff x="2938462" y="3421062"/>
              <a:chExt cx="142875" cy="1111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2938462" y="3421062"/>
                <a:ext cx="14287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1125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127000" y="0"/>
                    </a:lnTo>
                    <a:cubicBezTo>
                      <a:pt x="135767" y="0"/>
                      <a:pt x="142875" y="7107"/>
                      <a:pt x="142875" y="15875"/>
                    </a:cubicBezTo>
                    <a:lnTo>
                      <a:pt x="142875" y="95250"/>
                    </a:lnTo>
                    <a:cubicBezTo>
                      <a:pt x="142875" y="104017"/>
                      <a:pt x="135767" y="111125"/>
                      <a:pt x="127000" y="111125"/>
                    </a:cubicBezTo>
                    <a:lnTo>
                      <a:pt x="15875" y="111125"/>
                    </a:lnTo>
                    <a:cubicBezTo>
                      <a:pt x="7107" y="111125"/>
                      <a:pt x="0" y="104017"/>
                      <a:pt x="0" y="95250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5875">
                <a:solidFill>
                  <a:srgbClr val="2E5A44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2938462" y="3436937"/>
                <a:ext cx="1428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47625">
                    <a:moveTo>
                      <a:pt x="0" y="0"/>
                    </a:moveTo>
                    <a:lnTo>
                      <a:pt x="71437" y="47625"/>
                    </a:lnTo>
                    <a:lnTo>
                      <a:pt x="142875" y="0"/>
                    </a:lnTo>
                  </a:path>
                </a:pathLst>
              </a:custGeom>
              <a:noFill/>
              <a:ln w="15875">
                <a:solidFill>
                  <a:srgbClr val="2E5A44"/>
                </a:solidFill>
              </a:ln>
            </p:spPr>
          </p:sp>
        </p:grpSp>
        <p:sp>
          <p:nvSpPr>
            <p:cNvPr id="30" name="Ellipse 30"/>
            <p:cNvSpPr/>
            <p:nvPr/>
          </p:nvSpPr>
          <p:spPr>
            <a:xfrm>
              <a:off x="2524125" y="3619500"/>
              <a:ext cx="95250" cy="95250"/>
            </a:xfrm>
            <a:prstGeom prst="ellipse">
              <a:avLst/>
            </a:prstGeom>
            <a:solidFill>
              <a:srgbClr val="6B141B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2571750" y="3667125"/>
              <a:ext cx="9525" cy="1238250"/>
            </a:xfrm>
            <a:custGeom>
              <a:avLst/>
              <a:gdLst/>
              <a:ahLst/>
              <a:cxnLst/>
              <a:rect l="l" t="t" r="r" b="b"/>
              <a:pathLst>
                <a:path w="9525" h="1238250">
                  <a:moveTo>
                    <a:pt x="0" y="0"/>
                  </a:moveTo>
                  <a:lnTo>
                    <a:pt x="0" y="1238250"/>
                  </a:lnTo>
                </a:path>
              </a:pathLst>
            </a:custGeom>
            <a:noFill/>
            <a:ln w="23812">
              <a:solidFill>
                <a:srgbClr val="6B141B"/>
              </a:solidFill>
              <a:custDash>
                <a:ds d="240000" sp="160000"/>
              </a:custDash>
            </a:ln>
          </p:spPr>
        </p:sp>
        <p:sp>
          <p:nvSpPr>
            <p:cNvPr id="32" name="Polygon 32"/>
            <p:cNvSpPr/>
            <p:nvPr/>
          </p:nvSpPr>
          <p:spPr>
            <a:xfrm>
              <a:off x="2524125" y="4810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6B141B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247900" y="5057775"/>
              <a:ext cx="647700" cy="647700"/>
            </a:xfrm>
            <a:prstGeom prst="ellipse">
              <a:avLst/>
            </a:prstGeom>
            <a:solidFill>
              <a:srgbClr val="6B141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2486025" y="5253038"/>
              <a:ext cx="228601" cy="271462"/>
              <a:chOff x="2486025" y="5253038"/>
              <a:chExt cx="228601" cy="27146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2514600" y="5253038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2486025" y="5424488"/>
                <a:ext cx="107156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07156" y="0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2643188" y="54530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71438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2643188" y="54530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lnTo>
                      <a:pt x="71438" y="0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2269293" y="5791200"/>
              <a:ext cx="604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Trudy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3048000" y="5286375"/>
              <a:ext cx="1085850" cy="308800"/>
              <a:chOff x="3048000" y="5286375"/>
              <a:chExt cx="1085850" cy="3088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3048000" y="5286375"/>
                <a:ext cx="419100" cy="28575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4288">
                <a:solidFill>
                  <a:srgbClr val="2E5A44"/>
                </a:solidFill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3128962" y="5373687"/>
                <a:ext cx="142875" cy="111125"/>
                <a:chOff x="3128962" y="5373687"/>
                <a:chExt cx="142875" cy="111125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3128962" y="5373687"/>
                  <a:ext cx="14287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11125">
                      <a:moveTo>
                        <a:pt x="0" y="15875"/>
                      </a:move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127000" y="0"/>
                      </a:lnTo>
                      <a:cubicBezTo>
                        <a:pt x="135767" y="0"/>
                        <a:pt x="142875" y="7107"/>
                        <a:pt x="142875" y="15875"/>
                      </a:cubicBezTo>
                      <a:lnTo>
                        <a:pt x="142875" y="95250"/>
                      </a:lnTo>
                      <a:cubicBezTo>
                        <a:pt x="142875" y="104017"/>
                        <a:pt x="135767" y="111125"/>
                        <a:pt x="127000" y="111125"/>
                      </a:cubicBezTo>
                      <a:lnTo>
                        <a:pt x="15875" y="111125"/>
                      </a:lnTo>
                      <a:cubicBezTo>
                        <a:pt x="7107" y="111125"/>
                        <a:pt x="0" y="104017"/>
                        <a:pt x="0" y="95250"/>
                      </a:cubicBez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2E5A44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3128962" y="5389562"/>
                  <a:ext cx="14287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47625">
                      <a:moveTo>
                        <a:pt x="0" y="0"/>
                      </a:moveTo>
                      <a:lnTo>
                        <a:pt x="71437" y="47625"/>
                      </a:lnTo>
                      <a:lnTo>
                        <a:pt x="142875" y="0"/>
                      </a:lnTo>
                    </a:path>
                  </a:pathLst>
                </a:custGeom>
                <a:noFill/>
                <a:ln w="15875">
                  <a:solidFill>
                    <a:srgbClr val="2E5A44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3536442" y="533114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→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3714750" y="5286375"/>
                <a:ext cx="419100" cy="28575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4288">
                <a:solidFill>
                  <a:srgbClr val="4A0005"/>
                </a:solidFill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3795712" y="5357812"/>
                <a:ext cx="142875" cy="142875"/>
                <a:chOff x="3795712" y="5357812"/>
                <a:chExt cx="142875" cy="142875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3795712" y="5357812"/>
                  <a:ext cx="14287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0">
                      <a:moveTo>
                        <a:pt x="0" y="47625"/>
                      </a:moveTo>
                      <a:lnTo>
                        <a:pt x="71437" y="95250"/>
                      </a:lnTo>
                      <a:lnTo>
                        <a:pt x="142875" y="47625"/>
                      </a:lnTo>
                      <a:lnTo>
                        <a:pt x="71437" y="0"/>
                      </a:lnTo>
                      <a:lnTo>
                        <a:pt x="0" y="47625"/>
                      </a:lnTo>
                    </a:path>
                  </a:pathLst>
                </a:custGeom>
                <a:noFill/>
                <a:ln w="15875">
                  <a:solidFill>
                    <a:srgbClr val="4A0005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3795712" y="5405437"/>
                  <a:ext cx="14287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0">
                      <a:moveTo>
                        <a:pt x="142875" y="0"/>
                      </a:moveTo>
                      <a:lnTo>
                        <a:pt x="142875" y="79375"/>
                      </a:lnTo>
                      <a:cubicBezTo>
                        <a:pt x="142875" y="88142"/>
                        <a:pt x="135767" y="95250"/>
                        <a:pt x="127000" y="95250"/>
                      </a:cubicBezTo>
                      <a:lnTo>
                        <a:pt x="15875" y="95250"/>
                      </a:lnTo>
                      <a:cubicBezTo>
                        <a:pt x="7107" y="95250"/>
                        <a:pt x="0" y="88142"/>
                        <a:pt x="0" y="79375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4A0005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3795712" y="5437187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47625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5875">
                  <a:solidFill>
                    <a:srgbClr val="4A0005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3890962" y="5437187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47625" y="47625"/>
                      </a:lnTo>
                    </a:path>
                  </a:pathLst>
                </a:custGeom>
                <a:noFill/>
                <a:ln w="15875">
                  <a:solidFill>
                    <a:srgbClr val="4A0005"/>
                  </a:solidFill>
                </a:ln>
              </p:spPr>
            </p:sp>
          </p:grpSp>
        </p:grpSp>
        <p:sp>
          <p:nvSpPr>
            <p:cNvPr id="52" name="Rectangle 52"/>
            <p:cNvSpPr/>
            <p:nvPr/>
          </p:nvSpPr>
          <p:spPr>
            <a:xfrm>
              <a:off x="5038725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53" name="TextBox 53"/>
            <p:cNvSpPr txBox="1"/>
            <p:nvPr/>
          </p:nvSpPr>
          <p:spPr>
            <a:xfrm>
              <a:off x="5258181" y="1615440"/>
              <a:ext cx="22218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4026" indent="-204026" algn="l"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Traffic Analysis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450967" y="1997392"/>
              <a:ext cx="320268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- a passive attack observing pattern,</a:t>
              </a:r>
              <a:br/>
              <a:r>
                <a:rPr lang="en-US" sz="13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frequency, and length of messages.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229225" y="2714625"/>
              <a:ext cx="3857625" cy="3810000"/>
            </a:xfrm>
            <a:prstGeom prst="roundRect">
              <a:avLst>
                <a:gd name="adj" fmla="val 4000"/>
              </a:avLst>
            </a:prstGeom>
            <a:solidFill>
              <a:srgbClr val="EFECE6"/>
            </a:solidFill>
            <a:ln w="14288">
              <a:solidFill>
                <a:srgbClr val="DDD7CE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5514975" y="3381375"/>
              <a:ext cx="571500" cy="5715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5729288" y="3559969"/>
              <a:ext cx="142875" cy="214313"/>
              <a:chOff x="5729288" y="3559969"/>
              <a:chExt cx="142875" cy="21431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5753100" y="35599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5729288" y="370284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5576760" y="4045268"/>
              <a:ext cx="447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Alice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8181975" y="3381375"/>
              <a:ext cx="571500" cy="5715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8396288" y="3559969"/>
              <a:ext cx="142875" cy="214313"/>
              <a:chOff x="8396288" y="3559969"/>
              <a:chExt cx="142875" cy="21431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420100" y="35599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96288" y="370284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8300467" y="4045268"/>
              <a:ext cx="334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Bob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6134100" y="3667125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28575">
              <a:solidFill>
                <a:srgbClr val="4A0005"/>
              </a:solidFill>
            </a:ln>
          </p:spPr>
        </p:sp>
        <p:sp>
          <p:nvSpPr>
            <p:cNvPr id="67" name="Polygon 67"/>
            <p:cNvSpPr/>
            <p:nvPr/>
          </p:nvSpPr>
          <p:spPr>
            <a:xfrm>
              <a:off x="8039100" y="36099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A0005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503194" y="3333750"/>
              <a:ext cx="173831" cy="402432"/>
              <a:chOff x="6503194" y="3333750"/>
              <a:chExt cx="173831" cy="402432"/>
            </a:xfrm>
          </p:grpSpPr>
          <p:grpSp>
            <p:nvGrpSpPr>
              <p:cNvPr id="70" name="Group 70"/>
              <p:cNvGrpSpPr/>
              <p:nvPr/>
            </p:nvGrpSpPr>
            <p:grpSpPr>
              <a:xfrm>
                <a:off x="6505575" y="3333750"/>
                <a:ext cx="171450" cy="133350"/>
                <a:chOff x="6505575" y="3333750"/>
                <a:chExt cx="171450" cy="133350"/>
              </a:xfrm>
            </p:grpSpPr>
            <p:sp>
              <p:nvSpPr>
                <p:cNvPr id="68" name="Freeform 68"/>
                <p:cNvSpPr/>
                <p:nvPr/>
              </p:nvSpPr>
              <p:spPr>
                <a:xfrm>
                  <a:off x="6505575" y="3333750"/>
                  <a:ext cx="1714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333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14300"/>
                      </a:lnTo>
                      <a:cubicBezTo>
                        <a:pt x="171450" y="124821"/>
                        <a:pt x="162921" y="133350"/>
                        <a:pt x="152400" y="133350"/>
                      </a:cubicBezTo>
                      <a:lnTo>
                        <a:pt x="19050" y="133350"/>
                      </a:lnTo>
                      <a:cubicBezTo>
                        <a:pt x="8529" y="133350"/>
                        <a:pt x="0" y="124821"/>
                        <a:pt x="0" y="1143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2E5A44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6505575" y="3352800"/>
                  <a:ext cx="1714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57150">
                      <a:moveTo>
                        <a:pt x="0" y="0"/>
                      </a:moveTo>
                      <a:lnTo>
                        <a:pt x="85725" y="57150"/>
                      </a:ln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2E5A44"/>
                  </a:solidFill>
                </a:ln>
              </p:spPr>
            </p:sp>
          </p:grpSp>
          <p:grpSp>
            <p:nvGrpSpPr>
              <p:cNvPr id="73" name="Group 73"/>
              <p:cNvGrpSpPr/>
              <p:nvPr/>
            </p:nvGrpSpPr>
            <p:grpSpPr>
              <a:xfrm>
                <a:off x="6503194" y="3579019"/>
                <a:ext cx="157163" cy="157163"/>
                <a:chOff x="6503194" y="3579019"/>
                <a:chExt cx="157163" cy="157163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6503194" y="3579019"/>
                  <a:ext cx="157163" cy="157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3" h="157163">
                      <a:moveTo>
                        <a:pt x="0" y="78581"/>
                      </a:moveTo>
                      <a:cubicBezTo>
                        <a:pt x="0" y="121981"/>
                        <a:pt x="35182" y="157163"/>
                        <a:pt x="78581" y="157163"/>
                      </a:cubicBezTo>
                      <a:cubicBezTo>
                        <a:pt x="121981" y="157163"/>
                        <a:pt x="157163" y="121981"/>
                        <a:pt x="157163" y="78581"/>
                      </a:cubicBezTo>
                      <a:cubicBezTo>
                        <a:pt x="157163" y="35182"/>
                        <a:pt x="121981" y="0"/>
                        <a:pt x="78581" y="0"/>
                      </a:cubicBezTo>
                      <a:cubicBezTo>
                        <a:pt x="35182" y="0"/>
                        <a:pt x="0" y="35182"/>
                        <a:pt x="0" y="78581"/>
                      </a:cubicBezTo>
                    </a:path>
                  </a:pathLst>
                </a:custGeom>
                <a:noFill/>
                <a:ln w="17463">
                  <a:solidFill>
                    <a:srgbClr val="2E5A44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6581775" y="3613944"/>
                  <a:ext cx="26194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" h="69850">
                      <a:moveTo>
                        <a:pt x="0" y="0"/>
                      </a:moveTo>
                      <a:lnTo>
                        <a:pt x="0" y="43656"/>
                      </a:lnTo>
                      <a:lnTo>
                        <a:pt x="26194" y="69850"/>
                      </a:lnTo>
                    </a:path>
                  </a:pathLst>
                </a:custGeom>
                <a:noFill/>
                <a:ln w="17463">
                  <a:solidFill>
                    <a:srgbClr val="2E5A44"/>
                  </a:solidFill>
                </a:ln>
              </p:spPr>
            </p:sp>
          </p:grpSp>
        </p:grpSp>
        <p:grpSp>
          <p:nvGrpSpPr>
            <p:cNvPr id="81" name="Group 81"/>
            <p:cNvGrpSpPr/>
            <p:nvPr/>
          </p:nvGrpSpPr>
          <p:grpSpPr>
            <a:xfrm>
              <a:off x="7074694" y="3333750"/>
              <a:ext cx="173831" cy="402432"/>
              <a:chOff x="7074694" y="3333750"/>
              <a:chExt cx="173831" cy="402432"/>
            </a:xfrm>
          </p:grpSpPr>
          <p:grpSp>
            <p:nvGrpSpPr>
              <p:cNvPr id="77" name="Group 77"/>
              <p:cNvGrpSpPr/>
              <p:nvPr/>
            </p:nvGrpSpPr>
            <p:grpSpPr>
              <a:xfrm>
                <a:off x="7077075" y="3333750"/>
                <a:ext cx="171450" cy="133350"/>
                <a:chOff x="7077075" y="3333750"/>
                <a:chExt cx="171450" cy="133350"/>
              </a:xfrm>
            </p:grpSpPr>
            <p:sp>
              <p:nvSpPr>
                <p:cNvPr id="75" name="Freeform 75"/>
                <p:cNvSpPr/>
                <p:nvPr/>
              </p:nvSpPr>
              <p:spPr>
                <a:xfrm>
                  <a:off x="7077075" y="3333750"/>
                  <a:ext cx="1714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333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14300"/>
                      </a:lnTo>
                      <a:cubicBezTo>
                        <a:pt x="171450" y="124821"/>
                        <a:pt x="162921" y="133350"/>
                        <a:pt x="152400" y="133350"/>
                      </a:cubicBezTo>
                      <a:lnTo>
                        <a:pt x="19050" y="133350"/>
                      </a:lnTo>
                      <a:cubicBezTo>
                        <a:pt x="8529" y="133350"/>
                        <a:pt x="0" y="124821"/>
                        <a:pt x="0" y="1143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2E5A44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7077075" y="3352800"/>
                  <a:ext cx="1714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57150">
                      <a:moveTo>
                        <a:pt x="0" y="0"/>
                      </a:moveTo>
                      <a:lnTo>
                        <a:pt x="85725" y="57150"/>
                      </a:ln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2E5A44"/>
                  </a:solidFill>
                </a:ln>
              </p:spPr>
            </p:sp>
          </p:grpSp>
          <p:grpSp>
            <p:nvGrpSpPr>
              <p:cNvPr id="80" name="Group 80"/>
              <p:cNvGrpSpPr/>
              <p:nvPr/>
            </p:nvGrpSpPr>
            <p:grpSpPr>
              <a:xfrm>
                <a:off x="7074694" y="3579019"/>
                <a:ext cx="157163" cy="157163"/>
                <a:chOff x="7074694" y="3579019"/>
                <a:chExt cx="157163" cy="157163"/>
              </a:xfrm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7074694" y="3579019"/>
                  <a:ext cx="157163" cy="157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3" h="157163">
                      <a:moveTo>
                        <a:pt x="0" y="78581"/>
                      </a:moveTo>
                      <a:cubicBezTo>
                        <a:pt x="0" y="121981"/>
                        <a:pt x="35182" y="157163"/>
                        <a:pt x="78581" y="157163"/>
                      </a:cubicBezTo>
                      <a:cubicBezTo>
                        <a:pt x="121981" y="157163"/>
                        <a:pt x="157163" y="121981"/>
                        <a:pt x="157163" y="78581"/>
                      </a:cubicBezTo>
                      <a:cubicBezTo>
                        <a:pt x="157163" y="35182"/>
                        <a:pt x="121981" y="0"/>
                        <a:pt x="78581" y="0"/>
                      </a:cubicBezTo>
                      <a:cubicBezTo>
                        <a:pt x="35182" y="0"/>
                        <a:pt x="0" y="35182"/>
                        <a:pt x="0" y="78581"/>
                      </a:cubicBezTo>
                    </a:path>
                  </a:pathLst>
                </a:custGeom>
                <a:noFill/>
                <a:ln w="17463">
                  <a:solidFill>
                    <a:srgbClr val="2E5A44"/>
                  </a:solidFill>
                </a:ln>
              </p:spPr>
            </p:sp>
            <p:sp>
              <p:nvSpPr>
                <p:cNvPr id="79" name="Freeform 79"/>
                <p:cNvSpPr/>
                <p:nvPr/>
              </p:nvSpPr>
              <p:spPr>
                <a:xfrm>
                  <a:off x="7153275" y="3613944"/>
                  <a:ext cx="26194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" h="69850">
                      <a:moveTo>
                        <a:pt x="0" y="0"/>
                      </a:moveTo>
                      <a:lnTo>
                        <a:pt x="0" y="43656"/>
                      </a:lnTo>
                      <a:lnTo>
                        <a:pt x="26194" y="69850"/>
                      </a:lnTo>
                    </a:path>
                  </a:pathLst>
                </a:custGeom>
                <a:noFill/>
                <a:ln w="17463">
                  <a:solidFill>
                    <a:srgbClr val="2E5A44"/>
                  </a:solidFill>
                </a:ln>
              </p:spPr>
            </p:sp>
          </p:grpSp>
        </p:grpSp>
        <p:grpSp>
          <p:nvGrpSpPr>
            <p:cNvPr id="88" name="Group 88"/>
            <p:cNvGrpSpPr/>
            <p:nvPr/>
          </p:nvGrpSpPr>
          <p:grpSpPr>
            <a:xfrm>
              <a:off x="7646194" y="3333750"/>
              <a:ext cx="173831" cy="402432"/>
              <a:chOff x="7646194" y="3333750"/>
              <a:chExt cx="173831" cy="402432"/>
            </a:xfrm>
          </p:grpSpPr>
          <p:grpSp>
            <p:nvGrpSpPr>
              <p:cNvPr id="84" name="Group 84"/>
              <p:cNvGrpSpPr/>
              <p:nvPr/>
            </p:nvGrpSpPr>
            <p:grpSpPr>
              <a:xfrm>
                <a:off x="7648575" y="3333750"/>
                <a:ext cx="171450" cy="133350"/>
                <a:chOff x="7648575" y="3333750"/>
                <a:chExt cx="171450" cy="133350"/>
              </a:xfrm>
            </p:grpSpPr>
            <p:sp>
              <p:nvSpPr>
                <p:cNvPr id="82" name="Freeform 82"/>
                <p:cNvSpPr/>
                <p:nvPr/>
              </p:nvSpPr>
              <p:spPr>
                <a:xfrm>
                  <a:off x="7648575" y="3333750"/>
                  <a:ext cx="1714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333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14300"/>
                      </a:lnTo>
                      <a:cubicBezTo>
                        <a:pt x="171450" y="124821"/>
                        <a:pt x="162921" y="133350"/>
                        <a:pt x="152400" y="133350"/>
                      </a:cubicBezTo>
                      <a:lnTo>
                        <a:pt x="19050" y="133350"/>
                      </a:lnTo>
                      <a:cubicBezTo>
                        <a:pt x="8529" y="133350"/>
                        <a:pt x="0" y="124821"/>
                        <a:pt x="0" y="1143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2E5A44"/>
                  </a:solidFill>
                </a:ln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7648575" y="3352800"/>
                  <a:ext cx="1714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57150">
                      <a:moveTo>
                        <a:pt x="0" y="0"/>
                      </a:moveTo>
                      <a:lnTo>
                        <a:pt x="85725" y="57150"/>
                      </a:ln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2E5A44"/>
                  </a:solidFill>
                </a:ln>
              </p:spPr>
            </p:sp>
          </p:grpSp>
          <p:grpSp>
            <p:nvGrpSpPr>
              <p:cNvPr id="87" name="Group 87"/>
              <p:cNvGrpSpPr/>
              <p:nvPr/>
            </p:nvGrpSpPr>
            <p:grpSpPr>
              <a:xfrm>
                <a:off x="7646194" y="3579019"/>
                <a:ext cx="157163" cy="157163"/>
                <a:chOff x="7646194" y="3579019"/>
                <a:chExt cx="157163" cy="157163"/>
              </a:xfrm>
            </p:grpSpPr>
            <p:sp>
              <p:nvSpPr>
                <p:cNvPr id="85" name="Freeform 85"/>
                <p:cNvSpPr/>
                <p:nvPr/>
              </p:nvSpPr>
              <p:spPr>
                <a:xfrm>
                  <a:off x="7646194" y="3579019"/>
                  <a:ext cx="157163" cy="157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3" h="157163">
                      <a:moveTo>
                        <a:pt x="0" y="78581"/>
                      </a:moveTo>
                      <a:cubicBezTo>
                        <a:pt x="0" y="121981"/>
                        <a:pt x="35182" y="157163"/>
                        <a:pt x="78581" y="157163"/>
                      </a:cubicBezTo>
                      <a:cubicBezTo>
                        <a:pt x="121981" y="157163"/>
                        <a:pt x="157163" y="121981"/>
                        <a:pt x="157163" y="78581"/>
                      </a:cubicBezTo>
                      <a:cubicBezTo>
                        <a:pt x="157163" y="35182"/>
                        <a:pt x="121981" y="0"/>
                        <a:pt x="78581" y="0"/>
                      </a:cubicBezTo>
                      <a:cubicBezTo>
                        <a:pt x="35182" y="0"/>
                        <a:pt x="0" y="35182"/>
                        <a:pt x="0" y="78581"/>
                      </a:cubicBezTo>
                    </a:path>
                  </a:pathLst>
                </a:custGeom>
                <a:noFill/>
                <a:ln w="17463">
                  <a:solidFill>
                    <a:srgbClr val="2E5A44"/>
                  </a:solidFill>
                </a:ln>
              </p:spPr>
            </p:sp>
            <p:sp>
              <p:nvSpPr>
                <p:cNvPr id="86" name="Freeform 86"/>
                <p:cNvSpPr/>
                <p:nvPr/>
              </p:nvSpPr>
              <p:spPr>
                <a:xfrm>
                  <a:off x="7724775" y="3613944"/>
                  <a:ext cx="26194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" h="69850">
                      <a:moveTo>
                        <a:pt x="0" y="0"/>
                      </a:moveTo>
                      <a:lnTo>
                        <a:pt x="0" y="43656"/>
                      </a:lnTo>
                      <a:lnTo>
                        <a:pt x="26194" y="69850"/>
                      </a:lnTo>
                    </a:path>
                  </a:pathLst>
                </a:custGeom>
                <a:noFill/>
                <a:ln w="17463">
                  <a:solidFill>
                    <a:srgbClr val="2E5A44"/>
                  </a:solidFill>
                </a:ln>
              </p:spPr>
            </p:sp>
          </p:grpSp>
        </p:grpSp>
        <p:sp>
          <p:nvSpPr>
            <p:cNvPr id="89" name="Line 89"/>
            <p:cNvSpPr/>
            <p:nvPr/>
          </p:nvSpPr>
          <p:spPr>
            <a:xfrm>
              <a:off x="6572250" y="3810000"/>
              <a:ext cx="476250" cy="1190625"/>
            </a:xfrm>
            <a:custGeom>
              <a:avLst/>
              <a:gdLst/>
              <a:ahLst/>
              <a:cxnLst/>
              <a:rect l="l" t="t" r="r" b="b"/>
              <a:pathLst>
                <a:path w="476250" h="1190625">
                  <a:moveTo>
                    <a:pt x="0" y="0"/>
                  </a:moveTo>
                  <a:lnTo>
                    <a:pt x="476250" y="1190625"/>
                  </a:lnTo>
                </a:path>
              </a:pathLst>
            </a:custGeom>
            <a:noFill/>
            <a:ln w="19050">
              <a:solidFill>
                <a:srgbClr val="6B141B"/>
              </a:solidFill>
              <a:prstDash val="dash"/>
            </a:ln>
          </p:spPr>
        </p:sp>
        <p:sp>
          <p:nvSpPr>
            <p:cNvPr id="90" name="Line 90"/>
            <p:cNvSpPr/>
            <p:nvPr/>
          </p:nvSpPr>
          <p:spPr>
            <a:xfrm>
              <a:off x="7143750" y="3810000"/>
              <a:ext cx="9525" cy="1190625"/>
            </a:xfrm>
            <a:custGeom>
              <a:avLst/>
              <a:gdLst/>
              <a:ahLst/>
              <a:cxnLst/>
              <a:rect l="l" t="t" r="r" b="b"/>
              <a:pathLst>
                <a:path w="9525" h="1190625">
                  <a:moveTo>
                    <a:pt x="0" y="0"/>
                  </a:moveTo>
                  <a:lnTo>
                    <a:pt x="0" y="1190625"/>
                  </a:lnTo>
                </a:path>
              </a:pathLst>
            </a:custGeom>
            <a:noFill/>
            <a:ln w="19050">
              <a:solidFill>
                <a:srgbClr val="6B141B"/>
              </a:solidFill>
              <a:prstDash val="dash"/>
            </a:ln>
          </p:spPr>
        </p:sp>
        <p:sp>
          <p:nvSpPr>
            <p:cNvPr id="91" name="Line 91"/>
            <p:cNvSpPr/>
            <p:nvPr/>
          </p:nvSpPr>
          <p:spPr>
            <a:xfrm>
              <a:off x="7239000" y="3810000"/>
              <a:ext cx="476250" cy="1190625"/>
            </a:xfrm>
            <a:custGeom>
              <a:avLst/>
              <a:gdLst/>
              <a:ahLst/>
              <a:cxnLst/>
              <a:rect l="l" t="t" r="r" b="b"/>
              <a:pathLst>
                <a:path w="476250" h="1190625">
                  <a:moveTo>
                    <a:pt x="476250" y="0"/>
                  </a:moveTo>
                  <a:lnTo>
                    <a:pt x="0" y="1190625"/>
                  </a:lnTo>
                </a:path>
              </a:pathLst>
            </a:custGeom>
            <a:noFill/>
            <a:ln w="19050">
              <a:solidFill>
                <a:srgbClr val="6B141B"/>
              </a:solidFill>
              <a:prstDash val="dash"/>
            </a:ln>
          </p:spPr>
        </p:sp>
        <p:sp>
          <p:nvSpPr>
            <p:cNvPr id="92" name="Ellipse 92"/>
            <p:cNvSpPr/>
            <p:nvPr/>
          </p:nvSpPr>
          <p:spPr>
            <a:xfrm>
              <a:off x="6819900" y="5057775"/>
              <a:ext cx="647700" cy="647700"/>
            </a:xfrm>
            <a:prstGeom prst="ellipse">
              <a:avLst/>
            </a:prstGeom>
            <a:solidFill>
              <a:srgbClr val="6B141B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7058025" y="5253038"/>
              <a:ext cx="228601" cy="271462"/>
              <a:chOff x="7058025" y="5253038"/>
              <a:chExt cx="228601" cy="271462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7086600" y="5253038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7058025" y="5424488"/>
                <a:ext cx="107156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07156" y="0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7215188" y="54530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71438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7215188" y="54530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lnTo>
                      <a:pt x="71438" y="0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6841293" y="5791200"/>
              <a:ext cx="604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Trudy</a:t>
              </a:r>
            </a:p>
          </p:txBody>
        </p:sp>
        <p:grpSp>
          <p:nvGrpSpPr>
            <p:cNvPr id="105" name="Group 105"/>
            <p:cNvGrpSpPr/>
            <p:nvPr/>
          </p:nvGrpSpPr>
          <p:grpSpPr>
            <a:xfrm>
              <a:off x="7572375" y="5048250"/>
              <a:ext cx="523875" cy="419100"/>
              <a:chOff x="7572375" y="5048250"/>
              <a:chExt cx="523875" cy="419100"/>
            </a:xfrm>
          </p:grpSpPr>
          <p:sp>
            <p:nvSpPr>
              <p:cNvPr id="99" name="Rectangle 99"/>
              <p:cNvSpPr/>
              <p:nvPr/>
            </p:nvSpPr>
            <p:spPr>
              <a:xfrm>
                <a:off x="7572375" y="5048250"/>
                <a:ext cx="523875" cy="419100"/>
              </a:xfrm>
              <a:prstGeom prst="roundRect">
                <a:avLst>
                  <a:gd name="adj" fmla="val 18182"/>
                </a:avLst>
              </a:prstGeom>
              <a:solidFill>
                <a:srgbClr val="FFFFFF"/>
              </a:solidFill>
              <a:ln w="14288">
                <a:solidFill>
                  <a:srgbClr val="2E5A44"/>
                </a:solidFill>
              </a:ln>
            </p:spPr>
          </p:sp>
          <p:grpSp>
            <p:nvGrpSpPr>
              <p:cNvPr id="104" name="Group 104"/>
              <p:cNvGrpSpPr/>
              <p:nvPr/>
            </p:nvGrpSpPr>
            <p:grpSpPr>
              <a:xfrm>
                <a:off x="7722394" y="5162550"/>
                <a:ext cx="214313" cy="200025"/>
                <a:chOff x="7722394" y="5162550"/>
                <a:chExt cx="214313" cy="200025"/>
              </a:xfrm>
            </p:grpSpPr>
            <p:sp>
              <p:nvSpPr>
                <p:cNvPr id="100" name="Freeform 100"/>
                <p:cNvSpPr/>
                <p:nvPr/>
              </p:nvSpPr>
              <p:spPr>
                <a:xfrm>
                  <a:off x="7722394" y="5257800"/>
                  <a:ext cx="71438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95250">
                      <a:moveTo>
                        <a:pt x="0" y="11906"/>
                      </a:moveTo>
                      <a:cubicBezTo>
                        <a:pt x="0" y="5331"/>
                        <a:pt x="5331" y="0"/>
                        <a:pt x="11906" y="0"/>
                      </a:cubicBezTo>
                      <a:lnTo>
                        <a:pt x="59531" y="0"/>
                      </a:lnTo>
                      <a:cubicBezTo>
                        <a:pt x="66107" y="0"/>
                        <a:pt x="71438" y="5331"/>
                        <a:pt x="71438" y="11906"/>
                      </a:cubicBezTo>
                      <a:lnTo>
                        <a:pt x="71438" y="83344"/>
                      </a:lnTo>
                      <a:cubicBezTo>
                        <a:pt x="71438" y="89919"/>
                        <a:pt x="66107" y="95250"/>
                        <a:pt x="59531" y="95250"/>
                      </a:cubicBezTo>
                      <a:lnTo>
                        <a:pt x="11906" y="95250"/>
                      </a:lnTo>
                      <a:cubicBezTo>
                        <a:pt x="5331" y="95250"/>
                        <a:pt x="0" y="89919"/>
                        <a:pt x="0" y="83344"/>
                      </a:cubicBezTo>
                      <a:lnTo>
                        <a:pt x="0" y="11906"/>
                      </a:lnTo>
                    </a:path>
                  </a:pathLst>
                </a:custGeom>
                <a:noFill/>
                <a:ln w="23812">
                  <a:solidFill>
                    <a:srgbClr val="2E5A44"/>
                  </a:solidFill>
                </a:ln>
              </p:spPr>
            </p:sp>
            <p:sp>
              <p:nvSpPr>
                <p:cNvPr id="101" name="Freeform 101"/>
                <p:cNvSpPr/>
                <p:nvPr/>
              </p:nvSpPr>
              <p:spPr>
                <a:xfrm>
                  <a:off x="7865269" y="5210175"/>
                  <a:ext cx="71438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142875">
                      <a:moveTo>
                        <a:pt x="0" y="11906"/>
                      </a:moveTo>
                      <a:cubicBezTo>
                        <a:pt x="0" y="5331"/>
                        <a:pt x="5331" y="0"/>
                        <a:pt x="11906" y="0"/>
                      </a:cubicBezTo>
                      <a:lnTo>
                        <a:pt x="59531" y="0"/>
                      </a:lnTo>
                      <a:cubicBezTo>
                        <a:pt x="66107" y="0"/>
                        <a:pt x="71438" y="5331"/>
                        <a:pt x="71438" y="11906"/>
                      </a:cubicBezTo>
                      <a:lnTo>
                        <a:pt x="71438" y="130969"/>
                      </a:lnTo>
                      <a:cubicBezTo>
                        <a:pt x="71438" y="137544"/>
                        <a:pt x="66107" y="142875"/>
                        <a:pt x="59531" y="142875"/>
                      </a:cubicBezTo>
                      <a:lnTo>
                        <a:pt x="11906" y="142875"/>
                      </a:lnTo>
                      <a:cubicBezTo>
                        <a:pt x="5331" y="142875"/>
                        <a:pt x="0" y="137544"/>
                        <a:pt x="0" y="130969"/>
                      </a:cubicBezTo>
                      <a:lnTo>
                        <a:pt x="0" y="11906"/>
                      </a:lnTo>
                    </a:path>
                  </a:pathLst>
                </a:custGeom>
                <a:noFill/>
                <a:ln w="23812">
                  <a:solidFill>
                    <a:srgbClr val="2E5A44"/>
                  </a:solidFill>
                </a:ln>
              </p:spPr>
            </p:sp>
            <p:sp>
              <p:nvSpPr>
                <p:cNvPr id="102" name="Freeform 102"/>
                <p:cNvSpPr/>
                <p:nvPr/>
              </p:nvSpPr>
              <p:spPr>
                <a:xfrm>
                  <a:off x="7793831" y="5162550"/>
                  <a:ext cx="71438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190500">
                      <a:moveTo>
                        <a:pt x="0" y="11906"/>
                      </a:moveTo>
                      <a:cubicBezTo>
                        <a:pt x="0" y="5331"/>
                        <a:pt x="5331" y="0"/>
                        <a:pt x="11906" y="0"/>
                      </a:cubicBezTo>
                      <a:lnTo>
                        <a:pt x="59531" y="0"/>
                      </a:lnTo>
                      <a:cubicBezTo>
                        <a:pt x="66107" y="0"/>
                        <a:pt x="71438" y="5331"/>
                        <a:pt x="71438" y="11906"/>
                      </a:cubicBezTo>
                      <a:lnTo>
                        <a:pt x="71438" y="178594"/>
                      </a:lnTo>
                      <a:cubicBezTo>
                        <a:pt x="71438" y="185169"/>
                        <a:pt x="66107" y="190500"/>
                        <a:pt x="59531" y="190500"/>
                      </a:cubicBezTo>
                      <a:lnTo>
                        <a:pt x="11906" y="190500"/>
                      </a:lnTo>
                      <a:cubicBezTo>
                        <a:pt x="5331" y="190500"/>
                        <a:pt x="0" y="185169"/>
                        <a:pt x="0" y="178594"/>
                      </a:cubicBezTo>
                      <a:lnTo>
                        <a:pt x="0" y="11906"/>
                      </a:lnTo>
                    </a:path>
                  </a:pathLst>
                </a:custGeom>
                <a:noFill/>
                <a:ln w="23812">
                  <a:solidFill>
                    <a:srgbClr val="2E5A44"/>
                  </a:solidFill>
                </a:ln>
              </p:spPr>
            </p:sp>
            <p:sp>
              <p:nvSpPr>
                <p:cNvPr id="103" name="Freeform 103"/>
                <p:cNvSpPr/>
                <p:nvPr/>
              </p:nvSpPr>
              <p:spPr>
                <a:xfrm>
                  <a:off x="7734300" y="5353050"/>
                  <a:ext cx="1666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9525">
                      <a:moveTo>
                        <a:pt x="0" y="0"/>
                      </a:moveTo>
                      <a:lnTo>
                        <a:pt x="166688" y="0"/>
                      </a:lnTo>
                    </a:path>
                  </a:pathLst>
                </a:custGeom>
                <a:noFill/>
                <a:ln w="23812">
                  <a:solidFill>
                    <a:srgbClr val="2E5A44"/>
                  </a:solidFill>
                </a:ln>
              </p:spPr>
            </p:sp>
          </p:grp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3640304" cy="803910"/>
            <a:chOff x="462534" y="260985"/>
            <a:chExt cx="3640304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36403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Cast of Characters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34961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Masquerade Attack &amp; Replay Attack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476250" y="1381125"/>
            <a:ext cx="8801100" cy="5381625"/>
            <a:chOff x="476250" y="1381125"/>
            <a:chExt cx="8801100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695706" y="1615440"/>
              <a:ext cx="26052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4026" indent="-204026" algn="l"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Masquerade Attack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492" y="1997392"/>
              <a:ext cx="399992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- an active attack where an unauthorized party</a:t>
              </a:r>
              <a:br/>
              <a:r>
                <a:rPr lang="en-US" sz="13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pretends to be a different authorized party.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66750" y="2714625"/>
              <a:ext cx="3857625" cy="3810000"/>
            </a:xfrm>
            <a:prstGeom prst="roundRect">
              <a:avLst>
                <a:gd name="adj" fmla="val 4000"/>
              </a:avLst>
            </a:prstGeom>
            <a:solidFill>
              <a:srgbClr val="EFECE6"/>
            </a:solidFill>
            <a:ln w="14288">
              <a:solidFill>
                <a:srgbClr val="DDD7CE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76300" y="3400425"/>
              <a:ext cx="533400" cy="5334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76325" y="3567113"/>
              <a:ext cx="133350" cy="200025"/>
              <a:chOff x="1076325" y="3567113"/>
              <a:chExt cx="133350" cy="20002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98550" y="3567113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76325" y="3700463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919035" y="3997642"/>
              <a:ext cx="447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Alice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428750" y="3667125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3812">
              <a:solidFill>
                <a:srgbClr val="4A0005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743075" y="3429000"/>
              <a:ext cx="171450" cy="133350"/>
              <a:chOff x="1743075" y="3429000"/>
              <a:chExt cx="171450" cy="1333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743075" y="3429000"/>
                <a:ext cx="1714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333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14300"/>
                    </a:lnTo>
                    <a:cubicBezTo>
                      <a:pt x="171450" y="124821"/>
                      <a:pt x="162921" y="133350"/>
                      <a:pt x="1524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E5A44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743075" y="3448050"/>
                <a:ext cx="1714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57150">
                    <a:moveTo>
                      <a:pt x="0" y="0"/>
                    </a:moveTo>
                    <a:lnTo>
                      <a:pt x="85725" y="57150"/>
                    </a:ln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2E5A44"/>
                </a:solidFill>
              </a:ln>
            </p:spPr>
          </p:sp>
        </p:grpSp>
        <p:sp>
          <p:nvSpPr>
            <p:cNvPr id="19" name="Ellipse 19"/>
            <p:cNvSpPr/>
            <p:nvPr/>
          </p:nvSpPr>
          <p:spPr>
            <a:xfrm>
              <a:off x="2238375" y="3619500"/>
              <a:ext cx="95250" cy="95250"/>
            </a:xfrm>
            <a:prstGeom prst="ellipse">
              <a:avLst/>
            </a:prstGeom>
            <a:solidFill>
              <a:srgbClr val="6B141B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2286000" y="3667125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23812">
              <a:solidFill>
                <a:srgbClr val="6B141B"/>
              </a:solidFill>
              <a:prstDash val="dash"/>
            </a:ln>
          </p:spPr>
        </p:sp>
        <p:sp>
          <p:nvSpPr>
            <p:cNvPr id="21" name="Polygon 21"/>
            <p:cNvSpPr/>
            <p:nvPr/>
          </p:nvSpPr>
          <p:spPr>
            <a:xfrm>
              <a:off x="2238375" y="4714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6B141B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981200" y="4981575"/>
              <a:ext cx="609600" cy="609600"/>
            </a:xfrm>
            <a:prstGeom prst="ellipse">
              <a:avLst/>
            </a:prstGeom>
            <a:solidFill>
              <a:srgbClr val="6B141B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2209800" y="5172075"/>
              <a:ext cx="203199" cy="241299"/>
              <a:chOff x="2209800" y="5172075"/>
              <a:chExt cx="203199" cy="24129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2235200" y="517207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209800" y="5324475"/>
                <a:ext cx="95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349499" y="5349874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63500" y="635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349499" y="5349874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63500"/>
                    </a:moveTo>
                    <a:lnTo>
                      <a:pt x="63500" y="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2013789" y="5664518"/>
              <a:ext cx="544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Trudy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476500" y="5381625"/>
              <a:ext cx="247650" cy="3048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4288">
              <a:solidFill>
                <a:srgbClr val="4A0005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2552700" y="5443537"/>
              <a:ext cx="95250" cy="142875"/>
              <a:chOff x="2552700" y="5443537"/>
              <a:chExt cx="95250" cy="1428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2568575" y="5443537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5875">
                <a:solidFill>
                  <a:srgbClr val="4A0005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552700" y="5538787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  <a:cubicBezTo>
                      <a:pt x="81035" y="0"/>
                      <a:pt x="95250" y="14215"/>
                      <a:pt x="95250" y="31750"/>
                    </a:cubicBezTo>
                    <a:lnTo>
                      <a:pt x="95250" y="47625"/>
                    </a:lnTo>
                  </a:path>
                </a:pathLst>
              </a:custGeom>
              <a:noFill/>
              <a:ln w="15875">
                <a:solidFill>
                  <a:srgbClr val="4A0005"/>
                </a:solidFill>
              </a:ln>
            </p:spPr>
          </p:sp>
        </p:grpSp>
        <p:sp>
          <p:nvSpPr>
            <p:cNvPr id="33" name="Rectangle 33"/>
            <p:cNvSpPr/>
            <p:nvPr/>
          </p:nvSpPr>
          <p:spPr>
            <a:xfrm>
              <a:off x="2571750" y="32385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709036" y="3352324"/>
              <a:ext cx="9636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“This message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84670" y="3523774"/>
              <a:ext cx="10124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is from Alice.”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2819400" y="3867150"/>
              <a:ext cx="76200" cy="76200"/>
            </a:xfrm>
            <a:prstGeom prst="ellipse">
              <a:avLst/>
            </a:prstGeom>
            <a:solidFill>
              <a:srgbClr val="DDD7CE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2667000" y="4048125"/>
              <a:ext cx="95250" cy="95250"/>
            </a:xfrm>
            <a:prstGeom prst="ellipse">
              <a:avLst/>
            </a:prstGeom>
            <a:solidFill>
              <a:srgbClr val="DDD7CE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2466975" y="4276725"/>
              <a:ext cx="114300" cy="114300"/>
            </a:xfrm>
            <a:prstGeom prst="ellipse">
              <a:avLst/>
            </a:prstGeom>
            <a:solidFill>
              <a:srgbClr val="DDD7CE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638550" y="3590925"/>
              <a:ext cx="533400" cy="5334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3838575" y="3757613"/>
              <a:ext cx="133350" cy="200025"/>
              <a:chOff x="3838575" y="3757613"/>
              <a:chExt cx="133350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3860800" y="3757613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3838575" y="3890963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3737992" y="4188142"/>
              <a:ext cx="334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Bob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2619375" y="4048125"/>
              <a:ext cx="1095375" cy="1238250"/>
            </a:xfrm>
            <a:custGeom>
              <a:avLst/>
              <a:gdLst/>
              <a:ahLst/>
              <a:cxnLst/>
              <a:rect l="l" t="t" r="r" b="b"/>
              <a:pathLst>
                <a:path w="1095375" h="1238250">
                  <a:moveTo>
                    <a:pt x="0" y="1238250"/>
                  </a:moveTo>
                  <a:lnTo>
                    <a:pt x="1095375" y="0"/>
                  </a:lnTo>
                </a:path>
              </a:pathLst>
            </a:custGeom>
            <a:noFill/>
            <a:ln w="28575">
              <a:solidFill>
                <a:srgbClr val="6B141B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3600450" y="4048125"/>
              <a:ext cx="114300" cy="142875"/>
            </a:xfrm>
            <a:custGeom>
              <a:avLst/>
              <a:gdLst/>
              <a:ahLst/>
              <a:cxnLst/>
              <a:rect l="l" t="t" r="r" b="b"/>
              <a:pathLst>
                <a:path w="114300" h="142875">
                  <a:moveTo>
                    <a:pt x="114300" y="0"/>
                  </a:moveTo>
                  <a:lnTo>
                    <a:pt x="0" y="38100"/>
                  </a:lnTo>
                  <a:lnTo>
                    <a:pt x="57150" y="142875"/>
                  </a:lnTo>
                  <a:close/>
                </a:path>
              </a:pathLst>
            </a:custGeom>
            <a:solidFill>
              <a:srgbClr val="6B141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3076575" y="4619625"/>
              <a:ext cx="171450" cy="133350"/>
              <a:chOff x="3076575" y="4619625"/>
              <a:chExt cx="171450" cy="13335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3076575" y="4619625"/>
                <a:ext cx="1714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333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14300"/>
                    </a:lnTo>
                    <a:cubicBezTo>
                      <a:pt x="171450" y="124821"/>
                      <a:pt x="162921" y="133350"/>
                      <a:pt x="1524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6B141B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3076575" y="4638675"/>
                <a:ext cx="1714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57150">
                    <a:moveTo>
                      <a:pt x="0" y="0"/>
                    </a:moveTo>
                    <a:lnTo>
                      <a:pt x="85725" y="57150"/>
                    </a:ln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6B141B"/>
                </a:solidFill>
              </a:ln>
            </p:spPr>
          </p:sp>
        </p:grpSp>
        <p:sp>
          <p:nvSpPr>
            <p:cNvPr id="49" name="Rectangle 49"/>
            <p:cNvSpPr/>
            <p:nvPr/>
          </p:nvSpPr>
          <p:spPr>
            <a:xfrm>
              <a:off x="5038725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50" name="TextBox 50"/>
            <p:cNvSpPr txBox="1"/>
            <p:nvPr/>
          </p:nvSpPr>
          <p:spPr>
            <a:xfrm>
              <a:off x="5258181" y="1615440"/>
              <a:ext cx="19302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4026" indent="-204026" algn="l"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Replay Attack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450967" y="1997392"/>
              <a:ext cx="373418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- an active attack that captures a data unit</a:t>
              </a:r>
              <a:br/>
              <a:r>
                <a:rPr lang="en-US" sz="13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and subsequently retransmits it later.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229225" y="2714625"/>
              <a:ext cx="3857625" cy="3810000"/>
            </a:xfrm>
            <a:prstGeom prst="roundRect">
              <a:avLst>
                <a:gd name="adj" fmla="val 4000"/>
              </a:avLst>
            </a:prstGeom>
            <a:solidFill>
              <a:srgbClr val="EFECE6"/>
            </a:solidFill>
            <a:ln w="14288">
              <a:solidFill>
                <a:srgbClr val="DDD7CE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5534025" y="3400425"/>
              <a:ext cx="533400" cy="5334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5734050" y="3567113"/>
              <a:ext cx="133350" cy="200025"/>
              <a:chOff x="5734050" y="3567113"/>
              <a:chExt cx="133350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5756275" y="3567113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734050" y="3700463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5576760" y="3997642"/>
              <a:ext cx="447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Alice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8201025" y="3400425"/>
              <a:ext cx="533400" cy="5334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8401050" y="3567113"/>
              <a:ext cx="133350" cy="200025"/>
              <a:chOff x="8401050" y="3567113"/>
              <a:chExt cx="133350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423275" y="3567113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401050" y="3700463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8300467" y="3997642"/>
              <a:ext cx="334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Bob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6096000" y="3667125"/>
              <a:ext cx="2047875" cy="9525"/>
            </a:xfrm>
            <a:custGeom>
              <a:avLst/>
              <a:gdLst/>
              <a:ahLst/>
              <a:cxnLst/>
              <a:rect l="l" t="t" r="r" b="b"/>
              <a:pathLst>
                <a:path w="2047875" h="9525">
                  <a:moveTo>
                    <a:pt x="0" y="0"/>
                  </a:moveTo>
                  <a:lnTo>
                    <a:pt x="2047875" y="0"/>
                  </a:lnTo>
                </a:path>
              </a:pathLst>
            </a:custGeom>
            <a:noFill/>
            <a:ln w="28575">
              <a:solidFill>
                <a:srgbClr val="4A0005"/>
              </a:solidFill>
            </a:ln>
          </p:spPr>
        </p:sp>
        <p:sp>
          <p:nvSpPr>
            <p:cNvPr id="64" name="Polygon 64"/>
            <p:cNvSpPr/>
            <p:nvPr/>
          </p:nvSpPr>
          <p:spPr>
            <a:xfrm>
              <a:off x="8048625" y="36099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A0005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600825" y="3429000"/>
              <a:ext cx="171450" cy="133350"/>
              <a:chOff x="6600825" y="3429000"/>
              <a:chExt cx="171450" cy="13335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600825" y="3429000"/>
                <a:ext cx="1714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333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14300"/>
                    </a:lnTo>
                    <a:cubicBezTo>
                      <a:pt x="171450" y="124821"/>
                      <a:pt x="162921" y="133350"/>
                      <a:pt x="1524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E5A44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600825" y="3448050"/>
                <a:ext cx="1714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57150">
                    <a:moveTo>
                      <a:pt x="0" y="0"/>
                    </a:moveTo>
                    <a:lnTo>
                      <a:pt x="85725" y="57150"/>
                    </a:ln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2E5A44"/>
                </a:solidFill>
              </a:ln>
            </p:spPr>
          </p:sp>
        </p:grpSp>
        <p:sp>
          <p:nvSpPr>
            <p:cNvPr id="68" name="Ellipse 68"/>
            <p:cNvSpPr/>
            <p:nvPr/>
          </p:nvSpPr>
          <p:spPr>
            <a:xfrm>
              <a:off x="7096125" y="3619500"/>
              <a:ext cx="95250" cy="95250"/>
            </a:xfrm>
            <a:prstGeom prst="ellipse">
              <a:avLst/>
            </a:prstGeom>
            <a:solidFill>
              <a:srgbClr val="6B141B"/>
            </a:solidFill>
            <a:ln>
              <a:noFill/>
            </a:ln>
          </p:spPr>
        </p:sp>
        <p:sp>
          <p:nvSpPr>
            <p:cNvPr id="69" name="Line 69"/>
            <p:cNvSpPr/>
            <p:nvPr/>
          </p:nvSpPr>
          <p:spPr>
            <a:xfrm>
              <a:off x="7143750" y="3667125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23812">
              <a:solidFill>
                <a:srgbClr val="6B141B"/>
              </a:solidFill>
              <a:prstDash val="dash"/>
            </a:ln>
          </p:spPr>
        </p:sp>
        <p:sp>
          <p:nvSpPr>
            <p:cNvPr id="70" name="Polygon 70"/>
            <p:cNvSpPr/>
            <p:nvPr/>
          </p:nvSpPr>
          <p:spPr>
            <a:xfrm>
              <a:off x="7096125" y="4714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6B141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947916" y="3887152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sniff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838950" y="4981575"/>
              <a:ext cx="609600" cy="609600"/>
            </a:xfrm>
            <a:prstGeom prst="ellipse">
              <a:avLst/>
            </a:prstGeom>
            <a:solidFill>
              <a:srgbClr val="6B141B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067550" y="5172075"/>
              <a:ext cx="203199" cy="241299"/>
              <a:chOff x="7067550" y="5172075"/>
              <a:chExt cx="203199" cy="241299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092950" y="517207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067550" y="5324475"/>
                <a:ext cx="95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207249" y="5349874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63500" y="635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207249" y="5349874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63500"/>
                    </a:moveTo>
                    <a:lnTo>
                      <a:pt x="63500" y="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871539" y="5664518"/>
              <a:ext cx="544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Trudy</a:t>
              </a:r>
            </a:p>
          </p:txBody>
        </p:sp>
        <p:sp>
          <p:nvSpPr>
            <p:cNvPr id="79" name="Line 79"/>
            <p:cNvSpPr/>
            <p:nvPr/>
          </p:nvSpPr>
          <p:spPr>
            <a:xfrm>
              <a:off x="7477125" y="4000500"/>
              <a:ext cx="857250" cy="1190625"/>
            </a:xfrm>
            <a:custGeom>
              <a:avLst/>
              <a:gdLst/>
              <a:ahLst/>
              <a:cxnLst/>
              <a:rect l="l" t="t" r="r" b="b"/>
              <a:pathLst>
                <a:path w="857250" h="1190625">
                  <a:moveTo>
                    <a:pt x="0" y="1190625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6B141B"/>
              </a:solidFill>
            </a:ln>
          </p:spPr>
        </p:sp>
        <p:sp>
          <p:nvSpPr>
            <p:cNvPr id="80" name="Polygon 80"/>
            <p:cNvSpPr/>
            <p:nvPr/>
          </p:nvSpPr>
          <p:spPr>
            <a:xfrm>
              <a:off x="8220075" y="4000500"/>
              <a:ext cx="114300" cy="142875"/>
            </a:xfrm>
            <a:custGeom>
              <a:avLst/>
              <a:gdLst/>
              <a:ahLst/>
              <a:cxnLst/>
              <a:rect l="l" t="t" r="r" b="b"/>
              <a:pathLst>
                <a:path w="114300" h="142875">
                  <a:moveTo>
                    <a:pt x="114300" y="0"/>
                  </a:moveTo>
                  <a:lnTo>
                    <a:pt x="0" y="47625"/>
                  </a:lnTo>
                  <a:lnTo>
                    <a:pt x="66675" y="142875"/>
                  </a:lnTo>
                  <a:close/>
                </a:path>
              </a:pathLst>
            </a:custGeom>
            <a:solidFill>
              <a:srgbClr val="6B141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805166" y="4458652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replay</a:t>
              </a:r>
            </a:p>
          </p:txBody>
        </p:sp>
        <p:grpSp>
          <p:nvGrpSpPr>
            <p:cNvPr id="84" name="Group 84"/>
            <p:cNvGrpSpPr/>
            <p:nvPr/>
          </p:nvGrpSpPr>
          <p:grpSpPr>
            <a:xfrm>
              <a:off x="7981950" y="4714875"/>
              <a:ext cx="171450" cy="133350"/>
              <a:chOff x="7981950" y="4714875"/>
              <a:chExt cx="171450" cy="13335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981950" y="4714875"/>
                <a:ext cx="1714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333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14300"/>
                    </a:lnTo>
                    <a:cubicBezTo>
                      <a:pt x="171450" y="124821"/>
                      <a:pt x="162921" y="133350"/>
                      <a:pt x="1524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6B141B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981950" y="4733925"/>
                <a:ext cx="1714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57150">
                    <a:moveTo>
                      <a:pt x="0" y="0"/>
                    </a:moveTo>
                    <a:lnTo>
                      <a:pt x="85725" y="57150"/>
                    </a:ln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6B141B"/>
                </a:solidFill>
              </a:ln>
            </p:spPr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4578265" cy="803910"/>
            <a:chOff x="462534" y="260985"/>
            <a:chExt cx="4578265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36403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Cast of Characters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45721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Modifying Messages &amp; Denial-of-Service (DoS)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476250" y="1381125"/>
            <a:ext cx="8801100" cy="5381625"/>
            <a:chOff x="476250" y="1381125"/>
            <a:chExt cx="8801100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695706" y="1615440"/>
              <a:ext cx="26683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4026" indent="-204026" algn="l"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Modifying Messages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492" y="1997392"/>
              <a:ext cx="358844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- an active attack that alters or reorders</a:t>
              </a:r>
              <a:br/>
              <a:r>
                <a:rPr lang="en-US" sz="13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 message to produce an illegal effect.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66750" y="2714625"/>
              <a:ext cx="3857625" cy="3810000"/>
            </a:xfrm>
            <a:prstGeom prst="roundRect">
              <a:avLst>
                <a:gd name="adj" fmla="val 4000"/>
              </a:avLst>
            </a:prstGeom>
            <a:solidFill>
              <a:srgbClr val="EFECE6"/>
            </a:solidFill>
            <a:ln w="14288">
              <a:solidFill>
                <a:srgbClr val="DDD7CE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76300" y="3400425"/>
              <a:ext cx="533400" cy="5334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76325" y="3567113"/>
              <a:ext cx="133350" cy="200025"/>
              <a:chOff x="1076325" y="3567113"/>
              <a:chExt cx="133350" cy="20002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98550" y="3567113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76325" y="3700463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919035" y="3997642"/>
              <a:ext cx="447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Alice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428750" y="3667125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4A0005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743075" y="3429000"/>
              <a:ext cx="171450" cy="133350"/>
              <a:chOff x="1743075" y="3429000"/>
              <a:chExt cx="171450" cy="1333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743075" y="3429000"/>
                <a:ext cx="1714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333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14300"/>
                    </a:lnTo>
                    <a:cubicBezTo>
                      <a:pt x="171450" y="124821"/>
                      <a:pt x="162921" y="133350"/>
                      <a:pt x="1524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E5A44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743075" y="3448050"/>
                <a:ext cx="1714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57150">
                    <a:moveTo>
                      <a:pt x="0" y="0"/>
                    </a:moveTo>
                    <a:lnTo>
                      <a:pt x="85725" y="57150"/>
                    </a:ln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2E5A44"/>
                </a:solidFill>
              </a:ln>
            </p:spPr>
          </p:sp>
        </p:grpSp>
        <p:sp>
          <p:nvSpPr>
            <p:cNvPr id="19" name="Ellipse 19"/>
            <p:cNvSpPr/>
            <p:nvPr/>
          </p:nvSpPr>
          <p:spPr>
            <a:xfrm>
              <a:off x="2238375" y="3619500"/>
              <a:ext cx="95250" cy="95250"/>
            </a:xfrm>
            <a:prstGeom prst="ellipse">
              <a:avLst/>
            </a:prstGeom>
            <a:solidFill>
              <a:srgbClr val="6B141B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2286000" y="3667125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28575">
              <a:solidFill>
                <a:srgbClr val="6B141B"/>
              </a:solidFill>
              <a:prstDash val="dash"/>
            </a:ln>
          </p:spPr>
        </p:sp>
        <p:sp>
          <p:nvSpPr>
            <p:cNvPr id="21" name="Polygon 21"/>
            <p:cNvSpPr/>
            <p:nvPr/>
          </p:nvSpPr>
          <p:spPr>
            <a:xfrm>
              <a:off x="2238375" y="4714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6B141B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981200" y="4981575"/>
              <a:ext cx="609600" cy="609600"/>
            </a:xfrm>
            <a:prstGeom prst="ellipse">
              <a:avLst/>
            </a:prstGeom>
            <a:solidFill>
              <a:srgbClr val="6B141B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2209800" y="5172075"/>
              <a:ext cx="203199" cy="241299"/>
              <a:chOff x="2209800" y="5172075"/>
              <a:chExt cx="203199" cy="24129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2235200" y="517207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209800" y="5324475"/>
                <a:ext cx="95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349499" y="5349874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63500" y="635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349499" y="5349874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63500"/>
                    </a:moveTo>
                    <a:lnTo>
                      <a:pt x="63500" y="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2013789" y="5664518"/>
              <a:ext cx="544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Trudy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2619375" y="4000500"/>
              <a:ext cx="1047750" cy="1285875"/>
            </a:xfrm>
            <a:custGeom>
              <a:avLst/>
              <a:gdLst/>
              <a:ahLst/>
              <a:cxnLst/>
              <a:rect l="l" t="t" r="r" b="b"/>
              <a:pathLst>
                <a:path w="1047750" h="1285875">
                  <a:moveTo>
                    <a:pt x="0" y="1285875"/>
                  </a:moveTo>
                  <a:lnTo>
                    <a:pt x="1047750" y="0"/>
                  </a:lnTo>
                </a:path>
              </a:pathLst>
            </a:custGeom>
            <a:noFill/>
            <a:ln w="28575">
              <a:solidFill>
                <a:srgbClr val="6B141B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3552825" y="4000500"/>
              <a:ext cx="114300" cy="142875"/>
            </a:xfrm>
            <a:custGeom>
              <a:avLst/>
              <a:gdLst/>
              <a:ahLst/>
              <a:cxnLst/>
              <a:rect l="l" t="t" r="r" b="b"/>
              <a:pathLst>
                <a:path w="114300" h="142875">
                  <a:moveTo>
                    <a:pt x="114300" y="0"/>
                  </a:moveTo>
                  <a:lnTo>
                    <a:pt x="0" y="47625"/>
                  </a:lnTo>
                  <a:lnTo>
                    <a:pt x="66675" y="142875"/>
                  </a:lnTo>
                  <a:close/>
                </a:path>
              </a:pathLst>
            </a:custGeom>
            <a:solidFill>
              <a:srgbClr val="6B141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857500" y="4476750"/>
              <a:ext cx="304800" cy="2286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6B141B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2917031" y="4526756"/>
              <a:ext cx="128588" cy="128588"/>
              <a:chOff x="2917031" y="4526756"/>
              <a:chExt cx="128588" cy="12858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2917031" y="4541044"/>
                <a:ext cx="128588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00012">
                    <a:moveTo>
                      <a:pt x="42862" y="0"/>
                    </a:moveTo>
                    <a:lnTo>
                      <a:pt x="114300" y="0"/>
                    </a:lnTo>
                    <a:cubicBezTo>
                      <a:pt x="122191" y="0"/>
                      <a:pt x="128588" y="6397"/>
                      <a:pt x="128588" y="14288"/>
                    </a:cubicBezTo>
                    <a:lnTo>
                      <a:pt x="128588" y="85725"/>
                    </a:lnTo>
                    <a:moveTo>
                      <a:pt x="114300" y="100012"/>
                    </a:moveTo>
                    <a:lnTo>
                      <a:pt x="14288" y="100012"/>
                    </a:lnTo>
                    <a:cubicBezTo>
                      <a:pt x="6397" y="100012"/>
                      <a:pt x="0" y="93616"/>
                      <a:pt x="0" y="85725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</a:path>
                </a:pathLst>
              </a:custGeom>
              <a:noFill/>
              <a:ln w="14288">
                <a:solidFill>
                  <a:srgbClr val="6B141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2917031" y="4555331"/>
                <a:ext cx="128588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42862">
                    <a:moveTo>
                      <a:pt x="0" y="0"/>
                    </a:moveTo>
                    <a:lnTo>
                      <a:pt x="64294" y="42862"/>
                    </a:lnTo>
                    <a:lnTo>
                      <a:pt x="68330" y="40169"/>
                    </a:lnTo>
                    <a:moveTo>
                      <a:pt x="85725" y="28575"/>
                    </a:moveTo>
                    <a:lnTo>
                      <a:pt x="128588" y="0"/>
                    </a:lnTo>
                  </a:path>
                </a:pathLst>
              </a:custGeom>
              <a:noFill/>
              <a:ln w="14288">
                <a:solidFill>
                  <a:srgbClr val="6B141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2917031" y="4526756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0" y="0"/>
                    </a:moveTo>
                    <a:lnTo>
                      <a:pt x="128588" y="128588"/>
                    </a:lnTo>
                  </a:path>
                </a:pathLst>
              </a:custGeom>
              <a:noFill/>
              <a:ln w="14288">
                <a:solidFill>
                  <a:srgbClr val="6B141B"/>
                </a:solidFill>
              </a:ln>
            </p:spPr>
          </p:sp>
        </p:grpSp>
        <p:sp>
          <p:nvSpPr>
            <p:cNvPr id="36" name="Ellipse 36"/>
            <p:cNvSpPr/>
            <p:nvPr/>
          </p:nvSpPr>
          <p:spPr>
            <a:xfrm>
              <a:off x="3638550" y="3400425"/>
              <a:ext cx="533400" cy="5334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3838575" y="3567113"/>
              <a:ext cx="133350" cy="200025"/>
              <a:chOff x="3838575" y="3567113"/>
              <a:chExt cx="133350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3860800" y="3567113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838575" y="3700463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3737992" y="3997642"/>
              <a:ext cx="334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Bob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1838325" y="6026468"/>
              <a:ext cx="666750" cy="264033"/>
              <a:chOff x="1838325" y="6026468"/>
              <a:chExt cx="666750" cy="264033"/>
            </a:xfrm>
          </p:grpSpPr>
          <p:grpSp>
            <p:nvGrpSpPr>
              <p:cNvPr id="43" name="Group 43"/>
              <p:cNvGrpSpPr/>
              <p:nvPr/>
            </p:nvGrpSpPr>
            <p:grpSpPr>
              <a:xfrm>
                <a:off x="1838325" y="6048375"/>
                <a:ext cx="171450" cy="133350"/>
                <a:chOff x="1838325" y="6048375"/>
                <a:chExt cx="171450" cy="133350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1838325" y="6048375"/>
                  <a:ext cx="1714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333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14300"/>
                      </a:lnTo>
                      <a:cubicBezTo>
                        <a:pt x="171450" y="124821"/>
                        <a:pt x="162921" y="133350"/>
                        <a:pt x="152400" y="133350"/>
                      </a:cubicBezTo>
                      <a:lnTo>
                        <a:pt x="19050" y="133350"/>
                      </a:lnTo>
                      <a:cubicBezTo>
                        <a:pt x="8529" y="133350"/>
                        <a:pt x="0" y="124821"/>
                        <a:pt x="0" y="1143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2E5A44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838325" y="6067425"/>
                  <a:ext cx="1714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57150">
                      <a:moveTo>
                        <a:pt x="0" y="0"/>
                      </a:moveTo>
                      <a:lnTo>
                        <a:pt x="85725" y="57150"/>
                      </a:ln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2E5A44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2107692" y="60264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→</a:t>
                </a:r>
              </a:p>
            </p:txBody>
          </p:sp>
          <p:grpSp>
            <p:nvGrpSpPr>
              <p:cNvPr id="48" name="Group 48"/>
              <p:cNvGrpSpPr/>
              <p:nvPr/>
            </p:nvGrpSpPr>
            <p:grpSpPr>
              <a:xfrm>
                <a:off x="2333625" y="6029325"/>
                <a:ext cx="171450" cy="171450"/>
                <a:chOff x="2333625" y="6029325"/>
                <a:chExt cx="171450" cy="171450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2333625" y="6048375"/>
                  <a:ext cx="1714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33350">
                      <a:moveTo>
                        <a:pt x="57150" y="0"/>
                      </a:move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14300"/>
                      </a:lnTo>
                      <a:moveTo>
                        <a:pt x="152400" y="133350"/>
                      </a:moveTo>
                      <a:lnTo>
                        <a:pt x="19050" y="133350"/>
                      </a:lnTo>
                      <a:cubicBezTo>
                        <a:pt x="8529" y="133350"/>
                        <a:pt x="0" y="124821"/>
                        <a:pt x="0" y="11430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6B141B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2333625" y="6067425"/>
                  <a:ext cx="1714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57150">
                      <a:moveTo>
                        <a:pt x="0" y="0"/>
                      </a:moveTo>
                      <a:lnTo>
                        <a:pt x="85725" y="57150"/>
                      </a:lnTo>
                      <a:lnTo>
                        <a:pt x="91107" y="53559"/>
                      </a:lnTo>
                      <a:moveTo>
                        <a:pt x="114300" y="3810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6B141B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2333625" y="60293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0"/>
                      </a:moveTo>
                      <a:lnTo>
                        <a:pt x="171450" y="171450"/>
                      </a:lnTo>
                    </a:path>
                  </a:pathLst>
                </a:custGeom>
                <a:noFill/>
                <a:ln w="19050">
                  <a:solidFill>
                    <a:srgbClr val="6B141B"/>
                  </a:solidFill>
                </a:ln>
              </p:spPr>
            </p:sp>
          </p:grpSp>
        </p:grpSp>
        <p:sp>
          <p:nvSpPr>
            <p:cNvPr id="50" name="Rectangle 50"/>
            <p:cNvSpPr/>
            <p:nvPr/>
          </p:nvSpPr>
          <p:spPr>
            <a:xfrm>
              <a:off x="5038725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51" name="TextBox 51"/>
            <p:cNvSpPr txBox="1"/>
            <p:nvPr/>
          </p:nvSpPr>
          <p:spPr>
            <a:xfrm>
              <a:off x="5258181" y="1615440"/>
              <a:ext cx="32237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4026" indent="-204026" algn="l"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Denial-of-Service (DoS)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450967" y="1997392"/>
              <a:ext cx="3434144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- an active attack preventing normal use</a:t>
              </a:r>
              <a:br/>
              <a:r>
                <a:rPr lang="en-US" sz="13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or management of communications.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229225" y="2714625"/>
              <a:ext cx="3857625" cy="3810000"/>
            </a:xfrm>
            <a:prstGeom prst="roundRect">
              <a:avLst>
                <a:gd name="adj" fmla="val 4000"/>
              </a:avLst>
            </a:prstGeom>
            <a:solidFill>
              <a:srgbClr val="EFECE6"/>
            </a:solidFill>
            <a:ln w="14288">
              <a:solidFill>
                <a:srgbClr val="DDD7CE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5534025" y="3400425"/>
              <a:ext cx="533400" cy="5334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5734050" y="3567113"/>
              <a:ext cx="133350" cy="200025"/>
              <a:chOff x="5734050" y="3567113"/>
              <a:chExt cx="133350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5756275" y="3567113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734050" y="3700463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5576760" y="3997642"/>
              <a:ext cx="447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Alice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6096000" y="3667125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28575">
              <a:solidFill>
                <a:srgbClr val="4A0005"/>
              </a:solidFill>
            </a:ln>
          </p:spPr>
        </p:sp>
        <p:sp>
          <p:nvSpPr>
            <p:cNvPr id="60" name="Polygon 60"/>
            <p:cNvSpPr/>
            <p:nvPr/>
          </p:nvSpPr>
          <p:spPr>
            <a:xfrm>
              <a:off x="8001000" y="36099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A0005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981825" y="3429000"/>
              <a:ext cx="171450" cy="133350"/>
              <a:chOff x="6981825" y="3429000"/>
              <a:chExt cx="171450" cy="13335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981825" y="3429000"/>
                <a:ext cx="1714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333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14300"/>
                    </a:lnTo>
                    <a:cubicBezTo>
                      <a:pt x="171450" y="124821"/>
                      <a:pt x="162921" y="133350"/>
                      <a:pt x="1524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E5A44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981825" y="3448050"/>
                <a:ext cx="1714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57150">
                    <a:moveTo>
                      <a:pt x="0" y="0"/>
                    </a:moveTo>
                    <a:lnTo>
                      <a:pt x="85725" y="57150"/>
                    </a:ln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2E5A44"/>
                </a:solidFill>
              </a:ln>
            </p:spPr>
          </p:sp>
        </p:grpSp>
        <p:sp>
          <p:nvSpPr>
            <p:cNvPr id="64" name="Ellipse 64"/>
            <p:cNvSpPr/>
            <p:nvPr/>
          </p:nvSpPr>
          <p:spPr>
            <a:xfrm>
              <a:off x="6838950" y="4981575"/>
              <a:ext cx="609600" cy="609600"/>
            </a:xfrm>
            <a:prstGeom prst="ellipse">
              <a:avLst/>
            </a:prstGeom>
            <a:solidFill>
              <a:srgbClr val="6B141B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067550" y="5172075"/>
              <a:ext cx="203199" cy="241299"/>
              <a:chOff x="7067550" y="5172075"/>
              <a:chExt cx="203199" cy="241299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092950" y="517207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067550" y="5324475"/>
                <a:ext cx="95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207249" y="5349874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63500" y="635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207249" y="5349874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63500"/>
                    </a:moveTo>
                    <a:lnTo>
                      <a:pt x="63500" y="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871539" y="5664518"/>
              <a:ext cx="544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Trudy</a:t>
              </a:r>
            </a:p>
          </p:txBody>
        </p:sp>
        <p:sp>
          <p:nvSpPr>
            <p:cNvPr id="71" name="Line 71"/>
            <p:cNvSpPr/>
            <p:nvPr/>
          </p:nvSpPr>
          <p:spPr>
            <a:xfrm>
              <a:off x="7381875" y="4000500"/>
              <a:ext cx="857250" cy="1095375"/>
            </a:xfrm>
            <a:custGeom>
              <a:avLst/>
              <a:gdLst/>
              <a:ahLst/>
              <a:cxnLst/>
              <a:rect l="l" t="t" r="r" b="b"/>
              <a:pathLst>
                <a:path w="857250" h="1095375">
                  <a:moveTo>
                    <a:pt x="0" y="1095375"/>
                  </a:moveTo>
                  <a:lnTo>
                    <a:pt x="857250" y="0"/>
                  </a:lnTo>
                </a:path>
              </a:pathLst>
            </a:custGeom>
            <a:noFill/>
            <a:ln w="38100">
              <a:solidFill>
                <a:srgbClr val="C53030"/>
              </a:solidFill>
            </a:ln>
          </p:spPr>
        </p:sp>
        <p:sp>
          <p:nvSpPr>
            <p:cNvPr id="72" name="Polygon 72"/>
            <p:cNvSpPr/>
            <p:nvPr/>
          </p:nvSpPr>
          <p:spPr>
            <a:xfrm>
              <a:off x="8124825" y="4000500"/>
              <a:ext cx="114300" cy="123825"/>
            </a:xfrm>
            <a:custGeom>
              <a:avLst/>
              <a:gdLst/>
              <a:ahLst/>
              <a:cxnLst/>
              <a:rect l="l" t="t" r="r" b="b"/>
              <a:pathLst>
                <a:path w="114300" h="123825">
                  <a:moveTo>
                    <a:pt x="114300" y="0"/>
                  </a:moveTo>
                  <a:lnTo>
                    <a:pt x="0" y="28575"/>
                  </a:lnTo>
                  <a:lnTo>
                    <a:pt x="66675" y="123825"/>
                  </a:lnTo>
                  <a:close/>
                </a:path>
              </a:pathLst>
            </a:custGeom>
            <a:solidFill>
              <a:srgbClr val="C5303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947660" y="4545806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C53030"/>
                  </a:solidFill>
                  <a:latin typeface="Arial"/>
                  <a:ea typeface="Arial"/>
                  <a:cs typeface="Arial"/>
                </a:rPr>
                <a:t>attack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8201025" y="3400425"/>
              <a:ext cx="533400" cy="5334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8401050" y="3567113"/>
              <a:ext cx="133350" cy="200025"/>
              <a:chOff x="8401050" y="3567113"/>
              <a:chExt cx="133350" cy="200025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8423275" y="3567113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401050" y="3700463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8300467" y="3997642"/>
              <a:ext cx="334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Bob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8562975" y="36576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C53030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8610600" y="370522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209550"/>
                  </a:moveTo>
                  <a:lnTo>
                    <a:pt x="209550" y="0"/>
                  </a:lnTo>
                </a:path>
              </a:pathLst>
            </a:custGeom>
            <a:noFill/>
            <a:ln w="28575">
              <a:solidFill>
                <a:srgbClr val="C53030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5264869" cy="803910"/>
            <a:chOff x="462534" y="260985"/>
            <a:chExt cx="5264869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27029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70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52587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CIA Triad: Confidentiality, Integrity, and Availability</a:t>
              </a:r>
            </a:p>
          </p:txBody>
        </p:sp>
      </p:grpSp>
      <p:sp>
        <p:nvSpPr>
          <p:cNvPr id="6" name="Line 6"/>
          <p:cNvSpPr/>
          <p:nvPr/>
        </p:nvSpPr>
        <p:spPr>
          <a:xfrm>
            <a:off x="1943100" y="2095500"/>
            <a:ext cx="5867400" cy="9525"/>
          </a:xfrm>
          <a:custGeom>
            <a:avLst/>
            <a:gdLst/>
            <a:ahLst/>
            <a:cxnLst/>
            <a:rect l="l" t="t" r="r" b="b"/>
            <a:pathLst>
              <a:path w="5867400" h="9525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/>
          <a:ln w="38100">
            <a:solidFill>
              <a:srgbClr val="4A0005"/>
            </a:solidFill>
          </a:ln>
        </p:spPr>
      </p:sp>
      <p:sp>
        <p:nvSpPr>
          <p:cNvPr id="7" name="Ellipse 7"/>
          <p:cNvSpPr/>
          <p:nvPr/>
        </p:nvSpPr>
        <p:spPr>
          <a:xfrm>
            <a:off x="1209368" y="1361768"/>
            <a:ext cx="1467464" cy="1467464"/>
          </a:xfrm>
          <a:prstGeom prst="ellipse">
            <a:avLst/>
          </a:prstGeom>
          <a:solidFill>
            <a:srgbClr val="4A000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86072" y="1993582"/>
            <a:ext cx="1714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Confidentiality</a:t>
            </a:r>
          </a:p>
        </p:txBody>
      </p:sp>
      <p:sp>
        <p:nvSpPr>
          <p:cNvPr id="9" name="Ellipse 9"/>
          <p:cNvSpPr/>
          <p:nvPr/>
        </p:nvSpPr>
        <p:spPr>
          <a:xfrm>
            <a:off x="4143068" y="1361768"/>
            <a:ext cx="1467464" cy="1467464"/>
          </a:xfrm>
          <a:prstGeom prst="ellipse">
            <a:avLst/>
          </a:prstGeom>
          <a:solidFill>
            <a:srgbClr val="F4B40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297985" y="1977390"/>
            <a:ext cx="115763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Integrity</a:t>
            </a:r>
          </a:p>
        </p:txBody>
      </p:sp>
      <p:sp>
        <p:nvSpPr>
          <p:cNvPr id="11" name="Ellipse 11"/>
          <p:cNvSpPr/>
          <p:nvPr/>
        </p:nvSpPr>
        <p:spPr>
          <a:xfrm>
            <a:off x="7076768" y="1361768"/>
            <a:ext cx="1467464" cy="1467464"/>
          </a:xfrm>
          <a:prstGeom prst="ellipse">
            <a:avLst/>
          </a:prstGeom>
          <a:solidFill>
            <a:srgbClr val="6B141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75287" y="1993582"/>
            <a:ext cx="12704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Availability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76250" y="2952750"/>
            <a:ext cx="2743200" cy="3810000"/>
          </a:xfrm>
          <a:prstGeom prst="roundRect">
            <a:avLst>
              <a:gd name="adj" fmla="val 6250"/>
            </a:avLst>
          </a:prstGeom>
          <a:solidFill>
            <a:srgbClr val="F8F4EE"/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14" name="Rectangle 14"/>
          <p:cNvSpPr/>
          <p:nvPr/>
        </p:nvSpPr>
        <p:spPr>
          <a:xfrm>
            <a:off x="476250" y="2952750"/>
            <a:ext cx="2743200" cy="76200"/>
          </a:xfrm>
          <a:prstGeom prst="roundRect">
            <a:avLst>
              <a:gd name="adj" fmla="val 50000"/>
            </a:avLst>
          </a:prstGeom>
          <a:solidFill>
            <a:srgbClr val="4A0005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768350" y="3228975"/>
            <a:ext cx="177800" cy="228600"/>
            <a:chOff x="768350" y="3228975"/>
            <a:chExt cx="177800" cy="228600"/>
          </a:xfrm>
        </p:grpSpPr>
        <p:sp>
          <p:nvSpPr>
            <p:cNvPr id="15" name="Freeform 15"/>
            <p:cNvSpPr/>
            <p:nvPr/>
          </p:nvSpPr>
          <p:spPr>
            <a:xfrm>
              <a:off x="768350" y="3330575"/>
              <a:ext cx="177800" cy="127000"/>
            </a:xfrm>
            <a:custGeom>
              <a:avLst/>
              <a:gdLst/>
              <a:ahLst/>
              <a:cxnLst/>
              <a:rect l="l" t="t" r="r" b="b"/>
              <a:pathLst>
                <a:path w="177800" h="127000">
                  <a:moveTo>
                    <a:pt x="0" y="25400"/>
                  </a:moveTo>
                  <a:cubicBezTo>
                    <a:pt x="0" y="11372"/>
                    <a:pt x="11372" y="0"/>
                    <a:pt x="25400" y="0"/>
                  </a:cubicBezTo>
                  <a:lnTo>
                    <a:pt x="152400" y="0"/>
                  </a:lnTo>
                  <a:cubicBezTo>
                    <a:pt x="166428" y="0"/>
                    <a:pt x="177800" y="11372"/>
                    <a:pt x="177800" y="25400"/>
                  </a:cubicBezTo>
                  <a:lnTo>
                    <a:pt x="177800" y="101600"/>
                  </a:lnTo>
                  <a:cubicBezTo>
                    <a:pt x="177800" y="115628"/>
                    <a:pt x="166428" y="127000"/>
                    <a:pt x="152400" y="127000"/>
                  </a:cubicBezTo>
                  <a:lnTo>
                    <a:pt x="25400" y="127000"/>
                  </a:lnTo>
                  <a:cubicBezTo>
                    <a:pt x="11372" y="127000"/>
                    <a:pt x="0" y="115628"/>
                    <a:pt x="0" y="101600"/>
                  </a:cubicBezTo>
                  <a:lnTo>
                    <a:pt x="0" y="25400"/>
                  </a:lnTo>
                </a:path>
              </a:pathLst>
            </a:custGeom>
            <a:noFill/>
            <a:ln w="25400">
              <a:solidFill>
                <a:srgbClr val="4A000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44550" y="338137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0" y="12700"/>
                  </a:moveTo>
                  <a:cubicBezTo>
                    <a:pt x="0" y="19714"/>
                    <a:pt x="5686" y="25400"/>
                    <a:pt x="12700" y="25400"/>
                  </a:cubicBezTo>
                  <a:cubicBezTo>
                    <a:pt x="19714" y="25400"/>
                    <a:pt x="25400" y="19714"/>
                    <a:pt x="25400" y="12700"/>
                  </a:cubicBezTo>
                  <a:cubicBezTo>
                    <a:pt x="25400" y="5686"/>
                    <a:pt x="19714" y="0"/>
                    <a:pt x="12700" y="0"/>
                  </a:cubicBezTo>
                  <a:cubicBezTo>
                    <a:pt x="5686" y="0"/>
                    <a:pt x="0" y="5686"/>
                    <a:pt x="0" y="12700"/>
                  </a:cubicBezTo>
                </a:path>
              </a:pathLst>
            </a:custGeom>
            <a:noFill/>
            <a:ln w="25400">
              <a:solidFill>
                <a:srgbClr val="4A000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806450" y="3228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101600"/>
                  </a:move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01600"/>
                  </a:lnTo>
                </a:path>
              </a:pathLst>
            </a:custGeom>
            <a:noFill/>
            <a:ln w="25400">
              <a:solidFill>
                <a:srgbClr val="4A0005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086993" y="3241358"/>
            <a:ext cx="1714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Confidentiality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7230" y="3695700"/>
            <a:ext cx="2606040" cy="1760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61925" marR="0" lvl="0" indent="-161925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Tx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preserves authorized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restrictions on information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access and disclosure.</a:t>
            </a:r>
          </a:p>
          <a:p>
            <a:pPr marL="161925" marR="0" lvl="0" indent="-161925" algn="l" defTabSz="457200" rtl="0" eaLnBrk="1" fontAlgn="auto" latinLnBrk="0" hangingPunct="1">
              <a:lnSpc>
                <a:spcPts val="2100"/>
              </a:lnSpc>
              <a:spcBef>
                <a:spcPts val="1050"/>
              </a:spcBef>
              <a:spcAft>
                <a:spcPts val="0"/>
              </a:spcAft>
              <a:buClr>
                <a:srgbClr val="222222"/>
              </a:buClr>
              <a:buSzTx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protects personal privacy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and proprietary records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from unauthorized reading.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505200" y="2952750"/>
            <a:ext cx="2743200" cy="3810000"/>
          </a:xfrm>
          <a:prstGeom prst="roundRect">
            <a:avLst>
              <a:gd name="adj" fmla="val 6250"/>
            </a:avLst>
          </a:prstGeom>
          <a:solidFill>
            <a:srgbClr val="F8F4EE"/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22" name="Rectangle 22"/>
          <p:cNvSpPr/>
          <p:nvPr/>
        </p:nvSpPr>
        <p:spPr>
          <a:xfrm>
            <a:off x="3505200" y="2952750"/>
            <a:ext cx="2743200" cy="7620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3754761" y="3228975"/>
            <a:ext cx="248008" cy="228599"/>
            <a:chOff x="3754761" y="3228975"/>
            <a:chExt cx="248008" cy="228599"/>
          </a:xfrm>
        </p:grpSpPr>
        <p:sp>
          <p:nvSpPr>
            <p:cNvPr id="23" name="Freeform 23"/>
            <p:cNvSpPr/>
            <p:nvPr/>
          </p:nvSpPr>
          <p:spPr>
            <a:xfrm>
              <a:off x="3754761" y="3228975"/>
              <a:ext cx="248008" cy="226644"/>
            </a:xfrm>
            <a:custGeom>
              <a:avLst/>
              <a:gdLst/>
              <a:ahLst/>
              <a:cxnLst/>
              <a:rect l="l" t="t" r="r" b="b"/>
              <a:pathLst>
                <a:path w="248008" h="226644">
                  <a:moveTo>
                    <a:pt x="124581" y="226644"/>
                  </a:moveTo>
                  <a:cubicBezTo>
                    <a:pt x="45021" y="201982"/>
                    <a:pt x="0" y="118013"/>
                    <a:pt x="23489" y="38100"/>
                  </a:cubicBezTo>
                  <a:cubicBezTo>
                    <a:pt x="63056" y="39910"/>
                    <a:pt x="101774" y="26245"/>
                    <a:pt x="131439" y="0"/>
                  </a:cubicBezTo>
                  <a:cubicBezTo>
                    <a:pt x="161104" y="26245"/>
                    <a:pt x="199822" y="39910"/>
                    <a:pt x="239389" y="38100"/>
                  </a:cubicBezTo>
                  <a:cubicBezTo>
                    <a:pt x="248008" y="67426"/>
                    <a:pt x="247610" y="98665"/>
                    <a:pt x="238246" y="127762"/>
                  </a:cubicBezTo>
                </a:path>
              </a:pathLst>
            </a:custGeom>
            <a:noFill/>
            <a:ln w="25400">
              <a:solidFill>
                <a:srgbClr val="F4B400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924300" y="3406774"/>
              <a:ext cx="76200" cy="50800"/>
            </a:xfrm>
            <a:custGeom>
              <a:avLst/>
              <a:gdLst/>
              <a:ahLst/>
              <a:cxnLst/>
              <a:rect l="l" t="t" r="r" b="b"/>
              <a:pathLst>
                <a:path w="76200" h="50800">
                  <a:moveTo>
                    <a:pt x="0" y="25400"/>
                  </a:moveTo>
                  <a:lnTo>
                    <a:pt x="25400" y="50800"/>
                  </a:lnTo>
                  <a:lnTo>
                    <a:pt x="76200" y="0"/>
                  </a:lnTo>
                </a:path>
              </a:pathLst>
            </a:custGeom>
            <a:noFill/>
            <a:ln w="25400">
              <a:solidFill>
                <a:srgbClr val="F4B400"/>
              </a:solidFill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4115943" y="3241358"/>
            <a:ext cx="106116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Integrity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726180" y="3695700"/>
            <a:ext cx="2434590" cy="1760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61925" marR="0" lvl="0" indent="-161925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Tx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guards against improper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information modification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or destruction.</a:t>
            </a:r>
          </a:p>
          <a:p>
            <a:pPr marL="161925" marR="0" lvl="0" indent="-161925" algn="l" defTabSz="457200" rtl="0" eaLnBrk="1" fontAlgn="auto" latinLnBrk="0" hangingPunct="1">
              <a:lnSpc>
                <a:spcPts val="2100"/>
              </a:lnSpc>
              <a:spcBef>
                <a:spcPts val="1050"/>
              </a:spcBef>
              <a:spcAft>
                <a:spcPts val="0"/>
              </a:spcAft>
              <a:buClr>
                <a:srgbClr val="222222"/>
              </a:buClr>
              <a:buSzTx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ensures that data and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programs change only in a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specified authorized way.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534150" y="2952750"/>
            <a:ext cx="2743200" cy="3810000"/>
          </a:xfrm>
          <a:prstGeom prst="roundRect">
            <a:avLst>
              <a:gd name="adj" fmla="val 6250"/>
            </a:avLst>
          </a:prstGeom>
          <a:solidFill>
            <a:srgbClr val="F8F4EE"/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29" name="Rectangle 29"/>
          <p:cNvSpPr/>
          <p:nvPr/>
        </p:nvSpPr>
        <p:spPr>
          <a:xfrm>
            <a:off x="6534150" y="2952750"/>
            <a:ext cx="2743200" cy="76200"/>
          </a:xfrm>
          <a:prstGeom prst="roundRect">
            <a:avLst>
              <a:gd name="adj" fmla="val 50000"/>
            </a:avLst>
          </a:prstGeom>
          <a:solidFill>
            <a:srgbClr val="6B141B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6800850" y="3241675"/>
            <a:ext cx="228599" cy="203200"/>
            <a:chOff x="6800850" y="3241675"/>
            <a:chExt cx="228599" cy="203200"/>
          </a:xfrm>
        </p:grpSpPr>
        <p:sp>
          <p:nvSpPr>
            <p:cNvPr id="30" name="Freeform 30"/>
            <p:cNvSpPr/>
            <p:nvPr/>
          </p:nvSpPr>
          <p:spPr>
            <a:xfrm>
              <a:off x="6800850" y="3241675"/>
              <a:ext cx="228599" cy="101600"/>
            </a:xfrm>
            <a:custGeom>
              <a:avLst/>
              <a:gdLst/>
              <a:ahLst/>
              <a:cxnLst/>
              <a:rect l="l" t="t" r="r" b="b"/>
              <a:pathLst>
                <a:path w="228599" h="101600">
                  <a:moveTo>
                    <a:pt x="0" y="38100"/>
                  </a:moveTo>
                  <a:cubicBezTo>
                    <a:pt x="0" y="17058"/>
                    <a:pt x="17058" y="0"/>
                    <a:pt x="38100" y="0"/>
                  </a:cubicBezTo>
                  <a:lnTo>
                    <a:pt x="190500" y="0"/>
                  </a:ln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63500"/>
                  </a:lnTo>
                  <a:cubicBezTo>
                    <a:pt x="228599" y="84542"/>
                    <a:pt x="211542" y="101600"/>
                    <a:pt x="190500" y="101600"/>
                  </a:cubicBezTo>
                  <a:lnTo>
                    <a:pt x="38100" y="101600"/>
                  </a:lnTo>
                  <a:cubicBezTo>
                    <a:pt x="17058" y="101600"/>
                    <a:pt x="0" y="84542"/>
                    <a:pt x="0" y="63500"/>
                  </a:cubicBezTo>
                  <a:lnTo>
                    <a:pt x="0" y="38100"/>
                  </a:lnTo>
                </a:path>
              </a:pathLst>
            </a:custGeom>
            <a:noFill/>
            <a:ln w="25400">
              <a:solidFill>
                <a:srgbClr val="6B141B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800850" y="3343275"/>
              <a:ext cx="228599" cy="101600"/>
            </a:xfrm>
            <a:custGeom>
              <a:avLst/>
              <a:gdLst/>
              <a:ahLst/>
              <a:cxnLst/>
              <a:rect l="l" t="t" r="r" b="b"/>
              <a:pathLst>
                <a:path w="228599" h="101600">
                  <a:moveTo>
                    <a:pt x="0" y="38100"/>
                  </a:moveTo>
                  <a:cubicBezTo>
                    <a:pt x="0" y="17058"/>
                    <a:pt x="17058" y="0"/>
                    <a:pt x="38100" y="0"/>
                  </a:cubicBezTo>
                  <a:lnTo>
                    <a:pt x="190500" y="0"/>
                  </a:ln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63500"/>
                  </a:lnTo>
                  <a:cubicBezTo>
                    <a:pt x="228599" y="84542"/>
                    <a:pt x="211542" y="101600"/>
                    <a:pt x="190500" y="101600"/>
                  </a:cubicBezTo>
                  <a:lnTo>
                    <a:pt x="38100" y="101600"/>
                  </a:lnTo>
                  <a:cubicBezTo>
                    <a:pt x="17058" y="101600"/>
                    <a:pt x="0" y="84542"/>
                    <a:pt x="0" y="63500"/>
                  </a:cubicBezTo>
                  <a:lnTo>
                    <a:pt x="0" y="38100"/>
                  </a:lnTo>
                </a:path>
              </a:pathLst>
            </a:custGeom>
            <a:noFill/>
            <a:ln w="25400">
              <a:solidFill>
                <a:srgbClr val="6B141B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851650" y="329247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27"/>
                  </a:lnTo>
                </a:path>
              </a:pathLst>
            </a:custGeom>
            <a:noFill/>
            <a:ln w="25400">
              <a:solidFill>
                <a:srgbClr val="6B141B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851650" y="3394074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27"/>
                  </a:lnTo>
                </a:path>
              </a:pathLst>
            </a:custGeom>
            <a:noFill/>
            <a:ln w="25400">
              <a:solidFill>
                <a:srgbClr val="6B141B"/>
              </a:solidFill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7144893" y="3241358"/>
            <a:ext cx="12704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Availability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55130" y="3695700"/>
            <a:ext cx="2567940" cy="1493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61925" marR="0" lvl="0" indent="-161925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Tx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ensures timely and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reliable access to info.</a:t>
            </a:r>
          </a:p>
          <a:p>
            <a:pPr marL="161925" marR="0" lvl="0" indent="-161925" algn="l" defTabSz="457200" rtl="0" eaLnBrk="1" fontAlgn="auto" latinLnBrk="0" hangingPunct="1">
              <a:lnSpc>
                <a:spcPts val="2100"/>
              </a:lnSpc>
              <a:spcBef>
                <a:spcPts val="1050"/>
              </a:spcBef>
              <a:spcAft>
                <a:spcPts val="0"/>
              </a:spcAft>
              <a:buClr>
                <a:srgbClr val="222222"/>
              </a:buClr>
              <a:buSzTx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guarantees systems work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promptly and service is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available to users.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Line 6">
            <a:extLst>
              <a:ext uri="{FF2B5EF4-FFF2-40B4-BE49-F238E27FC236}">
                <a16:creationId xmlns:a16="http://schemas.microsoft.com/office/drawing/2014/main" id="{1CDB1C62-8BD9-4444-9BD8-73C82F2CF152}"/>
              </a:ext>
            </a:extLst>
          </p:cNvPr>
          <p:cNvSpPr/>
          <p:nvPr/>
        </p:nvSpPr>
        <p:spPr>
          <a:xfrm>
            <a:off x="1943100" y="2095500"/>
            <a:ext cx="5867400" cy="9525"/>
          </a:xfrm>
          <a:custGeom>
            <a:avLst/>
            <a:gdLst/>
            <a:ahLst/>
            <a:cxnLst/>
            <a:rect l="l" t="t" r="r" b="b"/>
            <a:pathLst>
              <a:path w="5867400" h="9525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/>
          <a:ln w="38100">
            <a:solidFill>
              <a:srgbClr val="4A0005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462534" y="260985"/>
            <a:ext cx="5727687" cy="803910"/>
            <a:chOff x="462534" y="260985"/>
            <a:chExt cx="5727687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27029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70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57215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Other Goals: Accountability, Authenticity, and Reliability</a:t>
              </a:r>
            </a:p>
          </p:txBody>
        </p:sp>
      </p:grpSp>
      <p:sp>
        <p:nvSpPr>
          <p:cNvPr id="7" name="Ellipse 7"/>
          <p:cNvSpPr/>
          <p:nvPr/>
        </p:nvSpPr>
        <p:spPr>
          <a:xfrm>
            <a:off x="1217485" y="1369885"/>
            <a:ext cx="1451230" cy="1451230"/>
          </a:xfrm>
          <a:prstGeom prst="ellipse">
            <a:avLst/>
          </a:prstGeom>
          <a:solidFill>
            <a:srgbClr val="2E5A44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95709" y="2009775"/>
            <a:ext cx="149478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9" name="Ellipse 9"/>
          <p:cNvSpPr/>
          <p:nvPr/>
        </p:nvSpPr>
        <p:spPr>
          <a:xfrm>
            <a:off x="4151185" y="1369885"/>
            <a:ext cx="1451230" cy="1451230"/>
          </a:xfrm>
          <a:prstGeom prst="ellipse">
            <a:avLst/>
          </a:prstGeom>
          <a:solidFill>
            <a:srgbClr val="2B4C6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153714" y="1993582"/>
            <a:ext cx="144617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Authenticity</a:t>
            </a:r>
          </a:p>
        </p:txBody>
      </p:sp>
      <p:sp>
        <p:nvSpPr>
          <p:cNvPr id="11" name="Ellipse 11"/>
          <p:cNvSpPr/>
          <p:nvPr/>
        </p:nvSpPr>
        <p:spPr>
          <a:xfrm>
            <a:off x="7084885" y="1369885"/>
            <a:ext cx="1451230" cy="1451230"/>
          </a:xfrm>
          <a:prstGeom prst="ellipse">
            <a:avLst/>
          </a:prstGeom>
          <a:solidFill>
            <a:srgbClr val="6B141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239488" y="1993582"/>
            <a:ext cx="11420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76250" y="2952750"/>
            <a:ext cx="2743200" cy="3810000"/>
          </a:xfrm>
          <a:prstGeom prst="roundRect">
            <a:avLst>
              <a:gd name="adj" fmla="val 6250"/>
            </a:avLst>
          </a:prstGeom>
          <a:solidFill>
            <a:srgbClr val="F8F4EE"/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14" name="Rectangle 14"/>
          <p:cNvSpPr/>
          <p:nvPr/>
        </p:nvSpPr>
        <p:spPr>
          <a:xfrm>
            <a:off x="476250" y="2952750"/>
            <a:ext cx="2743200" cy="76200"/>
          </a:xfrm>
          <a:prstGeom prst="roundRect">
            <a:avLst>
              <a:gd name="adj" fmla="val 50000"/>
            </a:avLst>
          </a:prstGeom>
          <a:solidFill>
            <a:srgbClr val="2E5A44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743585" y="3227201"/>
            <a:ext cx="234340" cy="239721"/>
            <a:chOff x="743585" y="3227201"/>
            <a:chExt cx="234340" cy="239721"/>
          </a:xfrm>
        </p:grpSpPr>
        <p:sp>
          <p:nvSpPr>
            <p:cNvPr id="15" name="Freeform 15"/>
            <p:cNvSpPr/>
            <p:nvPr/>
          </p:nvSpPr>
          <p:spPr>
            <a:xfrm>
              <a:off x="857250" y="3292475"/>
              <a:ext cx="25400" cy="76200"/>
            </a:xfrm>
            <a:custGeom>
              <a:avLst/>
              <a:gdLst/>
              <a:ahLst/>
              <a:cxnLst/>
              <a:rect l="l" t="t" r="r" b="b"/>
              <a:pathLst>
                <a:path w="25400" h="76200">
                  <a:moveTo>
                    <a:pt x="0" y="0"/>
                  </a:moveTo>
                  <a:lnTo>
                    <a:pt x="0" y="50800"/>
                  </a:lnTo>
                  <a:lnTo>
                    <a:pt x="25400" y="76200"/>
                  </a:lnTo>
                </a:path>
              </a:pathLst>
            </a:custGeom>
            <a:noFill/>
            <a:ln w="25400">
              <a:solidFill>
                <a:srgbClr val="2E5A4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43585" y="3227201"/>
              <a:ext cx="234340" cy="239721"/>
            </a:xfrm>
            <a:custGeom>
              <a:avLst/>
              <a:gdLst/>
              <a:ahLst/>
              <a:cxnLst/>
              <a:rect l="l" t="t" r="r" b="b"/>
              <a:pathLst>
                <a:path w="234340" h="239721">
                  <a:moveTo>
                    <a:pt x="0" y="103373"/>
                  </a:moveTo>
                  <a:cubicBezTo>
                    <a:pt x="5892" y="45531"/>
                    <a:pt x="54268" y="1328"/>
                    <a:pt x="112406" y="664"/>
                  </a:cubicBezTo>
                  <a:cubicBezTo>
                    <a:pt x="170544" y="0"/>
                    <a:pt x="219917" y="43086"/>
                    <a:pt x="227128" y="100779"/>
                  </a:cubicBezTo>
                  <a:cubicBezTo>
                    <a:pt x="234340" y="158472"/>
                    <a:pt x="197092" y="212386"/>
                    <a:pt x="140580" y="226053"/>
                  </a:cubicBezTo>
                  <a:cubicBezTo>
                    <a:pt x="84067" y="239721"/>
                    <a:pt x="26299" y="208786"/>
                    <a:pt x="6350" y="154173"/>
                  </a:cubicBezTo>
                  <a:moveTo>
                    <a:pt x="0" y="217673"/>
                  </a:moveTo>
                  <a:lnTo>
                    <a:pt x="0" y="154173"/>
                  </a:lnTo>
                  <a:lnTo>
                    <a:pt x="63500" y="154173"/>
                  </a:lnTo>
                </a:path>
              </a:pathLst>
            </a:custGeom>
            <a:noFill/>
            <a:ln w="25400">
              <a:solidFill>
                <a:srgbClr val="2E5A44"/>
              </a:solidFill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086993" y="3241358"/>
            <a:ext cx="164426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7230" y="3695700"/>
            <a:ext cx="2750753" cy="17362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161925" marR="0" lvl="0" indent="-161925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requires that the actions of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 entity be traced uniquely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to that specific entity.</a:t>
            </a:r>
          </a:p>
          <a:p>
            <a:pPr marL="161925" marR="0" lvl="0" indent="-161925" algn="l" defTabSz="457200" rtl="0" eaLnBrk="1" fontAlgn="auto" latinLnBrk="0" hangingPunct="1">
              <a:lnSpc>
                <a:spcPts val="2100"/>
              </a:lnSpc>
              <a:spcBef>
                <a:spcPts val="1050"/>
              </a:spcBef>
              <a:spcAft>
                <a:spcPts val="0"/>
              </a:spcAft>
              <a:buClr>
                <a:srgbClr val="222222"/>
              </a:buClr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supports deterrence, fault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isolation, intrusion detection,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and forensic analysis.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505200" y="2952750"/>
            <a:ext cx="2743200" cy="3810000"/>
          </a:xfrm>
          <a:prstGeom prst="roundRect">
            <a:avLst>
              <a:gd name="adj" fmla="val 6250"/>
            </a:avLst>
          </a:prstGeom>
          <a:solidFill>
            <a:srgbClr val="F8F4EE"/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21" name="Rectangle 21"/>
          <p:cNvSpPr/>
          <p:nvPr/>
        </p:nvSpPr>
        <p:spPr>
          <a:xfrm>
            <a:off x="3505200" y="2952750"/>
            <a:ext cx="2743200" cy="76200"/>
          </a:xfrm>
          <a:prstGeom prst="roundRect">
            <a:avLst>
              <a:gd name="adj" fmla="val 50000"/>
            </a:avLst>
          </a:prstGeom>
          <a:solidFill>
            <a:srgbClr val="2B4C6F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3810000" y="3228975"/>
            <a:ext cx="190500" cy="228600"/>
            <a:chOff x="3810000" y="3228975"/>
            <a:chExt cx="190500" cy="228600"/>
          </a:xfrm>
        </p:grpSpPr>
        <p:sp>
          <p:nvSpPr>
            <p:cNvPr id="22" name="Freeform 22"/>
            <p:cNvSpPr/>
            <p:nvPr/>
          </p:nvSpPr>
          <p:spPr>
            <a:xfrm>
              <a:off x="3835400" y="3228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50800"/>
                  </a:move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ubicBezTo>
                    <a:pt x="22744" y="0"/>
                    <a:pt x="0" y="22744"/>
                    <a:pt x="0" y="50800"/>
                  </a:cubicBezTo>
                </a:path>
              </a:pathLst>
            </a:custGeom>
            <a:noFill/>
            <a:ln w="25400">
              <a:solidFill>
                <a:srgbClr val="2B4C6F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810000" y="3381375"/>
              <a:ext cx="101600" cy="76200"/>
            </a:xfrm>
            <a:custGeom>
              <a:avLst/>
              <a:gdLst/>
              <a:ahLst/>
              <a:cxnLst/>
              <a:rect l="l" t="t" r="r" b="b"/>
              <a:pathLst>
                <a:path w="101600" h="76200">
                  <a:moveTo>
                    <a:pt x="0" y="76200"/>
                  </a:move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lnTo>
                    <a:pt x="101600" y="0"/>
                  </a:lnTo>
                </a:path>
              </a:pathLst>
            </a:custGeom>
            <a:noFill/>
            <a:ln w="25400">
              <a:solidFill>
                <a:srgbClr val="2B4C6F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924300" y="3406774"/>
              <a:ext cx="76200" cy="50800"/>
            </a:xfrm>
            <a:custGeom>
              <a:avLst/>
              <a:gdLst/>
              <a:ahLst/>
              <a:cxnLst/>
              <a:rect l="l" t="t" r="r" b="b"/>
              <a:pathLst>
                <a:path w="76200" h="50800">
                  <a:moveTo>
                    <a:pt x="0" y="25400"/>
                  </a:moveTo>
                  <a:lnTo>
                    <a:pt x="25400" y="50800"/>
                  </a:lnTo>
                  <a:lnTo>
                    <a:pt x="76200" y="0"/>
                  </a:lnTo>
                </a:path>
              </a:pathLst>
            </a:custGeom>
            <a:noFill/>
            <a:ln w="25400">
              <a:solidFill>
                <a:srgbClr val="2B4C6F"/>
              </a:solidFill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4115943" y="3241358"/>
            <a:ext cx="144617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Authenticity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726180" y="3695700"/>
            <a:ext cx="2547172" cy="14669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161925" marR="0" lvl="0" indent="-161925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property of being genuine,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verifiable, and trusted.</a:t>
            </a:r>
          </a:p>
          <a:p>
            <a:pPr marL="161925" marR="0" lvl="0" indent="-161925" algn="l" defTabSz="457200" rtl="0" eaLnBrk="1" fontAlgn="auto" latinLnBrk="0" hangingPunct="1">
              <a:lnSpc>
                <a:spcPts val="2100"/>
              </a:lnSpc>
              <a:spcBef>
                <a:spcPts val="1050"/>
              </a:spcBef>
              <a:spcAft>
                <a:spcPts val="0"/>
              </a:spcAft>
              <a:buClr>
                <a:srgbClr val="222222"/>
              </a:buClr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provides confidence in the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validity of a transmission,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message, or originator.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534150" y="2952750"/>
            <a:ext cx="2743200" cy="3810000"/>
          </a:xfrm>
          <a:prstGeom prst="roundRect">
            <a:avLst>
              <a:gd name="adj" fmla="val 6250"/>
            </a:avLst>
          </a:prstGeom>
          <a:solidFill>
            <a:srgbClr val="F8F4EE"/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29" name="Rectangle 29"/>
          <p:cNvSpPr/>
          <p:nvPr/>
        </p:nvSpPr>
        <p:spPr>
          <a:xfrm>
            <a:off x="6534150" y="2952750"/>
            <a:ext cx="2743200" cy="76200"/>
          </a:xfrm>
          <a:prstGeom prst="roundRect">
            <a:avLst>
              <a:gd name="adj" fmla="val 50000"/>
            </a:avLst>
          </a:prstGeom>
          <a:solidFill>
            <a:srgbClr val="6B141B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6795561" y="3228975"/>
            <a:ext cx="239177" cy="228599"/>
          </a:xfrm>
          <a:custGeom>
            <a:avLst/>
            <a:gdLst/>
            <a:ahLst/>
            <a:cxnLst/>
            <a:rect l="l" t="t" r="r" b="b"/>
            <a:pathLst>
              <a:path w="239177" h="228599">
                <a:moveTo>
                  <a:pt x="119589" y="0"/>
                </a:moveTo>
                <a:cubicBezTo>
                  <a:pt x="149254" y="26245"/>
                  <a:pt x="187971" y="39910"/>
                  <a:pt x="227538" y="38100"/>
                </a:cubicBezTo>
                <a:cubicBezTo>
                  <a:pt x="239177" y="77692"/>
                  <a:pt x="234262" y="120312"/>
                  <a:pt x="213916" y="156216"/>
                </a:cubicBezTo>
                <a:cubicBezTo>
                  <a:pt x="193571" y="192120"/>
                  <a:pt x="159534" y="218238"/>
                  <a:pt x="119589" y="228599"/>
                </a:cubicBezTo>
                <a:cubicBezTo>
                  <a:pt x="79643" y="218238"/>
                  <a:pt x="45606" y="192120"/>
                  <a:pt x="25261" y="156216"/>
                </a:cubicBezTo>
                <a:cubicBezTo>
                  <a:pt x="4915" y="120312"/>
                  <a:pt x="0" y="77692"/>
                  <a:pt x="11639" y="38100"/>
                </a:cubicBezTo>
                <a:cubicBezTo>
                  <a:pt x="51206" y="39910"/>
                  <a:pt x="89924" y="26245"/>
                  <a:pt x="119589" y="0"/>
                </a:cubicBezTo>
              </a:path>
            </a:pathLst>
          </a:custGeom>
          <a:noFill/>
          <a:ln w="25400">
            <a:solidFill>
              <a:srgbClr val="6B141B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144893" y="3241358"/>
            <a:ext cx="11420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55130" y="3695700"/>
            <a:ext cx="2454198" cy="17362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161925" marR="0" lvl="0" indent="-161925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ensures that a system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performs its intended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function in an unimpaired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manner without failures.</a:t>
            </a:r>
          </a:p>
          <a:p>
            <a:pPr marL="161925" marR="0" lvl="0" indent="-161925" algn="l" defTabSz="457200" rtl="0" eaLnBrk="1" fontAlgn="auto" latinLnBrk="0" hangingPunct="1">
              <a:lnSpc>
                <a:spcPts val="2100"/>
              </a:lnSpc>
              <a:spcBef>
                <a:spcPts val="1050"/>
              </a:spcBef>
              <a:spcAft>
                <a:spcPts val="0"/>
              </a:spcAft>
              <a:buClr>
                <a:srgbClr val="222222"/>
              </a:buClr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uses formal IT security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management processes.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5566494" cy="803910"/>
            <a:chOff x="462534" y="260985"/>
            <a:chExt cx="5566494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27029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55603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Example: Alice’s Market (AM) Case Study (CIA Analysis)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76250" y="1381125"/>
            <a:ext cx="8801862" cy="5381625"/>
            <a:chOff x="476250" y="1381125"/>
            <a:chExt cx="8801862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3905250" cy="5381625"/>
            </a:xfrm>
            <a:prstGeom prst="roundRect">
              <a:avLst>
                <a:gd name="adj" fmla="val 4878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476250" y="1381125"/>
              <a:ext cx="3905250" cy="619125"/>
            </a:xfrm>
            <a:prstGeom prst="roundRect">
              <a:avLst>
                <a:gd name="adj" fmla="val 30769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76250" y="1809750"/>
              <a:ext cx="3905250" cy="190500"/>
            </a:xfrm>
            <a:prstGeom prst="rect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02469" y="1588294"/>
              <a:ext cx="214312" cy="223837"/>
              <a:chOff x="702469" y="1588294"/>
              <a:chExt cx="214312" cy="22383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02469" y="1802606"/>
                <a:ext cx="2143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">
                    <a:moveTo>
                      <a:pt x="0" y="0"/>
                    </a:moveTo>
                    <a:lnTo>
                      <a:pt x="214312" y="0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02469" y="1588294"/>
                <a:ext cx="21431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0">
                    <a:moveTo>
                      <a:pt x="0" y="47625"/>
                    </a:moveTo>
                    <a:lnTo>
                      <a:pt x="0" y="59531"/>
                    </a:lnTo>
                    <a:cubicBezTo>
                      <a:pt x="0" y="79258"/>
                      <a:pt x="15992" y="95250"/>
                      <a:pt x="35719" y="95250"/>
                    </a:cubicBezTo>
                    <a:cubicBezTo>
                      <a:pt x="55446" y="95250"/>
                      <a:pt x="71438" y="79258"/>
                      <a:pt x="71438" y="59531"/>
                    </a:cubicBezTo>
                    <a:lnTo>
                      <a:pt x="71438" y="47625"/>
                    </a:lnTo>
                    <a:moveTo>
                      <a:pt x="71438" y="59531"/>
                    </a:moveTo>
                    <a:cubicBezTo>
                      <a:pt x="71438" y="79258"/>
                      <a:pt x="87429" y="95250"/>
                      <a:pt x="107156" y="95250"/>
                    </a:cubicBezTo>
                    <a:cubicBezTo>
                      <a:pt x="126883" y="95250"/>
                      <a:pt x="142875" y="79258"/>
                      <a:pt x="142875" y="59531"/>
                    </a:cubicBezTo>
                    <a:lnTo>
                      <a:pt x="142875" y="47625"/>
                    </a:lnTo>
                    <a:moveTo>
                      <a:pt x="142875" y="59531"/>
                    </a:moveTo>
                    <a:cubicBezTo>
                      <a:pt x="142875" y="79258"/>
                      <a:pt x="158867" y="95250"/>
                      <a:pt x="178594" y="95250"/>
                    </a:cubicBezTo>
                    <a:cubicBezTo>
                      <a:pt x="198321" y="95250"/>
                      <a:pt x="214312" y="79258"/>
                      <a:pt x="214312" y="59531"/>
                    </a:cubicBezTo>
                    <a:lnTo>
                      <a:pt x="214312" y="47625"/>
                    </a:lnTo>
                    <a:lnTo>
                      <a:pt x="0" y="47625"/>
                    </a:lnTo>
                    <a:lnTo>
                      <a:pt x="23812" y="0"/>
                    </a:lnTo>
                    <a:lnTo>
                      <a:pt x="190500" y="0"/>
                    </a:lnTo>
                    <a:lnTo>
                      <a:pt x="214312" y="47625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26281" y="1681758"/>
                <a:ext cx="9525" cy="12084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0848">
                    <a:moveTo>
                      <a:pt x="0" y="120848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92969" y="1681758"/>
                <a:ext cx="9525" cy="12084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0848">
                    <a:moveTo>
                      <a:pt x="0" y="120848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3906" y="1731169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lnTo>
                      <a:pt x="71438" y="71438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39368" y="1603058"/>
              <a:ext cx="24547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E-Commerce Scenario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6468" y="2250758"/>
              <a:ext cx="3196685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Alice</a:t>
              </a: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 launches an online store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called </a:t>
              </a:r>
              <a:r>
                <a:rPr lang="en-US" sz="1650" b="1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“Alice’s Market (AM).”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66750" y="2952750"/>
              <a:ext cx="3524250" cy="1809750"/>
            </a:xfrm>
            <a:prstGeom prst="roundRect">
              <a:avLst>
                <a:gd name="adj" fmla="val 7368"/>
              </a:avLst>
            </a:prstGeom>
            <a:solidFill>
              <a:srgbClr val="EFECE6"/>
            </a:solidFill>
            <a:ln w="14288">
              <a:solidFill>
                <a:srgbClr val="DDD7C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1243" y="3155632"/>
              <a:ext cx="4441936" cy="1008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Bob</a:t>
              </a: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 creates account to buy T-shirt.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Enters </a:t>
              </a:r>
              <a:r>
                <a:rPr lang="en-US" sz="1650" b="1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credit card number</a:t>
              </a: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 for payment.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Trudy</a:t>
              </a: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 seeks attack opportunities.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6750" y="4953000"/>
              <a:ext cx="3524250" cy="1571625"/>
            </a:xfrm>
            <a:prstGeom prst="roundRect">
              <a:avLst>
                <a:gd name="adj" fmla="val 8485"/>
              </a:avLst>
            </a:prstGeom>
            <a:solidFill>
              <a:srgbClr val="6B141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33944" y="5177381"/>
              <a:ext cx="256151" cy="220068"/>
              <a:chOff x="833944" y="5177381"/>
              <a:chExt cx="256151" cy="22006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962025" y="52578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3944" y="5177381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62025" y="53466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182243" y="5203508"/>
              <a:ext cx="17707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Trudy's Threat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2005" y="5648325"/>
              <a:ext cx="337756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May steal Bob’s payment info, alter</a:t>
              </a:r>
              <a:br/>
              <a:r>
                <a:rPr lang="en-US" sz="15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order items, or take the site down.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4667250" y="1381125"/>
              <a:ext cx="4610862" cy="5381625"/>
              <a:chOff x="4667250" y="1381125"/>
              <a:chExt cx="4610862" cy="538162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667250" y="1381125"/>
                <a:ext cx="4610100" cy="1666875"/>
              </a:xfrm>
              <a:prstGeom prst="roundRect">
                <a:avLst>
                  <a:gd name="adj" fmla="val 9143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4857750" y="1619250"/>
                <a:ext cx="476250" cy="476250"/>
              </a:xfrm>
              <a:prstGeom prst="roundRect">
                <a:avLst>
                  <a:gd name="adj" fmla="val 24000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5018088" y="1757363"/>
                <a:ext cx="155575" cy="200025"/>
                <a:chOff x="5018088" y="1757363"/>
                <a:chExt cx="155575" cy="200025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5018088" y="1846263"/>
                  <a:ext cx="15557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111125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33350" y="0"/>
                      </a:lnTo>
                      <a:cubicBezTo>
                        <a:pt x="145625" y="0"/>
                        <a:pt x="155575" y="9950"/>
                        <a:pt x="155575" y="22225"/>
                      </a:cubicBezTo>
                      <a:lnTo>
                        <a:pt x="155575" y="88900"/>
                      </a:lnTo>
                      <a:cubicBezTo>
                        <a:pt x="155575" y="101175"/>
                        <a:pt x="145625" y="111125"/>
                        <a:pt x="133350" y="111125"/>
                      </a:cubicBezTo>
                      <a:lnTo>
                        <a:pt x="22225" y="111125"/>
                      </a:lnTo>
                      <a:cubicBezTo>
                        <a:pt x="9950" y="111125"/>
                        <a:pt x="0" y="101175"/>
                        <a:pt x="0" y="88900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5084763" y="1890713"/>
                  <a:ext cx="222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22225">
                      <a:moveTo>
                        <a:pt x="0" y="11113"/>
                      </a:moveTo>
                      <a:cubicBezTo>
                        <a:pt x="0" y="17250"/>
                        <a:pt x="4975" y="22225"/>
                        <a:pt x="11113" y="22225"/>
                      </a:cubicBezTo>
                      <a:cubicBezTo>
                        <a:pt x="17250" y="22225"/>
                        <a:pt x="22225" y="17250"/>
                        <a:pt x="22225" y="11113"/>
                      </a:cubicBezTo>
                      <a:cubicBezTo>
                        <a:pt x="22225" y="4975"/>
                        <a:pt x="17250" y="0"/>
                        <a:pt x="11113" y="0"/>
                      </a:cubicBezTo>
                      <a:cubicBezTo>
                        <a:pt x="4975" y="0"/>
                        <a:pt x="0" y="4975"/>
                        <a:pt x="0" y="11113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5051425" y="1757363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88900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cubicBezTo>
                        <a:pt x="68999" y="0"/>
                        <a:pt x="88900" y="19901"/>
                        <a:pt x="88900" y="44450"/>
                      </a:cubicBezTo>
                      <a:lnTo>
                        <a:pt x="88900" y="8890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5467731" y="1739265"/>
                <a:ext cx="1869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Confidentiality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468493" y="2203132"/>
                <a:ext cx="3799142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Only authorized parties can access</a:t>
                </a:r>
                <a:br/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Bob’s personal and credit card data.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4667250" y="3238500"/>
                <a:ext cx="4610100" cy="1666875"/>
              </a:xfrm>
              <a:prstGeom prst="roundRect">
                <a:avLst>
                  <a:gd name="adj" fmla="val 9143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4857750" y="3476625"/>
                <a:ext cx="476250" cy="476250"/>
              </a:xfrm>
              <a:prstGeom prst="roundRect">
                <a:avLst>
                  <a:gd name="adj" fmla="val 24000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4980866" y="3614738"/>
                <a:ext cx="217008" cy="200025"/>
                <a:chOff x="4980866" y="3614738"/>
                <a:chExt cx="217008" cy="200025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4980866" y="3614738"/>
                  <a:ext cx="217008" cy="198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008" h="198314">
                      <a:moveTo>
                        <a:pt x="109009" y="198314"/>
                      </a:moveTo>
                      <a:cubicBezTo>
                        <a:pt x="39394" y="176735"/>
                        <a:pt x="0" y="103262"/>
                        <a:pt x="20553" y="33338"/>
                      </a:cubicBezTo>
                      <a:cubicBezTo>
                        <a:pt x="55175" y="34922"/>
                        <a:pt x="89053" y="22965"/>
                        <a:pt x="115010" y="0"/>
                      </a:cubicBezTo>
                      <a:cubicBezTo>
                        <a:pt x="140967" y="22965"/>
                        <a:pt x="174845" y="34922"/>
                        <a:pt x="209466" y="33338"/>
                      </a:cubicBezTo>
                      <a:cubicBezTo>
                        <a:pt x="217008" y="58998"/>
                        <a:pt x="216660" y="86333"/>
                        <a:pt x="208466" y="111792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5129213" y="3770313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5467731" y="3596640"/>
                <a:ext cx="11576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Integrity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468493" y="4060508"/>
                <a:ext cx="3809619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Bob’s order and billing details remain</a:t>
                </a:r>
                <a:br/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accurate and completely unaltered.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4667250" y="5095875"/>
                <a:ext cx="4610100" cy="1666875"/>
              </a:xfrm>
              <a:prstGeom prst="roundRect">
                <a:avLst>
                  <a:gd name="adj" fmla="val 9143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4857750" y="5334000"/>
                <a:ext cx="476250" cy="476250"/>
              </a:xfrm>
              <a:prstGeom prst="roundRect">
                <a:avLst>
                  <a:gd name="adj" fmla="val 24000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4995863" y="5483225"/>
                <a:ext cx="200026" cy="177800"/>
                <a:chOff x="4995863" y="5483225"/>
                <a:chExt cx="200026" cy="177800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4995863" y="5483225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100" y="0"/>
                        <a:pt x="200026" y="14926"/>
                        <a:pt x="200026" y="33338"/>
                      </a:cubicBezTo>
                      <a:lnTo>
                        <a:pt x="200026" y="55563"/>
                      </a:lnTo>
                      <a:cubicBezTo>
                        <a:pt x="200026" y="73975"/>
                        <a:pt x="185100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5"/>
                        <a:pt x="0" y="55563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4995863" y="5572125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100" y="0"/>
                        <a:pt x="200026" y="14926"/>
                        <a:pt x="200026" y="33338"/>
                      </a:cubicBezTo>
                      <a:lnTo>
                        <a:pt x="200026" y="55563"/>
                      </a:lnTo>
                      <a:cubicBezTo>
                        <a:pt x="200026" y="73975"/>
                        <a:pt x="185100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5"/>
                        <a:pt x="0" y="55563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5040313" y="55276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5040313" y="5616576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5467731" y="5454015"/>
                <a:ext cx="138591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Availability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468493" y="5917882"/>
                <a:ext cx="3139059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Alice’s Market remains online,</a:t>
                </a:r>
                <a:br/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responsive, and usable 24/7.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5030991" cy="803910"/>
            <a:chOff x="462534" y="260985"/>
            <a:chExt cx="5030991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27029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5024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Example: Alice’s Market (Extended Goals Analysis)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76250" y="1381125"/>
            <a:ext cx="8896159" cy="5381625"/>
            <a:chOff x="476250" y="1381125"/>
            <a:chExt cx="8896159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3905250" cy="5381625"/>
            </a:xfrm>
            <a:prstGeom prst="roundRect">
              <a:avLst>
                <a:gd name="adj" fmla="val 4878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476250" y="1381125"/>
              <a:ext cx="3905250" cy="619125"/>
            </a:xfrm>
            <a:prstGeom prst="roundRect">
              <a:avLst>
                <a:gd name="adj" fmla="val 30769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76250" y="1809750"/>
              <a:ext cx="3905250" cy="190500"/>
            </a:xfrm>
            <a:prstGeom prst="rect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14375" y="1600200"/>
              <a:ext cx="190500" cy="190500"/>
              <a:chOff x="714375" y="1600200"/>
              <a:chExt cx="190500" cy="1905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62000" y="160020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119062"/>
                    </a:lnTo>
                    <a:cubicBezTo>
                      <a:pt x="142875" y="132214"/>
                      <a:pt x="132214" y="142875"/>
                      <a:pt x="119062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14375" y="164782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119062"/>
                    </a:lnTo>
                    <a:cubicBezTo>
                      <a:pt x="142875" y="132214"/>
                      <a:pt x="132214" y="142875"/>
                      <a:pt x="119062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39368" y="1603058"/>
              <a:ext cx="20367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Extended Analysis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6468" y="2250758"/>
              <a:ext cx="3460194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Beyond basic CIA protection,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e-commerce platforms mandate</a:t>
              </a:r>
              <a:br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strict verification &amp; resilience.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66750" y="3571875"/>
              <a:ext cx="3524250" cy="2857500"/>
            </a:xfrm>
            <a:prstGeom prst="roundRect">
              <a:avLst>
                <a:gd name="adj" fmla="val 4667"/>
              </a:avLst>
            </a:prstGeom>
            <a:solidFill>
              <a:srgbClr val="EFECE6"/>
            </a:solidFill>
            <a:ln w="14288">
              <a:solidFill>
                <a:srgbClr val="DDD7CE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42963" y="3795713"/>
              <a:ext cx="200026" cy="200026"/>
              <a:chOff x="842963" y="3795713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931863" y="3884613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87413" y="3840163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42963" y="37957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182243" y="3793808"/>
              <a:ext cx="21424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Business Mandates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1243" y="4251008"/>
              <a:ext cx="3652457" cy="1408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8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Non-repudiation of transactions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Impersonation defense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Consistent checkout performance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Unbroken transactional trust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4667250" y="1381125"/>
              <a:ext cx="4705159" cy="5381625"/>
              <a:chOff x="4667250" y="1381125"/>
              <a:chExt cx="4705159" cy="5381625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667250" y="1381125"/>
                <a:ext cx="4610100" cy="1666875"/>
              </a:xfrm>
              <a:prstGeom prst="roundRect">
                <a:avLst>
                  <a:gd name="adj" fmla="val 9143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857750" y="1619250"/>
                <a:ext cx="476250" cy="476250"/>
              </a:xfrm>
              <a:prstGeom prst="roundRect">
                <a:avLst>
                  <a:gd name="adj" fmla="val 24000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4996418" y="1755811"/>
                <a:ext cx="205049" cy="209757"/>
                <a:chOff x="4996418" y="1755811"/>
                <a:chExt cx="205049" cy="209757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5095875" y="1812925"/>
                  <a:ext cx="2222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66675">
                      <a:moveTo>
                        <a:pt x="0" y="0"/>
                      </a:moveTo>
                      <a:lnTo>
                        <a:pt x="0" y="44450"/>
                      </a:lnTo>
                      <a:lnTo>
                        <a:pt x="22225" y="66675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996418" y="1755811"/>
                  <a:ext cx="205049" cy="209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049" h="209757">
                      <a:moveTo>
                        <a:pt x="0" y="90452"/>
                      </a:moveTo>
                      <a:cubicBezTo>
                        <a:pt x="5156" y="39840"/>
                        <a:pt x="47484" y="1162"/>
                        <a:pt x="98356" y="581"/>
                      </a:cubicBezTo>
                      <a:cubicBezTo>
                        <a:pt x="149227" y="0"/>
                        <a:pt x="192428" y="37701"/>
                        <a:pt x="198738" y="88182"/>
                      </a:cubicBezTo>
                      <a:cubicBezTo>
                        <a:pt x="205049" y="138664"/>
                        <a:pt x="172457" y="185839"/>
                        <a:pt x="123008" y="197798"/>
                      </a:cubicBezTo>
                      <a:cubicBezTo>
                        <a:pt x="73559" y="209757"/>
                        <a:pt x="23012" y="182689"/>
                        <a:pt x="5556" y="134902"/>
                      </a:cubicBezTo>
                      <a:moveTo>
                        <a:pt x="0" y="190465"/>
                      </a:moveTo>
                      <a:lnTo>
                        <a:pt x="0" y="134902"/>
                      </a:lnTo>
                      <a:lnTo>
                        <a:pt x="55563" y="134902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5467731" y="1739265"/>
                <a:ext cx="17937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Accountability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468493" y="2203132"/>
                <a:ext cx="3504200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Every order and login is logged,</a:t>
                </a:r>
                <a:br/>
                <a:r>
                  <a:rPr lang="en-US" sz="16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uniquely traced to Bob or Trudy.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4667250" y="3238500"/>
                <a:ext cx="4610100" cy="1666875"/>
              </a:xfrm>
              <a:prstGeom prst="roundRect">
                <a:avLst>
                  <a:gd name="adj" fmla="val 9143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4857750" y="3476625"/>
                <a:ext cx="476250" cy="476250"/>
              </a:xfrm>
              <a:prstGeom prst="roundRect">
                <a:avLst>
                  <a:gd name="adj" fmla="val 24000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5029200" y="3614738"/>
                <a:ext cx="166688" cy="200025"/>
                <a:chOff x="5029200" y="3614738"/>
                <a:chExt cx="166688" cy="200025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5051425" y="3614738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5029200" y="3748088"/>
                  <a:ext cx="889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66675">
                      <a:moveTo>
                        <a:pt x="0" y="66675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88900" y="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5129213" y="3770313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5467731" y="3596640"/>
                <a:ext cx="157764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Authenticity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468493" y="4060508"/>
                <a:ext cx="3903916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Alice's Market verifies the purchaser</a:t>
                </a:r>
                <a:br/>
                <a:r>
                  <a:rPr lang="en-US" sz="16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is genuinely Bob and not Trudy.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4667250" y="5095875"/>
                <a:ext cx="4610100" cy="1666875"/>
              </a:xfrm>
              <a:prstGeom prst="roundRect">
                <a:avLst>
                  <a:gd name="adj" fmla="val 9143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4857750" y="5334000"/>
                <a:ext cx="476250" cy="476250"/>
              </a:xfrm>
              <a:prstGeom prst="roundRect">
                <a:avLst>
                  <a:gd name="adj" fmla="val 24000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991235" y="5472113"/>
                <a:ext cx="209281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9281" h="200026">
                    <a:moveTo>
                      <a:pt x="104641" y="0"/>
                    </a:moveTo>
                    <a:cubicBezTo>
                      <a:pt x="130598" y="22965"/>
                      <a:pt x="164476" y="34922"/>
                      <a:pt x="199097" y="33338"/>
                    </a:cubicBezTo>
                    <a:cubicBezTo>
                      <a:pt x="209281" y="67981"/>
                      <a:pt x="204980" y="105274"/>
                      <a:pt x="187178" y="136690"/>
                    </a:cubicBezTo>
                    <a:cubicBezTo>
                      <a:pt x="169375" y="168106"/>
                      <a:pt x="139593" y="190959"/>
                      <a:pt x="104641" y="200026"/>
                    </a:cubicBezTo>
                    <a:cubicBezTo>
                      <a:pt x="69688" y="190959"/>
                      <a:pt x="39906" y="168106"/>
                      <a:pt x="22103" y="136690"/>
                    </a:cubicBezTo>
                    <a:cubicBezTo>
                      <a:pt x="4301" y="105274"/>
                      <a:pt x="0" y="67981"/>
                      <a:pt x="10184" y="33338"/>
                    </a:cubicBezTo>
                    <a:cubicBezTo>
                      <a:pt x="44805" y="34922"/>
                      <a:pt x="78684" y="22965"/>
                      <a:pt x="104641" y="0"/>
                    </a:cubicBez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5467731" y="5454015"/>
                <a:ext cx="124584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Reliability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468493" y="5917882"/>
                <a:ext cx="3779234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Transactions execute correctly</a:t>
                </a:r>
                <a:br/>
                <a:r>
                  <a:rPr lang="en-US" sz="16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without accidental system failure.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/mnt/data/a_sleek_high_resolution_abstract_cybersecurity_te.png">
            <a:extLst>
              <a:ext uri="{FF2B5EF4-FFF2-40B4-BE49-F238E27FC236}">
                <a16:creationId xmlns:a16="http://schemas.microsoft.com/office/drawing/2014/main" id="{EB3167FE-A604-4388-95EF-F7FD5D478D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1"/>
          <a:stretch/>
        </p:blipFill>
        <p:spPr>
          <a:xfrm>
            <a:off x="1" y="0"/>
            <a:ext cx="12198468" cy="6858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762000" y="762000"/>
            <a:ext cx="1238250" cy="36195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74831" y="870585"/>
            <a:ext cx="6125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UNIT 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3618" y="2298382"/>
            <a:ext cx="380635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150" normalizeH="0" baseline="0" noProof="0" dirty="0">
                <a:ln>
                  <a:noFill/>
                </a:ln>
                <a:solidFill>
                  <a:srgbClr val="F4B40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WEEK 01 · SYSTEM MODELING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4474" y="2723198"/>
            <a:ext cx="4792979" cy="10432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Security Concepts and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34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Threat Analysis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3952875"/>
            <a:ext cx="857250" cy="5715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52856" y="4234815"/>
            <a:ext cx="786487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Entity Relationships, Attack Surfaces, and Attack Trees Modeling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62000" y="4762500"/>
            <a:ext cx="8838115" cy="1238250"/>
            <a:chOff x="762000" y="4762500"/>
            <a:chExt cx="8838115" cy="1238250"/>
          </a:xfrm>
        </p:grpSpPr>
        <p:sp>
          <p:nvSpPr>
            <p:cNvPr id="10" name="Rectangle 10"/>
            <p:cNvSpPr/>
            <p:nvPr/>
          </p:nvSpPr>
          <p:spPr>
            <a:xfrm>
              <a:off x="762000" y="4762500"/>
              <a:ext cx="3810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031081" y="4993481"/>
              <a:ext cx="242888" cy="242888"/>
              <a:chOff x="1031081" y="4993481"/>
              <a:chExt cx="242888" cy="24288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125538" y="49934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31081" y="51823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19994" y="51823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78310" y="5128419"/>
                <a:ext cx="148432" cy="60722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60722">
                    <a:moveTo>
                      <a:pt x="0" y="60722"/>
                    </a:moveTo>
                    <a:lnTo>
                      <a:pt x="74216" y="0"/>
                    </a:lnTo>
                    <a:lnTo>
                      <a:pt x="148432" y="60722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52525" y="5047456"/>
                <a:ext cx="9525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0963">
                    <a:moveTo>
                      <a:pt x="0" y="0"/>
                    </a:moveTo>
                    <a:lnTo>
                      <a:pt x="0" y="80963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420368" y="5003482"/>
              <a:ext cx="28188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Concepts &amp; Relationships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4504" y="5442585"/>
              <a:ext cx="42643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Assets, Threats, Vulnerabilities, Risk, and Controls.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953000" y="4762500"/>
              <a:ext cx="3810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5262563" y="5020469"/>
              <a:ext cx="161925" cy="188913"/>
              <a:chOff x="5262563" y="5020469"/>
              <a:chExt cx="161925" cy="1889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316538" y="5020469"/>
                <a:ext cx="10795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88913">
                    <a:moveTo>
                      <a:pt x="13494" y="67469"/>
                    </a:moveTo>
                    <a:lnTo>
                      <a:pt x="13494" y="0"/>
                    </a:lnTo>
                    <a:lnTo>
                      <a:pt x="0" y="0"/>
                    </a:lnTo>
                    <a:moveTo>
                      <a:pt x="107950" y="188913"/>
                    </a:moveTo>
                    <a:lnTo>
                      <a:pt x="107950" y="121444"/>
                    </a:lnTo>
                    <a:lnTo>
                      <a:pt x="94456" y="121444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384007" y="5020469"/>
                <a:ext cx="40481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67469">
                    <a:moveTo>
                      <a:pt x="0" y="6747"/>
                    </a:moveTo>
                    <a:cubicBezTo>
                      <a:pt x="0" y="3021"/>
                      <a:pt x="3021" y="0"/>
                      <a:pt x="6747" y="0"/>
                    </a:cubicBezTo>
                    <a:lnTo>
                      <a:pt x="33734" y="0"/>
                    </a:lnTo>
                    <a:cubicBezTo>
                      <a:pt x="37461" y="0"/>
                      <a:pt x="40481" y="3021"/>
                      <a:pt x="40481" y="6747"/>
                    </a:cubicBezTo>
                    <a:lnTo>
                      <a:pt x="40481" y="60722"/>
                    </a:lnTo>
                    <a:cubicBezTo>
                      <a:pt x="40481" y="64448"/>
                      <a:pt x="37461" y="67469"/>
                      <a:pt x="33734" y="67469"/>
                    </a:cubicBezTo>
                    <a:lnTo>
                      <a:pt x="6747" y="67469"/>
                    </a:lnTo>
                    <a:cubicBezTo>
                      <a:pt x="3021" y="67469"/>
                      <a:pt x="0" y="64448"/>
                      <a:pt x="0" y="60722"/>
                    </a:cubicBezTo>
                    <a:lnTo>
                      <a:pt x="0" y="6747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316538" y="5141913"/>
                <a:ext cx="40481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67469">
                    <a:moveTo>
                      <a:pt x="0" y="6747"/>
                    </a:moveTo>
                    <a:cubicBezTo>
                      <a:pt x="0" y="3021"/>
                      <a:pt x="3021" y="0"/>
                      <a:pt x="6747" y="0"/>
                    </a:cubicBezTo>
                    <a:lnTo>
                      <a:pt x="33734" y="0"/>
                    </a:lnTo>
                    <a:cubicBezTo>
                      <a:pt x="37461" y="0"/>
                      <a:pt x="40481" y="3021"/>
                      <a:pt x="40481" y="6747"/>
                    </a:cubicBezTo>
                    <a:lnTo>
                      <a:pt x="40481" y="60722"/>
                    </a:lnTo>
                    <a:cubicBezTo>
                      <a:pt x="40481" y="64448"/>
                      <a:pt x="37461" y="67469"/>
                      <a:pt x="33734" y="67469"/>
                    </a:cubicBezTo>
                    <a:lnTo>
                      <a:pt x="6747" y="67469"/>
                    </a:lnTo>
                    <a:cubicBezTo>
                      <a:pt x="3021" y="67469"/>
                      <a:pt x="0" y="64448"/>
                      <a:pt x="0" y="60722"/>
                    </a:cubicBezTo>
                    <a:lnTo>
                      <a:pt x="0" y="6747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262563" y="5087938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135" y="0"/>
                    </a:lnTo>
                    <a:moveTo>
                      <a:pt x="0" y="121444"/>
                    </a:moveTo>
                    <a:lnTo>
                      <a:pt x="135" y="121444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611368" y="5003482"/>
              <a:ext cx="28169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Surfaces &amp; Attack Trees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75504" y="5442585"/>
              <a:ext cx="4424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Reachable vectors, tree structures, and AND/OR logic.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Seoul Cyber University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7174783" cy="803910"/>
            <a:chOff x="462534" y="260985"/>
            <a:chExt cx="7174783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717478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Security Concepts and Threat Analysis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31114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This unit helps you understand: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76250" y="1381125"/>
            <a:ext cx="8801100" cy="5381625"/>
            <a:chOff x="476250" y="1381125"/>
            <a:chExt cx="8801100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762000" y="1666875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35831" y="1840706"/>
              <a:ext cx="242888" cy="242888"/>
              <a:chOff x="935831" y="1840706"/>
              <a:chExt cx="242888" cy="24288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30288" y="1840706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35831" y="20296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24744" y="20296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83060" y="1975644"/>
                <a:ext cx="148432" cy="60722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60722">
                    <a:moveTo>
                      <a:pt x="0" y="60722"/>
                    </a:moveTo>
                    <a:lnTo>
                      <a:pt x="74216" y="0"/>
                    </a:lnTo>
                    <a:lnTo>
                      <a:pt x="148432" y="60722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57275" y="1894681"/>
                <a:ext cx="9525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0963">
                    <a:moveTo>
                      <a:pt x="0" y="0"/>
                    </a:moveTo>
                    <a:lnTo>
                      <a:pt x="0" y="80963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52094" y="2408872"/>
              <a:ext cx="2321100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Security Concepts</a:t>
              </a:r>
              <a:br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&amp; Relationships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095625"/>
              <a:ext cx="47625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3618" y="3441382"/>
              <a:ext cx="3118104" cy="23991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Core Definitions: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Asset, Threat, Vulnerability,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Attack, and Control.</a:t>
              </a:r>
            </a:p>
            <a:p>
              <a:pPr marL="178118" indent="-178118" algn="l">
                <a:lnSpc>
                  <a:spcPts val="2550"/>
                </a:lnSpc>
                <a:spcBef>
                  <a:spcPts val="1050"/>
                </a:spcBef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Interaction Dynamics: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Owners minimize Risk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Threats exploit Vulnerabilities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Countermeasures reduce Risk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038725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8" name="Rectangle 18"/>
            <p:cNvSpPr/>
            <p:nvPr/>
          </p:nvSpPr>
          <p:spPr>
            <a:xfrm>
              <a:off x="5324475" y="1666875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5538788" y="1867694"/>
              <a:ext cx="161925" cy="188913"/>
              <a:chOff x="5538788" y="1867694"/>
              <a:chExt cx="161925" cy="18891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592763" y="1867694"/>
                <a:ext cx="10795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88913">
                    <a:moveTo>
                      <a:pt x="13494" y="67469"/>
                    </a:moveTo>
                    <a:lnTo>
                      <a:pt x="13494" y="0"/>
                    </a:lnTo>
                    <a:lnTo>
                      <a:pt x="0" y="0"/>
                    </a:lnTo>
                    <a:moveTo>
                      <a:pt x="107950" y="188913"/>
                    </a:moveTo>
                    <a:lnTo>
                      <a:pt x="107950" y="121444"/>
                    </a:lnTo>
                    <a:lnTo>
                      <a:pt x="94456" y="121444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660232" y="1867694"/>
                <a:ext cx="40481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67469">
                    <a:moveTo>
                      <a:pt x="0" y="6747"/>
                    </a:moveTo>
                    <a:cubicBezTo>
                      <a:pt x="0" y="3021"/>
                      <a:pt x="3021" y="0"/>
                      <a:pt x="6747" y="0"/>
                    </a:cubicBezTo>
                    <a:lnTo>
                      <a:pt x="33734" y="0"/>
                    </a:lnTo>
                    <a:cubicBezTo>
                      <a:pt x="37461" y="0"/>
                      <a:pt x="40481" y="3021"/>
                      <a:pt x="40481" y="6747"/>
                    </a:cubicBezTo>
                    <a:lnTo>
                      <a:pt x="40481" y="60722"/>
                    </a:lnTo>
                    <a:cubicBezTo>
                      <a:pt x="40481" y="64448"/>
                      <a:pt x="37461" y="67469"/>
                      <a:pt x="33734" y="67469"/>
                    </a:cubicBezTo>
                    <a:lnTo>
                      <a:pt x="6747" y="67469"/>
                    </a:lnTo>
                    <a:cubicBezTo>
                      <a:pt x="3021" y="67469"/>
                      <a:pt x="0" y="64448"/>
                      <a:pt x="0" y="60722"/>
                    </a:cubicBezTo>
                    <a:lnTo>
                      <a:pt x="0" y="6747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592763" y="1989138"/>
                <a:ext cx="40481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67469">
                    <a:moveTo>
                      <a:pt x="0" y="6747"/>
                    </a:moveTo>
                    <a:cubicBezTo>
                      <a:pt x="0" y="3021"/>
                      <a:pt x="3021" y="0"/>
                      <a:pt x="6747" y="0"/>
                    </a:cubicBezTo>
                    <a:lnTo>
                      <a:pt x="33734" y="0"/>
                    </a:lnTo>
                    <a:cubicBezTo>
                      <a:pt x="37461" y="0"/>
                      <a:pt x="40481" y="3021"/>
                      <a:pt x="40481" y="6747"/>
                    </a:cubicBezTo>
                    <a:lnTo>
                      <a:pt x="40481" y="60722"/>
                    </a:lnTo>
                    <a:cubicBezTo>
                      <a:pt x="40481" y="64448"/>
                      <a:pt x="37461" y="67469"/>
                      <a:pt x="33734" y="67469"/>
                    </a:cubicBezTo>
                    <a:lnTo>
                      <a:pt x="6747" y="67469"/>
                    </a:lnTo>
                    <a:cubicBezTo>
                      <a:pt x="3021" y="67469"/>
                      <a:pt x="0" y="64448"/>
                      <a:pt x="0" y="60722"/>
                    </a:cubicBezTo>
                    <a:lnTo>
                      <a:pt x="0" y="6747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538788" y="1935163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135" y="0"/>
                    </a:lnTo>
                    <a:moveTo>
                      <a:pt x="0" y="121444"/>
                    </a:moveTo>
                    <a:lnTo>
                      <a:pt x="135" y="121444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314569" y="2408872"/>
              <a:ext cx="2100072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Attack Surfaces</a:t>
              </a:r>
              <a:br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&amp; Attack Trees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24475" y="3095625"/>
              <a:ext cx="47625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16093" y="3441382"/>
              <a:ext cx="3212402" cy="2075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3 Attack Surface Types: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Network, Software, and Human</a:t>
              </a:r>
            </a:p>
            <a:p>
              <a:pPr marL="178118" indent="-178118" algn="l">
                <a:lnSpc>
                  <a:spcPts val="2550"/>
                </a:lnSpc>
                <a:spcBef>
                  <a:spcPts val="1050"/>
                </a:spcBef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Attack Tree Modeling (1999):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Root Goals, Sub-Goals, Leaves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AND-Decomposition Logic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OR-Decomposition Logic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6741709" cy="803910"/>
            <a:chOff x="462534" y="260985"/>
            <a:chExt cx="6741709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674170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Security Concepts and Relationships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48286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Five Core Building Blocks of Information Security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76250" y="1381125"/>
            <a:ext cx="8875395" cy="5314950"/>
            <a:chOff x="476250" y="1381125"/>
            <a:chExt cx="8875395" cy="5314950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8801100" cy="933450"/>
            </a:xfrm>
            <a:prstGeom prst="roundRect">
              <a:avLst>
                <a:gd name="adj" fmla="val 14286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666750" y="1609725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53172" y="1736408"/>
              <a:ext cx="6654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Asset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35505" y="1647825"/>
              <a:ext cx="71875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1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 system resource or capability of value to an owner requiring protection.</a:t>
              </a:r>
            </a:p>
            <a:p>
              <a:pPr marL="161925" indent="-161925" algn="l">
                <a:lnSpc>
                  <a:spcPts val="21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Includes computer hardware, software apps, data records, and networks.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76250" y="2476500"/>
              <a:ext cx="8801100" cy="933450"/>
            </a:xfrm>
            <a:prstGeom prst="roundRect">
              <a:avLst>
                <a:gd name="adj" fmla="val 14286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666750" y="27051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6B141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9034" y="2831782"/>
              <a:ext cx="793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Threat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35505" y="2743200"/>
              <a:ext cx="71875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1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Potential for a threat actor to exploit a vulnerability and breach security.</a:t>
              </a:r>
            </a:p>
            <a:p>
              <a:pPr marL="161925" indent="-161925" algn="l">
                <a:lnSpc>
                  <a:spcPts val="21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Any circumstance capable of adversely impacting organization operations.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76250" y="3571875"/>
              <a:ext cx="8801100" cy="933450"/>
            </a:xfrm>
            <a:prstGeom prst="roundRect">
              <a:avLst>
                <a:gd name="adj" fmla="val 14286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5" name="Rectangle 15"/>
            <p:cNvSpPr/>
            <p:nvPr/>
          </p:nvSpPr>
          <p:spPr>
            <a:xfrm>
              <a:off x="666750" y="3800475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39" y="3951446"/>
              <a:ext cx="12542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Vulnerability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35505" y="3838575"/>
              <a:ext cx="72161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1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 flaw or weakness in system design, implementation, or internal controls.</a:t>
              </a:r>
            </a:p>
            <a:p>
              <a:pPr marL="161925" indent="-161925" algn="l">
                <a:lnSpc>
                  <a:spcPts val="21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Leaves a system susceptible to exploitation, disruption, or data theft.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76250" y="4667250"/>
              <a:ext cx="8801100" cy="933450"/>
            </a:xfrm>
            <a:prstGeom prst="roundRect">
              <a:avLst>
                <a:gd name="adj" fmla="val 14286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9" name="Rectangle 19"/>
            <p:cNvSpPr/>
            <p:nvPr/>
          </p:nvSpPr>
          <p:spPr>
            <a:xfrm>
              <a:off x="666750" y="489585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6B141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89034" y="5022532"/>
              <a:ext cx="793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Attack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35505" y="4933950"/>
              <a:ext cx="68827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1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 deliberate threat action carried out resulting in a security breach.</a:t>
              </a:r>
            </a:p>
            <a:p>
              <a:pPr marL="161925" indent="-161925" algn="l">
                <a:lnSpc>
                  <a:spcPts val="21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Represents attempts to disrupt, alter, or steal organizational assets.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76250" y="5762625"/>
              <a:ext cx="8801100" cy="933450"/>
            </a:xfrm>
            <a:prstGeom prst="roundRect">
              <a:avLst>
                <a:gd name="adj" fmla="val 14286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666750" y="5991225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2E5A4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4286" y="6117908"/>
              <a:ext cx="8631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Control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35505" y="6029325"/>
              <a:ext cx="67684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1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Safeguards and countermeasures that reduce overall operational risk.</a:t>
              </a:r>
            </a:p>
            <a:p>
              <a:pPr marL="161925" indent="-161925" algn="l">
                <a:lnSpc>
                  <a:spcPts val="21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Eliminates vulnerabilities or minimizes impacts of potential violations.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6">
            <a:extLst>
              <a:ext uri="{FF2B5EF4-FFF2-40B4-BE49-F238E27FC236}">
                <a16:creationId xmlns:a16="http://schemas.microsoft.com/office/drawing/2014/main" id="{6A045983-1EB8-4F4B-81D1-135C8A334A63}"/>
              </a:ext>
            </a:extLst>
          </p:cNvPr>
          <p:cNvSpPr/>
          <p:nvPr/>
        </p:nvSpPr>
        <p:spPr>
          <a:xfrm>
            <a:off x="476250" y="1428750"/>
            <a:ext cx="8801100" cy="5238750"/>
          </a:xfrm>
          <a:prstGeom prst="roundRect">
            <a:avLst>
              <a:gd name="adj" fmla="val 3636"/>
            </a:avLst>
          </a:prstGeom>
          <a:solidFill>
            <a:srgbClr val="F8F4EE"/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grpSp>
        <p:nvGrpSpPr>
          <p:cNvPr id="5" name="Group 5"/>
          <p:cNvGrpSpPr/>
          <p:nvPr/>
        </p:nvGrpSpPr>
        <p:grpSpPr>
          <a:xfrm>
            <a:off x="462534" y="260985"/>
            <a:ext cx="6741709" cy="1051560"/>
            <a:chOff x="462534" y="260985"/>
            <a:chExt cx="6741709" cy="105156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674170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70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Security Concepts and Relationships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5034915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9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Relationships Among Assets, Threats, Vulnerabilities,</a:t>
              </a:r>
              <a:br>
                <a: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Risk, and Countermeasures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6381750" y="1905000"/>
            <a:ext cx="1714500" cy="5715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422182" y="2079308"/>
            <a:ext cx="163363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Threat agents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619250" y="3714750"/>
            <a:ext cx="1714500" cy="571500"/>
          </a:xfrm>
          <a:prstGeom prst="roundRect">
            <a:avLst>
              <a:gd name="adj" fmla="val 20000"/>
            </a:avLst>
          </a:prstGeom>
          <a:solidFill>
            <a:srgbClr val="6B9AC4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569688" y="3905250"/>
            <a:ext cx="18136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Countermeasures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937254" y="3714750"/>
            <a:ext cx="1714500" cy="571500"/>
          </a:xfrm>
          <a:prstGeom prst="roundRect">
            <a:avLst>
              <a:gd name="adj" fmla="val 20000"/>
            </a:avLst>
          </a:prstGeom>
          <a:solidFill>
            <a:srgbClr val="4A000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431556" y="3872865"/>
            <a:ext cx="7258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Asset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619250" y="5524500"/>
            <a:ext cx="1714500" cy="571500"/>
          </a:xfrm>
          <a:prstGeom prst="roundRect">
            <a:avLst>
              <a:gd name="adj" fmla="val 20000"/>
            </a:avLst>
          </a:prstGeom>
          <a:solidFill>
            <a:srgbClr val="4C1D9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237502" y="5698808"/>
            <a:ext cx="47799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381750" y="5524500"/>
            <a:ext cx="1714500" cy="571500"/>
          </a:xfrm>
          <a:prstGeom prst="roundRect">
            <a:avLst>
              <a:gd name="adj" fmla="val 20000"/>
            </a:avLst>
          </a:prstGeom>
          <a:solidFill>
            <a:srgbClr val="F4B40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842159" y="5698808"/>
            <a:ext cx="793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Threat</a:t>
            </a:r>
          </a:p>
        </p:txBody>
      </p:sp>
      <p:sp>
        <p:nvSpPr>
          <p:cNvPr id="19" name="Line 19"/>
          <p:cNvSpPr/>
          <p:nvPr/>
        </p:nvSpPr>
        <p:spPr>
          <a:xfrm>
            <a:off x="2566987" y="2190750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19050">
            <a:solidFill>
              <a:srgbClr val="222222"/>
            </a:solidFill>
          </a:ln>
        </p:spPr>
      </p:sp>
      <p:sp>
        <p:nvSpPr>
          <p:cNvPr id="20" name="Line 20"/>
          <p:cNvSpPr/>
          <p:nvPr/>
        </p:nvSpPr>
        <p:spPr>
          <a:xfrm>
            <a:off x="4567237" y="2190750"/>
            <a:ext cx="9525" cy="1524000"/>
          </a:xfrm>
          <a:custGeom>
            <a:avLst/>
            <a:gdLst/>
            <a:ahLst/>
            <a:cxnLst/>
            <a:rect l="l" t="t" r="r" b="b"/>
            <a:pathLst>
              <a:path w="9525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/>
          <a:ln w="19050">
            <a:solidFill>
              <a:srgbClr val="222222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4519455" y="3619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695240" y="1949768"/>
            <a:ext cx="473202" cy="2640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i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cs typeface="Arial"/>
              </a:rPr>
              <a:t>Value</a:t>
            </a:r>
          </a:p>
        </p:txBody>
      </p:sp>
      <p:sp>
        <p:nvSpPr>
          <p:cNvPr id="23" name="Line 23"/>
          <p:cNvSpPr/>
          <p:nvPr/>
        </p:nvSpPr>
        <p:spPr>
          <a:xfrm>
            <a:off x="2476500" y="2476500"/>
            <a:ext cx="9525" cy="1238250"/>
          </a:xfrm>
          <a:custGeom>
            <a:avLst/>
            <a:gdLst/>
            <a:ahLst/>
            <a:cxnLst/>
            <a:rect l="l" t="t" r="r" b="b"/>
            <a:pathLst>
              <a:path w="9525" h="1238250">
                <a:moveTo>
                  <a:pt x="0" y="0"/>
                </a:moveTo>
                <a:lnTo>
                  <a:pt x="0" y="1238250"/>
                </a:lnTo>
              </a:path>
            </a:pathLst>
          </a:custGeom>
          <a:noFill/>
          <a:ln w="19050">
            <a:solidFill>
              <a:srgbClr val="222222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2428875" y="3619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612517" y="2772915"/>
            <a:ext cx="756617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Impose</a:t>
            </a:r>
          </a:p>
        </p:txBody>
      </p:sp>
      <p:sp>
        <p:nvSpPr>
          <p:cNvPr id="26" name="Line 26"/>
          <p:cNvSpPr/>
          <p:nvPr/>
        </p:nvSpPr>
        <p:spPr>
          <a:xfrm>
            <a:off x="952500" y="219075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66675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22222"/>
            </a:solidFill>
          </a:ln>
        </p:spPr>
      </p:sp>
      <p:sp>
        <p:nvSpPr>
          <p:cNvPr id="27" name="Line 27"/>
          <p:cNvSpPr/>
          <p:nvPr/>
        </p:nvSpPr>
        <p:spPr>
          <a:xfrm>
            <a:off x="952500" y="2190750"/>
            <a:ext cx="9525" cy="3619500"/>
          </a:xfrm>
          <a:custGeom>
            <a:avLst/>
            <a:gdLst/>
            <a:ahLst/>
            <a:cxnLst/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noFill/>
          <a:ln w="19050">
            <a:solidFill>
              <a:srgbClr val="222222"/>
            </a:solidFill>
          </a:ln>
        </p:spPr>
      </p:sp>
      <p:sp>
        <p:nvSpPr>
          <p:cNvPr id="28" name="Line 28"/>
          <p:cNvSpPr/>
          <p:nvPr/>
        </p:nvSpPr>
        <p:spPr>
          <a:xfrm>
            <a:off x="952500" y="581025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9050">
            <a:solidFill>
              <a:srgbClr val="222222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1524000" y="57626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57777" y="3598733"/>
            <a:ext cx="910506" cy="389209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Wish to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minimize</a:t>
            </a:r>
          </a:p>
        </p:txBody>
      </p:sp>
      <p:sp>
        <p:nvSpPr>
          <p:cNvPr id="31" name="Line 31"/>
          <p:cNvSpPr/>
          <p:nvPr/>
        </p:nvSpPr>
        <p:spPr>
          <a:xfrm>
            <a:off x="4938252" y="2174220"/>
            <a:ext cx="1433666" cy="45719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66675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22222"/>
            </a:solidFill>
          </a:ln>
        </p:spPr>
      </p:sp>
      <p:sp>
        <p:nvSpPr>
          <p:cNvPr id="32" name="Line 32"/>
          <p:cNvSpPr/>
          <p:nvPr/>
        </p:nvSpPr>
        <p:spPr>
          <a:xfrm>
            <a:off x="4948084" y="2190750"/>
            <a:ext cx="9525" cy="1524000"/>
          </a:xfrm>
          <a:custGeom>
            <a:avLst/>
            <a:gdLst/>
            <a:ahLst/>
            <a:cxnLst/>
            <a:rect l="l" t="t" r="r" b="b"/>
            <a:pathLst>
              <a:path w="9525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/>
          <a:ln w="19050">
            <a:solidFill>
              <a:srgbClr val="222222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4900459" y="3619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260677" y="2550983"/>
            <a:ext cx="1561509" cy="5815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Wish to abuse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and/or may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damage</a:t>
            </a:r>
          </a:p>
        </p:txBody>
      </p:sp>
      <p:sp>
        <p:nvSpPr>
          <p:cNvPr id="35" name="Line 35"/>
          <p:cNvSpPr/>
          <p:nvPr/>
        </p:nvSpPr>
        <p:spPr>
          <a:xfrm>
            <a:off x="7239000" y="2476500"/>
            <a:ext cx="9525" cy="3048000"/>
          </a:xfrm>
          <a:custGeom>
            <a:avLst/>
            <a:gdLst/>
            <a:ahLst/>
            <a:cxnLst/>
            <a:rect l="l" t="t" r="r" b="b"/>
            <a:pathLst>
              <a:path w="952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noFill/>
          <a:ln w="19050">
            <a:solidFill>
              <a:srgbClr val="222222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7191375" y="5429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375017" y="3677791"/>
            <a:ext cx="1166986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Give rise to</a:t>
            </a:r>
          </a:p>
        </p:txBody>
      </p:sp>
      <p:sp>
        <p:nvSpPr>
          <p:cNvPr id="38" name="Line 38"/>
          <p:cNvSpPr/>
          <p:nvPr/>
        </p:nvSpPr>
        <p:spPr>
          <a:xfrm>
            <a:off x="2476500" y="4286250"/>
            <a:ext cx="9525" cy="1238250"/>
          </a:xfrm>
          <a:custGeom>
            <a:avLst/>
            <a:gdLst/>
            <a:ahLst/>
            <a:cxnLst/>
            <a:rect l="l" t="t" r="r" b="b"/>
            <a:pathLst>
              <a:path w="9525" h="1238250">
                <a:moveTo>
                  <a:pt x="0" y="0"/>
                </a:moveTo>
                <a:lnTo>
                  <a:pt x="0" y="1238250"/>
                </a:lnTo>
              </a:path>
            </a:pathLst>
          </a:custGeom>
          <a:noFill/>
          <a:ln w="19050">
            <a:solidFill>
              <a:srgbClr val="222222"/>
            </a:solidFill>
          </a:ln>
        </p:spPr>
      </p:sp>
      <p:sp>
        <p:nvSpPr>
          <p:cNvPr id="39" name="Polygon 39"/>
          <p:cNvSpPr/>
          <p:nvPr/>
        </p:nvSpPr>
        <p:spPr>
          <a:xfrm>
            <a:off x="2428875" y="5429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2612517" y="4582665"/>
            <a:ext cx="1017586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To reduce</a:t>
            </a:r>
          </a:p>
        </p:txBody>
      </p:sp>
      <p:sp>
        <p:nvSpPr>
          <p:cNvPr id="41" name="Line 41"/>
          <p:cNvSpPr/>
          <p:nvPr/>
        </p:nvSpPr>
        <p:spPr>
          <a:xfrm>
            <a:off x="4953000" y="581025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22222"/>
            </a:solidFill>
          </a:ln>
        </p:spPr>
      </p:sp>
      <p:sp>
        <p:nvSpPr>
          <p:cNvPr id="42" name="Line 42"/>
          <p:cNvSpPr/>
          <p:nvPr/>
        </p:nvSpPr>
        <p:spPr>
          <a:xfrm>
            <a:off x="4953000" y="4286250"/>
            <a:ext cx="9525" cy="1524000"/>
          </a:xfrm>
          <a:custGeom>
            <a:avLst/>
            <a:gdLst/>
            <a:ahLst/>
            <a:cxnLst/>
            <a:rect l="l" t="t" r="r" b="b"/>
            <a:pathLst>
              <a:path w="9525" h="1524000">
                <a:moveTo>
                  <a:pt x="0" y="15240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22222"/>
            </a:solidFill>
          </a:ln>
        </p:spPr>
      </p:sp>
      <p:sp>
        <p:nvSpPr>
          <p:cNvPr id="43" name="Polygon 43"/>
          <p:cNvSpPr/>
          <p:nvPr/>
        </p:nvSpPr>
        <p:spPr>
          <a:xfrm>
            <a:off x="4905375" y="4286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041392" y="4725541"/>
            <a:ext cx="248145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45" name="Line 45"/>
          <p:cNvSpPr/>
          <p:nvPr/>
        </p:nvSpPr>
        <p:spPr>
          <a:xfrm>
            <a:off x="7239000" y="6096000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19050">
            <a:solidFill>
              <a:srgbClr val="222222"/>
            </a:solidFill>
          </a:ln>
        </p:spPr>
      </p:sp>
      <p:sp>
        <p:nvSpPr>
          <p:cNvPr id="46" name="Line 46"/>
          <p:cNvSpPr/>
          <p:nvPr/>
        </p:nvSpPr>
        <p:spPr>
          <a:xfrm>
            <a:off x="2476500" y="6429375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47625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22222"/>
            </a:solidFill>
          </a:ln>
        </p:spPr>
      </p:sp>
      <p:sp>
        <p:nvSpPr>
          <p:cNvPr id="47" name="Line 47"/>
          <p:cNvSpPr/>
          <p:nvPr/>
        </p:nvSpPr>
        <p:spPr>
          <a:xfrm>
            <a:off x="2476500" y="6096000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33337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22222"/>
            </a:solidFill>
          </a:ln>
        </p:spPr>
      </p:sp>
      <p:sp>
        <p:nvSpPr>
          <p:cNvPr id="48" name="Polygon 48"/>
          <p:cNvSpPr/>
          <p:nvPr/>
        </p:nvSpPr>
        <p:spPr>
          <a:xfrm>
            <a:off x="2428875" y="609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158840" y="6011415"/>
            <a:ext cx="1397820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That increase</a:t>
            </a:r>
          </a:p>
        </p:txBody>
      </p:sp>
      <p:sp>
        <p:nvSpPr>
          <p:cNvPr id="50" name="Line 50"/>
          <p:cNvSpPr/>
          <p:nvPr/>
        </p:nvSpPr>
        <p:spPr>
          <a:xfrm>
            <a:off x="3333750" y="5810250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22222"/>
            </a:solidFill>
          </a:ln>
        </p:spPr>
      </p:sp>
      <p:sp>
        <p:nvSpPr>
          <p:cNvPr id="51" name="Line 51"/>
          <p:cNvSpPr/>
          <p:nvPr/>
        </p:nvSpPr>
        <p:spPr>
          <a:xfrm>
            <a:off x="4572000" y="4286250"/>
            <a:ext cx="9525" cy="1524000"/>
          </a:xfrm>
          <a:custGeom>
            <a:avLst/>
            <a:gdLst/>
            <a:ahLst/>
            <a:cxnLst/>
            <a:rect l="l" t="t" r="r" b="b"/>
            <a:pathLst>
              <a:path w="9525" h="1524000">
                <a:moveTo>
                  <a:pt x="0" y="15240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22222"/>
            </a:solidFill>
          </a:ln>
        </p:spPr>
      </p:sp>
      <p:sp>
        <p:nvSpPr>
          <p:cNvPr id="52" name="Polygon 52"/>
          <p:cNvSpPr/>
          <p:nvPr/>
        </p:nvSpPr>
        <p:spPr>
          <a:xfrm>
            <a:off x="4524375" y="4286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3898392" y="5392291"/>
            <a:ext cx="248145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7" name="Rectangle 7"/>
          <p:cNvSpPr/>
          <p:nvPr/>
        </p:nvSpPr>
        <p:spPr>
          <a:xfrm>
            <a:off x="1619250" y="1905000"/>
            <a:ext cx="171450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DD7CE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2032574" y="2079308"/>
            <a:ext cx="88785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Owners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6414013" cy="803910"/>
            <a:chOff x="462534" y="260985"/>
            <a:chExt cx="6414013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64140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Attack Surfaces and Attack Trees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16437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Attack Surfaces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81125"/>
            <a:ext cx="8849487" cy="5381625"/>
            <a:chOff x="476250" y="1381125"/>
            <a:chExt cx="8849487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8801100" cy="1809750"/>
            </a:xfrm>
            <a:prstGeom prst="roundRect">
              <a:avLst>
                <a:gd name="adj" fmla="val 8421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476250" y="1381125"/>
              <a:ext cx="95250" cy="1809750"/>
            </a:xfrm>
            <a:prstGeom prst="roundRect">
              <a:avLst>
                <a:gd name="adj" fmla="val 40000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0481" y="1615440"/>
              <a:ext cx="20702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Attack Surfaces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1243" y="2060258"/>
              <a:ext cx="852449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consists of the </a:t>
              </a: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reachable and exploitable</a:t>
              </a: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 vulnerabilities in a system.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categorized into </a:t>
              </a:r>
              <a:r>
                <a:rPr lang="en-US" sz="1650" b="1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network</a:t>
              </a: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, </a:t>
              </a:r>
              <a:r>
                <a:rPr lang="en-US" sz="1650" b="1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software</a:t>
              </a: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, and </a:t>
              </a:r>
              <a:r>
                <a:rPr lang="en-US" sz="1650" b="1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human</a:t>
              </a: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 attack surfaces.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Analyzing attack surfaces helps evaluate threat scale &amp; places defense controls.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76250" y="3429000"/>
              <a:ext cx="4238625" cy="3333750"/>
            </a:xfrm>
            <a:prstGeom prst="roundRect">
              <a:avLst>
                <a:gd name="adj" fmla="val 4571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rcRect l="13842" r="13841"/>
            <a:stretch>
              <a:fillRect/>
            </a:stretch>
          </p:blipFill>
          <p:spPr>
            <a:xfrm>
              <a:off x="571500" y="3524250"/>
              <a:ext cx="4048125" cy="3143250"/>
            </a:xfrm>
            <a:prstGeom prst="rect">
              <a:avLst/>
            </a:prstGeom>
          </p:spPr>
        </p:pic>
        <p:sp>
          <p:nvSpPr>
            <p:cNvPr id="12" name="Rectangle 12"/>
            <p:cNvSpPr/>
            <p:nvPr/>
          </p:nvSpPr>
          <p:spPr>
            <a:xfrm>
              <a:off x="5038725" y="3429000"/>
              <a:ext cx="4238625" cy="3333750"/>
            </a:xfrm>
            <a:prstGeom prst="roundRect">
              <a:avLst>
                <a:gd name="adj" fmla="val 4571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rcRect l="13834" r="13833"/>
            <a:stretch>
              <a:fillRect/>
            </a:stretch>
          </p:blipFill>
          <p:spPr>
            <a:xfrm>
              <a:off x="5133975" y="3524250"/>
              <a:ext cx="4048125" cy="314325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6414013" cy="803910"/>
            <a:chOff x="462534" y="260985"/>
            <a:chExt cx="6414013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64140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70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Attack Surfaces and Attack Trees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5026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Types of Attack Surface: Definitions and Examples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3543300" y="1381125"/>
            <a:ext cx="2667000" cy="533400"/>
          </a:xfrm>
          <a:prstGeom prst="roundRect">
            <a:avLst>
              <a:gd name="adj" fmla="val 21429"/>
            </a:avLst>
          </a:prstGeom>
          <a:solidFill>
            <a:srgbClr val="4A0005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476777" y="1545908"/>
            <a:ext cx="280004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Types of attack surface</a:t>
            </a:r>
          </a:p>
        </p:txBody>
      </p:sp>
      <p:sp>
        <p:nvSpPr>
          <p:cNvPr id="8" name="Line 8"/>
          <p:cNvSpPr/>
          <p:nvPr/>
        </p:nvSpPr>
        <p:spPr>
          <a:xfrm>
            <a:off x="4876800" y="1914525"/>
            <a:ext cx="9525" cy="323850"/>
          </a:xfrm>
          <a:custGeom>
            <a:avLst/>
            <a:gdLst/>
            <a:ahLst/>
            <a:cxnLst/>
            <a:rect l="l" t="t" r="r" b="b"/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w="23812">
            <a:solidFill>
              <a:srgbClr val="4A0005"/>
            </a:solidFill>
          </a:ln>
        </p:spPr>
      </p:sp>
      <p:sp>
        <p:nvSpPr>
          <p:cNvPr id="9" name="Line 9"/>
          <p:cNvSpPr/>
          <p:nvPr/>
        </p:nvSpPr>
        <p:spPr>
          <a:xfrm>
            <a:off x="1847850" y="2238375"/>
            <a:ext cx="6057900" cy="9525"/>
          </a:xfrm>
          <a:custGeom>
            <a:avLst/>
            <a:gdLst/>
            <a:ahLst/>
            <a:cxnLst/>
            <a:rect l="l" t="t" r="r" b="b"/>
            <a:pathLst>
              <a:path w="6057900" h="9525">
                <a:moveTo>
                  <a:pt x="0" y="0"/>
                </a:moveTo>
                <a:lnTo>
                  <a:pt x="6057900" y="0"/>
                </a:lnTo>
              </a:path>
            </a:pathLst>
          </a:custGeom>
          <a:noFill/>
          <a:ln w="23812">
            <a:solidFill>
              <a:srgbClr val="4A0005"/>
            </a:solidFill>
          </a:ln>
        </p:spPr>
      </p:sp>
      <p:sp>
        <p:nvSpPr>
          <p:cNvPr id="10" name="Line 10"/>
          <p:cNvSpPr/>
          <p:nvPr/>
        </p:nvSpPr>
        <p:spPr>
          <a:xfrm>
            <a:off x="1847850" y="2238375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3812">
            <a:solidFill>
              <a:srgbClr val="4A0005"/>
            </a:solidFill>
          </a:ln>
        </p:spPr>
      </p:sp>
      <p:sp>
        <p:nvSpPr>
          <p:cNvPr id="11" name="Polygon 11"/>
          <p:cNvSpPr/>
          <p:nvPr/>
        </p:nvSpPr>
        <p:spPr>
          <a:xfrm>
            <a:off x="1800225" y="2428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4A0005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4876800" y="2238375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3812">
            <a:solidFill>
              <a:srgbClr val="4A0005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4829175" y="2428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4A0005"/>
          </a:solidFill>
          <a:ln>
            <a:noFill/>
          </a:ln>
        </p:spPr>
      </p:sp>
      <p:sp>
        <p:nvSpPr>
          <p:cNvPr id="14" name="Line 14"/>
          <p:cNvSpPr/>
          <p:nvPr/>
        </p:nvSpPr>
        <p:spPr>
          <a:xfrm>
            <a:off x="7905750" y="2238375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3812">
            <a:solidFill>
              <a:srgbClr val="4A0005"/>
            </a:solidFill>
          </a:ln>
        </p:spPr>
      </p:sp>
      <p:sp>
        <p:nvSpPr>
          <p:cNvPr id="15" name="Polygon 15"/>
          <p:cNvSpPr/>
          <p:nvPr/>
        </p:nvSpPr>
        <p:spPr>
          <a:xfrm>
            <a:off x="7858125" y="2428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4A0005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476250" y="2571750"/>
            <a:ext cx="2743200" cy="4191000"/>
          </a:xfrm>
          <a:prstGeom prst="roundRect">
            <a:avLst>
              <a:gd name="adj" fmla="val 6250"/>
            </a:avLst>
          </a:prstGeom>
          <a:solidFill>
            <a:srgbClr val="F8F4EE"/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17" name="TextBox 17"/>
          <p:cNvSpPr txBox="1"/>
          <p:nvPr/>
        </p:nvSpPr>
        <p:spPr>
          <a:xfrm>
            <a:off x="459522" y="2774632"/>
            <a:ext cx="277665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Network attack surface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6193" y="3297492"/>
            <a:ext cx="1095375" cy="285750"/>
          </a:xfrm>
          <a:prstGeom prst="roundRect">
            <a:avLst>
              <a:gd name="adj" fmla="val 20000"/>
            </a:avLst>
          </a:prstGeom>
          <a:solidFill>
            <a:srgbClr val="4A0005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59788" y="3325178"/>
            <a:ext cx="947375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7230" y="3648075"/>
            <a:ext cx="2196114" cy="517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vulnerabilities reachable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over a network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6193" y="4535742"/>
            <a:ext cx="1095375" cy="285750"/>
          </a:xfrm>
          <a:prstGeom prst="roundRect">
            <a:avLst>
              <a:gd name="adj" fmla="val 20000"/>
            </a:avLst>
          </a:prstGeom>
          <a:solidFill>
            <a:srgbClr val="4A0005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11884" y="4563428"/>
            <a:ext cx="843181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7230" y="4886325"/>
            <a:ext cx="1859483" cy="7872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open ports, exposed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services, network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protocols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505200" y="2571750"/>
            <a:ext cx="2743200" cy="4191000"/>
          </a:xfrm>
          <a:prstGeom prst="roundRect">
            <a:avLst>
              <a:gd name="adj" fmla="val 6250"/>
            </a:avLst>
          </a:prstGeom>
          <a:solidFill>
            <a:srgbClr val="F8F4EE"/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25" name="TextBox 25"/>
          <p:cNvSpPr txBox="1"/>
          <p:nvPr/>
        </p:nvSpPr>
        <p:spPr>
          <a:xfrm>
            <a:off x="3424346" y="2774632"/>
            <a:ext cx="290490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Software attack surface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655143" y="3297492"/>
            <a:ext cx="1095375" cy="285750"/>
          </a:xfrm>
          <a:prstGeom prst="roundRect">
            <a:avLst>
              <a:gd name="adj" fmla="val 20000"/>
            </a:avLst>
          </a:prstGeom>
          <a:solidFill>
            <a:srgbClr val="4A000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688738" y="3325178"/>
            <a:ext cx="947375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726180" y="3648075"/>
            <a:ext cx="1798569" cy="517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vulnerabilities in the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application code</a:t>
            </a:r>
          </a:p>
        </p:txBody>
      </p:sp>
      <p:sp>
        <p:nvSpPr>
          <p:cNvPr id="29" name="Rectangle 29"/>
          <p:cNvSpPr/>
          <p:nvPr/>
        </p:nvSpPr>
        <p:spPr>
          <a:xfrm>
            <a:off x="3655143" y="4535742"/>
            <a:ext cx="1095375" cy="285750"/>
          </a:xfrm>
          <a:prstGeom prst="roundRect">
            <a:avLst>
              <a:gd name="adj" fmla="val 20000"/>
            </a:avLst>
          </a:prstGeom>
          <a:solidFill>
            <a:srgbClr val="4A000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3740834" y="4563428"/>
            <a:ext cx="843181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726180" y="4886325"/>
            <a:ext cx="2425065" cy="10934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web application, the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libraries it imports, the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operating system beneath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it.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534150" y="2571750"/>
            <a:ext cx="2743200" cy="4191000"/>
          </a:xfrm>
          <a:prstGeom prst="roundRect">
            <a:avLst>
              <a:gd name="adj" fmla="val 6250"/>
            </a:avLst>
          </a:prstGeom>
          <a:solidFill>
            <a:srgbClr val="F8F4EE"/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33" name="TextBox 33"/>
          <p:cNvSpPr txBox="1"/>
          <p:nvPr/>
        </p:nvSpPr>
        <p:spPr>
          <a:xfrm>
            <a:off x="6645668" y="2774632"/>
            <a:ext cx="252016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Human attack surface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684093" y="3297492"/>
            <a:ext cx="1095375" cy="285750"/>
          </a:xfrm>
          <a:prstGeom prst="roundRect">
            <a:avLst>
              <a:gd name="adj" fmla="val 20000"/>
            </a:avLst>
          </a:prstGeom>
          <a:solidFill>
            <a:srgbClr val="4A0005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717688" y="3325178"/>
            <a:ext cx="947375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55130" y="3648075"/>
            <a:ext cx="2253822" cy="517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vulnerabilities introduced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by people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684093" y="4535742"/>
            <a:ext cx="1095375" cy="285750"/>
          </a:xfrm>
          <a:prstGeom prst="roundRect">
            <a:avLst>
              <a:gd name="adj" fmla="val 20000"/>
            </a:avLst>
          </a:prstGeom>
          <a:solidFill>
            <a:srgbClr val="4A000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769784" y="4563428"/>
            <a:ext cx="843181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55130" y="4886325"/>
            <a:ext cx="2279470" cy="10565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 employee who can be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tricked, a contractor with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unnecessary access, a</a:t>
            </a:r>
            <a:b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user reusing passwords.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6414013" cy="803910"/>
            <a:chOff x="462534" y="260985"/>
            <a:chExt cx="6414013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64140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70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Attack Surfaces and Attack Trees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42188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Attack Trees: Systematic Threat Modeling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476250" y="1381125"/>
            <a:ext cx="8801100" cy="1905000"/>
          </a:xfrm>
          <a:prstGeom prst="roundRect">
            <a:avLst>
              <a:gd name="adj" fmla="val 8000"/>
            </a:avLst>
          </a:prstGeom>
          <a:solidFill>
            <a:srgbClr val="F8F4EE"/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7" name="Rectangle 7"/>
          <p:cNvSpPr/>
          <p:nvPr/>
        </p:nvSpPr>
        <p:spPr>
          <a:xfrm>
            <a:off x="476250" y="1381125"/>
            <a:ext cx="95250" cy="1905000"/>
          </a:xfrm>
          <a:prstGeom prst="roundRect">
            <a:avLst>
              <a:gd name="adj" fmla="val 40000"/>
            </a:avLst>
          </a:prstGeom>
          <a:solidFill>
            <a:srgbClr val="4A000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00481" y="1586865"/>
            <a:ext cx="165055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Attack Trees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2005" y="1962150"/>
            <a:ext cx="7764946" cy="10565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61925" marR="0" lvl="0" indent="-161925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Bruce Schneier introduced the attack tree concept in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1999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to identify attack vectors.</a:t>
            </a:r>
          </a:p>
          <a:p>
            <a:pPr marL="161925" marR="0" lvl="0" indent="-161925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are tools to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evaluate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system security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based on various threats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.</a:t>
            </a:r>
          </a:p>
          <a:p>
            <a:pPr marL="161925" marR="0" lvl="0" indent="-161925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provide a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formal, methodical way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of describing system security postures.</a:t>
            </a:r>
          </a:p>
          <a:p>
            <a:pPr marL="161925" marR="0" lvl="0" indent="-161925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Tx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Represent attacks against a system in an intuitive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tree structure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76250" y="3309366"/>
            <a:ext cx="8801100" cy="3383219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038" y="3458626"/>
            <a:ext cx="4738637" cy="3084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6414013" cy="803910"/>
            <a:chOff x="462534" y="260985"/>
            <a:chExt cx="6414013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64140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Attack Surfaces and Attack Trees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56602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Structure of Attack Trees: Root, Sub-Goals, and Leaves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476250" y="1381125"/>
            <a:ext cx="8801100" cy="1666875"/>
          </a:xfrm>
          <a:prstGeom prst="roundRect">
            <a:avLst>
              <a:gd name="adj" fmla="val 9143"/>
            </a:avLst>
          </a:prstGeom>
          <a:solidFill>
            <a:srgbClr val="F8F4EE"/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7" name="Rectangle 7"/>
          <p:cNvSpPr/>
          <p:nvPr/>
        </p:nvSpPr>
        <p:spPr>
          <a:xfrm>
            <a:off x="476250" y="1381125"/>
            <a:ext cx="95250" cy="1666875"/>
          </a:xfrm>
          <a:prstGeom prst="roundRect">
            <a:avLst>
              <a:gd name="adj" fmla="val 40000"/>
            </a:avLst>
          </a:prstGeom>
          <a:solidFill>
            <a:srgbClr val="4A000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00481" y="1548765"/>
            <a:ext cx="33514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4A0005"/>
                </a:solidFill>
                <a:latin typeface="Arial"/>
                <a:ea typeface="Arial"/>
                <a:cs typeface="Arial"/>
              </a:rPr>
              <a:t>Structure of Attack Trees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2386" y="1913096"/>
            <a:ext cx="8235277" cy="9930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53289" indent="-153289" algn="l">
              <a:lnSpc>
                <a:spcPts val="1875"/>
              </a:lnSpc>
              <a:buClr>
                <a:srgbClr val="222222"/>
              </a:buClr>
              <a:buSzTx/>
              <a:buFontTx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An attack tree lays out </a:t>
            </a:r>
            <a:r>
              <a:rPr lang="en-US" sz="1600" b="1" dirty="0">
                <a:solidFill>
                  <a:srgbClr val="4A0005"/>
                </a:solidFill>
                <a:latin typeface="Arial"/>
                <a:ea typeface="Arial"/>
                <a:cs typeface="Arial"/>
              </a:rPr>
              <a:t>how a goal can be reached</a:t>
            </a:r>
            <a:r>
              <a:rPr lang="en-US" sz="16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153289" indent="-153289" algn="l">
              <a:lnSpc>
                <a:spcPts val="1875"/>
              </a:lnSpc>
              <a:buClr>
                <a:srgbClr val="222222"/>
              </a:buClr>
              <a:buSzTx/>
              <a:buFontTx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1600" b="1" dirty="0">
                <a:solidFill>
                  <a:srgbClr val="4A0005"/>
                </a:solidFill>
                <a:latin typeface="Arial"/>
                <a:ea typeface="Arial"/>
                <a:cs typeface="Arial"/>
              </a:rPr>
              <a:t>root node</a:t>
            </a:r>
            <a:r>
              <a:rPr lang="en-US" sz="16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represents the ultimate goal of the attacker.</a:t>
            </a:r>
          </a:p>
          <a:p>
            <a:pPr marL="153289" indent="-153289" algn="l">
              <a:lnSpc>
                <a:spcPts val="1875"/>
              </a:lnSpc>
              <a:buClr>
                <a:srgbClr val="222222"/>
              </a:buClr>
              <a:buSzTx/>
              <a:buFontTx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Each level breaks the goal into finer </a:t>
            </a:r>
            <a:r>
              <a:rPr lang="en-US" sz="1600" b="1" dirty="0">
                <a:solidFill>
                  <a:srgbClr val="4A0005"/>
                </a:solidFill>
                <a:latin typeface="Arial"/>
                <a:ea typeface="Arial"/>
                <a:cs typeface="Arial"/>
              </a:rPr>
              <a:t>sub-goals</a:t>
            </a:r>
            <a:r>
              <a:rPr lang="en-US" sz="16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, representing different ways to achieve it.</a:t>
            </a:r>
          </a:p>
          <a:p>
            <a:pPr marL="153289" indent="-153289" algn="l">
              <a:lnSpc>
                <a:spcPts val="1875"/>
              </a:lnSpc>
              <a:buClr>
                <a:srgbClr val="222222"/>
              </a:buClr>
              <a:buSzTx/>
              <a:buFontTx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1600" b="1" dirty="0">
                <a:solidFill>
                  <a:srgbClr val="4A0005"/>
                </a:solidFill>
                <a:latin typeface="Arial"/>
                <a:ea typeface="Arial"/>
                <a:cs typeface="Arial"/>
              </a:rPr>
              <a:t>leaf nodes</a:t>
            </a:r>
            <a:r>
              <a:rPr lang="en-US" sz="16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are the concrete, actionable attacks at the bottom of the tree.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476750" y="3286125"/>
            <a:ext cx="4800600" cy="904875"/>
          </a:xfrm>
          <a:prstGeom prst="roundRect">
            <a:avLst>
              <a:gd name="adj" fmla="val 12632"/>
            </a:avLst>
          </a:prstGeom>
          <a:solidFill>
            <a:srgbClr val="EFECE6"/>
          </a:solidFill>
          <a:ln w="14288"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952860" y="3615690"/>
            <a:ext cx="1947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4A0005"/>
                </a:solidFill>
                <a:latin typeface="Arial"/>
                <a:ea typeface="Arial"/>
                <a:cs typeface="Arial"/>
              </a:rPr>
              <a:t>The overall goal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714500" y="3476625"/>
            <a:ext cx="19050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3812">
            <a:solidFill>
              <a:srgbClr val="2E5A44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830623" y="3648075"/>
            <a:ext cx="16727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2E5A44"/>
                </a:solidFill>
                <a:latin typeface="Arial"/>
                <a:ea typeface="Arial"/>
                <a:cs typeface="Arial"/>
              </a:rPr>
              <a:t>Attacker's Goal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476750" y="4429125"/>
            <a:ext cx="4800600" cy="904875"/>
          </a:xfrm>
          <a:prstGeom prst="roundRect">
            <a:avLst>
              <a:gd name="adj" fmla="val 12632"/>
            </a:avLst>
          </a:prstGeom>
          <a:solidFill>
            <a:srgbClr val="EFECE6"/>
          </a:solidFill>
          <a:ln w="14288"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953622" y="4774882"/>
            <a:ext cx="487600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4A0005"/>
                </a:solidFill>
                <a:latin typeface="Arial"/>
                <a:ea typeface="Arial"/>
                <a:cs typeface="Arial"/>
              </a:rPr>
              <a:t>A sub-goal or method that refines the goal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62000" y="4619625"/>
            <a:ext cx="15240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3812">
            <a:solidFill>
              <a:srgbClr val="2B4C6F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75062" y="4791075"/>
            <a:ext cx="10978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2B4C6F"/>
                </a:solidFill>
                <a:latin typeface="Arial"/>
                <a:ea typeface="Arial"/>
                <a:cs typeface="Arial"/>
              </a:rPr>
              <a:t>Sub-Goal A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667000" y="4619625"/>
            <a:ext cx="15240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3812">
            <a:solidFill>
              <a:srgbClr val="2B4C6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880062" y="4791075"/>
            <a:ext cx="10978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2B4C6F"/>
                </a:solidFill>
                <a:latin typeface="Arial"/>
                <a:ea typeface="Arial"/>
                <a:cs typeface="Arial"/>
              </a:rPr>
              <a:t>Sub-Goal B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476750" y="5572125"/>
            <a:ext cx="4800600" cy="904875"/>
          </a:xfrm>
          <a:prstGeom prst="roundRect">
            <a:avLst>
              <a:gd name="adj" fmla="val 12632"/>
            </a:avLst>
          </a:prstGeom>
          <a:solidFill>
            <a:srgbClr val="EFECE6"/>
          </a:solidFill>
          <a:ln w="14288"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953622" y="5822632"/>
            <a:ext cx="2811113" cy="5894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650" b="1" dirty="0">
                <a:solidFill>
                  <a:srgbClr val="4A0005"/>
                </a:solidFill>
                <a:latin typeface="Arial"/>
                <a:ea typeface="Arial"/>
                <a:cs typeface="Arial"/>
              </a:rPr>
              <a:t>A specific attack that</a:t>
            </a:r>
            <a:br/>
            <a:r>
              <a:rPr lang="en-US" sz="1650" b="1" dirty="0">
                <a:solidFill>
                  <a:srgbClr val="4A0005"/>
                </a:solidFill>
                <a:latin typeface="Arial"/>
                <a:ea typeface="Arial"/>
                <a:cs typeface="Arial"/>
              </a:rPr>
              <a:t>can be directly attempted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905000" y="5762625"/>
            <a:ext cx="13335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3812">
            <a:solidFill>
              <a:srgbClr val="4A0005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975838" y="5942171"/>
            <a:ext cx="119182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4A0005"/>
                </a:solidFill>
                <a:latin typeface="Arial"/>
                <a:ea typeface="Arial"/>
                <a:cs typeface="Arial"/>
              </a:rPr>
              <a:t>Leaf Attack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429000" y="5762625"/>
            <a:ext cx="13335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3812">
            <a:solidFill>
              <a:srgbClr val="4A000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3499838" y="5942171"/>
            <a:ext cx="119182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4A0005"/>
                </a:solidFill>
                <a:latin typeface="Arial"/>
                <a:ea typeface="Arial"/>
                <a:cs typeface="Arial"/>
              </a:rPr>
              <a:t>Leaf Attack</a:t>
            </a:r>
          </a:p>
        </p:txBody>
      </p:sp>
      <p:sp>
        <p:nvSpPr>
          <p:cNvPr id="26" name="Line 26"/>
          <p:cNvSpPr/>
          <p:nvPr/>
        </p:nvSpPr>
        <p:spPr>
          <a:xfrm>
            <a:off x="1524000" y="4000500"/>
            <a:ext cx="1143000" cy="619125"/>
          </a:xfrm>
          <a:custGeom>
            <a:avLst/>
            <a:gdLst/>
            <a:ahLst/>
            <a:cxnLst/>
            <a:rect l="l" t="t" r="r" b="b"/>
            <a:pathLst>
              <a:path w="1143000" h="619125">
                <a:moveTo>
                  <a:pt x="1143000" y="0"/>
                </a:moveTo>
                <a:lnTo>
                  <a:pt x="0" y="619125"/>
                </a:lnTo>
              </a:path>
            </a:pathLst>
          </a:custGeom>
          <a:noFill/>
          <a:ln w="23812">
            <a:solidFill>
              <a:srgbClr val="222222"/>
            </a:solidFill>
          </a:ln>
        </p:spPr>
      </p:sp>
      <p:sp>
        <p:nvSpPr>
          <p:cNvPr id="27" name="Line 27"/>
          <p:cNvSpPr/>
          <p:nvPr/>
        </p:nvSpPr>
        <p:spPr>
          <a:xfrm>
            <a:off x="2667000" y="4000500"/>
            <a:ext cx="762000" cy="619125"/>
          </a:xfrm>
          <a:custGeom>
            <a:avLst/>
            <a:gdLst/>
            <a:ahLst/>
            <a:cxnLst/>
            <a:rect l="l" t="t" r="r" b="b"/>
            <a:pathLst>
              <a:path w="762000" h="619125">
                <a:moveTo>
                  <a:pt x="0" y="0"/>
                </a:moveTo>
                <a:lnTo>
                  <a:pt x="762000" y="619125"/>
                </a:lnTo>
              </a:path>
            </a:pathLst>
          </a:custGeom>
          <a:noFill/>
          <a:ln w="23812">
            <a:solidFill>
              <a:srgbClr val="222222"/>
            </a:solidFill>
          </a:ln>
        </p:spPr>
      </p:sp>
      <p:sp>
        <p:nvSpPr>
          <p:cNvPr id="28" name="Line 28"/>
          <p:cNvSpPr/>
          <p:nvPr/>
        </p:nvSpPr>
        <p:spPr>
          <a:xfrm>
            <a:off x="2571750" y="5143500"/>
            <a:ext cx="857250" cy="619125"/>
          </a:xfrm>
          <a:custGeom>
            <a:avLst/>
            <a:gdLst/>
            <a:ahLst/>
            <a:cxnLst/>
            <a:rect l="l" t="t" r="r" b="b"/>
            <a:pathLst>
              <a:path w="857250" h="619125">
                <a:moveTo>
                  <a:pt x="857250" y="0"/>
                </a:moveTo>
                <a:lnTo>
                  <a:pt x="0" y="619125"/>
                </a:lnTo>
              </a:path>
            </a:pathLst>
          </a:custGeom>
          <a:noFill/>
          <a:ln w="23812">
            <a:solidFill>
              <a:srgbClr val="222222"/>
            </a:solidFill>
          </a:ln>
        </p:spPr>
      </p:sp>
      <p:sp>
        <p:nvSpPr>
          <p:cNvPr id="29" name="Line 29"/>
          <p:cNvSpPr/>
          <p:nvPr/>
        </p:nvSpPr>
        <p:spPr>
          <a:xfrm>
            <a:off x="3429000" y="5143500"/>
            <a:ext cx="666750" cy="619125"/>
          </a:xfrm>
          <a:custGeom>
            <a:avLst/>
            <a:gdLst/>
            <a:ahLst/>
            <a:cxnLst/>
            <a:rect l="l" t="t" r="r" b="b"/>
            <a:pathLst>
              <a:path w="666750" h="619125">
                <a:moveTo>
                  <a:pt x="0" y="0"/>
                </a:moveTo>
                <a:lnTo>
                  <a:pt x="666750" y="619125"/>
                </a:lnTo>
              </a:path>
            </a:pathLst>
          </a:custGeom>
          <a:noFill/>
          <a:ln w="23812">
            <a:solidFill>
              <a:srgbClr val="222222"/>
            </a:solidFill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6414013" cy="803910"/>
            <a:chOff x="462534" y="260985"/>
            <a:chExt cx="6414013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64140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Attack Surfaces and Attack Trees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50668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Relations: AND-Decomposition vs OR-Decomposition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476250" y="1381125"/>
            <a:ext cx="4238625" cy="5381625"/>
          </a:xfrm>
          <a:prstGeom prst="roundRect">
            <a:avLst>
              <a:gd name="adj" fmla="val 4494"/>
            </a:avLst>
          </a:prstGeom>
          <a:solidFill>
            <a:srgbClr val="F8F4EE"/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7" name="Rectangle 7"/>
          <p:cNvSpPr/>
          <p:nvPr/>
        </p:nvSpPr>
        <p:spPr>
          <a:xfrm>
            <a:off x="476250" y="1381125"/>
            <a:ext cx="4238625" cy="666750"/>
          </a:xfrm>
          <a:prstGeom prst="roundRect">
            <a:avLst>
              <a:gd name="adj" fmla="val 28571"/>
            </a:avLst>
          </a:prstGeom>
          <a:solidFill>
            <a:srgbClr val="4A0005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476250" y="1809750"/>
            <a:ext cx="4238625" cy="238125"/>
          </a:xfrm>
          <a:prstGeom prst="rect">
            <a:avLst/>
          </a:prstGeom>
          <a:solidFill>
            <a:srgbClr val="4A0005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731838" y="1579563"/>
            <a:ext cx="256381" cy="269875"/>
            <a:chOff x="731838" y="1579563"/>
            <a:chExt cx="256381" cy="269875"/>
          </a:xfrm>
        </p:grpSpPr>
        <p:sp>
          <p:nvSpPr>
            <p:cNvPr id="9" name="Freeform 9"/>
            <p:cNvSpPr/>
            <p:nvPr/>
          </p:nvSpPr>
          <p:spPr>
            <a:xfrm>
              <a:off x="731838" y="1795463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53975" y="26988"/>
                  </a:move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</a:path>
              </a:pathLst>
            </a:custGeom>
            <a:noFill/>
            <a:ln w="26988">
              <a:solidFill>
                <a:srgbClr val="F4B4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66775" y="1579563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53975" y="26988"/>
                  </a:move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</a:path>
              </a:pathLst>
            </a:custGeom>
            <a:noFill/>
            <a:ln w="26988">
              <a:solidFill>
                <a:srgbClr val="F4B400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866775" y="1795463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53975" y="26988"/>
                  </a:move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</a:path>
              </a:pathLst>
            </a:custGeom>
            <a:noFill/>
            <a:ln w="26988">
              <a:solidFill>
                <a:srgbClr val="F4B400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99306" y="1687513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53975" y="26988"/>
                  </a:move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</a:path>
              </a:pathLst>
            </a:custGeom>
            <a:noFill/>
            <a:ln w="26988">
              <a:solidFill>
                <a:srgbClr val="F4B400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934244" y="1687513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53975" y="26988"/>
                  </a:move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</a:path>
              </a:pathLst>
            </a:custGeom>
            <a:noFill/>
            <a:ln w="26988">
              <a:solidFill>
                <a:srgbClr val="F4B400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73102" y="1737440"/>
              <a:ext cx="38862" cy="62152"/>
            </a:xfrm>
            <a:custGeom>
              <a:avLst/>
              <a:gdLst/>
              <a:ahLst/>
              <a:cxnLst/>
              <a:rect l="l" t="t" r="r" b="b"/>
              <a:pathLst>
                <a:path w="38862" h="62152">
                  <a:moveTo>
                    <a:pt x="0" y="62152"/>
                  </a:moveTo>
                  <a:lnTo>
                    <a:pt x="38862" y="0"/>
                  </a:lnTo>
                </a:path>
              </a:pathLst>
            </a:custGeom>
            <a:noFill/>
            <a:ln w="26988">
              <a:solidFill>
                <a:srgbClr val="F4B40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840611" y="1629476"/>
              <a:ext cx="38822" cy="62125"/>
            </a:xfrm>
            <a:custGeom>
              <a:avLst/>
              <a:gdLst/>
              <a:ahLst/>
              <a:cxnLst/>
              <a:rect l="l" t="t" r="r" b="b"/>
              <a:pathLst>
                <a:path w="38822" h="62125">
                  <a:moveTo>
                    <a:pt x="0" y="62125"/>
                  </a:moveTo>
                  <a:lnTo>
                    <a:pt x="38822" y="0"/>
                  </a:lnTo>
                </a:path>
              </a:pathLst>
            </a:custGeom>
            <a:noFill/>
            <a:ln w="26988">
              <a:solidFill>
                <a:srgbClr val="F4B40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40665" y="1737507"/>
              <a:ext cx="38808" cy="62071"/>
            </a:xfrm>
            <a:custGeom>
              <a:avLst/>
              <a:gdLst/>
              <a:ahLst/>
              <a:cxnLst/>
              <a:rect l="l" t="t" r="r" b="b"/>
              <a:pathLst>
                <a:path w="38808" h="62071">
                  <a:moveTo>
                    <a:pt x="0" y="0"/>
                  </a:moveTo>
                  <a:lnTo>
                    <a:pt x="38808" y="62071"/>
                  </a:lnTo>
                </a:path>
              </a:pathLst>
            </a:custGeom>
            <a:noFill/>
            <a:ln w="26988">
              <a:solidFill>
                <a:srgbClr val="F4B400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908107" y="1629490"/>
              <a:ext cx="38876" cy="62206"/>
            </a:xfrm>
            <a:custGeom>
              <a:avLst/>
              <a:gdLst/>
              <a:ahLst/>
              <a:cxnLst/>
              <a:rect l="l" t="t" r="r" b="b"/>
              <a:pathLst>
                <a:path w="38876" h="62206">
                  <a:moveTo>
                    <a:pt x="0" y="0"/>
                  </a:moveTo>
                  <a:lnTo>
                    <a:pt x="38876" y="62206"/>
                  </a:lnTo>
                </a:path>
              </a:pathLst>
            </a:custGeom>
            <a:noFill/>
            <a:ln w="26988">
              <a:solidFill>
                <a:srgbClr val="F4B400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114806" y="1605915"/>
            <a:ext cx="27147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 AND-Decomposition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7230" y="2266950"/>
            <a:ext cx="3975259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70021" indent="-170021" algn="l">
              <a:lnSpc>
                <a:spcPts val="2100"/>
              </a:lnSpc>
              <a:buClr>
                <a:srgbClr val="4A0005"/>
              </a:buClr>
              <a:buSzTx/>
              <a:buFontTx/>
              <a:buChar char="•"/>
            </a:pPr>
            <a:r>
              <a:rPr lang="en-US" sz="1600" b="1" dirty="0">
                <a:solidFill>
                  <a:srgbClr val="4A0005"/>
                </a:solidFill>
                <a:latin typeface="Arial"/>
                <a:ea typeface="Arial"/>
                <a:cs typeface="Arial"/>
              </a:rPr>
              <a:t>All sub-goals must be achieved</a:t>
            </a:r>
            <a:br>
              <a:rPr sz="1600"/>
            </a:br>
            <a:r>
              <a:rPr lang="en-US" sz="16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for the overall goal to succeed.</a:t>
            </a:r>
          </a:p>
          <a:p>
            <a:pPr marL="161925" indent="-161925" algn="l">
              <a:lnSpc>
                <a:spcPts val="2100"/>
              </a:lnSpc>
              <a:spcBef>
                <a:spcPts val="450"/>
              </a:spcBef>
              <a:buClr>
                <a:srgbClr val="222222"/>
              </a:buClr>
              <a:buSzTx/>
              <a:buFontTx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Represented by an </a:t>
            </a:r>
            <a:r>
              <a:rPr lang="en-US" sz="1600" b="1" dirty="0">
                <a:solidFill>
                  <a:srgbClr val="4A0005"/>
                </a:solidFill>
                <a:latin typeface="Arial"/>
                <a:ea typeface="Arial"/>
                <a:cs typeface="Arial"/>
              </a:rPr>
              <a:t>arc connecting lines</a:t>
            </a:r>
            <a:r>
              <a:rPr lang="en-US" sz="16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04850" y="3381375"/>
            <a:ext cx="3781425" cy="3143250"/>
          </a:xfrm>
          <a:prstGeom prst="roundRect">
            <a:avLst>
              <a:gd name="adj" fmla="val 4848"/>
            </a:avLst>
          </a:prstGeom>
          <a:solidFill>
            <a:srgbClr val="EFECE6"/>
          </a:solidFill>
          <a:ln w="14288">
            <a:solidFill>
              <a:srgbClr val="DDD7CE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1638300" y="3667125"/>
            <a:ext cx="1905000" cy="476250"/>
          </a:xfrm>
          <a:prstGeom prst="roundRect">
            <a:avLst>
              <a:gd name="adj" fmla="val 24000"/>
            </a:avLst>
          </a:prstGeom>
          <a:solidFill>
            <a:srgbClr val="4A0005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776829" y="3810000"/>
            <a:ext cx="162794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Goal: Hack Safe</a:t>
            </a:r>
          </a:p>
        </p:txBody>
      </p:sp>
      <p:sp>
        <p:nvSpPr>
          <p:cNvPr id="24" name="Line 24"/>
          <p:cNvSpPr/>
          <p:nvPr/>
        </p:nvSpPr>
        <p:spPr>
          <a:xfrm>
            <a:off x="1524000" y="4143375"/>
            <a:ext cx="1066800" cy="857250"/>
          </a:xfrm>
          <a:custGeom>
            <a:avLst/>
            <a:gdLst/>
            <a:ahLst/>
            <a:cxnLst/>
            <a:rect l="l" t="t" r="r" b="b"/>
            <a:pathLst>
              <a:path w="1066800" h="857250">
                <a:moveTo>
                  <a:pt x="1066800" y="0"/>
                </a:moveTo>
                <a:lnTo>
                  <a:pt x="0" y="857250"/>
                </a:lnTo>
              </a:path>
            </a:pathLst>
          </a:custGeom>
          <a:noFill/>
          <a:ln w="28575">
            <a:solidFill>
              <a:srgbClr val="4A0005"/>
            </a:solidFill>
          </a:ln>
        </p:spPr>
      </p:sp>
      <p:sp>
        <p:nvSpPr>
          <p:cNvPr id="25" name="Line 25"/>
          <p:cNvSpPr/>
          <p:nvPr/>
        </p:nvSpPr>
        <p:spPr>
          <a:xfrm>
            <a:off x="2590800" y="4143375"/>
            <a:ext cx="1066800" cy="857250"/>
          </a:xfrm>
          <a:custGeom>
            <a:avLst/>
            <a:gdLst/>
            <a:ahLst/>
            <a:cxnLst/>
            <a:rect l="l" t="t" r="r" b="b"/>
            <a:pathLst>
              <a:path w="1066800" h="857250">
                <a:moveTo>
                  <a:pt x="0" y="0"/>
                </a:moveTo>
                <a:lnTo>
                  <a:pt x="1066800" y="857250"/>
                </a:lnTo>
              </a:path>
            </a:pathLst>
          </a:custGeom>
          <a:noFill/>
          <a:ln w="28575">
            <a:solidFill>
              <a:srgbClr val="4A0005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2143125" y="4524375"/>
            <a:ext cx="895350" cy="95250"/>
          </a:xfrm>
          <a:custGeom>
            <a:avLst/>
            <a:gdLst/>
            <a:ahLst/>
            <a:cxnLst/>
            <a:rect l="l" t="t" r="r" b="b"/>
            <a:pathLst>
              <a:path w="895350" h="95250">
                <a:moveTo>
                  <a:pt x="0" y="0"/>
                </a:moveTo>
                <a:cubicBezTo>
                  <a:pt x="298450" y="95250"/>
                  <a:pt x="596900" y="95250"/>
                  <a:pt x="895350" y="0"/>
                </a:cubicBezTo>
              </a:path>
            </a:pathLst>
          </a:custGeom>
          <a:noFill/>
          <a:ln w="38100">
            <a:solidFill>
              <a:srgbClr val="F4B40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2436846" y="4347210"/>
            <a:ext cx="3079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4A0005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57250" y="5000625"/>
            <a:ext cx="1333500" cy="571500"/>
          </a:xfrm>
          <a:prstGeom prst="roundRect">
            <a:avLst>
              <a:gd name="adj" fmla="val 16667"/>
            </a:avLst>
          </a:prstGeom>
          <a:solidFill>
            <a:srgbClr val="F8F4EE"/>
          </a:solidFill>
          <a:ln w="19050">
            <a:solidFill>
              <a:srgbClr val="4A000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86993" y="5128260"/>
            <a:ext cx="8740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4A0005"/>
                </a:solidFill>
                <a:latin typeface="Arial"/>
                <a:ea typeface="Arial"/>
                <a:cs typeface="Arial"/>
              </a:rPr>
              <a:t>Sub-Goal 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99709" y="5334952"/>
            <a:ext cx="6485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Steal Key</a:t>
            </a:r>
          </a:p>
        </p:txBody>
      </p:sp>
      <p:sp>
        <p:nvSpPr>
          <p:cNvPr id="31" name="Rectangle 31"/>
          <p:cNvSpPr/>
          <p:nvPr/>
        </p:nvSpPr>
        <p:spPr>
          <a:xfrm>
            <a:off x="2990850" y="5000625"/>
            <a:ext cx="1333500" cy="571500"/>
          </a:xfrm>
          <a:prstGeom prst="roundRect">
            <a:avLst>
              <a:gd name="adj" fmla="val 16667"/>
            </a:avLst>
          </a:prstGeom>
          <a:solidFill>
            <a:srgbClr val="F8F4EE"/>
          </a:solidFill>
          <a:ln w="19050">
            <a:solidFill>
              <a:srgbClr val="4A0005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220593" y="5128260"/>
            <a:ext cx="8740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4A0005"/>
                </a:solidFill>
                <a:latin typeface="Arial"/>
                <a:ea typeface="Arial"/>
                <a:cs typeface="Arial"/>
              </a:rPr>
              <a:t>Sub-Goal 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276552" y="5334952"/>
            <a:ext cx="7620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Crack Code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038725" y="1381125"/>
            <a:ext cx="4238625" cy="5381625"/>
          </a:xfrm>
          <a:prstGeom prst="roundRect">
            <a:avLst>
              <a:gd name="adj" fmla="val 4494"/>
            </a:avLst>
          </a:prstGeom>
          <a:solidFill>
            <a:srgbClr val="F8F4EE"/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35" name="Rectangle 35"/>
          <p:cNvSpPr/>
          <p:nvPr/>
        </p:nvSpPr>
        <p:spPr>
          <a:xfrm>
            <a:off x="5038725" y="1381125"/>
            <a:ext cx="4238625" cy="666750"/>
          </a:xfrm>
          <a:prstGeom prst="roundRect">
            <a:avLst>
              <a:gd name="adj" fmla="val 28571"/>
            </a:avLst>
          </a:prstGeom>
          <a:solidFill>
            <a:srgbClr val="6B141B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5038725" y="1809750"/>
            <a:ext cx="4238625" cy="238125"/>
          </a:xfrm>
          <a:prstGeom prst="rect">
            <a:avLst/>
          </a:prstGeom>
          <a:solidFill>
            <a:srgbClr val="6B141B"/>
          </a:solidFill>
          <a:ln>
            <a:noFill/>
          </a:ln>
        </p:spPr>
      </p:sp>
      <p:grpSp>
        <p:nvGrpSpPr>
          <p:cNvPr id="42" name="Group 42"/>
          <p:cNvGrpSpPr/>
          <p:nvPr/>
        </p:nvGrpSpPr>
        <p:grpSpPr>
          <a:xfrm>
            <a:off x="5334794" y="1606550"/>
            <a:ext cx="188913" cy="215901"/>
            <a:chOff x="5334794" y="1606550"/>
            <a:chExt cx="188913" cy="215901"/>
          </a:xfrm>
        </p:grpSpPr>
        <p:sp>
          <p:nvSpPr>
            <p:cNvPr id="37" name="Freeform 37"/>
            <p:cNvSpPr/>
            <p:nvPr/>
          </p:nvSpPr>
          <p:spPr>
            <a:xfrm>
              <a:off x="5402263" y="1768476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26988">
              <a:solidFill>
                <a:srgbClr val="F4B400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5334794" y="1606550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26988">
              <a:solidFill>
                <a:srgbClr val="F4B400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5469732" y="1606550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26988">
              <a:solidFill>
                <a:srgbClr val="F4B400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5361781" y="1660525"/>
              <a:ext cx="134938" cy="53975"/>
            </a:xfrm>
            <a:custGeom>
              <a:avLst/>
              <a:gdLst/>
              <a:ahLst/>
              <a:cxnLst/>
              <a:rect l="l" t="t" r="r" b="b"/>
              <a:pathLst>
                <a:path w="134938" h="53975">
                  <a:moveTo>
                    <a:pt x="0" y="0"/>
                  </a:moveTo>
                  <a:lnTo>
                    <a:pt x="0" y="26988"/>
                  </a:lnTo>
                  <a:cubicBezTo>
                    <a:pt x="0" y="41892"/>
                    <a:pt x="12083" y="53975"/>
                    <a:pt x="26988" y="53975"/>
                  </a:cubicBezTo>
                  <a:lnTo>
                    <a:pt x="107950" y="53975"/>
                  </a:lnTo>
                  <a:cubicBezTo>
                    <a:pt x="122855" y="53975"/>
                    <a:pt x="134938" y="41892"/>
                    <a:pt x="134938" y="26988"/>
                  </a:cubicBezTo>
                  <a:lnTo>
                    <a:pt x="134938" y="0"/>
                  </a:lnTo>
                </a:path>
              </a:pathLst>
            </a:custGeom>
            <a:noFill/>
            <a:ln w="26988">
              <a:solidFill>
                <a:srgbClr val="F4B400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5429250" y="1714500"/>
              <a:ext cx="9525" cy="53975"/>
            </a:xfrm>
            <a:custGeom>
              <a:avLst/>
              <a:gdLst/>
              <a:ahLst/>
              <a:cxnLst/>
              <a:rect l="l" t="t" r="r" b="b"/>
              <a:pathLst>
                <a:path w="9525" h="53975">
                  <a:moveTo>
                    <a:pt x="0" y="0"/>
                  </a:moveTo>
                  <a:lnTo>
                    <a:pt x="0" y="53975"/>
                  </a:lnTo>
                </a:path>
              </a:pathLst>
            </a:custGeom>
            <a:noFill/>
            <a:ln w="26988">
              <a:solidFill>
                <a:srgbClr val="F4B400"/>
              </a:solidFill>
            </a:ln>
          </p:spPr>
        </p:sp>
      </p:grpSp>
      <p:sp>
        <p:nvSpPr>
          <p:cNvPr id="43" name="TextBox 43"/>
          <p:cNvSpPr txBox="1"/>
          <p:nvPr/>
        </p:nvSpPr>
        <p:spPr>
          <a:xfrm>
            <a:off x="5677281" y="1605915"/>
            <a:ext cx="261714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2. OR-Decomposition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259705" y="2266950"/>
            <a:ext cx="3085624" cy="1150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70021" indent="-170021" algn="l">
              <a:lnSpc>
                <a:spcPts val="2100"/>
              </a:lnSpc>
              <a:buClr>
                <a:srgbClr val="6B141B"/>
              </a:buClr>
              <a:buSzTx/>
              <a:buFontTx/>
              <a:buChar char="•"/>
            </a:pPr>
            <a:r>
              <a:rPr lang="en-US" sz="1600" b="1" dirty="0">
                <a:solidFill>
                  <a:srgbClr val="6B141B"/>
                </a:solidFill>
                <a:latin typeface="Arial"/>
                <a:ea typeface="Arial"/>
                <a:cs typeface="Arial"/>
              </a:rPr>
              <a:t>Any one sub-goal is sufficient</a:t>
            </a:r>
            <a:br>
              <a:rPr sz="1600"/>
            </a:br>
            <a:r>
              <a:rPr lang="en-US" sz="16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for the goal to succeed.</a:t>
            </a:r>
          </a:p>
          <a:p>
            <a:pPr marL="161925" indent="-161925" algn="l">
              <a:lnSpc>
                <a:spcPts val="2100"/>
              </a:lnSpc>
              <a:spcBef>
                <a:spcPts val="450"/>
              </a:spcBef>
              <a:buClr>
                <a:srgbClr val="222222"/>
              </a:buClr>
              <a:buSzTx/>
              <a:buFontTx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Independent branches</a:t>
            </a:r>
            <a:br>
              <a:rPr sz="1600"/>
            </a:br>
            <a:r>
              <a:rPr lang="en-US" sz="16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(alternative attack paths).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267325" y="3381375"/>
            <a:ext cx="3781425" cy="3143250"/>
          </a:xfrm>
          <a:prstGeom prst="roundRect">
            <a:avLst>
              <a:gd name="adj" fmla="val 4848"/>
            </a:avLst>
          </a:prstGeom>
          <a:solidFill>
            <a:srgbClr val="EFECE6"/>
          </a:solidFill>
          <a:ln w="14288">
            <a:solidFill>
              <a:srgbClr val="DDD7CE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6200775" y="3667125"/>
            <a:ext cx="1905000" cy="476250"/>
          </a:xfrm>
          <a:prstGeom prst="roundRect">
            <a:avLst>
              <a:gd name="adj" fmla="val 24000"/>
            </a:avLst>
          </a:prstGeom>
          <a:solidFill>
            <a:srgbClr val="6B141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249707" y="3810000"/>
            <a:ext cx="18071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Goal: Gain Access</a:t>
            </a:r>
          </a:p>
        </p:txBody>
      </p:sp>
      <p:sp>
        <p:nvSpPr>
          <p:cNvPr id="48" name="Line 48"/>
          <p:cNvSpPr/>
          <p:nvPr/>
        </p:nvSpPr>
        <p:spPr>
          <a:xfrm>
            <a:off x="6096000" y="4143375"/>
            <a:ext cx="1057275" cy="857250"/>
          </a:xfrm>
          <a:custGeom>
            <a:avLst/>
            <a:gdLst/>
            <a:ahLst/>
            <a:cxnLst/>
            <a:rect l="l" t="t" r="r" b="b"/>
            <a:pathLst>
              <a:path w="1057275" h="857250">
                <a:moveTo>
                  <a:pt x="1057275" y="0"/>
                </a:moveTo>
                <a:lnTo>
                  <a:pt x="0" y="857250"/>
                </a:lnTo>
              </a:path>
            </a:pathLst>
          </a:custGeom>
          <a:noFill/>
          <a:ln w="28575">
            <a:solidFill>
              <a:srgbClr val="6B141B"/>
            </a:solidFill>
          </a:ln>
        </p:spPr>
      </p:sp>
      <p:sp>
        <p:nvSpPr>
          <p:cNvPr id="49" name="Line 49"/>
          <p:cNvSpPr/>
          <p:nvPr/>
        </p:nvSpPr>
        <p:spPr>
          <a:xfrm>
            <a:off x="7153275" y="4143375"/>
            <a:ext cx="1057275" cy="857250"/>
          </a:xfrm>
          <a:custGeom>
            <a:avLst/>
            <a:gdLst/>
            <a:ahLst/>
            <a:cxnLst/>
            <a:rect l="l" t="t" r="r" b="b"/>
            <a:pathLst>
              <a:path w="1057275" h="857250">
                <a:moveTo>
                  <a:pt x="0" y="0"/>
                </a:moveTo>
                <a:lnTo>
                  <a:pt x="1057275" y="857250"/>
                </a:lnTo>
              </a:path>
            </a:pathLst>
          </a:custGeom>
          <a:noFill/>
          <a:ln w="28575">
            <a:solidFill>
              <a:srgbClr val="6B141B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7030684" y="4442460"/>
            <a:ext cx="2451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6B141B"/>
                </a:solidFill>
                <a:latin typeface="Arial"/>
                <a:ea typeface="Arial"/>
                <a:cs typeface="Arial"/>
              </a:rPr>
              <a:t>OR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429250" y="5000625"/>
            <a:ext cx="1333500" cy="571500"/>
          </a:xfrm>
          <a:prstGeom prst="roundRect">
            <a:avLst>
              <a:gd name="adj" fmla="val 16667"/>
            </a:avLst>
          </a:prstGeom>
          <a:solidFill>
            <a:srgbClr val="F8F4EE"/>
          </a:solidFill>
          <a:ln w="19050">
            <a:solidFill>
              <a:srgbClr val="6B141B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825375" y="5128260"/>
            <a:ext cx="5412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6B141B"/>
                </a:solidFill>
                <a:latin typeface="Arial"/>
                <a:ea typeface="Arial"/>
                <a:cs typeface="Arial"/>
              </a:rPr>
              <a:t>Path A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813081" y="5334952"/>
            <a:ext cx="5658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Phishing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543800" y="5000625"/>
            <a:ext cx="1333500" cy="571500"/>
          </a:xfrm>
          <a:prstGeom prst="roundRect">
            <a:avLst>
              <a:gd name="adj" fmla="val 16667"/>
            </a:avLst>
          </a:prstGeom>
          <a:solidFill>
            <a:srgbClr val="F8F4EE"/>
          </a:solidFill>
          <a:ln w="19050">
            <a:solidFill>
              <a:srgbClr val="6B141B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939925" y="5128260"/>
            <a:ext cx="5412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6B141B"/>
                </a:solidFill>
                <a:latin typeface="Arial"/>
                <a:ea typeface="Arial"/>
                <a:cs typeface="Arial"/>
              </a:rPr>
              <a:t>Path B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90658" y="5334952"/>
            <a:ext cx="8397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Brute Force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3246987" cy="803910"/>
            <a:chOff x="462534" y="260985"/>
            <a:chExt cx="3246987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324698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700" b="1" i="0" u="none" strike="noStrike" kern="1200" cap="none" spc="0" normalizeH="0" baseline="0" noProof="0" dirty="0">
                  <a:ln>
                    <a:noFill/>
                  </a:ln>
                  <a:solidFill>
                    <a:srgbClr val="4A000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Week 01 Summary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29912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555555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Key Takeaways and Next Steps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476250" y="1381125"/>
            <a:ext cx="2743200" cy="4000500"/>
          </a:xfrm>
          <a:prstGeom prst="roundRect">
            <a:avLst>
              <a:gd name="adj" fmla="val 6944"/>
            </a:avLst>
          </a:prstGeom>
          <a:solidFill>
            <a:srgbClr val="F8F4EE"/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7" name="Ellipse 7"/>
          <p:cNvSpPr/>
          <p:nvPr/>
        </p:nvSpPr>
        <p:spPr>
          <a:xfrm>
            <a:off x="704850" y="1609725"/>
            <a:ext cx="495300" cy="495300"/>
          </a:xfrm>
          <a:prstGeom prst="ellipse">
            <a:avLst/>
          </a:prstGeom>
          <a:solidFill>
            <a:srgbClr val="4A0005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829276" y="1750219"/>
            <a:ext cx="232508" cy="214312"/>
            <a:chOff x="829276" y="1750219"/>
            <a:chExt cx="232508" cy="214312"/>
          </a:xfrm>
        </p:grpSpPr>
        <p:sp>
          <p:nvSpPr>
            <p:cNvPr id="8" name="Freeform 8"/>
            <p:cNvSpPr/>
            <p:nvPr/>
          </p:nvSpPr>
          <p:spPr>
            <a:xfrm>
              <a:off x="829276" y="1750219"/>
              <a:ext cx="232508" cy="212479"/>
            </a:xfrm>
            <a:custGeom>
              <a:avLst/>
              <a:gdLst/>
              <a:ahLst/>
              <a:cxnLst/>
              <a:rect l="l" t="t" r="r" b="b"/>
              <a:pathLst>
                <a:path w="232508" h="212479">
                  <a:moveTo>
                    <a:pt x="116795" y="212479"/>
                  </a:moveTo>
                  <a:cubicBezTo>
                    <a:pt x="42208" y="189358"/>
                    <a:pt x="0" y="110638"/>
                    <a:pt x="22021" y="35719"/>
                  </a:cubicBezTo>
                  <a:cubicBezTo>
                    <a:pt x="59115" y="37416"/>
                    <a:pt x="95413" y="24605"/>
                    <a:pt x="123224" y="0"/>
                  </a:cubicBezTo>
                  <a:cubicBezTo>
                    <a:pt x="151035" y="24605"/>
                    <a:pt x="187333" y="37416"/>
                    <a:pt x="224427" y="35719"/>
                  </a:cubicBezTo>
                  <a:cubicBezTo>
                    <a:pt x="232508" y="63212"/>
                    <a:pt x="232135" y="92499"/>
                    <a:pt x="223356" y="119777"/>
                  </a:cubicBezTo>
                </a:path>
              </a:pathLst>
            </a:custGeom>
            <a:noFill/>
            <a:ln w="23812">
              <a:solidFill>
                <a:srgbClr val="F4B40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988219" y="1916906"/>
              <a:ext cx="71438" cy="47625"/>
            </a:xfrm>
            <a:custGeom>
              <a:avLst/>
              <a:gdLst/>
              <a:ahLst/>
              <a:cxnLst/>
              <a:rect l="l" t="t" r="r" b="b"/>
              <a:pathLst>
                <a:path w="71438" h="47625">
                  <a:moveTo>
                    <a:pt x="0" y="23812"/>
                  </a:moveTo>
                  <a:lnTo>
                    <a:pt x="23812" y="47625"/>
                  </a:lnTo>
                  <a:lnTo>
                    <a:pt x="71438" y="0"/>
                  </a:lnTo>
                </a:path>
              </a:pathLst>
            </a:custGeom>
            <a:noFill/>
            <a:ln w="23812">
              <a:solidFill>
                <a:srgbClr val="F4B400"/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325118" y="1755458"/>
            <a:ext cx="13764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Foundations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7230" y="2266950"/>
            <a:ext cx="2539365" cy="23888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70021" marR="0" lvl="0" indent="-170021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rgbClr val="4A0005"/>
              </a:buClr>
              <a:buSzTx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NISTIR 8170 Standard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Protects cyberspace use.</a:t>
            </a:r>
          </a:p>
          <a:p>
            <a:pPr marL="170021" marR="0" lvl="0" indent="-170021" algn="l" defTabSz="457200" rtl="0" eaLnBrk="1" fontAlgn="auto" latinLnBrk="0" hangingPunct="1">
              <a:lnSpc>
                <a:spcPts val="2100"/>
              </a:lnSpc>
              <a:spcBef>
                <a:spcPts val="600"/>
              </a:spcBef>
              <a:spcAft>
                <a:spcPts val="0"/>
              </a:spcAft>
              <a:buClr>
                <a:srgbClr val="4A0005"/>
              </a:buClr>
              <a:buSzTx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 Security Domains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Cyber vs Info vs Computer.</a:t>
            </a:r>
          </a:p>
          <a:p>
            <a:pPr marL="170021" marR="0" lvl="0" indent="-170021" algn="l" defTabSz="457200" rtl="0" eaLnBrk="1" fontAlgn="auto" latinLnBrk="0" hangingPunct="1">
              <a:lnSpc>
                <a:spcPts val="2100"/>
              </a:lnSpc>
              <a:spcBef>
                <a:spcPts val="600"/>
              </a:spcBef>
              <a:spcAft>
                <a:spcPts val="0"/>
              </a:spcAft>
              <a:buClr>
                <a:srgbClr val="4A0005"/>
              </a:buClr>
              <a:buSzTx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Communication Model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Alice, Bob, and Trudy.</a:t>
            </a:r>
          </a:p>
          <a:p>
            <a:pPr marL="170021" marR="0" lvl="0" indent="-170021" algn="l" defTabSz="457200" rtl="0" eaLnBrk="1" fontAlgn="auto" latinLnBrk="0" hangingPunct="1">
              <a:lnSpc>
                <a:spcPts val="2100"/>
              </a:lnSpc>
              <a:spcBef>
                <a:spcPts val="600"/>
              </a:spcBef>
              <a:spcAft>
                <a:spcPts val="0"/>
              </a:spcAft>
              <a:buClr>
                <a:srgbClr val="4A0005"/>
              </a:buClr>
              <a:buSzTx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Active vs. Passive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 attack classifications.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505200" y="1381125"/>
            <a:ext cx="2743200" cy="4000500"/>
          </a:xfrm>
          <a:prstGeom prst="roundRect">
            <a:avLst>
              <a:gd name="adj" fmla="val 6944"/>
            </a:avLst>
          </a:prstGeom>
          <a:solidFill>
            <a:srgbClr val="F8F4EE"/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14" name="Ellipse 14"/>
          <p:cNvSpPr/>
          <p:nvPr/>
        </p:nvSpPr>
        <p:spPr>
          <a:xfrm>
            <a:off x="3733800" y="1609725"/>
            <a:ext cx="495300" cy="495300"/>
          </a:xfrm>
          <a:prstGeom prst="ellipse">
            <a:avLst/>
          </a:prstGeom>
          <a:solidFill>
            <a:srgbClr val="4A0005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3874294" y="1750219"/>
            <a:ext cx="214312" cy="214312"/>
            <a:chOff x="3874294" y="1750219"/>
            <a:chExt cx="214312" cy="214312"/>
          </a:xfrm>
        </p:grpSpPr>
        <p:sp>
          <p:nvSpPr>
            <p:cNvPr id="15" name="Freeform 15"/>
            <p:cNvSpPr/>
            <p:nvPr/>
          </p:nvSpPr>
          <p:spPr>
            <a:xfrm>
              <a:off x="3969544" y="1845469"/>
              <a:ext cx="23812" cy="23812"/>
            </a:xfrm>
            <a:custGeom>
              <a:avLst/>
              <a:gdLst/>
              <a:ahLst/>
              <a:cxnLst/>
              <a:rect l="l" t="t" r="r" b="b"/>
              <a:pathLst>
                <a:path w="23812" h="23812">
                  <a:moveTo>
                    <a:pt x="0" y="11906"/>
                  </a:moveTo>
                  <a:cubicBezTo>
                    <a:pt x="0" y="18482"/>
                    <a:pt x="5331" y="23812"/>
                    <a:pt x="11906" y="23812"/>
                  </a:cubicBezTo>
                  <a:cubicBezTo>
                    <a:pt x="18482" y="23812"/>
                    <a:pt x="23812" y="18482"/>
                    <a:pt x="23812" y="11906"/>
                  </a:cubicBezTo>
                  <a:cubicBezTo>
                    <a:pt x="23812" y="5331"/>
                    <a:pt x="18482" y="0"/>
                    <a:pt x="11906" y="0"/>
                  </a:cubicBezTo>
                  <a:cubicBezTo>
                    <a:pt x="5331" y="0"/>
                    <a:pt x="0" y="5331"/>
                    <a:pt x="0" y="11906"/>
                  </a:cubicBezTo>
                </a:path>
              </a:pathLst>
            </a:custGeom>
            <a:noFill/>
            <a:ln w="23812">
              <a:solidFill>
                <a:srgbClr val="F4B40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921919" y="1797844"/>
              <a:ext cx="119062" cy="119062"/>
            </a:xfrm>
            <a:custGeom>
              <a:avLst/>
              <a:gdLst/>
              <a:ahLst/>
              <a:cxnLst/>
              <a:rect l="l" t="t" r="r" b="b"/>
              <a:pathLst>
                <a:path w="119062" h="119062">
                  <a:moveTo>
                    <a:pt x="0" y="59531"/>
                  </a:moveTo>
                  <a:cubicBezTo>
                    <a:pt x="0" y="92409"/>
                    <a:pt x="26653" y="119062"/>
                    <a:pt x="59531" y="119062"/>
                  </a:cubicBezTo>
                  <a:cubicBezTo>
                    <a:pt x="92409" y="119062"/>
                    <a:pt x="119062" y="92409"/>
                    <a:pt x="119062" y="59531"/>
                  </a:cubicBezTo>
                  <a:cubicBezTo>
                    <a:pt x="119062" y="26653"/>
                    <a:pt x="92409" y="0"/>
                    <a:pt x="59531" y="0"/>
                  </a:cubicBezTo>
                  <a:cubicBezTo>
                    <a:pt x="26653" y="0"/>
                    <a:pt x="0" y="26653"/>
                    <a:pt x="0" y="59531"/>
                  </a:cubicBezTo>
                </a:path>
              </a:pathLst>
            </a:custGeom>
            <a:noFill/>
            <a:ln w="23812">
              <a:solidFill>
                <a:srgbClr val="F4B400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874294" y="1750219"/>
              <a:ext cx="214312" cy="214312"/>
            </a:xfrm>
            <a:custGeom>
              <a:avLst/>
              <a:gdLst/>
              <a:ahLst/>
              <a:cxnLst/>
              <a:rect l="l" t="t" r="r" b="b"/>
              <a:pathLst>
                <a:path w="214312" h="214312">
                  <a:moveTo>
                    <a:pt x="0" y="107156"/>
                  </a:moveTo>
                  <a:cubicBezTo>
                    <a:pt x="0" y="166337"/>
                    <a:pt x="47975" y="214312"/>
                    <a:pt x="107156" y="214312"/>
                  </a:cubicBezTo>
                  <a:cubicBezTo>
                    <a:pt x="166337" y="214312"/>
                    <a:pt x="214312" y="166337"/>
                    <a:pt x="214312" y="107156"/>
                  </a:cubicBezTo>
                  <a:cubicBezTo>
                    <a:pt x="214312" y="47975"/>
                    <a:pt x="166337" y="0"/>
                    <a:pt x="107156" y="0"/>
                  </a:cubicBezTo>
                  <a:cubicBezTo>
                    <a:pt x="47975" y="0"/>
                    <a:pt x="0" y="47975"/>
                    <a:pt x="0" y="107156"/>
                  </a:cubicBezTo>
                </a:path>
              </a:pathLst>
            </a:custGeom>
            <a:noFill/>
            <a:ln w="23812">
              <a:solidFill>
                <a:srgbClr val="F4B400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4354068" y="1755458"/>
            <a:ext cx="16518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Security Goals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26180" y="2266950"/>
            <a:ext cx="2767965" cy="23126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70021" marR="0" lvl="0" indent="-170021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rgbClr val="4A0005"/>
              </a:buClr>
              <a:buSzTx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CIA Triad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Confidentiality, Integrity,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and Availability.</a:t>
            </a:r>
          </a:p>
          <a:p>
            <a:pPr marL="170021" marR="0" lvl="0" indent="-170021" algn="l" defTabSz="457200" rtl="0" eaLnBrk="1" fontAlgn="auto" latinLnBrk="0" hangingPunct="1">
              <a:lnSpc>
                <a:spcPts val="2100"/>
              </a:lnSpc>
              <a:spcBef>
                <a:spcPts val="600"/>
              </a:spcBef>
              <a:spcAft>
                <a:spcPts val="0"/>
              </a:spcAft>
              <a:buClr>
                <a:srgbClr val="4A0005"/>
              </a:buClr>
              <a:buSzTx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Extended Goals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Authenticity, Accountability,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and Reliability.</a:t>
            </a:r>
          </a:p>
          <a:p>
            <a:pPr marL="170021" marR="0" lvl="0" indent="-170021" algn="l" defTabSz="457200" rtl="0" eaLnBrk="1" fontAlgn="auto" latinLnBrk="0" hangingPunct="1">
              <a:lnSpc>
                <a:spcPts val="2100"/>
              </a:lnSpc>
              <a:spcBef>
                <a:spcPts val="600"/>
              </a:spcBef>
              <a:spcAft>
                <a:spcPts val="0"/>
              </a:spcAft>
              <a:buClr>
                <a:srgbClr val="4A0005"/>
              </a:buClr>
              <a:buSzTx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Practical Cases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Alice's Market analysis.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534150" y="1381125"/>
            <a:ext cx="2743200" cy="4000500"/>
          </a:xfrm>
          <a:prstGeom prst="roundRect">
            <a:avLst>
              <a:gd name="adj" fmla="val 6944"/>
            </a:avLst>
          </a:prstGeom>
          <a:solidFill>
            <a:srgbClr val="F8F4EE"/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22" name="Ellipse 22"/>
          <p:cNvSpPr/>
          <p:nvPr/>
        </p:nvSpPr>
        <p:spPr>
          <a:xfrm>
            <a:off x="6762750" y="1609725"/>
            <a:ext cx="495300" cy="495300"/>
          </a:xfrm>
          <a:prstGeom prst="ellipse">
            <a:avLst/>
          </a:prstGeom>
          <a:solidFill>
            <a:srgbClr val="4A0005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6903244" y="1750219"/>
            <a:ext cx="214312" cy="214312"/>
            <a:chOff x="6903244" y="1750219"/>
            <a:chExt cx="214312" cy="214312"/>
          </a:xfrm>
        </p:grpSpPr>
        <p:sp>
          <p:nvSpPr>
            <p:cNvPr id="23" name="Freeform 23"/>
            <p:cNvSpPr/>
            <p:nvPr/>
          </p:nvSpPr>
          <p:spPr>
            <a:xfrm>
              <a:off x="6986588" y="1750219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cubicBezTo>
                    <a:pt x="0" y="36964"/>
                    <a:pt x="10661" y="47625"/>
                    <a:pt x="23812" y="47625"/>
                  </a:cubicBezTo>
                  <a:cubicBezTo>
                    <a:pt x="36964" y="47625"/>
                    <a:pt x="47625" y="36964"/>
                    <a:pt x="47625" y="23812"/>
                  </a:cubicBezTo>
                  <a:cubicBezTo>
                    <a:pt x="47625" y="10661"/>
                    <a:pt x="36964" y="0"/>
                    <a:pt x="23812" y="0"/>
                  </a:cubicBezTo>
                  <a:cubicBezTo>
                    <a:pt x="10661" y="0"/>
                    <a:pt x="0" y="10661"/>
                    <a:pt x="0" y="23812"/>
                  </a:cubicBezTo>
                </a:path>
              </a:pathLst>
            </a:custGeom>
            <a:noFill/>
            <a:ln w="23812">
              <a:solidFill>
                <a:srgbClr val="F4B400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903244" y="1916906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cubicBezTo>
                    <a:pt x="0" y="36964"/>
                    <a:pt x="10661" y="47625"/>
                    <a:pt x="23812" y="47625"/>
                  </a:cubicBezTo>
                  <a:cubicBezTo>
                    <a:pt x="36964" y="47625"/>
                    <a:pt x="47625" y="36964"/>
                    <a:pt x="47625" y="23812"/>
                  </a:cubicBezTo>
                  <a:cubicBezTo>
                    <a:pt x="47625" y="10661"/>
                    <a:pt x="36964" y="0"/>
                    <a:pt x="23812" y="0"/>
                  </a:cubicBezTo>
                  <a:cubicBezTo>
                    <a:pt x="10661" y="0"/>
                    <a:pt x="0" y="10661"/>
                    <a:pt x="0" y="23812"/>
                  </a:cubicBezTo>
                </a:path>
              </a:pathLst>
            </a:custGeom>
            <a:noFill/>
            <a:ln w="23812">
              <a:solidFill>
                <a:srgbClr val="F4B400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069931" y="1916906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cubicBezTo>
                    <a:pt x="0" y="36964"/>
                    <a:pt x="10661" y="47625"/>
                    <a:pt x="23812" y="47625"/>
                  </a:cubicBezTo>
                  <a:cubicBezTo>
                    <a:pt x="36964" y="47625"/>
                    <a:pt x="47625" y="36964"/>
                    <a:pt x="47625" y="23812"/>
                  </a:cubicBezTo>
                  <a:cubicBezTo>
                    <a:pt x="47625" y="10661"/>
                    <a:pt x="36964" y="0"/>
                    <a:pt x="23812" y="0"/>
                  </a:cubicBezTo>
                  <a:cubicBezTo>
                    <a:pt x="10661" y="0"/>
                    <a:pt x="0" y="10661"/>
                    <a:pt x="0" y="23812"/>
                  </a:cubicBezTo>
                </a:path>
              </a:pathLst>
            </a:custGeom>
            <a:noFill/>
            <a:ln w="23812">
              <a:solidFill>
                <a:srgbClr val="F4B400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944916" y="1869281"/>
              <a:ext cx="130969" cy="53578"/>
            </a:xfrm>
            <a:custGeom>
              <a:avLst/>
              <a:gdLst/>
              <a:ahLst/>
              <a:cxnLst/>
              <a:rect l="l" t="t" r="r" b="b"/>
              <a:pathLst>
                <a:path w="130969" h="53578">
                  <a:moveTo>
                    <a:pt x="0" y="53578"/>
                  </a:moveTo>
                  <a:lnTo>
                    <a:pt x="65484" y="0"/>
                  </a:lnTo>
                  <a:lnTo>
                    <a:pt x="130969" y="53578"/>
                  </a:lnTo>
                </a:path>
              </a:pathLst>
            </a:custGeom>
            <a:noFill/>
            <a:ln w="23812">
              <a:solidFill>
                <a:srgbClr val="F4B400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010400" y="1797844"/>
              <a:ext cx="9525" cy="71438"/>
            </a:xfrm>
            <a:custGeom>
              <a:avLst/>
              <a:gdLst/>
              <a:ahLst/>
              <a:cxnLst/>
              <a:rect l="l" t="t" r="r" b="b"/>
              <a:pathLst>
                <a:path w="9525" h="71438">
                  <a:moveTo>
                    <a:pt x="0" y="0"/>
                  </a:moveTo>
                  <a:lnTo>
                    <a:pt x="0" y="71438"/>
                  </a:lnTo>
                </a:path>
              </a:pathLst>
            </a:custGeom>
            <a:noFill/>
            <a:ln w="23812">
              <a:solidFill>
                <a:srgbClr val="F4B400"/>
              </a:solidFill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7383018" y="1755458"/>
            <a:ext cx="16294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Threat Models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07505" y="2266950"/>
            <a:ext cx="2653665" cy="17792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70021" marR="0" lvl="0" indent="-170021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rgbClr val="4A0005"/>
              </a:buClr>
              <a:buSzTx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Entity Relationships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Assets, Threats, Risk.</a:t>
            </a:r>
          </a:p>
          <a:p>
            <a:pPr marL="170021" marR="0" lvl="0" indent="-170021" algn="l" defTabSz="457200" rtl="0" eaLnBrk="1" fontAlgn="auto" latinLnBrk="0" hangingPunct="1">
              <a:lnSpc>
                <a:spcPts val="2100"/>
              </a:lnSpc>
              <a:spcBef>
                <a:spcPts val="600"/>
              </a:spcBef>
              <a:spcAft>
                <a:spcPts val="0"/>
              </a:spcAft>
              <a:buClr>
                <a:srgbClr val="4A0005"/>
              </a:buClr>
              <a:buSzTx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 Attack Surfaces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Network, Software, Human.</a:t>
            </a:r>
          </a:p>
          <a:p>
            <a:pPr marL="170021" marR="0" lvl="0" indent="-170021" algn="l" defTabSz="457200" rtl="0" eaLnBrk="1" fontAlgn="auto" latinLnBrk="0" hangingPunct="1">
              <a:lnSpc>
                <a:spcPts val="2100"/>
              </a:lnSpc>
              <a:spcBef>
                <a:spcPts val="600"/>
              </a:spcBef>
              <a:spcAft>
                <a:spcPts val="0"/>
              </a:spcAft>
              <a:buClr>
                <a:srgbClr val="4A0005"/>
              </a:buClr>
              <a:buSzTx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4A0005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Attack Tree Logic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Schneier (1999) AND/OR.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76250" y="5619750"/>
            <a:ext cx="8801100" cy="1047750"/>
          </a:xfrm>
          <a:prstGeom prst="roundRect">
            <a:avLst>
              <a:gd name="adj" fmla="val 14545"/>
            </a:avLst>
          </a:prstGeom>
          <a:solidFill>
            <a:srgbClr val="4A0005"/>
          </a:solidFill>
          <a:ln>
            <a:noFill/>
          </a:ln>
        </p:spPr>
      </p:sp>
      <p:grpSp>
        <p:nvGrpSpPr>
          <p:cNvPr id="35" name="Group 35"/>
          <p:cNvGrpSpPr/>
          <p:nvPr/>
        </p:nvGrpSpPr>
        <p:grpSpPr>
          <a:xfrm>
            <a:off x="833438" y="6057900"/>
            <a:ext cx="200025" cy="171450"/>
            <a:chOff x="833438" y="6057900"/>
            <a:chExt cx="200025" cy="171450"/>
          </a:xfrm>
        </p:grpSpPr>
        <p:sp>
          <p:nvSpPr>
            <p:cNvPr id="32" name="Freeform 32"/>
            <p:cNvSpPr/>
            <p:nvPr/>
          </p:nvSpPr>
          <p:spPr>
            <a:xfrm>
              <a:off x="833438" y="6143625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28575">
              <a:solidFill>
                <a:srgbClr val="F4B40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47738" y="614362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85725"/>
                  </a:moveTo>
                  <a:lnTo>
                    <a:pt x="85725" y="0"/>
                  </a:lnTo>
                </a:path>
              </a:pathLst>
            </a:custGeom>
            <a:noFill/>
            <a:ln w="28575">
              <a:solidFill>
                <a:srgbClr val="F4B400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47738" y="605790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85725" y="85725"/>
                  </a:lnTo>
                </a:path>
              </a:pathLst>
            </a:custGeom>
            <a:noFill/>
            <a:ln w="28575">
              <a:solidFill>
                <a:srgbClr val="F4B400"/>
              </a:solidFill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1229868" y="5822632"/>
            <a:ext cx="213958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F4B40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Next Week Preview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31011" y="6180296"/>
            <a:ext cx="4172553" cy="2146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Week 02: Basic Cryptography &amp; </a:t>
            </a:r>
            <a:r>
              <a:rPr kumimoji="0" lang="en-US" sz="142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Symmetric Ciphers</a:t>
            </a:r>
            <a:endParaRPr kumimoji="0" lang="en-US" sz="142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yber_security_week1_refined">
  <a:themeElements>
    <a:clrScheme name="cyber_security_week1_refine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yber_security_week1_refine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yber_security_week1_refin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yber_security_week1_largefont">
  <a:themeElements>
    <a:clrScheme name="cyber_security_week1_largefon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yber_security_week1_largefont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yber_security_week1_largefo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2421</Words>
  <Application>Microsoft Office PowerPoint</Application>
  <PresentationFormat>와이드스크린</PresentationFormat>
  <Paragraphs>464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Arial</vt:lpstr>
      <vt:lpstr>Calibri</vt:lpstr>
      <vt:lpstr>cyber_security_week1_refined</vt:lpstr>
      <vt:lpstr>cyber_security_week1_largefont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/>
  <cp:lastModifiedBy>김시원</cp:lastModifiedBy>
  <cp:revision>3</cp:revision>
  <dcterms:created xsi:type="dcterms:W3CDTF">2026-08-29T13:18:31Z</dcterms:created>
  <dcterms:modified xsi:type="dcterms:W3CDTF">2026-08-29T13:50:19Z</dcterms:modified>
  <cp:category/>
  <cp:contentStatus/>
  <dc:language/>
</cp:coreProperties>
</file>