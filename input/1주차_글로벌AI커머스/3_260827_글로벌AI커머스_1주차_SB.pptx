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7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19" r:id="rId2"/>
    <p:sldMasterId id="2147483778" r:id="rId3"/>
    <p:sldMasterId id="2147483776" r:id="rId4"/>
    <p:sldMasterId id="2147483783" r:id="rId5"/>
    <p:sldMasterId id="2147483732" r:id="rId6"/>
    <p:sldMasterId id="2147483791" r:id="rId7"/>
    <p:sldMasterId id="2147483772" r:id="rId8"/>
    <p:sldMasterId id="2147483758" r:id="rId9"/>
  </p:sldMasterIdLst>
  <p:notesMasterIdLst>
    <p:notesMasterId r:id="rId66"/>
  </p:notesMasterIdLst>
  <p:handoutMasterIdLst>
    <p:handoutMasterId r:id="rId67"/>
  </p:handoutMasterIdLst>
  <p:sldIdLst>
    <p:sldId id="256" r:id="rId10"/>
    <p:sldId id="258" r:id="rId11"/>
    <p:sldId id="298" r:id="rId12"/>
    <p:sldId id="285" r:id="rId13"/>
    <p:sldId id="866" r:id="rId14"/>
    <p:sldId id="860" r:id="rId15"/>
    <p:sldId id="849" r:id="rId16"/>
    <p:sldId id="851" r:id="rId17"/>
    <p:sldId id="877" r:id="rId18"/>
    <p:sldId id="878" r:id="rId19"/>
    <p:sldId id="879" r:id="rId20"/>
    <p:sldId id="880" r:id="rId21"/>
    <p:sldId id="881" r:id="rId22"/>
    <p:sldId id="911" r:id="rId23"/>
    <p:sldId id="263" r:id="rId24"/>
    <p:sldId id="279" r:id="rId25"/>
    <p:sldId id="910" r:id="rId26"/>
    <p:sldId id="867" r:id="rId27"/>
    <p:sldId id="883" r:id="rId28"/>
    <p:sldId id="884" r:id="rId29"/>
    <p:sldId id="885" r:id="rId30"/>
    <p:sldId id="886" r:id="rId31"/>
    <p:sldId id="887" r:id="rId32"/>
    <p:sldId id="868" r:id="rId33"/>
    <p:sldId id="869" r:id="rId34"/>
    <p:sldId id="870" r:id="rId35"/>
    <p:sldId id="888" r:id="rId36"/>
    <p:sldId id="912" r:id="rId37"/>
    <p:sldId id="909" r:id="rId38"/>
    <p:sldId id="889" r:id="rId39"/>
    <p:sldId id="890" r:id="rId40"/>
    <p:sldId id="891" r:id="rId41"/>
    <p:sldId id="871" r:id="rId42"/>
    <p:sldId id="872" r:id="rId43"/>
    <p:sldId id="873" r:id="rId44"/>
    <p:sldId id="892" r:id="rId45"/>
    <p:sldId id="893" r:id="rId46"/>
    <p:sldId id="894" r:id="rId47"/>
    <p:sldId id="895" r:id="rId48"/>
    <p:sldId id="896" r:id="rId49"/>
    <p:sldId id="897" r:id="rId50"/>
    <p:sldId id="898" r:id="rId51"/>
    <p:sldId id="899" r:id="rId52"/>
    <p:sldId id="900" r:id="rId53"/>
    <p:sldId id="874" r:id="rId54"/>
    <p:sldId id="882" r:id="rId55"/>
    <p:sldId id="876" r:id="rId56"/>
    <p:sldId id="901" r:id="rId57"/>
    <p:sldId id="903" r:id="rId58"/>
    <p:sldId id="904" r:id="rId59"/>
    <p:sldId id="905" r:id="rId60"/>
    <p:sldId id="906" r:id="rId61"/>
    <p:sldId id="858" r:id="rId62"/>
    <p:sldId id="908" r:id="rId63"/>
    <p:sldId id="859" r:id="rId64"/>
    <p:sldId id="907" r:id="rId65"/>
  </p:sldIdLst>
  <p:sldSz cx="12192000" cy="6858000"/>
  <p:notesSz cx="6797675" cy="9928225"/>
  <p:defaultTextStyle>
    <a:defPPr>
      <a:defRPr lang="en-US"/>
    </a:defPPr>
    <a:lvl1pPr marL="0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67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35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02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870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38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805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272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741" algn="l" defTabSz="60946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57"/>
    <a:srgbClr val="9B8C6D"/>
    <a:srgbClr val="EFB881"/>
    <a:srgbClr val="BB5146"/>
    <a:srgbClr val="EEA796"/>
    <a:srgbClr val="FAE8BC"/>
    <a:srgbClr val="F7DA91"/>
    <a:srgbClr val="4C4434"/>
    <a:srgbClr val="E0DBD2"/>
    <a:srgbClr val="EEE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0" autoAdjust="0"/>
    <p:restoredTop sz="96336" autoAdjust="0"/>
  </p:normalViewPr>
  <p:slideViewPr>
    <p:cSldViewPr snapToGrid="0" showGuides="1">
      <p:cViewPr>
        <p:scale>
          <a:sx n="100" d="100"/>
          <a:sy n="100" d="100"/>
        </p:scale>
        <p:origin x="1452" y="240"/>
      </p:cViewPr>
      <p:guideLst>
        <p:guide orient="horz" pos="2160"/>
        <p:guide orient="horz" pos="890"/>
        <p:guide orient="horz" pos="68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316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C2F8A-2F4E-4618-BF2C-CB48712AFAE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FB777-0D6A-46D2-ADEE-FB4A78177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9978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8DC9A-9C96-42E2-AE11-6E5999F342E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CF3C5-26C2-45DB-BD26-4E2C1CD6CE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5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today.co.kr/news/articleView.html?idxno=617797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3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401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3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322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697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66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212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0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(2261256550)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545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619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525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60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106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47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802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093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04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44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852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410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324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991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748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619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932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(2247096658)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3346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#1 : </a:t>
            </a:r>
            <a:r>
              <a:rPr lang="ko-KR" altLang="en-US" dirty="0" err="1"/>
              <a:t>교수자</a:t>
            </a:r>
            <a:r>
              <a:rPr lang="ko-KR" altLang="en-US" dirty="0"/>
              <a:t> 직접 제공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550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#1 : </a:t>
            </a:r>
            <a:r>
              <a:rPr lang="ko-KR" altLang="en-US" dirty="0" err="1"/>
              <a:t>교수자</a:t>
            </a:r>
            <a:r>
              <a:rPr lang="ko-KR" altLang="en-US" dirty="0"/>
              <a:t> 직접 제공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266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926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236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8099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2980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1195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9911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#1 Amazon, , 2026. 07. 13. </a:t>
            </a:r>
            <a:r>
              <a:rPr lang="ko-KR" altLang="en-US" dirty="0"/>
              <a:t>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508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677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#2 </a:t>
            </a:r>
            <a:r>
              <a:rPr lang="en-US" altLang="ko-KR" sz="12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Shopify</a:t>
            </a:r>
            <a:r>
              <a:rPr lang="en-US" altLang="ko-KR"/>
              <a:t>, https://www.shopify.com/kr/blog/what-is-shopify, 2026. 07. 13. </a:t>
            </a:r>
            <a:r>
              <a:rPr lang="ko-KR" altLang="en-US"/>
              <a:t>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1897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981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#3 </a:t>
            </a:r>
            <a:r>
              <a:rPr lang="ko-KR" altLang="en-US" dirty="0"/>
              <a:t>김예지</a:t>
            </a:r>
            <a:r>
              <a:rPr lang="en-US" altLang="ko-KR" dirty="0"/>
              <a:t>, </a:t>
            </a:r>
            <a:r>
              <a:rPr lang="ko-KR" altLang="en-US" dirty="0"/>
              <a:t>「</a:t>
            </a:r>
            <a:r>
              <a:rPr lang="en-US" altLang="ko-KR" dirty="0"/>
              <a:t>AI </a:t>
            </a:r>
            <a:r>
              <a:rPr lang="ko-KR" altLang="en-US" dirty="0"/>
              <a:t>시대</a:t>
            </a:r>
            <a:r>
              <a:rPr lang="en-US" altLang="ko-KR" dirty="0"/>
              <a:t>, </a:t>
            </a:r>
            <a:r>
              <a:rPr lang="ko-KR" altLang="en-US" dirty="0"/>
              <a:t>직장인 </a:t>
            </a:r>
            <a:r>
              <a:rPr lang="ko-KR" altLang="en-US" dirty="0" err="1"/>
              <a:t>생존법</a:t>
            </a:r>
            <a:r>
              <a:rPr lang="en-US" altLang="ko-KR" dirty="0"/>
              <a:t>…AI </a:t>
            </a:r>
            <a:r>
              <a:rPr lang="ko-KR" altLang="en-US" dirty="0" err="1"/>
              <a:t>리터러시가</a:t>
            </a:r>
            <a:r>
              <a:rPr lang="ko-KR" altLang="en-US" dirty="0"/>
              <a:t> 경쟁력」</a:t>
            </a:r>
            <a:r>
              <a:rPr lang="en-US" altLang="ko-KR" dirty="0"/>
              <a:t>, </a:t>
            </a:r>
            <a:r>
              <a:rPr lang="ko-KR" altLang="en-US" dirty="0" err="1"/>
              <a:t>디지털투데이</a:t>
            </a:r>
            <a:r>
              <a:rPr lang="en-US" altLang="ko-KR" dirty="0"/>
              <a:t>, </a:t>
            </a:r>
            <a:r>
              <a:rPr lang="en-US" altLang="ko-KR" dirty="0">
                <a:hlinkClick r:id="rId3"/>
              </a:rPr>
              <a:t>https://www.digitaltoday.co.kr/news/articleView.html?idxno=617797</a:t>
            </a:r>
            <a:r>
              <a:rPr lang="en-US" altLang="ko-KR" dirty="0"/>
              <a:t>, 2026. 07. 13. </a:t>
            </a:r>
            <a:r>
              <a:rPr lang="ko-KR" altLang="en-US" dirty="0"/>
              <a:t>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5806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502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(jv13686229)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619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856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#4 </a:t>
            </a:r>
            <a:r>
              <a:rPr lang="en-US" altLang="ko-KR" sz="12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Shopee</a:t>
            </a:r>
            <a:r>
              <a:rPr lang="en-US" altLang="ko-KR"/>
              <a:t>, https://shopee.vn/, 2026. 07. 13. </a:t>
            </a:r>
            <a:r>
              <a:rPr lang="ko-KR" altLang="en-US"/>
              <a:t>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9615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0286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2925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0302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(2239160766)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1490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(2269609779)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8351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8800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0742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9853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구매 이미지 사용 </a:t>
            </a:r>
            <a:r>
              <a:rPr lang="en-US" altLang="ko-KR"/>
              <a:t>– </a:t>
            </a:r>
            <a:r>
              <a:rPr lang="ko-KR" altLang="en-US"/>
              <a:t>게티이미지뱅크</a:t>
            </a:r>
            <a:r>
              <a:rPr lang="en-US" altLang="ko-KR"/>
              <a:t>(2241573366)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811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6242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246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0913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4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1.SB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91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1.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22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.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17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1.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891953" y="6537715"/>
            <a:ext cx="66115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fontAlgn="base" latinLnBrk="1" hangingPunct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위 사항에 대해 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SB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 검수를 진행하여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오류 사항을 수정하였습니다</a:t>
            </a:r>
            <a:r>
              <a:rPr lang="en-US" altLang="ko-KR" sz="1100" b="1" spc="-84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kumimoji="1"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55972385"/>
              </p:ext>
            </p:extLst>
          </p:nvPr>
        </p:nvGraphicFramePr>
        <p:xfrm>
          <a:off x="193675" y="713794"/>
          <a:ext cx="11795307" cy="579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267">
                  <a:extLst>
                    <a:ext uri="{9D8B030D-6E8A-4147-A177-3AD203B41FA5}">
                      <a16:colId xmlns:a16="http://schemas.microsoft.com/office/drawing/2014/main" val="1678077644"/>
                    </a:ext>
                  </a:extLst>
                </a:gridCol>
                <a:gridCol w="9818182">
                  <a:extLst>
                    <a:ext uri="{9D8B030D-6E8A-4147-A177-3AD203B41FA5}">
                      <a16:colId xmlns:a16="http://schemas.microsoft.com/office/drawing/2014/main" val="962460237"/>
                    </a:ext>
                  </a:extLst>
                </a:gridCol>
                <a:gridCol w="727858">
                  <a:extLst>
                    <a:ext uri="{9D8B030D-6E8A-4147-A177-3AD203B41FA5}">
                      <a16:colId xmlns:a16="http://schemas.microsoft.com/office/drawing/2014/main" val="2088860671"/>
                    </a:ext>
                  </a:extLst>
                </a:gridCol>
              </a:tblGrid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확인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(O)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68275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기본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스토리보드의 파일명 작성 규칙을 준수하였는가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(SB_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과목명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버전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(v1)_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날짜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yymmdd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6640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과목명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주차명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정보가 정확히 작성되었는가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24112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유닛명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학습내용에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오탈자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띄어쓰기 오류가 없고 영상파일명이 오류없이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683325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학습개요에서 제시하는 학습내용은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유닛정보와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일치하며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학습목표는 구체적인 행동 동사를 사용하여 기술되어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78969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학습목차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페이지에 외부 영상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경로와 편집 시간 값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있을 시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),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내용만 전체화면으로 제시되어야 하는 슬라이드 번호를 누락없이 작성하였는가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66860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개발용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페이지 번호 작성 규칙을 준수하여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_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주차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432977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출처 상세 정보가 저작물 유형별 명시 형식에 맞게 작성되어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23365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페이지별 영상에 포함된 저작물의 출처 정보가 누락없이 목록화 되어있는가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6178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페이지별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해당 목차에 오류 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누락없이 하이라이트 표시가 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362126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지시문이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누락되었거나 불완전하게 기술된 것은 없는가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학습개요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학습정리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학습평가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 등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2460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퀴즈의 문항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보기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정답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피드백을 누락없이 작성하였는가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(</a:t>
                      </a:r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학습평가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페이지 등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6298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 단위로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정리하기 내용을 제시하고 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412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촬영용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폰트 규정을 준수하여 작성되었는가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7908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유닛별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간지는 오류 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누락없이 제시되어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ko-KR" altLang="en-US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055241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슬라이드명은 학습목차명과 동일하게 작성되어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65067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가독성과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심미성을 고려하여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화면 설계가 되어 있는가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85255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학습자가 학습내용을 쉽게 이해할 수 있도록 구조화 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조직화되어 제시되었는가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2479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위계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구분을 위한 적절한 </a:t>
                      </a:r>
                      <a:r>
                        <a:rPr lang="ko-KR" altLang="en-US" sz="1100" baseline="0" dirty="0" err="1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블릿</a:t>
                      </a:r>
                      <a:r>
                        <a:rPr lang="ko-KR" altLang="en-US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사용과 들여쓰기를 하였는가</a:t>
                      </a:r>
                      <a:r>
                        <a:rPr lang="en-US" altLang="ko-KR" sz="1100" baseline="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  <a:endParaRPr lang="en-US" altLang="ko-KR" sz="1100" dirty="0">
                        <a:solidFill>
                          <a:srgbClr val="2D2D2D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13422"/>
                  </a:ext>
                </a:extLst>
              </a:tr>
              <a:tr h="28963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모든 저작물에 대해 출처 번호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(#1, #2, ...)</a:t>
                      </a:r>
                      <a:r>
                        <a:rPr lang="ko-KR" altLang="en-US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 누락없이 표시되어 있는가</a:t>
                      </a:r>
                      <a:r>
                        <a:rPr lang="en-US" altLang="ko-KR" sz="1100" dirty="0">
                          <a:solidFill>
                            <a:srgbClr val="2D2D2D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35434"/>
                  </a:ext>
                </a:extLst>
              </a:tr>
            </a:tbl>
          </a:graphicData>
        </a:graphic>
      </p:graphicFrame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11467329" y="1038526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11467329" y="1328779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11467329" y="1619032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11467329" y="1909285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467329" y="2199538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4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467329" y="2489791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텍스트 개체 틀 8"/>
          <p:cNvSpPr>
            <a:spLocks noGrp="1"/>
          </p:cNvSpPr>
          <p:nvPr>
            <p:ph type="body" sz="quarter" idx="16" hasCustomPrompt="1"/>
          </p:nvPr>
        </p:nvSpPr>
        <p:spPr>
          <a:xfrm>
            <a:off x="11467329" y="2780044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텍스트 개체 틀 8"/>
          <p:cNvSpPr>
            <a:spLocks noGrp="1"/>
          </p:cNvSpPr>
          <p:nvPr>
            <p:ph type="body" sz="quarter" idx="17" hasCustomPrompt="1"/>
          </p:nvPr>
        </p:nvSpPr>
        <p:spPr>
          <a:xfrm>
            <a:off x="11467329" y="3070297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7" name="텍스트 개체 틀 8"/>
          <p:cNvSpPr>
            <a:spLocks noGrp="1"/>
          </p:cNvSpPr>
          <p:nvPr>
            <p:ph type="body" sz="quarter" idx="18" hasCustomPrompt="1"/>
          </p:nvPr>
        </p:nvSpPr>
        <p:spPr>
          <a:xfrm>
            <a:off x="11467329" y="3360550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8" name="텍스트 개체 틀 8"/>
          <p:cNvSpPr>
            <a:spLocks noGrp="1"/>
          </p:cNvSpPr>
          <p:nvPr>
            <p:ph type="body" sz="quarter" idx="19" hasCustomPrompt="1"/>
          </p:nvPr>
        </p:nvSpPr>
        <p:spPr>
          <a:xfrm>
            <a:off x="11467329" y="3650803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9" name="텍스트 개체 틀 8"/>
          <p:cNvSpPr>
            <a:spLocks noGrp="1"/>
          </p:cNvSpPr>
          <p:nvPr>
            <p:ph type="body" sz="quarter" idx="20" hasCustomPrompt="1"/>
          </p:nvPr>
        </p:nvSpPr>
        <p:spPr>
          <a:xfrm>
            <a:off x="11467329" y="3941056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0" name="텍스트 개체 틀 8"/>
          <p:cNvSpPr>
            <a:spLocks noGrp="1"/>
          </p:cNvSpPr>
          <p:nvPr>
            <p:ph type="body" sz="quarter" idx="21" hasCustomPrompt="1"/>
          </p:nvPr>
        </p:nvSpPr>
        <p:spPr>
          <a:xfrm>
            <a:off x="11467329" y="4231309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1" name="텍스트 개체 틀 8"/>
          <p:cNvSpPr>
            <a:spLocks noGrp="1"/>
          </p:cNvSpPr>
          <p:nvPr>
            <p:ph type="body" sz="quarter" idx="22" hasCustomPrompt="1"/>
          </p:nvPr>
        </p:nvSpPr>
        <p:spPr>
          <a:xfrm>
            <a:off x="11467329" y="4521562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2" name="텍스트 개체 틀 8"/>
          <p:cNvSpPr>
            <a:spLocks noGrp="1"/>
          </p:cNvSpPr>
          <p:nvPr>
            <p:ph type="body" sz="quarter" idx="23" hasCustomPrompt="1"/>
          </p:nvPr>
        </p:nvSpPr>
        <p:spPr>
          <a:xfrm>
            <a:off x="11467329" y="4811815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텍스트 개체 틀 8"/>
          <p:cNvSpPr>
            <a:spLocks noGrp="1"/>
          </p:cNvSpPr>
          <p:nvPr>
            <p:ph type="body" sz="quarter" idx="24" hasCustomPrompt="1"/>
          </p:nvPr>
        </p:nvSpPr>
        <p:spPr>
          <a:xfrm>
            <a:off x="11467329" y="5102068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텍스트 개체 틀 8"/>
          <p:cNvSpPr>
            <a:spLocks noGrp="1"/>
          </p:cNvSpPr>
          <p:nvPr>
            <p:ph type="body" sz="quarter" idx="25" hasCustomPrompt="1"/>
          </p:nvPr>
        </p:nvSpPr>
        <p:spPr>
          <a:xfrm>
            <a:off x="11467329" y="5392321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7" name="텍스트 개체 틀 8"/>
          <p:cNvSpPr>
            <a:spLocks noGrp="1"/>
          </p:cNvSpPr>
          <p:nvPr>
            <p:ph type="body" sz="quarter" idx="27" hasCustomPrompt="1"/>
          </p:nvPr>
        </p:nvSpPr>
        <p:spPr>
          <a:xfrm>
            <a:off x="11467329" y="5682574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텍스트 개체 틀 8">
            <a:extLst>
              <a:ext uri="{FF2B5EF4-FFF2-40B4-BE49-F238E27FC236}">
                <a16:creationId xmlns:a16="http://schemas.microsoft.com/office/drawing/2014/main" id="{8CF5B91C-DB2C-44A7-8F99-A0B0463EE5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67329" y="5972827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8" name="텍스트 개체 틀 8">
            <a:extLst>
              <a:ext uri="{FF2B5EF4-FFF2-40B4-BE49-F238E27FC236}">
                <a16:creationId xmlns:a16="http://schemas.microsoft.com/office/drawing/2014/main" id="{9201DD42-0D40-47A5-8851-EBACF7D5B8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67329" y="6263073"/>
            <a:ext cx="337492" cy="19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50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.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B6193-2876-4C54-8120-85EB57985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790575"/>
            <a:ext cx="11804650" cy="51149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2D2D2D"/>
                </a:solidFill>
              </a:defRPr>
            </a:lvl1pPr>
            <a:lvl2pPr marL="447675" indent="-228600">
              <a:defRPr/>
            </a:lvl2pPr>
          </a:lstStyle>
          <a:p>
            <a:pPr lvl="0"/>
            <a:r>
              <a:rPr lang="ko-KR" altLang="en-US" dirty="0"/>
              <a:t>슬라이드 노트에 기입한 출처 전체를 취합하여 작성함</a:t>
            </a:r>
            <a:r>
              <a:rPr lang="en-US" altLang="ko-KR" dirty="0"/>
              <a:t>(</a:t>
            </a:r>
            <a:r>
              <a:rPr lang="ko-KR" altLang="en-US" dirty="0" err="1"/>
              <a:t>구매이미지</a:t>
            </a:r>
            <a:r>
              <a:rPr lang="en-US" altLang="ko-KR" dirty="0"/>
              <a:t>/AI</a:t>
            </a:r>
            <a:r>
              <a:rPr lang="ko-KR" altLang="en-US" dirty="0" err="1"/>
              <a:t>생성이미지</a:t>
            </a:r>
            <a:r>
              <a:rPr lang="ko-KR" altLang="en-US" dirty="0"/>
              <a:t> 제외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24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68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1.SB작성안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18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8ED8C1-A880-366E-1AA5-F8D6818F7C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6" name="자유형 5">
            <a:extLst>
              <a:ext uri="{FF2B5EF4-FFF2-40B4-BE49-F238E27FC236}">
                <a16:creationId xmlns:a16="http://schemas.microsoft.com/office/drawing/2014/main" id="{B6E393E3-DA6E-7BED-7621-AF52E7B815FE}"/>
              </a:ext>
            </a:extLst>
          </p:cNvPr>
          <p:cNvSpPr/>
          <p:nvPr userDrawn="1"/>
        </p:nvSpPr>
        <p:spPr>
          <a:xfrm>
            <a:off x="354531" y="375385"/>
            <a:ext cx="11482939" cy="442762"/>
          </a:xfrm>
          <a:custGeom>
            <a:avLst/>
            <a:gdLst>
              <a:gd name="connsiteX0" fmla="*/ 277379 w 11482939"/>
              <a:gd name="connsiteY0" fmla="*/ 0 h 442762"/>
              <a:gd name="connsiteX1" fmla="*/ 11205560 w 11482939"/>
              <a:gd name="connsiteY1" fmla="*/ 0 h 442762"/>
              <a:gd name="connsiteX2" fmla="*/ 11482939 w 11482939"/>
              <a:gd name="connsiteY2" fmla="*/ 277379 h 442762"/>
              <a:gd name="connsiteX3" fmla="*/ 11482939 w 11482939"/>
              <a:gd name="connsiteY3" fmla="*/ 442762 h 442762"/>
              <a:gd name="connsiteX4" fmla="*/ 0 w 11482939"/>
              <a:gd name="connsiteY4" fmla="*/ 442762 h 442762"/>
              <a:gd name="connsiteX5" fmla="*/ 0 w 11482939"/>
              <a:gd name="connsiteY5" fmla="*/ 277379 h 442762"/>
              <a:gd name="connsiteX6" fmla="*/ 277379 w 11482939"/>
              <a:gd name="connsiteY6" fmla="*/ 0 h 44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2939" h="442762">
                <a:moveTo>
                  <a:pt x="277379" y="0"/>
                </a:moveTo>
                <a:lnTo>
                  <a:pt x="11205560" y="0"/>
                </a:lnTo>
                <a:cubicBezTo>
                  <a:pt x="11358752" y="0"/>
                  <a:pt x="11482939" y="124187"/>
                  <a:pt x="11482939" y="277379"/>
                </a:cubicBezTo>
                <a:lnTo>
                  <a:pt x="11482939" y="442762"/>
                </a:lnTo>
                <a:lnTo>
                  <a:pt x="0" y="442762"/>
                </a:lnTo>
                <a:lnTo>
                  <a:pt x="0" y="277379"/>
                </a:lnTo>
                <a:cubicBezTo>
                  <a:pt x="0" y="124187"/>
                  <a:pt x="124187" y="0"/>
                  <a:pt x="277379" y="0"/>
                </a:cubicBezTo>
                <a:close/>
              </a:path>
            </a:pathLst>
          </a:custGeom>
          <a:solidFill>
            <a:srgbClr val="4C4434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7" name="자유형 6">
            <a:extLst>
              <a:ext uri="{FF2B5EF4-FFF2-40B4-BE49-F238E27FC236}">
                <a16:creationId xmlns:a16="http://schemas.microsoft.com/office/drawing/2014/main" id="{21533713-2D87-8205-C39E-C9F5DA20BF98}"/>
              </a:ext>
            </a:extLst>
          </p:cNvPr>
          <p:cNvSpPr/>
          <p:nvPr userDrawn="1"/>
        </p:nvSpPr>
        <p:spPr>
          <a:xfrm>
            <a:off x="354531" y="825671"/>
            <a:ext cx="11482939" cy="5508454"/>
          </a:xfrm>
          <a:custGeom>
            <a:avLst/>
            <a:gdLst>
              <a:gd name="connsiteX0" fmla="*/ 0 w 11482939"/>
              <a:gd name="connsiteY0" fmla="*/ 0 h 5630780"/>
              <a:gd name="connsiteX1" fmla="*/ 11482939 w 11482939"/>
              <a:gd name="connsiteY1" fmla="*/ 0 h 5630780"/>
              <a:gd name="connsiteX2" fmla="*/ 11482939 w 11482939"/>
              <a:gd name="connsiteY2" fmla="*/ 5353401 h 5630780"/>
              <a:gd name="connsiteX3" fmla="*/ 11205560 w 11482939"/>
              <a:gd name="connsiteY3" fmla="*/ 5630780 h 5630780"/>
              <a:gd name="connsiteX4" fmla="*/ 277379 w 11482939"/>
              <a:gd name="connsiteY4" fmla="*/ 5630780 h 5630780"/>
              <a:gd name="connsiteX5" fmla="*/ 0 w 11482939"/>
              <a:gd name="connsiteY5" fmla="*/ 5353401 h 5630780"/>
              <a:gd name="connsiteX6" fmla="*/ 0 w 11482939"/>
              <a:gd name="connsiteY6" fmla="*/ 0 h 563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2939" h="5630780">
                <a:moveTo>
                  <a:pt x="0" y="0"/>
                </a:moveTo>
                <a:lnTo>
                  <a:pt x="11482939" y="0"/>
                </a:lnTo>
                <a:lnTo>
                  <a:pt x="11482939" y="5353401"/>
                </a:lnTo>
                <a:cubicBezTo>
                  <a:pt x="11482939" y="5506593"/>
                  <a:pt x="11358752" y="5630780"/>
                  <a:pt x="11205560" y="5630780"/>
                </a:cubicBezTo>
                <a:lnTo>
                  <a:pt x="277379" y="5630780"/>
                </a:lnTo>
                <a:cubicBezTo>
                  <a:pt x="124187" y="5630780"/>
                  <a:pt x="0" y="5506593"/>
                  <a:pt x="0" y="535340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/>
              <a:t>\</a:t>
            </a:r>
            <a:endParaRPr kumimoji="1"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F983CEE-08B1-EB35-C8B6-0B194B5552FB}"/>
              </a:ext>
            </a:extLst>
          </p:cNvPr>
          <p:cNvGrpSpPr/>
          <p:nvPr userDrawn="1"/>
        </p:nvGrpSpPr>
        <p:grpSpPr>
          <a:xfrm>
            <a:off x="596767" y="548640"/>
            <a:ext cx="400107" cy="96252"/>
            <a:chOff x="1819175" y="1703672"/>
            <a:chExt cx="680185" cy="163629"/>
          </a:xfrm>
          <a:solidFill>
            <a:schemeClr val="bg1"/>
          </a:solid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11C1B67-62E4-AF53-ABEE-8F46DDCB4AA4}"/>
                </a:ext>
              </a:extLst>
            </p:cNvPr>
            <p:cNvSpPr/>
            <p:nvPr/>
          </p:nvSpPr>
          <p:spPr>
            <a:xfrm>
              <a:off x="1819175" y="1703672"/>
              <a:ext cx="163629" cy="163629"/>
            </a:xfrm>
            <a:prstGeom prst="ellipse">
              <a:avLst/>
            </a:prstGeom>
            <a:solidFill>
              <a:srgbClr val="F5CD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288A99B-7C06-C33C-89D1-60ACA5F3FDC0}"/>
                </a:ext>
              </a:extLst>
            </p:cNvPr>
            <p:cNvSpPr/>
            <p:nvPr/>
          </p:nvSpPr>
          <p:spPr>
            <a:xfrm>
              <a:off x="2077453" y="1703672"/>
              <a:ext cx="163629" cy="163629"/>
            </a:xfrm>
            <a:prstGeom prst="ellipse">
              <a:avLst/>
            </a:prstGeom>
            <a:solidFill>
              <a:srgbClr val="C5DA8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414FAAD-1C5C-7DCE-B50B-DAFA57BF823D}"/>
                </a:ext>
              </a:extLst>
            </p:cNvPr>
            <p:cNvSpPr/>
            <p:nvPr/>
          </p:nvSpPr>
          <p:spPr>
            <a:xfrm>
              <a:off x="2335731" y="1703672"/>
              <a:ext cx="163629" cy="163629"/>
            </a:xfrm>
            <a:prstGeom prst="ellipse">
              <a:avLst/>
            </a:prstGeom>
            <a:solidFill>
              <a:srgbClr val="F7DA9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4D1EA34-E90A-56CB-D024-B215B8722401}"/>
              </a:ext>
            </a:extLst>
          </p:cNvPr>
          <p:cNvGrpSpPr/>
          <p:nvPr userDrawn="1"/>
        </p:nvGrpSpPr>
        <p:grpSpPr>
          <a:xfrm>
            <a:off x="11079702" y="548639"/>
            <a:ext cx="507064" cy="119741"/>
            <a:chOff x="10972799" y="531393"/>
            <a:chExt cx="580099" cy="13698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5F3BE4C-8FA0-B974-1B6E-F5BC7F775874}"/>
                </a:ext>
              </a:extLst>
            </p:cNvPr>
            <p:cNvGrpSpPr/>
            <p:nvPr/>
          </p:nvGrpSpPr>
          <p:grpSpPr>
            <a:xfrm>
              <a:off x="11420671" y="531393"/>
              <a:ext cx="132227" cy="136988"/>
              <a:chOff x="5595676" y="3684320"/>
              <a:chExt cx="225292" cy="229464"/>
            </a:xfrm>
            <a:solidFill>
              <a:schemeClr val="bg1"/>
            </a:solidFill>
          </p:grpSpPr>
          <p:sp>
            <p:nvSpPr>
              <p:cNvPr id="14" name="Freeform 324">
                <a:extLst>
                  <a:ext uri="{FF2B5EF4-FFF2-40B4-BE49-F238E27FC236}">
                    <a16:creationId xmlns:a16="http://schemas.microsoft.com/office/drawing/2014/main" id="{0E62724D-2418-380B-388D-A045C7BCA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9848" y="3684320"/>
                <a:ext cx="221120" cy="223206"/>
              </a:xfrm>
              <a:custGeom>
                <a:avLst/>
                <a:gdLst>
                  <a:gd name="T0" fmla="*/ 92 w 106"/>
                  <a:gd name="T1" fmla="*/ 107 h 107"/>
                  <a:gd name="T2" fmla="*/ 0 w 106"/>
                  <a:gd name="T3" fmla="*/ 14 h 107"/>
                  <a:gd name="T4" fmla="*/ 14 w 106"/>
                  <a:gd name="T5" fmla="*/ 0 h 107"/>
                  <a:gd name="T6" fmla="*/ 106 w 106"/>
                  <a:gd name="T7" fmla="*/ 93 h 107"/>
                  <a:gd name="T8" fmla="*/ 92 w 106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07">
                    <a:moveTo>
                      <a:pt x="92" y="107"/>
                    </a:moveTo>
                    <a:lnTo>
                      <a:pt x="0" y="14"/>
                    </a:lnTo>
                    <a:lnTo>
                      <a:pt x="14" y="0"/>
                    </a:lnTo>
                    <a:lnTo>
                      <a:pt x="106" y="93"/>
                    </a:lnTo>
                    <a:lnTo>
                      <a:pt x="92" y="1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325">
                <a:extLst>
                  <a:ext uri="{FF2B5EF4-FFF2-40B4-BE49-F238E27FC236}">
                    <a16:creationId xmlns:a16="http://schemas.microsoft.com/office/drawing/2014/main" id="{28FD164F-EFD7-E9BE-4D48-E0CDD4A87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5676" y="3688492"/>
                <a:ext cx="225292" cy="225292"/>
              </a:xfrm>
              <a:custGeom>
                <a:avLst/>
                <a:gdLst>
                  <a:gd name="T0" fmla="*/ 14 w 108"/>
                  <a:gd name="T1" fmla="*/ 108 h 108"/>
                  <a:gd name="T2" fmla="*/ 0 w 108"/>
                  <a:gd name="T3" fmla="*/ 94 h 108"/>
                  <a:gd name="T4" fmla="*/ 94 w 108"/>
                  <a:gd name="T5" fmla="*/ 0 h 108"/>
                  <a:gd name="T6" fmla="*/ 108 w 108"/>
                  <a:gd name="T7" fmla="*/ 14 h 108"/>
                  <a:gd name="T8" fmla="*/ 14 w 108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08">
                    <a:moveTo>
                      <a:pt x="14" y="108"/>
                    </a:moveTo>
                    <a:lnTo>
                      <a:pt x="0" y="94"/>
                    </a:lnTo>
                    <a:lnTo>
                      <a:pt x="94" y="0"/>
                    </a:lnTo>
                    <a:lnTo>
                      <a:pt x="108" y="14"/>
                    </a:lnTo>
                    <a:lnTo>
                      <a:pt x="1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387C757-F88E-381E-4075-8D568478B90B}"/>
                </a:ext>
              </a:extLst>
            </p:cNvPr>
            <p:cNvSpPr/>
            <p:nvPr/>
          </p:nvSpPr>
          <p:spPr>
            <a:xfrm>
              <a:off x="11210480" y="539766"/>
              <a:ext cx="116511" cy="11650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22">
              <a:extLst>
                <a:ext uri="{FF2B5EF4-FFF2-40B4-BE49-F238E27FC236}">
                  <a16:creationId xmlns:a16="http://schemas.microsoft.com/office/drawing/2014/main" id="{52C8ABB0-E4C8-4719-4600-25DCE5D7CF73}"/>
                </a:ext>
              </a:extLst>
            </p:cNvPr>
            <p:cNvCxnSpPr/>
            <p:nvPr/>
          </p:nvCxnSpPr>
          <p:spPr>
            <a:xfrm>
              <a:off x="10972799" y="664645"/>
              <a:ext cx="144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856BB3C-C185-945B-F1A7-359C04E1F4A8}"/>
              </a:ext>
            </a:extLst>
          </p:cNvPr>
          <p:cNvGrpSpPr/>
          <p:nvPr userDrawn="1"/>
        </p:nvGrpSpPr>
        <p:grpSpPr>
          <a:xfrm>
            <a:off x="724693" y="2029730"/>
            <a:ext cx="583412" cy="442763"/>
            <a:chOff x="878417" y="2772247"/>
            <a:chExt cx="1625599" cy="1233698"/>
          </a:xfrm>
        </p:grpSpPr>
        <p:sp>
          <p:nvSpPr>
            <p:cNvPr id="25" name="한쪽 모서리는 잘리고 다른 쪽 모서리는 둥근 사각형 43">
              <a:extLst>
                <a:ext uri="{FF2B5EF4-FFF2-40B4-BE49-F238E27FC236}">
                  <a16:creationId xmlns:a16="http://schemas.microsoft.com/office/drawing/2014/main" id="{C9E24446-0AD9-7EC3-837E-4F2C9984C9D3}"/>
                </a:ext>
              </a:extLst>
            </p:cNvPr>
            <p:cNvSpPr/>
            <p:nvPr/>
          </p:nvSpPr>
          <p:spPr>
            <a:xfrm>
              <a:off x="878417" y="2772247"/>
              <a:ext cx="888274" cy="339881"/>
            </a:xfrm>
            <a:prstGeom prst="snipRoundRect">
              <a:avLst>
                <a:gd name="adj1" fmla="val 36691"/>
                <a:gd name="adj2" fmla="val 50000"/>
              </a:avLst>
            </a:prstGeom>
            <a:solidFill>
              <a:srgbClr val="EFB881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0"/>
              </a:endParaRPr>
            </a:p>
          </p:txBody>
        </p:sp>
        <p:sp>
          <p:nvSpPr>
            <p:cNvPr id="26" name="모서리가 둥근 직사각형 44">
              <a:extLst>
                <a:ext uri="{FF2B5EF4-FFF2-40B4-BE49-F238E27FC236}">
                  <a16:creationId xmlns:a16="http://schemas.microsoft.com/office/drawing/2014/main" id="{98A2D6A4-D359-E2CC-9CAC-502A3CD9D4E9}"/>
                </a:ext>
              </a:extLst>
            </p:cNvPr>
            <p:cNvSpPr/>
            <p:nvPr/>
          </p:nvSpPr>
          <p:spPr>
            <a:xfrm>
              <a:off x="878417" y="2947138"/>
              <a:ext cx="1625599" cy="1058807"/>
            </a:xfrm>
            <a:prstGeom prst="roundRect">
              <a:avLst>
                <a:gd name="adj" fmla="val 11802"/>
              </a:avLst>
            </a:prstGeom>
            <a:solidFill>
              <a:srgbClr val="FAE8BC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0E2AC2-CD1F-4140-0F57-C1046C9CC433}"/>
              </a:ext>
            </a:extLst>
          </p:cNvPr>
          <p:cNvGrpSpPr/>
          <p:nvPr userDrawn="1"/>
        </p:nvGrpSpPr>
        <p:grpSpPr>
          <a:xfrm>
            <a:off x="354529" y="825671"/>
            <a:ext cx="11482940" cy="442762"/>
            <a:chOff x="354529" y="825671"/>
            <a:chExt cx="11482940" cy="44276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A5FEDF-43F4-0514-0ED5-7B07EC297C53}"/>
                </a:ext>
              </a:extLst>
            </p:cNvPr>
            <p:cNvSpPr/>
            <p:nvPr/>
          </p:nvSpPr>
          <p:spPr>
            <a:xfrm>
              <a:off x="354529" y="825671"/>
              <a:ext cx="2296800" cy="442762"/>
            </a:xfrm>
            <a:prstGeom prst="rect">
              <a:avLst/>
            </a:prstGeom>
            <a:solidFill>
              <a:srgbClr val="EFB881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1" indent="0" algn="ctr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Global AI Commerce</a:t>
              </a:r>
              <a:endParaRPr kumimoji="0" lang="ko-KR" altLang="en-US" sz="1400" b="0" i="0" u="none" strike="noStrike" kern="1200" cap="none" spc="0" normalizeH="0" baseline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81AC784-A06C-BA57-DADD-EFF39CC7ABF5}"/>
                </a:ext>
              </a:extLst>
            </p:cNvPr>
            <p:cNvGrpSpPr/>
            <p:nvPr userDrawn="1"/>
          </p:nvGrpSpPr>
          <p:grpSpPr>
            <a:xfrm>
              <a:off x="2652184" y="825671"/>
              <a:ext cx="9185285" cy="442762"/>
              <a:chOff x="2652184" y="825671"/>
              <a:chExt cx="11480081" cy="442762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7D5B6CE-917A-C531-953B-DEF3866D94D5}"/>
                  </a:ext>
                </a:extLst>
              </p:cNvPr>
              <p:cNvSpPr/>
              <p:nvPr userDrawn="1"/>
            </p:nvSpPr>
            <p:spPr>
              <a:xfrm>
                <a:off x="2652184" y="825671"/>
                <a:ext cx="2296800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Index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58BB701-D070-3432-ED70-118D8FD90E25}"/>
                  </a:ext>
                </a:extLst>
              </p:cNvPr>
              <p:cNvSpPr/>
              <p:nvPr userDrawn="1"/>
            </p:nvSpPr>
            <p:spPr>
              <a:xfrm>
                <a:off x="4949839" y="825671"/>
                <a:ext cx="2296800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Predictive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EDA925C-8645-0E06-DC36-86D8CE9235E5}"/>
                  </a:ext>
                </a:extLst>
              </p:cNvPr>
              <p:cNvSpPr/>
              <p:nvPr userDrawn="1"/>
            </p:nvSpPr>
            <p:spPr>
              <a:xfrm>
                <a:off x="7247494" y="825671"/>
                <a:ext cx="2296800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Conversational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D06A416-4E11-BE03-C2C7-0600355D10F4}"/>
                  </a:ext>
                </a:extLst>
              </p:cNvPr>
              <p:cNvSpPr/>
              <p:nvPr userDrawn="1"/>
            </p:nvSpPr>
            <p:spPr>
              <a:xfrm>
                <a:off x="9540284" y="825671"/>
                <a:ext cx="2296800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Visual Search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3BFFA60-F412-8E7D-CDFF-AC4C65C23DAD}"/>
                  </a:ext>
                </a:extLst>
              </p:cNvPr>
              <p:cNvSpPr/>
              <p:nvPr userDrawn="1"/>
            </p:nvSpPr>
            <p:spPr>
              <a:xfrm>
                <a:off x="11835465" y="825671"/>
                <a:ext cx="2296800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Visual Search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</p:grpSp>
      </p:grpSp>
      <p:pic>
        <p:nvPicPr>
          <p:cNvPr id="44" name="그래픽 43">
            <a:extLst>
              <a:ext uri="{FF2B5EF4-FFF2-40B4-BE49-F238E27FC236}">
                <a16:creationId xmlns:a16="http://schemas.microsoft.com/office/drawing/2014/main" id="{67BA36DB-991C-74C2-7501-9D282A65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4654" y="2016435"/>
            <a:ext cx="7292654" cy="4305626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51B8C28A-2ED2-8D55-DCEE-4FAED1C8AB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951" y="1553449"/>
            <a:ext cx="2311910" cy="2601608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9821D253-557E-8A05-3603-1291D8B6BAE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7377" y="4072056"/>
            <a:ext cx="4435174" cy="2262387"/>
          </a:xfrm>
          <a:prstGeom prst="rect">
            <a:avLst/>
          </a:prstGeom>
        </p:spPr>
      </p:pic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A1D464E-6F92-1F27-B385-A66F1A66149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47688" y="2366457"/>
            <a:ext cx="7253930" cy="121863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tabLst/>
              <a:defRPr lang="ko-KR" altLang="en-US" sz="6000" b="0" kern="12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302A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28450" lvl="0" indent="-228450" defTabSz="914400" latinLnBrk="0">
              <a:lnSpc>
                <a:spcPct val="110000"/>
              </a:lnSpc>
            </a:pPr>
            <a:r>
              <a:rPr lang="ko-KR" altLang="en-US" dirty="0"/>
              <a:t>유닛명</a:t>
            </a:r>
          </a:p>
        </p:txBody>
      </p:sp>
    </p:spTree>
    <p:extLst>
      <p:ext uri="{BB962C8B-B14F-4D97-AF65-F5344CB8AC3E}">
        <p14:creationId xmlns:p14="http://schemas.microsoft.com/office/powerpoint/2010/main" val="424432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19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.SB작성안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69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8ED8C1-A880-366E-1AA5-F8D6818F7C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D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6" name="자유형 5">
            <a:extLst>
              <a:ext uri="{FF2B5EF4-FFF2-40B4-BE49-F238E27FC236}">
                <a16:creationId xmlns:a16="http://schemas.microsoft.com/office/drawing/2014/main" id="{B6E393E3-DA6E-7BED-7621-AF52E7B815FE}"/>
              </a:ext>
            </a:extLst>
          </p:cNvPr>
          <p:cNvSpPr/>
          <p:nvPr userDrawn="1"/>
        </p:nvSpPr>
        <p:spPr>
          <a:xfrm>
            <a:off x="354531" y="375385"/>
            <a:ext cx="11482939" cy="442762"/>
          </a:xfrm>
          <a:custGeom>
            <a:avLst/>
            <a:gdLst>
              <a:gd name="connsiteX0" fmla="*/ 277379 w 11482939"/>
              <a:gd name="connsiteY0" fmla="*/ 0 h 442762"/>
              <a:gd name="connsiteX1" fmla="*/ 11205560 w 11482939"/>
              <a:gd name="connsiteY1" fmla="*/ 0 h 442762"/>
              <a:gd name="connsiteX2" fmla="*/ 11482939 w 11482939"/>
              <a:gd name="connsiteY2" fmla="*/ 277379 h 442762"/>
              <a:gd name="connsiteX3" fmla="*/ 11482939 w 11482939"/>
              <a:gd name="connsiteY3" fmla="*/ 442762 h 442762"/>
              <a:gd name="connsiteX4" fmla="*/ 0 w 11482939"/>
              <a:gd name="connsiteY4" fmla="*/ 442762 h 442762"/>
              <a:gd name="connsiteX5" fmla="*/ 0 w 11482939"/>
              <a:gd name="connsiteY5" fmla="*/ 277379 h 442762"/>
              <a:gd name="connsiteX6" fmla="*/ 277379 w 11482939"/>
              <a:gd name="connsiteY6" fmla="*/ 0 h 442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2939" h="442762">
                <a:moveTo>
                  <a:pt x="277379" y="0"/>
                </a:moveTo>
                <a:lnTo>
                  <a:pt x="11205560" y="0"/>
                </a:lnTo>
                <a:cubicBezTo>
                  <a:pt x="11358752" y="0"/>
                  <a:pt x="11482939" y="124187"/>
                  <a:pt x="11482939" y="277379"/>
                </a:cubicBezTo>
                <a:lnTo>
                  <a:pt x="11482939" y="442762"/>
                </a:lnTo>
                <a:lnTo>
                  <a:pt x="0" y="442762"/>
                </a:lnTo>
                <a:lnTo>
                  <a:pt x="0" y="277379"/>
                </a:lnTo>
                <a:cubicBezTo>
                  <a:pt x="0" y="124187"/>
                  <a:pt x="124187" y="0"/>
                  <a:pt x="277379" y="0"/>
                </a:cubicBezTo>
                <a:close/>
              </a:path>
            </a:pathLst>
          </a:custGeom>
          <a:solidFill>
            <a:srgbClr val="4C4434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7" name="자유형 6">
            <a:extLst>
              <a:ext uri="{FF2B5EF4-FFF2-40B4-BE49-F238E27FC236}">
                <a16:creationId xmlns:a16="http://schemas.microsoft.com/office/drawing/2014/main" id="{21533713-2D87-8205-C39E-C9F5DA20BF98}"/>
              </a:ext>
            </a:extLst>
          </p:cNvPr>
          <p:cNvSpPr/>
          <p:nvPr userDrawn="1"/>
        </p:nvSpPr>
        <p:spPr>
          <a:xfrm>
            <a:off x="354531" y="825671"/>
            <a:ext cx="11482939" cy="5508454"/>
          </a:xfrm>
          <a:custGeom>
            <a:avLst/>
            <a:gdLst>
              <a:gd name="connsiteX0" fmla="*/ 0 w 11482939"/>
              <a:gd name="connsiteY0" fmla="*/ 0 h 5630780"/>
              <a:gd name="connsiteX1" fmla="*/ 11482939 w 11482939"/>
              <a:gd name="connsiteY1" fmla="*/ 0 h 5630780"/>
              <a:gd name="connsiteX2" fmla="*/ 11482939 w 11482939"/>
              <a:gd name="connsiteY2" fmla="*/ 5353401 h 5630780"/>
              <a:gd name="connsiteX3" fmla="*/ 11205560 w 11482939"/>
              <a:gd name="connsiteY3" fmla="*/ 5630780 h 5630780"/>
              <a:gd name="connsiteX4" fmla="*/ 277379 w 11482939"/>
              <a:gd name="connsiteY4" fmla="*/ 5630780 h 5630780"/>
              <a:gd name="connsiteX5" fmla="*/ 0 w 11482939"/>
              <a:gd name="connsiteY5" fmla="*/ 5353401 h 5630780"/>
              <a:gd name="connsiteX6" fmla="*/ 0 w 11482939"/>
              <a:gd name="connsiteY6" fmla="*/ 0 h 563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2939" h="5630780">
                <a:moveTo>
                  <a:pt x="0" y="0"/>
                </a:moveTo>
                <a:lnTo>
                  <a:pt x="11482939" y="0"/>
                </a:lnTo>
                <a:lnTo>
                  <a:pt x="11482939" y="5353401"/>
                </a:lnTo>
                <a:cubicBezTo>
                  <a:pt x="11482939" y="5506593"/>
                  <a:pt x="11358752" y="5630780"/>
                  <a:pt x="11205560" y="5630780"/>
                </a:cubicBezTo>
                <a:lnTo>
                  <a:pt x="277379" y="5630780"/>
                </a:lnTo>
                <a:cubicBezTo>
                  <a:pt x="124187" y="5630780"/>
                  <a:pt x="0" y="5506593"/>
                  <a:pt x="0" y="535340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/>
              <a:t>\</a:t>
            </a:r>
            <a:endParaRPr kumimoji="1"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F983CEE-08B1-EB35-C8B6-0B194B5552FB}"/>
              </a:ext>
            </a:extLst>
          </p:cNvPr>
          <p:cNvGrpSpPr/>
          <p:nvPr userDrawn="1"/>
        </p:nvGrpSpPr>
        <p:grpSpPr>
          <a:xfrm>
            <a:off x="596767" y="548640"/>
            <a:ext cx="400107" cy="96252"/>
            <a:chOff x="1819175" y="1703672"/>
            <a:chExt cx="680185" cy="163629"/>
          </a:xfrm>
          <a:solidFill>
            <a:schemeClr val="bg1"/>
          </a:solid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11C1B67-62E4-AF53-ABEE-8F46DDCB4AA4}"/>
                </a:ext>
              </a:extLst>
            </p:cNvPr>
            <p:cNvSpPr/>
            <p:nvPr/>
          </p:nvSpPr>
          <p:spPr>
            <a:xfrm>
              <a:off x="1819175" y="1703672"/>
              <a:ext cx="163629" cy="163629"/>
            </a:xfrm>
            <a:prstGeom prst="ellipse">
              <a:avLst/>
            </a:prstGeom>
            <a:solidFill>
              <a:srgbClr val="F5CD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288A99B-7C06-C33C-89D1-60ACA5F3FDC0}"/>
                </a:ext>
              </a:extLst>
            </p:cNvPr>
            <p:cNvSpPr/>
            <p:nvPr/>
          </p:nvSpPr>
          <p:spPr>
            <a:xfrm>
              <a:off x="2077453" y="1703672"/>
              <a:ext cx="163629" cy="163629"/>
            </a:xfrm>
            <a:prstGeom prst="ellipse">
              <a:avLst/>
            </a:prstGeom>
            <a:solidFill>
              <a:srgbClr val="C5DA8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414FAAD-1C5C-7DCE-B50B-DAFA57BF823D}"/>
                </a:ext>
              </a:extLst>
            </p:cNvPr>
            <p:cNvSpPr/>
            <p:nvPr/>
          </p:nvSpPr>
          <p:spPr>
            <a:xfrm>
              <a:off x="2335731" y="1703672"/>
              <a:ext cx="163629" cy="163629"/>
            </a:xfrm>
            <a:prstGeom prst="ellipse">
              <a:avLst/>
            </a:prstGeom>
            <a:solidFill>
              <a:srgbClr val="F7DA9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4D1EA34-E90A-56CB-D024-B215B8722401}"/>
              </a:ext>
            </a:extLst>
          </p:cNvPr>
          <p:cNvGrpSpPr/>
          <p:nvPr userDrawn="1"/>
        </p:nvGrpSpPr>
        <p:grpSpPr>
          <a:xfrm>
            <a:off x="11079702" y="548639"/>
            <a:ext cx="507064" cy="119741"/>
            <a:chOff x="10972799" y="531393"/>
            <a:chExt cx="580099" cy="13698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5F3BE4C-8FA0-B974-1B6E-F5BC7F775874}"/>
                </a:ext>
              </a:extLst>
            </p:cNvPr>
            <p:cNvGrpSpPr/>
            <p:nvPr/>
          </p:nvGrpSpPr>
          <p:grpSpPr>
            <a:xfrm>
              <a:off x="11420671" y="531393"/>
              <a:ext cx="132227" cy="136988"/>
              <a:chOff x="5595676" y="3684320"/>
              <a:chExt cx="225292" cy="229464"/>
            </a:xfrm>
            <a:solidFill>
              <a:schemeClr val="bg1"/>
            </a:solidFill>
          </p:grpSpPr>
          <p:sp>
            <p:nvSpPr>
              <p:cNvPr id="14" name="Freeform 324">
                <a:extLst>
                  <a:ext uri="{FF2B5EF4-FFF2-40B4-BE49-F238E27FC236}">
                    <a16:creationId xmlns:a16="http://schemas.microsoft.com/office/drawing/2014/main" id="{0E62724D-2418-380B-388D-A045C7BCA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9848" y="3684320"/>
                <a:ext cx="221120" cy="223206"/>
              </a:xfrm>
              <a:custGeom>
                <a:avLst/>
                <a:gdLst>
                  <a:gd name="T0" fmla="*/ 92 w 106"/>
                  <a:gd name="T1" fmla="*/ 107 h 107"/>
                  <a:gd name="T2" fmla="*/ 0 w 106"/>
                  <a:gd name="T3" fmla="*/ 14 h 107"/>
                  <a:gd name="T4" fmla="*/ 14 w 106"/>
                  <a:gd name="T5" fmla="*/ 0 h 107"/>
                  <a:gd name="T6" fmla="*/ 106 w 106"/>
                  <a:gd name="T7" fmla="*/ 93 h 107"/>
                  <a:gd name="T8" fmla="*/ 92 w 106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107">
                    <a:moveTo>
                      <a:pt x="92" y="107"/>
                    </a:moveTo>
                    <a:lnTo>
                      <a:pt x="0" y="14"/>
                    </a:lnTo>
                    <a:lnTo>
                      <a:pt x="14" y="0"/>
                    </a:lnTo>
                    <a:lnTo>
                      <a:pt x="106" y="93"/>
                    </a:lnTo>
                    <a:lnTo>
                      <a:pt x="92" y="1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325">
                <a:extLst>
                  <a:ext uri="{FF2B5EF4-FFF2-40B4-BE49-F238E27FC236}">
                    <a16:creationId xmlns:a16="http://schemas.microsoft.com/office/drawing/2014/main" id="{28FD164F-EFD7-E9BE-4D48-E0CDD4A87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5676" y="3688492"/>
                <a:ext cx="225292" cy="225292"/>
              </a:xfrm>
              <a:custGeom>
                <a:avLst/>
                <a:gdLst>
                  <a:gd name="T0" fmla="*/ 14 w 108"/>
                  <a:gd name="T1" fmla="*/ 108 h 108"/>
                  <a:gd name="T2" fmla="*/ 0 w 108"/>
                  <a:gd name="T3" fmla="*/ 94 h 108"/>
                  <a:gd name="T4" fmla="*/ 94 w 108"/>
                  <a:gd name="T5" fmla="*/ 0 h 108"/>
                  <a:gd name="T6" fmla="*/ 108 w 108"/>
                  <a:gd name="T7" fmla="*/ 14 h 108"/>
                  <a:gd name="T8" fmla="*/ 14 w 108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08">
                    <a:moveTo>
                      <a:pt x="14" y="108"/>
                    </a:moveTo>
                    <a:lnTo>
                      <a:pt x="0" y="94"/>
                    </a:lnTo>
                    <a:lnTo>
                      <a:pt x="94" y="0"/>
                    </a:lnTo>
                    <a:lnTo>
                      <a:pt x="108" y="14"/>
                    </a:lnTo>
                    <a:lnTo>
                      <a:pt x="1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387C757-F88E-381E-4075-8D568478B90B}"/>
                </a:ext>
              </a:extLst>
            </p:cNvPr>
            <p:cNvSpPr/>
            <p:nvPr/>
          </p:nvSpPr>
          <p:spPr>
            <a:xfrm>
              <a:off x="11210480" y="539766"/>
              <a:ext cx="116511" cy="11650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22">
              <a:extLst>
                <a:ext uri="{FF2B5EF4-FFF2-40B4-BE49-F238E27FC236}">
                  <a16:creationId xmlns:a16="http://schemas.microsoft.com/office/drawing/2014/main" id="{52C8ABB0-E4C8-4719-4600-25DCE5D7CF73}"/>
                </a:ext>
              </a:extLst>
            </p:cNvPr>
            <p:cNvCxnSpPr/>
            <p:nvPr/>
          </p:nvCxnSpPr>
          <p:spPr>
            <a:xfrm>
              <a:off x="10972799" y="664645"/>
              <a:ext cx="14400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856BB3C-C185-945B-F1A7-359C04E1F4A8}"/>
              </a:ext>
            </a:extLst>
          </p:cNvPr>
          <p:cNvGrpSpPr/>
          <p:nvPr userDrawn="1"/>
        </p:nvGrpSpPr>
        <p:grpSpPr>
          <a:xfrm>
            <a:off x="724693" y="2029730"/>
            <a:ext cx="583412" cy="442763"/>
            <a:chOff x="878417" y="2772247"/>
            <a:chExt cx="1625599" cy="1233698"/>
          </a:xfrm>
        </p:grpSpPr>
        <p:sp>
          <p:nvSpPr>
            <p:cNvPr id="25" name="한쪽 모서리는 잘리고 다른 쪽 모서리는 둥근 사각형 43">
              <a:extLst>
                <a:ext uri="{FF2B5EF4-FFF2-40B4-BE49-F238E27FC236}">
                  <a16:creationId xmlns:a16="http://schemas.microsoft.com/office/drawing/2014/main" id="{C9E24446-0AD9-7EC3-837E-4F2C9984C9D3}"/>
                </a:ext>
              </a:extLst>
            </p:cNvPr>
            <p:cNvSpPr/>
            <p:nvPr/>
          </p:nvSpPr>
          <p:spPr>
            <a:xfrm>
              <a:off x="878417" y="2772247"/>
              <a:ext cx="888274" cy="339881"/>
            </a:xfrm>
            <a:prstGeom prst="snipRoundRect">
              <a:avLst>
                <a:gd name="adj1" fmla="val 36691"/>
                <a:gd name="adj2" fmla="val 50000"/>
              </a:avLst>
            </a:prstGeom>
            <a:solidFill>
              <a:srgbClr val="EFB881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0"/>
              </a:endParaRPr>
            </a:p>
          </p:txBody>
        </p:sp>
        <p:sp>
          <p:nvSpPr>
            <p:cNvPr id="26" name="모서리가 둥근 직사각형 44">
              <a:extLst>
                <a:ext uri="{FF2B5EF4-FFF2-40B4-BE49-F238E27FC236}">
                  <a16:creationId xmlns:a16="http://schemas.microsoft.com/office/drawing/2014/main" id="{98A2D6A4-D359-E2CC-9CAC-502A3CD9D4E9}"/>
                </a:ext>
              </a:extLst>
            </p:cNvPr>
            <p:cNvSpPr/>
            <p:nvPr/>
          </p:nvSpPr>
          <p:spPr>
            <a:xfrm>
              <a:off x="878417" y="2947138"/>
              <a:ext cx="1625599" cy="1058807"/>
            </a:xfrm>
            <a:prstGeom prst="roundRect">
              <a:avLst>
                <a:gd name="adj" fmla="val 11802"/>
              </a:avLst>
            </a:prstGeom>
            <a:solidFill>
              <a:srgbClr val="FAE8BC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0E2AC2-CD1F-4140-0F57-C1046C9CC433}"/>
              </a:ext>
            </a:extLst>
          </p:cNvPr>
          <p:cNvGrpSpPr/>
          <p:nvPr userDrawn="1"/>
        </p:nvGrpSpPr>
        <p:grpSpPr>
          <a:xfrm>
            <a:off x="354529" y="825671"/>
            <a:ext cx="11482939" cy="442762"/>
            <a:chOff x="354529" y="825671"/>
            <a:chExt cx="11482939" cy="44276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A5FEDF-43F4-0514-0ED5-7B07EC297C53}"/>
                </a:ext>
              </a:extLst>
            </p:cNvPr>
            <p:cNvSpPr/>
            <p:nvPr/>
          </p:nvSpPr>
          <p:spPr>
            <a:xfrm>
              <a:off x="354529" y="825671"/>
              <a:ext cx="2296800" cy="442762"/>
            </a:xfrm>
            <a:prstGeom prst="rect">
              <a:avLst/>
            </a:prstGeom>
            <a:solidFill>
              <a:srgbClr val="EFB881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1" indent="0" algn="ctr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Global AI Commerce</a:t>
              </a:r>
              <a:endParaRPr kumimoji="0" lang="ko-KR" altLang="en-US" sz="1400" b="0" i="0" u="none" strike="noStrike" kern="1200" cap="none" spc="0" normalizeH="0" baseline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81AC784-A06C-BA57-DADD-EFF39CC7ABF5}"/>
                </a:ext>
              </a:extLst>
            </p:cNvPr>
            <p:cNvGrpSpPr/>
            <p:nvPr userDrawn="1"/>
          </p:nvGrpSpPr>
          <p:grpSpPr>
            <a:xfrm>
              <a:off x="2652184" y="825671"/>
              <a:ext cx="9185284" cy="442762"/>
              <a:chOff x="2652184" y="825671"/>
              <a:chExt cx="11480080" cy="442762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7D5B6CE-917A-C531-953B-DEF3866D94D5}"/>
                  </a:ext>
                </a:extLst>
              </p:cNvPr>
              <p:cNvSpPr/>
              <p:nvPr userDrawn="1"/>
            </p:nvSpPr>
            <p:spPr>
              <a:xfrm>
                <a:off x="2652184" y="825671"/>
                <a:ext cx="2296589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Index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58BB701-D070-3432-ED70-118D8FD90E25}"/>
                  </a:ext>
                </a:extLst>
              </p:cNvPr>
              <p:cNvSpPr/>
              <p:nvPr userDrawn="1"/>
            </p:nvSpPr>
            <p:spPr>
              <a:xfrm>
                <a:off x="4949838" y="825671"/>
                <a:ext cx="2297657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Predictive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EDA925C-8645-0E06-DC36-86D8CE9235E5}"/>
                  </a:ext>
                </a:extLst>
              </p:cNvPr>
              <p:cNvSpPr/>
              <p:nvPr userDrawn="1"/>
            </p:nvSpPr>
            <p:spPr>
              <a:xfrm>
                <a:off x="7247495" y="825671"/>
                <a:ext cx="3126547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Conversational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D06A416-4E11-BE03-C2C7-0600355D10F4}"/>
                  </a:ext>
                </a:extLst>
              </p:cNvPr>
              <p:cNvSpPr/>
              <p:nvPr userDrawn="1"/>
            </p:nvSpPr>
            <p:spPr>
              <a:xfrm>
                <a:off x="10374038" y="825671"/>
                <a:ext cx="3758226" cy="442762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4C44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1" indent="0" algn="ctr" defTabSz="609467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0" normalizeH="0" baseline="0" dirty="0">
                    <a:ln>
                      <a:solidFill>
                        <a:srgbClr val="5B9BD5">
                          <a:shade val="50000"/>
                          <a:alpha val="0"/>
                        </a:srgbClr>
                      </a:solidFill>
                    </a:ln>
                    <a:solidFill>
                      <a:srgbClr val="2D2D2D"/>
                    </a:solidFill>
                    <a:effectLst/>
                    <a:uLnTx/>
                    <a:uFillTx/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n-cs"/>
                  </a:rPr>
                  <a:t>Visual Search</a:t>
                </a:r>
                <a:endParaRPr kumimoji="0" lang="ko-KR" altLang="en-US" sz="1400" b="0" i="0" u="none" strike="noStrike" kern="1200" cap="none" spc="0" normalizeH="0" baseline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endParaRPr>
              </a:p>
            </p:txBody>
          </p:sp>
        </p:grpSp>
      </p:grpSp>
      <p:pic>
        <p:nvPicPr>
          <p:cNvPr id="44" name="그래픽 43">
            <a:extLst>
              <a:ext uri="{FF2B5EF4-FFF2-40B4-BE49-F238E27FC236}">
                <a16:creationId xmlns:a16="http://schemas.microsoft.com/office/drawing/2014/main" id="{67BA36DB-991C-74C2-7501-9D282A65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4654" y="2016435"/>
            <a:ext cx="7292654" cy="4305626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51B8C28A-2ED2-8D55-DCEE-4FAED1C8AB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951" y="1553449"/>
            <a:ext cx="2311910" cy="2601608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9821D253-557E-8A05-3603-1291D8B6BAE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7377" y="4072056"/>
            <a:ext cx="4435174" cy="2262387"/>
          </a:xfrm>
          <a:prstGeom prst="rect">
            <a:avLst/>
          </a:prstGeom>
        </p:spPr>
      </p:pic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A1D464E-6F92-1F27-B385-A66F1A66149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47688" y="2366457"/>
            <a:ext cx="7253930" cy="121863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tabLst/>
              <a:defRPr lang="ko-KR" altLang="en-US" sz="6000" b="0" kern="12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302A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28450" lvl="0" indent="-228450" defTabSz="914400" latinLnBrk="0">
              <a:lnSpc>
                <a:spcPct val="110000"/>
              </a:lnSpc>
            </a:pPr>
            <a:r>
              <a:rPr lang="ko-KR" altLang="en-US" dirty="0"/>
              <a:t>유닛명</a:t>
            </a:r>
          </a:p>
        </p:txBody>
      </p:sp>
    </p:spTree>
    <p:extLst>
      <p:ext uri="{BB962C8B-B14F-4D97-AF65-F5344CB8AC3E}">
        <p14:creationId xmlns:p14="http://schemas.microsoft.com/office/powerpoint/2010/main" val="33768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F7E98E-A342-3468-8CED-B2002D3193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C122A-B241-C3C2-1F5F-CE1B2A81C9EA}"/>
              </a:ext>
            </a:extLst>
          </p:cNvPr>
          <p:cNvSpPr/>
          <p:nvPr userDrawn="1"/>
        </p:nvSpPr>
        <p:spPr>
          <a:xfrm>
            <a:off x="2539" y="0"/>
            <a:ext cx="12192000" cy="6858000"/>
          </a:xfrm>
          <a:prstGeom prst="rect">
            <a:avLst/>
          </a:prstGeom>
          <a:solidFill>
            <a:srgbClr val="EEED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6" name="자유형 6">
            <a:extLst>
              <a:ext uri="{FF2B5EF4-FFF2-40B4-BE49-F238E27FC236}">
                <a16:creationId xmlns:a16="http://schemas.microsoft.com/office/drawing/2014/main" id="{00987D99-A144-D698-7B34-A07ADD578D44}"/>
              </a:ext>
            </a:extLst>
          </p:cNvPr>
          <p:cNvSpPr/>
          <p:nvPr userDrawn="1"/>
        </p:nvSpPr>
        <p:spPr>
          <a:xfrm>
            <a:off x="354531" y="825671"/>
            <a:ext cx="11482939" cy="5508454"/>
          </a:xfrm>
          <a:prstGeom prst="roundRect">
            <a:avLst>
              <a:gd name="adj" fmla="val 5023"/>
            </a:avLst>
          </a:prstGeom>
          <a:solidFill>
            <a:schemeClr val="bg1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/>
              <a:t>\</a:t>
            </a:r>
            <a:endParaRPr kumimoji="1" lang="ko-KR" altLang="en-US"/>
          </a:p>
        </p:txBody>
      </p:sp>
      <p:sp>
        <p:nvSpPr>
          <p:cNvPr id="10" name="모서리가 둥근 직사각형 44">
            <a:extLst>
              <a:ext uri="{FF2B5EF4-FFF2-40B4-BE49-F238E27FC236}">
                <a16:creationId xmlns:a16="http://schemas.microsoft.com/office/drawing/2014/main" id="{FF8C8B39-B816-A94D-2165-D46625EEC631}"/>
              </a:ext>
            </a:extLst>
          </p:cNvPr>
          <p:cNvSpPr/>
          <p:nvPr userDrawn="1"/>
        </p:nvSpPr>
        <p:spPr>
          <a:xfrm>
            <a:off x="9725087" y="1505255"/>
            <a:ext cx="1648054" cy="1648800"/>
          </a:xfrm>
          <a:prstGeom prst="roundRect">
            <a:avLst>
              <a:gd name="adj" fmla="val 11802"/>
            </a:avLst>
          </a:prstGeom>
          <a:solidFill>
            <a:srgbClr val="EEEDEA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모서리가 둥근 직사각형 44">
            <a:extLst>
              <a:ext uri="{FF2B5EF4-FFF2-40B4-BE49-F238E27FC236}">
                <a16:creationId xmlns:a16="http://schemas.microsoft.com/office/drawing/2014/main" id="{A5E0BCEE-2002-3D5B-C0E9-84ACE7DFD089}"/>
              </a:ext>
            </a:extLst>
          </p:cNvPr>
          <p:cNvSpPr/>
          <p:nvPr userDrawn="1"/>
        </p:nvSpPr>
        <p:spPr>
          <a:xfrm>
            <a:off x="11030414" y="1313099"/>
            <a:ext cx="1004060" cy="1016556"/>
          </a:xfrm>
          <a:prstGeom prst="roundRect">
            <a:avLst>
              <a:gd name="adj" fmla="val 11802"/>
            </a:avLst>
          </a:prstGeom>
          <a:solidFill>
            <a:schemeClr val="bg1"/>
          </a:solidFill>
          <a:ln w="15875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A1FCB0F-6F96-A662-B9E6-3A9C6EC2B74B}"/>
              </a:ext>
            </a:extLst>
          </p:cNvPr>
          <p:cNvGrpSpPr/>
          <p:nvPr userDrawn="1"/>
        </p:nvGrpSpPr>
        <p:grpSpPr>
          <a:xfrm>
            <a:off x="9398000" y="673271"/>
            <a:ext cx="843077" cy="639828"/>
            <a:chOff x="878417" y="2772247"/>
            <a:chExt cx="1625599" cy="1233698"/>
          </a:xfrm>
        </p:grpSpPr>
        <p:sp>
          <p:nvSpPr>
            <p:cNvPr id="8" name="한쪽 모서리는 잘리고 다른 쪽 모서리는 둥근 사각형 43">
              <a:extLst>
                <a:ext uri="{FF2B5EF4-FFF2-40B4-BE49-F238E27FC236}">
                  <a16:creationId xmlns:a16="http://schemas.microsoft.com/office/drawing/2014/main" id="{C896194B-5959-C1D8-21A2-27795787143D}"/>
                </a:ext>
              </a:extLst>
            </p:cNvPr>
            <p:cNvSpPr/>
            <p:nvPr/>
          </p:nvSpPr>
          <p:spPr>
            <a:xfrm>
              <a:off x="878417" y="2772247"/>
              <a:ext cx="888274" cy="339881"/>
            </a:xfrm>
            <a:prstGeom prst="snipRoundRect">
              <a:avLst>
                <a:gd name="adj1" fmla="val 36691"/>
                <a:gd name="adj2" fmla="val 50000"/>
              </a:avLst>
            </a:prstGeom>
            <a:solidFill>
              <a:srgbClr val="EFB881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0"/>
              </a:endParaRPr>
            </a:p>
          </p:txBody>
        </p:sp>
        <p:sp>
          <p:nvSpPr>
            <p:cNvPr id="9" name="모서리가 둥근 직사각형 44">
              <a:extLst>
                <a:ext uri="{FF2B5EF4-FFF2-40B4-BE49-F238E27FC236}">
                  <a16:creationId xmlns:a16="http://schemas.microsoft.com/office/drawing/2014/main" id="{4EBC867A-A3ED-E2E4-B376-888A12C04C10}"/>
                </a:ext>
              </a:extLst>
            </p:cNvPr>
            <p:cNvSpPr/>
            <p:nvPr/>
          </p:nvSpPr>
          <p:spPr>
            <a:xfrm>
              <a:off x="878417" y="2947138"/>
              <a:ext cx="1625599" cy="1058807"/>
            </a:xfrm>
            <a:prstGeom prst="roundRect">
              <a:avLst>
                <a:gd name="adj" fmla="val 11802"/>
              </a:avLst>
            </a:prstGeom>
            <a:solidFill>
              <a:srgbClr val="FAE8BC"/>
            </a:solidFill>
            <a:ln w="15875">
              <a:solidFill>
                <a:srgbClr val="4C4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24" name="그래픽 23">
            <a:extLst>
              <a:ext uri="{FF2B5EF4-FFF2-40B4-BE49-F238E27FC236}">
                <a16:creationId xmlns:a16="http://schemas.microsoft.com/office/drawing/2014/main" id="{2B15034A-7A61-104A-52B4-E0BCA6B29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1571" y="1427205"/>
            <a:ext cx="815897" cy="790400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55F09373-8926-1EB0-81B2-3A71003F53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8472" y="1914633"/>
            <a:ext cx="1720737" cy="9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26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3922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FD74D9-D691-033A-EC8D-98B32FEAEC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333E5F-865B-8A1A-7770-DB64051135DD}"/>
              </a:ext>
            </a:extLst>
          </p:cNvPr>
          <p:cNvSpPr/>
          <p:nvPr userDrawn="1"/>
        </p:nvSpPr>
        <p:spPr>
          <a:xfrm>
            <a:off x="0" y="0"/>
            <a:ext cx="12192000" cy="765174"/>
          </a:xfrm>
          <a:prstGeom prst="rect">
            <a:avLst/>
          </a:prstGeom>
          <a:solidFill>
            <a:srgbClr val="4C443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540F66A5-1717-6548-A026-5756CA1E5A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292" y="154669"/>
            <a:ext cx="11231107" cy="5810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  <a:lvl2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2pPr>
            <a:lvl3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3pPr>
            <a:lvl4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4pPr>
            <a:lvl5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5pPr>
          </a:lstStyle>
          <a:p>
            <a:pPr lvl="0"/>
            <a:r>
              <a:rPr lang="ko-KR" altLang="en-US" dirty="0"/>
              <a:t>페이지명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8976AB3-0B68-DAA2-3D5D-CD4392E6E75E}"/>
              </a:ext>
            </a:extLst>
          </p:cNvPr>
          <p:cNvGrpSpPr/>
          <p:nvPr userDrawn="1"/>
        </p:nvGrpSpPr>
        <p:grpSpPr>
          <a:xfrm>
            <a:off x="11186659" y="290366"/>
            <a:ext cx="781049" cy="184441"/>
            <a:chOff x="11079702" y="548639"/>
            <a:chExt cx="507064" cy="119741"/>
          </a:xfrm>
        </p:grpSpPr>
        <p:sp>
          <p:nvSpPr>
            <p:cNvPr id="7" name="Freeform 324">
              <a:extLst>
                <a:ext uri="{FF2B5EF4-FFF2-40B4-BE49-F238E27FC236}">
                  <a16:creationId xmlns:a16="http://schemas.microsoft.com/office/drawing/2014/main" id="{B226B85F-313F-F838-595A-7F3595DB19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3327" y="548639"/>
              <a:ext cx="113439" cy="116475"/>
            </a:xfrm>
            <a:custGeom>
              <a:avLst/>
              <a:gdLst>
                <a:gd name="T0" fmla="*/ 92 w 106"/>
                <a:gd name="T1" fmla="*/ 107 h 107"/>
                <a:gd name="T2" fmla="*/ 0 w 106"/>
                <a:gd name="T3" fmla="*/ 14 h 107"/>
                <a:gd name="T4" fmla="*/ 14 w 106"/>
                <a:gd name="T5" fmla="*/ 0 h 107"/>
                <a:gd name="T6" fmla="*/ 106 w 106"/>
                <a:gd name="T7" fmla="*/ 93 h 107"/>
                <a:gd name="T8" fmla="*/ 92 w 106"/>
                <a:gd name="T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7">
                  <a:moveTo>
                    <a:pt x="92" y="107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06" y="93"/>
                  </a:lnTo>
                  <a:lnTo>
                    <a:pt x="92" y="1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325">
              <a:extLst>
                <a:ext uri="{FF2B5EF4-FFF2-40B4-BE49-F238E27FC236}">
                  <a16:creationId xmlns:a16="http://schemas.microsoft.com/office/drawing/2014/main" id="{CC9099BC-118E-0835-6BA1-8EAC238C90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1187" y="550816"/>
              <a:ext cx="115579" cy="117564"/>
            </a:xfrm>
            <a:custGeom>
              <a:avLst/>
              <a:gdLst>
                <a:gd name="T0" fmla="*/ 14 w 108"/>
                <a:gd name="T1" fmla="*/ 108 h 108"/>
                <a:gd name="T2" fmla="*/ 0 w 108"/>
                <a:gd name="T3" fmla="*/ 94 h 108"/>
                <a:gd name="T4" fmla="*/ 94 w 108"/>
                <a:gd name="T5" fmla="*/ 0 h 108"/>
                <a:gd name="T6" fmla="*/ 108 w 108"/>
                <a:gd name="T7" fmla="*/ 14 h 108"/>
                <a:gd name="T8" fmla="*/ 14 w 108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8">
                  <a:moveTo>
                    <a:pt x="14" y="108"/>
                  </a:moveTo>
                  <a:lnTo>
                    <a:pt x="0" y="94"/>
                  </a:lnTo>
                  <a:lnTo>
                    <a:pt x="94" y="0"/>
                  </a:lnTo>
                  <a:lnTo>
                    <a:pt x="108" y="14"/>
                  </a:lnTo>
                  <a:lnTo>
                    <a:pt x="14" y="1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D123C6D-C2F1-6091-0570-8F63119D3620}"/>
                </a:ext>
              </a:extLst>
            </p:cNvPr>
            <p:cNvSpPr/>
            <p:nvPr userDrawn="1"/>
          </p:nvSpPr>
          <p:spPr>
            <a:xfrm>
              <a:off x="11287459" y="555958"/>
              <a:ext cx="101842" cy="1018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cxnSp>
          <p:nvCxnSpPr>
            <p:cNvPr id="10" name="직선 연결선[R] 22">
              <a:extLst>
                <a:ext uri="{FF2B5EF4-FFF2-40B4-BE49-F238E27FC236}">
                  <a16:creationId xmlns:a16="http://schemas.microsoft.com/office/drawing/2014/main" id="{A320ACA6-9DBA-66D8-857B-76EE453B1F61}"/>
                </a:ext>
              </a:extLst>
            </p:cNvPr>
            <p:cNvCxnSpPr/>
            <p:nvPr userDrawn="1"/>
          </p:nvCxnSpPr>
          <p:spPr>
            <a:xfrm>
              <a:off x="11079702" y="665114"/>
              <a:ext cx="12587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18110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FD74D9-D691-033A-EC8D-98B32FEAEC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333E5F-865B-8A1A-7770-DB64051135DD}"/>
              </a:ext>
            </a:extLst>
          </p:cNvPr>
          <p:cNvSpPr/>
          <p:nvPr userDrawn="1"/>
        </p:nvSpPr>
        <p:spPr>
          <a:xfrm>
            <a:off x="0" y="0"/>
            <a:ext cx="12192000" cy="765174"/>
          </a:xfrm>
          <a:prstGeom prst="rect">
            <a:avLst/>
          </a:prstGeom>
          <a:solidFill>
            <a:srgbClr val="4C443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540F66A5-1717-6548-A026-5756CA1E5A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292" y="154669"/>
            <a:ext cx="11231107" cy="5810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  <a:lvl2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2pPr>
            <a:lvl3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3pPr>
            <a:lvl4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4pPr>
            <a:lvl5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5pPr>
          </a:lstStyle>
          <a:p>
            <a:pPr lvl="0"/>
            <a:r>
              <a:rPr lang="ko-KR" altLang="en-US" dirty="0"/>
              <a:t>페이지명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E11434-0B34-C9ED-0B1F-4C2B54EFD751}"/>
              </a:ext>
            </a:extLst>
          </p:cNvPr>
          <p:cNvSpPr/>
          <p:nvPr userDrawn="1"/>
        </p:nvSpPr>
        <p:spPr>
          <a:xfrm>
            <a:off x="0" y="762795"/>
            <a:ext cx="12193200" cy="526596"/>
          </a:xfrm>
          <a:prstGeom prst="rect">
            <a:avLst/>
          </a:prstGeom>
          <a:solidFill>
            <a:srgbClr val="E0DBD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37D0548-036E-4A65-8DA1-1C6CA77C9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728846"/>
            <a:ext cx="7804150" cy="5984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tabLst/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타이틀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90B3472-B5F8-89B5-6C6C-2D6F1607481D}"/>
              </a:ext>
            </a:extLst>
          </p:cNvPr>
          <p:cNvGrpSpPr/>
          <p:nvPr userDrawn="1"/>
        </p:nvGrpSpPr>
        <p:grpSpPr>
          <a:xfrm>
            <a:off x="11186659" y="290366"/>
            <a:ext cx="781049" cy="184441"/>
            <a:chOff x="11079702" y="548639"/>
            <a:chExt cx="507064" cy="119741"/>
          </a:xfrm>
        </p:grpSpPr>
        <p:sp>
          <p:nvSpPr>
            <p:cNvPr id="9" name="Freeform 324">
              <a:extLst>
                <a:ext uri="{FF2B5EF4-FFF2-40B4-BE49-F238E27FC236}">
                  <a16:creationId xmlns:a16="http://schemas.microsoft.com/office/drawing/2014/main" id="{BAE791FF-274F-7392-58CE-508442859E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3327" y="548639"/>
              <a:ext cx="113439" cy="116475"/>
            </a:xfrm>
            <a:custGeom>
              <a:avLst/>
              <a:gdLst>
                <a:gd name="T0" fmla="*/ 92 w 106"/>
                <a:gd name="T1" fmla="*/ 107 h 107"/>
                <a:gd name="T2" fmla="*/ 0 w 106"/>
                <a:gd name="T3" fmla="*/ 14 h 107"/>
                <a:gd name="T4" fmla="*/ 14 w 106"/>
                <a:gd name="T5" fmla="*/ 0 h 107"/>
                <a:gd name="T6" fmla="*/ 106 w 106"/>
                <a:gd name="T7" fmla="*/ 93 h 107"/>
                <a:gd name="T8" fmla="*/ 92 w 106"/>
                <a:gd name="T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7">
                  <a:moveTo>
                    <a:pt x="92" y="107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06" y="93"/>
                  </a:lnTo>
                  <a:lnTo>
                    <a:pt x="92" y="1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325">
              <a:extLst>
                <a:ext uri="{FF2B5EF4-FFF2-40B4-BE49-F238E27FC236}">
                  <a16:creationId xmlns:a16="http://schemas.microsoft.com/office/drawing/2014/main" id="{BEE037D4-5B81-37DE-B07E-F9D30CE63F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1187" y="550816"/>
              <a:ext cx="115579" cy="117564"/>
            </a:xfrm>
            <a:custGeom>
              <a:avLst/>
              <a:gdLst>
                <a:gd name="T0" fmla="*/ 14 w 108"/>
                <a:gd name="T1" fmla="*/ 108 h 108"/>
                <a:gd name="T2" fmla="*/ 0 w 108"/>
                <a:gd name="T3" fmla="*/ 94 h 108"/>
                <a:gd name="T4" fmla="*/ 94 w 108"/>
                <a:gd name="T5" fmla="*/ 0 h 108"/>
                <a:gd name="T6" fmla="*/ 108 w 108"/>
                <a:gd name="T7" fmla="*/ 14 h 108"/>
                <a:gd name="T8" fmla="*/ 14 w 108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8">
                  <a:moveTo>
                    <a:pt x="14" y="108"/>
                  </a:moveTo>
                  <a:lnTo>
                    <a:pt x="0" y="94"/>
                  </a:lnTo>
                  <a:lnTo>
                    <a:pt x="94" y="0"/>
                  </a:lnTo>
                  <a:lnTo>
                    <a:pt x="108" y="14"/>
                  </a:lnTo>
                  <a:lnTo>
                    <a:pt x="14" y="1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0DBC9F5-0A9D-D284-DA06-AACC901C87FC}"/>
                </a:ext>
              </a:extLst>
            </p:cNvPr>
            <p:cNvSpPr/>
            <p:nvPr userDrawn="1"/>
          </p:nvSpPr>
          <p:spPr>
            <a:xfrm>
              <a:off x="11287459" y="555958"/>
              <a:ext cx="101842" cy="1018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2">
              <a:extLst>
                <a:ext uri="{FF2B5EF4-FFF2-40B4-BE49-F238E27FC236}">
                  <a16:creationId xmlns:a16="http://schemas.microsoft.com/office/drawing/2014/main" id="{FF1750B1-2097-DEFE-9962-6F8A35BA90FC}"/>
                </a:ext>
              </a:extLst>
            </p:cNvPr>
            <p:cNvCxnSpPr/>
            <p:nvPr userDrawn="1"/>
          </p:nvCxnSpPr>
          <p:spPr>
            <a:xfrm>
              <a:off x="11079702" y="665114"/>
              <a:ext cx="12587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16386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  <p15:guide id="2" orient="horz" pos="1253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pos="574" userDrawn="1">
          <p15:clr>
            <a:srgbClr val="FBAE40"/>
          </p15:clr>
        </p15:guide>
        <p15:guide id="5" pos="77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FD74D9-D691-033A-EC8D-98B32FEAEC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333E5F-865B-8A1A-7770-DB64051135DD}"/>
              </a:ext>
            </a:extLst>
          </p:cNvPr>
          <p:cNvSpPr/>
          <p:nvPr userDrawn="1"/>
        </p:nvSpPr>
        <p:spPr>
          <a:xfrm>
            <a:off x="0" y="0"/>
            <a:ext cx="12192000" cy="765174"/>
          </a:xfrm>
          <a:prstGeom prst="rect">
            <a:avLst/>
          </a:prstGeom>
          <a:solidFill>
            <a:srgbClr val="4C443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540F66A5-1717-6548-A026-5756CA1E5A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292" y="154669"/>
            <a:ext cx="11231107" cy="5810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0" kern="1200" spc="-1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  <a:lvl2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2pPr>
            <a:lvl3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3pPr>
            <a:lvl4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 smtClean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4pPr>
            <a:lvl5pPr mar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None/>
              <a:defRPr lang="ko-KR" altLang="en-US" sz="3200" b="1" kern="1200" spc="-150" baseline="0" dirty="0">
                <a:solidFill>
                  <a:srgbClr val="3F3F3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5pPr>
          </a:lstStyle>
          <a:p>
            <a:pPr marL="0" lvl="0" indent="0" algn="l" defTabSz="97539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ts val="28"/>
              </a:spcAft>
              <a:buFont typeface="Arial" panose="020B0604020202020204" pitchFamily="34" charset="0"/>
              <a:buNone/>
            </a:pPr>
            <a:r>
              <a:rPr lang="ko-KR" altLang="en-US" dirty="0"/>
              <a:t>페이지명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E11434-0B34-C9ED-0B1F-4C2B54EFD751}"/>
              </a:ext>
            </a:extLst>
          </p:cNvPr>
          <p:cNvSpPr/>
          <p:nvPr userDrawn="1"/>
        </p:nvSpPr>
        <p:spPr>
          <a:xfrm>
            <a:off x="0" y="762795"/>
            <a:ext cx="12193200" cy="526596"/>
          </a:xfrm>
          <a:prstGeom prst="rect">
            <a:avLst/>
          </a:prstGeom>
          <a:solidFill>
            <a:srgbClr val="E0DBD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37D0548-036E-4A65-8DA1-1C6CA77C9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728846"/>
            <a:ext cx="7804150" cy="5984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tabLst/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타이틀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53C6376-5685-6F5F-725D-A4735F6AEF29}"/>
              </a:ext>
            </a:extLst>
          </p:cNvPr>
          <p:cNvGrpSpPr/>
          <p:nvPr userDrawn="1"/>
        </p:nvGrpSpPr>
        <p:grpSpPr>
          <a:xfrm>
            <a:off x="11186659" y="290366"/>
            <a:ext cx="781049" cy="184441"/>
            <a:chOff x="11079702" y="548639"/>
            <a:chExt cx="507064" cy="119741"/>
          </a:xfrm>
        </p:grpSpPr>
        <p:sp>
          <p:nvSpPr>
            <p:cNvPr id="9" name="Freeform 324">
              <a:extLst>
                <a:ext uri="{FF2B5EF4-FFF2-40B4-BE49-F238E27FC236}">
                  <a16:creationId xmlns:a16="http://schemas.microsoft.com/office/drawing/2014/main" id="{8AA1F97F-F32A-C80B-47EC-D67117516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3327" y="548639"/>
              <a:ext cx="113439" cy="116475"/>
            </a:xfrm>
            <a:custGeom>
              <a:avLst/>
              <a:gdLst>
                <a:gd name="T0" fmla="*/ 92 w 106"/>
                <a:gd name="T1" fmla="*/ 107 h 107"/>
                <a:gd name="T2" fmla="*/ 0 w 106"/>
                <a:gd name="T3" fmla="*/ 14 h 107"/>
                <a:gd name="T4" fmla="*/ 14 w 106"/>
                <a:gd name="T5" fmla="*/ 0 h 107"/>
                <a:gd name="T6" fmla="*/ 106 w 106"/>
                <a:gd name="T7" fmla="*/ 93 h 107"/>
                <a:gd name="T8" fmla="*/ 92 w 106"/>
                <a:gd name="T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07">
                  <a:moveTo>
                    <a:pt x="92" y="107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06" y="93"/>
                  </a:lnTo>
                  <a:lnTo>
                    <a:pt x="92" y="1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325">
              <a:extLst>
                <a:ext uri="{FF2B5EF4-FFF2-40B4-BE49-F238E27FC236}">
                  <a16:creationId xmlns:a16="http://schemas.microsoft.com/office/drawing/2014/main" id="{1FE8BC30-A051-37C1-5562-9E7E1AF354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71187" y="550816"/>
              <a:ext cx="115579" cy="117564"/>
            </a:xfrm>
            <a:custGeom>
              <a:avLst/>
              <a:gdLst>
                <a:gd name="T0" fmla="*/ 14 w 108"/>
                <a:gd name="T1" fmla="*/ 108 h 108"/>
                <a:gd name="T2" fmla="*/ 0 w 108"/>
                <a:gd name="T3" fmla="*/ 94 h 108"/>
                <a:gd name="T4" fmla="*/ 94 w 108"/>
                <a:gd name="T5" fmla="*/ 0 h 108"/>
                <a:gd name="T6" fmla="*/ 108 w 108"/>
                <a:gd name="T7" fmla="*/ 14 h 108"/>
                <a:gd name="T8" fmla="*/ 14 w 108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8">
                  <a:moveTo>
                    <a:pt x="14" y="108"/>
                  </a:moveTo>
                  <a:lnTo>
                    <a:pt x="0" y="94"/>
                  </a:lnTo>
                  <a:lnTo>
                    <a:pt x="94" y="0"/>
                  </a:lnTo>
                  <a:lnTo>
                    <a:pt x="108" y="14"/>
                  </a:lnTo>
                  <a:lnTo>
                    <a:pt x="14" y="1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9F4C96F-F0DB-82EF-6AC0-531063F3E37A}"/>
                </a:ext>
              </a:extLst>
            </p:cNvPr>
            <p:cNvSpPr/>
            <p:nvPr userDrawn="1"/>
          </p:nvSpPr>
          <p:spPr>
            <a:xfrm>
              <a:off x="11287459" y="555958"/>
              <a:ext cx="101842" cy="1018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2">
              <a:extLst>
                <a:ext uri="{FF2B5EF4-FFF2-40B4-BE49-F238E27FC236}">
                  <a16:creationId xmlns:a16="http://schemas.microsoft.com/office/drawing/2014/main" id="{A7F8637D-32E4-0A6B-205F-B5C16D830A05}"/>
                </a:ext>
              </a:extLst>
            </p:cNvPr>
            <p:cNvCxnSpPr/>
            <p:nvPr userDrawn="1"/>
          </p:nvCxnSpPr>
          <p:spPr>
            <a:xfrm>
              <a:off x="11079702" y="665114"/>
              <a:ext cx="125870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245419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orient="horz" pos="890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98">
          <p15:clr>
            <a:srgbClr val="FBAE40"/>
          </p15:clr>
        </p15:guide>
        <p15:guide id="6" pos="506">
          <p15:clr>
            <a:srgbClr val="FBAE40"/>
          </p15:clr>
        </p15:guide>
        <p15:guide id="7" pos="68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2146300"/>
            <a:ext cx="12192000" cy="2565400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4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여기에 마스터 디자인 삽입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9398000" y="-511175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07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scu_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92" y="6087209"/>
            <a:ext cx="2579992" cy="41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2"/>
            <a:ext cx="12192000" cy="26574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defTabSz="1450402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412">
              <a:latin typeface="+mn-lt"/>
              <a:ea typeface="+mn-ea"/>
            </a:endParaRPr>
          </a:p>
        </p:txBody>
      </p:sp>
      <p:sp>
        <p:nvSpPr>
          <p:cNvPr id="9" name="Rectangle 51"/>
          <p:cNvSpPr>
            <a:spLocks noChangeArrowheads="1"/>
          </p:cNvSpPr>
          <p:nvPr userDrawn="1"/>
        </p:nvSpPr>
        <p:spPr bwMode="auto">
          <a:xfrm>
            <a:off x="0" y="6700546"/>
            <a:ext cx="12192000" cy="157456"/>
          </a:xfrm>
          <a:prstGeom prst="rect">
            <a:avLst/>
          </a:prstGeom>
          <a:solidFill>
            <a:srgbClr val="000000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defTabSz="1450402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412">
              <a:latin typeface="+mn-lt"/>
              <a:ea typeface="+mn-ea"/>
            </a:endParaRPr>
          </a:p>
        </p:txBody>
      </p:sp>
      <p:grpSp>
        <p:nvGrpSpPr>
          <p:cNvPr id="10" name="Group 6"/>
          <p:cNvGrpSpPr>
            <a:grpSpLocks/>
          </p:cNvGrpSpPr>
          <p:nvPr userDrawn="1"/>
        </p:nvGrpSpPr>
        <p:grpSpPr bwMode="auto">
          <a:xfrm>
            <a:off x="0" y="1153762"/>
            <a:ext cx="12192000" cy="1523296"/>
            <a:chOff x="2400" y="1522"/>
            <a:chExt cx="4320" cy="272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400" y="1522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14504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3412">
                <a:latin typeface="+mn-lt"/>
                <a:ea typeface="+mn-ea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400" y="1794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14504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3412">
                <a:latin typeface="+mn-lt"/>
                <a:ea typeface="+mn-ea"/>
              </a:endParaRPr>
            </a:p>
          </p:txBody>
        </p:sp>
      </p:grpSp>
      <p:sp>
        <p:nvSpPr>
          <p:cNvPr id="13" name="Text Box 9"/>
          <p:cNvSpPr txBox="1">
            <a:spLocks noChangeArrowheads="1"/>
          </p:cNvSpPr>
          <p:nvPr userDrawn="1"/>
        </p:nvSpPr>
        <p:spPr bwMode="auto">
          <a:xfrm>
            <a:off x="2" y="1338863"/>
            <a:ext cx="3418339" cy="51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8223" tIns="64111" rIns="128223" bIns="64111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defTabSz="1281692">
              <a:spcBef>
                <a:spcPct val="50000"/>
              </a:spcBef>
              <a:defRPr/>
            </a:pPr>
            <a:r>
              <a:rPr lang="en-US" altLang="ko-KR" sz="2500" dirty="0">
                <a:latin typeface="HY헤드라인M" pitchFamily="18" charset="-127"/>
                <a:ea typeface="HY헤드라인M" pitchFamily="18" charset="-127"/>
              </a:rPr>
              <a:t> 2026</a:t>
            </a:r>
            <a:r>
              <a:rPr lang="ko-KR" altLang="en-US" sz="2500" dirty="0">
                <a:latin typeface="HY헤드라인M" pitchFamily="18" charset="-127"/>
                <a:ea typeface="HY헤드라인M" pitchFamily="18" charset="-127"/>
              </a:rPr>
              <a:t>학년도 </a:t>
            </a:r>
            <a:r>
              <a:rPr lang="en-US" altLang="ko-KR" sz="2500" dirty="0">
                <a:latin typeface="HY헤드라인M" pitchFamily="18" charset="-127"/>
                <a:ea typeface="HY헤드라인M" pitchFamily="18" charset="-127"/>
              </a:rPr>
              <a:t>2</a:t>
            </a:r>
            <a:r>
              <a:rPr lang="ko-KR" altLang="en-US" sz="2500" dirty="0">
                <a:latin typeface="HY헤드라인M" pitchFamily="18" charset="-127"/>
                <a:ea typeface="HY헤드라인M" pitchFamily="18" charset="-127"/>
              </a:rPr>
              <a:t>학기</a:t>
            </a:r>
            <a:endParaRPr lang="en-US" altLang="ko-KR" sz="2500" dirty="0"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68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-1"/>
            <a:ext cx="12192000" cy="59382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marR="0" lvl="0" indent="0" defTabSz="1450402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200" b="1" i="0" u="none" strike="noStrike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학습목차</a:t>
            </a:r>
            <a:endParaRPr kumimoji="0" lang="ko-KR" altLang="en-US" sz="2200" b="1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8847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2">
          <p15:clr>
            <a:srgbClr val="F26B43"/>
          </p15:clr>
        </p15:guide>
        <p15:guide id="2" pos="755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-1"/>
            <a:ext cx="12192000" cy="59382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marR="0" lvl="0" indent="0" defTabSz="1450402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학습목표 메타데이터</a:t>
            </a:r>
            <a:endParaRPr kumimoji="0" lang="en-US" altLang="ko-KR" sz="2200" b="1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1147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2">
          <p15:clr>
            <a:srgbClr val="F26B43"/>
          </p15:clr>
        </p15:guide>
        <p15:guide id="2" pos="755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-1"/>
            <a:ext cx="12192000" cy="59382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marR="0" lvl="0" indent="0" defTabSz="1450402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SB 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검수</a:t>
            </a: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(1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차</a:t>
            </a:r>
            <a:r>
              <a:rPr kumimoji="0" lang="en-US" altLang="ko-KR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)</a:t>
            </a: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114532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2">
          <p15:clr>
            <a:srgbClr val="F26B43"/>
          </p15:clr>
        </p15:guide>
        <p15:guide id="2" pos="755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-1"/>
            <a:ext cx="12192000" cy="593826"/>
          </a:xfrm>
          <a:prstGeom prst="rect">
            <a:avLst/>
          </a:prstGeom>
          <a:solidFill>
            <a:srgbClr val="000000">
              <a:alpha val="7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145048" tIns="72524" rIns="145048" bIns="72524" anchor="ctr"/>
          <a:lstStyle/>
          <a:p>
            <a:pPr marR="0" lvl="0" indent="0" defTabSz="1450402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2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</a:rPr>
              <a:t>출처</a:t>
            </a:r>
            <a:endParaRPr kumimoji="0" lang="en-US" altLang="ko-KR" sz="2200" b="1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3875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1" hangingPunct="1">
        <a:lnSpc>
          <a:spcPct val="110000"/>
        </a:lnSpc>
        <a:spcBef>
          <a:spcPts val="700"/>
        </a:spcBef>
        <a:buClr>
          <a:schemeClr val="tx1">
            <a:lumMod val="65000"/>
            <a:lumOff val="35000"/>
          </a:schemeClr>
        </a:buClr>
        <a:buFont typeface="Arial" panose="020B0604020202020204" pitchFamily="34" charset="0"/>
        <a:buChar char="•"/>
        <a:defRPr sz="1200" kern="1200">
          <a:solidFill>
            <a:srgbClr val="2D2D2D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2">
          <p15:clr>
            <a:srgbClr val="F26B43"/>
          </p15:clr>
        </p15:guide>
        <p15:guide id="2" pos="755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6340403"/>
              </p:ext>
            </p:extLst>
          </p:nvPr>
        </p:nvGraphicFramePr>
        <p:xfrm>
          <a:off x="60327" y="60228"/>
          <a:ext cx="12071350" cy="6686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193">
                  <a:extLst>
                    <a:ext uri="{9D8B030D-6E8A-4147-A177-3AD203B41FA5}">
                      <a16:colId xmlns:a16="http://schemas.microsoft.com/office/drawing/2014/main" val="1304998457"/>
                    </a:ext>
                  </a:extLst>
                </a:gridCol>
                <a:gridCol w="77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8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14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3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과목명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주차명</a:t>
                      </a:r>
                      <a:endParaRPr lang="ko-KR" altLang="en-US" sz="12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페이지번호</a:t>
                      </a:r>
                      <a:endParaRPr lang="ko-KR" altLang="en-US" sz="12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1"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50">
                <a:tc gridSpan="2"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학습목차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화면설명</a:t>
                      </a:r>
                      <a:endParaRPr lang="ko-KR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855">
                <a:tc gridSpan="2"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9456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83D9DD0-CD2C-6876-FEEB-F3235ACD26BE}"/>
              </a:ext>
            </a:extLst>
          </p:cNvPr>
          <p:cNvSpPr txBox="1"/>
          <p:nvPr userDrawn="1"/>
        </p:nvSpPr>
        <p:spPr>
          <a:xfrm>
            <a:off x="69906" y="815067"/>
            <a:ext cx="2101794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19830">
              <a:spcBef>
                <a:spcPts val="94"/>
              </a:spcBef>
              <a:spcAft>
                <a:spcPts val="28"/>
              </a:spcAft>
              <a:defRPr/>
            </a:pPr>
            <a:r>
              <a:rPr lang="ko-KR" altLang="en-US" sz="1200" b="1" dirty="0">
                <a:latin typeface="+mn-ea"/>
              </a:rPr>
              <a:t>들어가기</a:t>
            </a:r>
            <a:endParaRPr lang="en-US" altLang="ko-KR" sz="1200" b="1" dirty="0">
              <a:latin typeface="+mn-ea"/>
            </a:endParaRP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 err="1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인트로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학습개요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글로벌 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AI 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커머스의 등장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defTabSz="1019830">
              <a:spcBef>
                <a:spcPts val="94"/>
              </a:spcBef>
              <a:spcAft>
                <a:spcPts val="28"/>
              </a:spcAft>
              <a:defRPr/>
            </a:pPr>
            <a:r>
              <a:rPr lang="en-US" altLang="ko-KR" sz="1200" dirty="0">
                <a:latin typeface="+mn-ea"/>
              </a:rPr>
              <a:t>------------------------------</a:t>
            </a: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글로벌 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ea"/>
                <a:ea typeface="+mn-ea"/>
                <a:cs typeface="+mn-cs"/>
              </a:rPr>
              <a:t>이커머스에서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글로벌 </a:t>
            </a: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AI 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커머스로</a:t>
            </a: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글로벌 </a:t>
            </a:r>
            <a:r>
              <a:rPr lang="ko-KR" altLang="en-US" sz="1200" kern="1200" dirty="0" err="1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이커머스에서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 글로벌 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AI 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커머스로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en-US" altLang="ko-KR" sz="1200" dirty="0">
                <a:latin typeface="+mn-ea"/>
              </a:rPr>
              <a:t>------------------------------</a:t>
            </a: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AI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는 커머스 가치사슬을 어떻게 바꾸는가</a:t>
            </a: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?</a:t>
            </a:r>
            <a:endParaRPr lang="ko-KR" altLang="en-US" sz="1200" b="1" kern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는 커머스 가치사슬을 어떻게 바꾸는가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? </a:t>
            </a: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en-US" altLang="ko-KR" sz="1200" dirty="0">
                <a:latin typeface="+mn-ea"/>
              </a:rPr>
              <a:t>------------------------------</a:t>
            </a: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사례 분석 </a:t>
            </a: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글로벌 </a:t>
            </a: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AI 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커머스의 주요 사례</a:t>
            </a: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사례 분석 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글로벌 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AI 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커머스의 주요 사례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en-US" altLang="ko-KR" sz="1200" dirty="0">
                <a:latin typeface="+mn-ea"/>
              </a:rPr>
              <a:t>------------------------------</a:t>
            </a: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실습 </a:t>
            </a:r>
            <a:r>
              <a:rPr lang="en-US" altLang="ko-KR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해외에 팔고 싶은 상품 또는 서비스 선정</a:t>
            </a:r>
          </a:p>
          <a:p>
            <a:pPr marL="125413" indent="-125413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Char char="–"/>
              <a:defRPr/>
            </a:pP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실습 </a:t>
            </a:r>
            <a:r>
              <a:rPr lang="en-US" altLang="ko-KR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prstClr val="black"/>
                </a:solidFill>
                <a:latin typeface="맑은 고딕" panose="020B0503020000020004" pitchFamily="50" charset="-127"/>
                <a:ea typeface="+mn-ea"/>
                <a:cs typeface="+mn-cs"/>
              </a:rPr>
              <a:t>해외에 팔고 싶은 상품 또는 서비스 선정</a:t>
            </a:r>
            <a:endParaRPr lang="en-US" altLang="ko-KR" sz="1200" kern="1200" dirty="0">
              <a:solidFill>
                <a:prstClr val="black"/>
              </a:solidFill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0" indent="0" algn="l" defTabSz="1019830" rtl="0" eaLnBrk="1" fontAlgn="base" latinLnBrk="0" hangingPunct="1">
              <a:spcBef>
                <a:spcPts val="94"/>
              </a:spcBef>
              <a:spcAft>
                <a:spcPts val="28"/>
              </a:spcAft>
              <a:buFont typeface="맑은 고딕" panose="020B0503020000020004" pitchFamily="50" charset="-127"/>
              <a:buNone/>
              <a:defRPr/>
            </a:pPr>
            <a:r>
              <a:rPr lang="en-US" altLang="ko-KR" sz="1200" dirty="0">
                <a:latin typeface="+mn-ea"/>
              </a:rPr>
              <a:t>------------------------------</a:t>
            </a:r>
          </a:p>
          <a:p>
            <a:pPr marL="0" marR="0" lvl="0" indent="0" algn="l" defTabSz="1019830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45113DE-22C8-7BBA-3BDA-CBA57AEEA4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3264" y="86873"/>
            <a:ext cx="12506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글로벌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AI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커머스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63C488CE-27A8-FFDC-7014-25DE73461E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257311" y="86873"/>
            <a:ext cx="23567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주차</a:t>
            </a:r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글로벌 </a:t>
            </a:r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AI 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커머스의 등장</a:t>
            </a:r>
          </a:p>
        </p:txBody>
      </p:sp>
    </p:spTree>
    <p:extLst>
      <p:ext uri="{BB962C8B-B14F-4D97-AF65-F5344CB8AC3E}">
        <p14:creationId xmlns:p14="http://schemas.microsoft.com/office/powerpoint/2010/main" val="166464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75" r:id="rId2"/>
    <p:sldLayoutId id="2147483794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97" userDrawn="1">
          <p15:clr>
            <a:srgbClr val="F26B43"/>
          </p15:clr>
        </p15:guide>
        <p15:guide id="2" pos="1481" userDrawn="1">
          <p15:clr>
            <a:srgbClr val="F26B43"/>
          </p15:clr>
        </p15:guide>
        <p15:guide id="3" pos="6390" userDrawn="1">
          <p15:clr>
            <a:srgbClr val="F26B43"/>
          </p15:clr>
        </p15:guide>
        <p15:guide id="4" pos="1567" userDrawn="1">
          <p15:clr>
            <a:srgbClr val="F26B43"/>
          </p15:clr>
        </p15:guide>
        <p15:guide id="5" orient="horz" pos="4117" userDrawn="1">
          <p15:clr>
            <a:srgbClr val="F26B43"/>
          </p15:clr>
        </p15:guide>
        <p15:guide id="6" orient="horz" pos="587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6340403"/>
              </p:ext>
            </p:extLst>
          </p:nvPr>
        </p:nvGraphicFramePr>
        <p:xfrm>
          <a:off x="60327" y="60228"/>
          <a:ext cx="12071350" cy="6686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193">
                  <a:extLst>
                    <a:ext uri="{9D8B030D-6E8A-4147-A177-3AD203B41FA5}">
                      <a16:colId xmlns:a16="http://schemas.microsoft.com/office/drawing/2014/main" val="1304998457"/>
                    </a:ext>
                  </a:extLst>
                </a:gridCol>
                <a:gridCol w="77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8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14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3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과목명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주차명</a:t>
                      </a:r>
                      <a:endParaRPr lang="ko-KR" altLang="en-US" sz="12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페이지번호</a:t>
                      </a:r>
                      <a:endParaRPr lang="ko-KR" altLang="en-US" sz="12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1"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50">
                <a:tc gridSpan="2"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학습목차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2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8851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화면설명</a:t>
                      </a:r>
                      <a:endParaRPr lang="ko-KR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855">
                <a:tc gridSpan="2"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9456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83D9DD0-CD2C-6876-FEEB-F3235ACD26BE}"/>
              </a:ext>
            </a:extLst>
          </p:cNvPr>
          <p:cNvSpPr txBox="1"/>
          <p:nvPr userDrawn="1"/>
        </p:nvSpPr>
        <p:spPr>
          <a:xfrm>
            <a:off x="69906" y="815067"/>
            <a:ext cx="2101794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19830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평가하기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125413" marR="0" lvl="0" indent="-125413" algn="l" defTabSz="101983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 typeface="맑은 고딕" panose="020B0503020000020004" pitchFamily="50" charset="-127"/>
              <a:buChar char="–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학습평가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0" marR="0" lvl="0" indent="0" algn="l" defTabSz="101983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 typeface="맑은 고딕" panose="020B0503020000020004" pitchFamily="50" charset="-127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------------------------------</a:t>
            </a:r>
          </a:p>
          <a:p>
            <a:pPr marL="0" marR="0" lvl="0" indent="0" algn="l" defTabSz="1019830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정리하기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  <a:p>
            <a:pPr marL="125413" marR="0" lvl="0" indent="-125413" algn="l" defTabSz="1019830" rtl="0" eaLnBrk="1" fontAlgn="base" latinLnBrk="0" hangingPunct="1">
              <a:lnSpc>
                <a:spcPct val="100000"/>
              </a:lnSpc>
              <a:spcBef>
                <a:spcPts val="94"/>
              </a:spcBef>
              <a:spcAft>
                <a:spcPts val="28"/>
              </a:spcAft>
              <a:buClrTx/>
              <a:buSzTx/>
              <a:buFont typeface="맑은 고딕" panose="020B0503020000020004" pitchFamily="50" charset="-127"/>
              <a:buChar char="–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학습정리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F45113DE-22C8-7BBA-3BDA-CBA57AEEA4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3264" y="86873"/>
            <a:ext cx="12506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글로벌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AI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커머스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63C488CE-27A8-FFDC-7014-25DE73461E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257311" y="86873"/>
            <a:ext cx="23567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주차</a:t>
            </a:r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글로벌 </a:t>
            </a:r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AI </a:t>
            </a:r>
            <a:r>
              <a:rPr kumimoji="0" lang="ko-KR" altLang="en-US" sz="1200">
                <a:latin typeface="맑은 고딕" pitchFamily="50" charset="-127"/>
                <a:ea typeface="맑은 고딕" pitchFamily="50" charset="-127"/>
              </a:rPr>
              <a:t>커머스의 등장</a:t>
            </a:r>
          </a:p>
        </p:txBody>
      </p:sp>
    </p:spTree>
    <p:extLst>
      <p:ext uri="{BB962C8B-B14F-4D97-AF65-F5344CB8AC3E}">
        <p14:creationId xmlns:p14="http://schemas.microsoft.com/office/powerpoint/2010/main" val="353448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97" userDrawn="1">
          <p15:clr>
            <a:srgbClr val="F26B43"/>
          </p15:clr>
        </p15:guide>
        <p15:guide id="2" pos="1481" userDrawn="1">
          <p15:clr>
            <a:srgbClr val="F26B43"/>
          </p15:clr>
        </p15:guide>
        <p15:guide id="3" pos="6390" userDrawn="1">
          <p15:clr>
            <a:srgbClr val="F26B43"/>
          </p15:clr>
        </p15:guide>
        <p15:guide id="4" pos="1567" userDrawn="1">
          <p15:clr>
            <a:srgbClr val="F26B43"/>
          </p15:clr>
        </p15:guide>
        <p15:guide id="5" orient="horz" pos="4117" userDrawn="1">
          <p15:clr>
            <a:srgbClr val="F26B43"/>
          </p15:clr>
        </p15:guide>
        <p15:guide id="6" orient="horz" pos="587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-488157"/>
            <a:ext cx="3873500" cy="404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85673" tIns="42836" rIns="85673" bIns="42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</a:t>
            </a:r>
            <a:r>
              <a:rPr lang="ko-KR" altLang="en-US" sz="1600" b="1" spc="-150" baseline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우측 위치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600" b="1" spc="-15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전자칠판형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b="1" spc="-15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크로마형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VOD</a:t>
            </a:r>
            <a:r>
              <a:rPr lang="ko-KR" altLang="en-US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34964" y="836613"/>
            <a:ext cx="8101011" cy="5653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ko-KR" altLang="en-US" sz="1499" dirty="0">
              <a:solidFill>
                <a:srgbClr val="0000FF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334964" y="188913"/>
            <a:ext cx="8101011" cy="576262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슬라이드명이 위치 가능한 범위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16,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6.5,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9.0,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7.4)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626290" y="-49211"/>
            <a:ext cx="340120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상단 타이틀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7.8)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6756602" y="4231330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너비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33.867cm,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높이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19.05cm)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768501" y="4980549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전체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 전체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1361691" y="1566593"/>
            <a:ext cx="6095256" cy="7017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학습 내용 위치 가능한 범위</a:t>
            </a:r>
            <a:endParaRPr kumimoji="0" lang="en-US" altLang="ko-KR" sz="1800" b="1" i="0" u="none" strike="noStrike" kern="1200" cap="none" spc="-141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좌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16,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우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6.5,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상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7.2, </a:t>
            </a:r>
            <a:r>
              <a:rPr kumimoji="0" lang="ko-KR" altLang="en-US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하 </a:t>
            </a:r>
            <a:r>
              <a:rPr kumimoji="0" lang="en-US" altLang="ko-KR" sz="1800" b="1" i="0" u="none" strike="noStrike" kern="1200" cap="none" spc="-141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: 8.5)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8626290" y="1860103"/>
            <a:ext cx="340120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 영상이 위치하는 범위</a:t>
            </a:r>
          </a:p>
        </p:txBody>
      </p:sp>
    </p:spTree>
    <p:extLst>
      <p:ext uri="{BB962C8B-B14F-4D97-AF65-F5344CB8AC3E}">
        <p14:creationId xmlns:p14="http://schemas.microsoft.com/office/powerpoint/2010/main" val="202960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89" r:id="rId2"/>
    <p:sldLayoutId id="2147483786" r:id="rId3"/>
    <p:sldLayoutId id="2147483787" r:id="rId4"/>
    <p:sldLayoutId id="2147483788" r:id="rId5"/>
    <p:sldLayoutId id="2147483790" r:id="rId6"/>
  </p:sldLayoutIdLst>
  <p:txStyles>
    <p:titleStyle>
      <a:lvl1pPr algn="l" defTabSz="913801" rtl="0" eaLnBrk="1" latinLnBrk="1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50" indent="-228450" algn="l" defTabSz="913801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3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1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0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9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8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7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6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0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5" orient="horz" pos="527" userDrawn="1">
          <p15:clr>
            <a:srgbClr val="F26B43"/>
          </p15:clr>
        </p15:guide>
        <p15:guide id="8" pos="7240">
          <p15:clr>
            <a:srgbClr val="F26B43"/>
          </p15:clr>
        </p15:guide>
        <p15:guide id="9" orient="horz" pos="482" userDrawn="1">
          <p15:clr>
            <a:srgbClr val="F26B43"/>
          </p15:clr>
        </p15:guide>
        <p15:guide id="10" pos="5314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5428">
          <p15:clr>
            <a:srgbClr val="F26B43"/>
          </p15:clr>
        </p15:guide>
        <p15:guide id="13" orient="horz" pos="11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-488157"/>
            <a:ext cx="2133600" cy="404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85673" tIns="42836" rIns="85673" bIns="42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</a:t>
            </a:r>
            <a:r>
              <a:rPr lang="ko-KR" altLang="en-US" sz="1600" b="1" spc="-150" baseline="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좌측 위치</a:t>
            </a:r>
            <a:r>
              <a:rPr lang="en-US" altLang="ko-KR" sz="1600" b="1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600" b="1" spc="-15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크로마형</a:t>
            </a:r>
            <a:endParaRPr lang="ko-KR" altLang="en-US" sz="1600" b="1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직사각형 16"/>
          <p:cNvSpPr/>
          <p:nvPr userDrawn="1"/>
        </p:nvSpPr>
        <p:spPr>
          <a:xfrm>
            <a:off x="3756027" y="836613"/>
            <a:ext cx="8101011" cy="5653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en-US" altLang="ko-KR" sz="1499" dirty="0">
              <a:solidFill>
                <a:srgbClr val="0000FF"/>
              </a:solidFill>
            </a:endParaRPr>
          </a:p>
          <a:p>
            <a:pPr algn="ctr"/>
            <a:endParaRPr lang="ko-KR" altLang="en-US" sz="1499" dirty="0">
              <a:solidFill>
                <a:srgbClr val="0000FF"/>
              </a:solidFill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756027" y="188913"/>
            <a:ext cx="8101011" cy="576262"/>
          </a:xfrm>
          <a:prstGeom prst="rect">
            <a:avLst/>
          </a:prstGeom>
          <a:solidFill>
            <a:schemeClr val="bg1">
              <a:lumMod val="75000"/>
              <a:alpha val="50196"/>
            </a:schemeClr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슬라이드명이 위치 가능한 범위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6.5,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16,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9.0,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7.4)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4758904" y="1566593"/>
            <a:ext cx="6095256" cy="7017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내용 위치 가능한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6.5,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16,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7.2,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8.5)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62195" y="-60554"/>
            <a:ext cx="340120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상단 타이틀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좌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0,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7.8)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61432" y="2895946"/>
            <a:ext cx="340120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 영상이 위치하는 범위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105929" y="4294830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너비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33.867cm, 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높이 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19.05cm)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6105929" y="5044049"/>
            <a:ext cx="340120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전체 디자인 범위</a:t>
            </a:r>
            <a:endParaRPr lang="en-US" altLang="ko-KR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슬라이드 크기 전체</a:t>
            </a:r>
            <a:r>
              <a:rPr lang="en-US" altLang="ko-KR" sz="1800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800" b="1" spc="-141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575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xStyles>
    <p:titleStyle>
      <a:lvl1pPr algn="l" defTabSz="913801" rtl="0" eaLnBrk="1" latinLnBrk="1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50" indent="-228450" algn="l" defTabSz="913801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3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1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0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29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851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7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652" indent="-228450" algn="l" defTabSz="913801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00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01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02" algn="l" defTabSz="913801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527" userDrawn="1">
          <p15:clr>
            <a:srgbClr val="F26B43"/>
          </p15:clr>
        </p15:guide>
        <p15:guide id="8" pos="7469" userDrawn="1">
          <p15:clr>
            <a:srgbClr val="F26B43"/>
          </p15:clr>
        </p15:guide>
        <p15:guide id="9" orient="horz" pos="482" userDrawn="1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2366" userDrawn="1">
          <p15:clr>
            <a:srgbClr val="F26B43"/>
          </p15:clr>
        </p15:guide>
        <p15:guide id="13" orient="horz" pos="1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20.xml"/><Relationship Id="rId9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28.xml"/><Relationship Id="rId9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notesSlide" Target="../notesSlides/notesSlide24.xml"/><Relationship Id="rId4" Type="http://schemas.openxmlformats.org/officeDocument/2006/relationships/tags" Target="../tags/tag36.xml"/><Relationship Id="rId9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notesSlide" Target="../notesSlides/notesSlide33.xml"/><Relationship Id="rId4" Type="http://schemas.openxmlformats.org/officeDocument/2006/relationships/tags" Target="../tags/tag44.xml"/><Relationship Id="rId9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jpe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10" Type="http://schemas.openxmlformats.org/officeDocument/2006/relationships/notesSlide" Target="../notesSlides/notesSlide45.xml"/><Relationship Id="rId4" Type="http://schemas.openxmlformats.org/officeDocument/2006/relationships/tags" Target="../tags/tag52.xml"/><Relationship Id="rId9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63757"/>
              </p:ext>
            </p:extLst>
          </p:nvPr>
        </p:nvGraphicFramePr>
        <p:xfrm>
          <a:off x="1435315" y="3543301"/>
          <a:ext cx="9321370" cy="2148243"/>
        </p:xfrm>
        <a:graphic>
          <a:graphicData uri="http://schemas.openxmlformats.org/drawingml/2006/table">
            <a:tbl>
              <a:tblPr/>
              <a:tblGrid>
                <a:gridCol w="222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2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주차명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주차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글로벌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AI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커머스의 등장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2026. 07. 21.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담당교수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고윤승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교수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대학설계자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조윤경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19935" marR="119935" marT="51193" marB="51193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최윤선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비즈엠디지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35" marR="119935" marT="51193" marB="51193" anchor="ctr" horzOverflow="overflow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719" y="1881758"/>
            <a:ext cx="12184563" cy="70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8223" tIns="64111" rIns="128223" bIns="64111">
            <a:spAutoFit/>
          </a:bodyPr>
          <a:lstStyle>
            <a:lvl1pPr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60438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3748" dirty="0">
                <a:latin typeface="HY헤드라인M" pitchFamily="18" charset="-127"/>
                <a:ea typeface="HY헤드라인M" pitchFamily="18" charset="-127"/>
              </a:rPr>
              <a:t>글로벌</a:t>
            </a:r>
            <a:r>
              <a:rPr lang="en-US" altLang="ko-KR" sz="3748" dirty="0">
                <a:latin typeface="HY헤드라인M" pitchFamily="18" charset="-127"/>
                <a:ea typeface="HY헤드라인M" pitchFamily="18" charset="-127"/>
              </a:rPr>
              <a:t>AI</a:t>
            </a:r>
            <a:r>
              <a:rPr lang="ko-KR" altLang="en-US" sz="3748" dirty="0">
                <a:latin typeface="HY헤드라인M" pitchFamily="18" charset="-127"/>
                <a:ea typeface="HY헤드라인M" pitchFamily="18" charset="-127"/>
              </a:rPr>
              <a:t>커머스</a:t>
            </a:r>
            <a:r>
              <a:rPr lang="ko-KR" altLang="en-US" sz="3748" b="1" dirty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3748" b="1" dirty="0">
                <a:latin typeface="HY헤드라인M" pitchFamily="18" charset="-127"/>
                <a:ea typeface="HY헤드라인M" pitchFamily="18" charset="-127"/>
              </a:rPr>
              <a:t>storyboard</a:t>
            </a:r>
            <a:endParaRPr lang="en-US" altLang="ko-KR" sz="3748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507638" y="-250167"/>
            <a:ext cx="684361" cy="1811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85673" tIns="42836" rIns="85673" bIns="4283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Ver 260615</a:t>
            </a:r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286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33552"/>
              </p:ext>
            </p:extLst>
          </p:nvPr>
        </p:nvGraphicFramePr>
        <p:xfrm>
          <a:off x="193675" y="713795"/>
          <a:ext cx="11795306" cy="3628934"/>
        </p:xfrm>
        <a:graphic>
          <a:graphicData uri="http://schemas.openxmlformats.org/drawingml/2006/table">
            <a:tbl>
              <a:tblPr/>
              <a:tblGrid>
                <a:gridCol w="1724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7927">
                  <a:extLst>
                    <a:ext uri="{9D8B030D-6E8A-4147-A177-3AD203B41FA5}">
                      <a16:colId xmlns:a16="http://schemas.microsoft.com/office/drawing/2014/main" val="951354048"/>
                    </a:ext>
                  </a:extLst>
                </a:gridCol>
                <a:gridCol w="981458">
                  <a:extLst>
                    <a:ext uri="{9D8B030D-6E8A-4147-A177-3AD203B41FA5}">
                      <a16:colId xmlns:a16="http://schemas.microsoft.com/office/drawing/2014/main" val="3165964607"/>
                    </a:ext>
                  </a:extLst>
                </a:gridCol>
              </a:tblGrid>
              <a:tr h="28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유닛명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학습목차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영상 파일명</a:t>
                      </a:r>
                    </a:p>
                  </a:txBody>
                  <a:tcPr marL="0" marR="0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외부영상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URL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핵심자원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(Y/N)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들어가기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##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인트로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고정 </a:t>
                      </a:r>
                      <a:r>
                        <a:rPr kumimoji="1" lang="en-US" altLang="ko-K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url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https://home.iscu.ac.kr/lcms/contents/viewer/doRandomIntroMedia.scu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##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학습개요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##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글로벌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커머스의 등장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글로벌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이커머스에서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글로벌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AI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커머스로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##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글로벌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이커머스에서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글로벌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AI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커머스로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#AI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는 커머스 가치사슬을 어떻게 바꾸는가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##AI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는 커머스 가치사슬을 어떻게 바꾸는가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사례 분석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글로벌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AI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커머스의 주요 사례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##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사례 분석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글로벌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AI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커머스의 주요 사례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338362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실습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해외에 팔고 싶은 상품 또는 서비스 선정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##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실습 </a:t>
                      </a: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해외에 팔고 싶은 상품 또는 서비스 선정</a:t>
                      </a:r>
                      <a:endParaRPr kumimoji="1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38490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#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평가하기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##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학습평가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영상없음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97377"/>
                  </a:ext>
                </a:extLst>
              </a:tr>
              <a:tr h="285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#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정리하기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##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학습정리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영상없음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D2D2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119949" marR="119949" marT="51178" marB="51178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89787"/>
              </p:ext>
            </p:extLst>
          </p:nvPr>
        </p:nvGraphicFramePr>
        <p:xfrm>
          <a:off x="9640126" y="14451"/>
          <a:ext cx="2360760" cy="570252"/>
        </p:xfrm>
        <a:graphic>
          <a:graphicData uri="http://schemas.openxmlformats.org/drawingml/2006/table">
            <a:tbl>
              <a:tblPr/>
              <a:tblGrid>
                <a:gridCol w="1180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619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유닛개수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14" marR="119914" marT="51123" marB="51123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영상개수</a:t>
                      </a:r>
                    </a:p>
                  </a:txBody>
                  <a:tcPr marL="119914" marR="119914" marT="51123" marB="51123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19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14" marR="119914" marT="51123" marB="51123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9914" marR="119914" marT="51123" marB="51123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5CF0CA-890A-4E96-B6DA-18EDE3D84AF5}"/>
              </a:ext>
            </a:extLst>
          </p:cNvPr>
          <p:cNvSpPr txBox="1"/>
          <p:nvPr/>
        </p:nvSpPr>
        <p:spPr>
          <a:xfrm>
            <a:off x="108562" y="6166979"/>
            <a:ext cx="1895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 latinLnBrk="1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* 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전체화면 슬라이드 </a:t>
            </a:r>
            <a:r>
              <a:rPr kumimoji="1" lang="en-US" altLang="ko-KR" sz="1100" b="1" dirty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ko-KR" altLang="en-US" sz="1100" b="1" dirty="0">
                <a:solidFill>
                  <a:srgbClr val="FF0000"/>
                </a:solidFill>
                <a:latin typeface="+mn-ea"/>
              </a:rPr>
              <a:t>없음</a:t>
            </a:r>
            <a:endParaRPr kumimoji="1" lang="ko-KR" altLang="en-US" sz="1100" b="1" i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287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F9D6F12-6354-4D09-96DF-A79D31908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B936C04-60B5-4DED-B188-E65B01D758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8CAA648E-D667-4AE2-8CA9-668BD2BCB6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E9645FD-4C92-487D-94B6-D8AA676133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A8E7F6BE-802E-413F-84B7-C65361EB78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CF24E393-A70B-4C52-A29B-2C88F1EF39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DFF29ED9-9ACF-4F24-982B-39141649A0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4FCF92AA-4D0A-4642-A8AC-008EB6C7A8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BF114C37-AADC-4370-9BE8-2C42B949CF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58EFA933-79ED-4041-8573-FBCF1AABB3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B4DCE655-0CB7-4E57-965D-A2C2B5D7CC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D9B549BC-024B-408F-831B-1A9A2928BE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9EF6F9DF-A423-4801-BD6B-DCAA613B17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03FD65F4-2537-4A10-A0C7-1A82191EF7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F5918DE5-A528-4587-8F99-EEC00E68EB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EA3A4602-DEEF-41B7-A582-24C8533BA6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010FEA9D-445E-44E9-97A7-8AC78578129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380E1AC1-ABC2-4FBA-A620-25D8C8D9A4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39" name="텍스트 개체 틀 38">
            <a:extLst>
              <a:ext uri="{FF2B5EF4-FFF2-40B4-BE49-F238E27FC236}">
                <a16:creationId xmlns:a16="http://schemas.microsoft.com/office/drawing/2014/main" id="{F50A12F0-7548-4A7C-B12F-D6B1561E64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6DA23BBB-EC7E-4EF3-9DB2-A2233D726FC4}"/>
              </a:ext>
            </a:extLst>
          </p:cNvPr>
          <p:cNvSpPr txBox="1">
            <a:spLocks/>
          </p:cNvSpPr>
          <p:nvPr/>
        </p:nvSpPr>
        <p:spPr>
          <a:xfrm>
            <a:off x="11467329" y="6244024"/>
            <a:ext cx="337492" cy="22383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428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01_01_01</a:t>
            </a: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1062772"/>
            <a:ext cx="2167847" cy="171792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54F57D-5F4F-175D-EE22-0E2AC0C91457}"/>
              </a:ext>
            </a:extLst>
          </p:cNvPr>
          <p:cNvSpPr/>
          <p:nvPr/>
        </p:nvSpPr>
        <p:spPr>
          <a:xfrm>
            <a:off x="2356221" y="505768"/>
            <a:ext cx="5146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https://home.iscu.ac.kr/lcms/contents/viewer/doRandomIntroMedia.scu</a:t>
            </a:r>
          </a:p>
        </p:txBody>
      </p:sp>
    </p:spTree>
    <p:extLst>
      <p:ext uri="{BB962C8B-B14F-4D97-AF65-F5344CB8AC3E}">
        <p14:creationId xmlns:p14="http://schemas.microsoft.com/office/powerpoint/2010/main" val="325265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01_02_01</a:t>
            </a: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1275455"/>
            <a:ext cx="2167847" cy="171792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89745"/>
              </p:ext>
            </p:extLst>
          </p:nvPr>
        </p:nvGraphicFramePr>
        <p:xfrm>
          <a:off x="10350501" y="5077568"/>
          <a:ext cx="1744520" cy="1458170"/>
        </p:xfrm>
        <a:graphic>
          <a:graphicData uri="http://schemas.openxmlformats.org/drawingml/2006/table">
            <a:tbl>
              <a:tblPr/>
              <a:tblGrid>
                <a:gridCol w="51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0" marR="0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목표 분류</a:t>
                      </a: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</a:t>
                      </a:r>
                      <a:endParaRPr kumimoji="1" lang="en-US" altLang="ko-KR" sz="11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</a:t>
                      </a:r>
                      <a:endParaRPr kumimoji="1" lang="en-US" altLang="ko-KR" sz="11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</a:t>
                      </a:r>
                      <a:endParaRPr kumimoji="1" lang="en-US" altLang="ko-KR" sz="11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</a:t>
                      </a:r>
                      <a:endParaRPr kumimoji="1" lang="en-US" altLang="ko-KR" sz="11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5306" marR="145306" marT="61997" marB="61997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30E75F46-F717-E9C0-EF53-94D3512DEA4C}"/>
              </a:ext>
            </a:extLst>
          </p:cNvPr>
          <p:cNvSpPr/>
          <p:nvPr/>
        </p:nvSpPr>
        <p:spPr>
          <a:xfrm>
            <a:off x="2356221" y="505768"/>
            <a:ext cx="17363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_01_01.mp4</a:t>
            </a:r>
          </a:p>
        </p:txBody>
      </p:sp>
    </p:spTree>
    <p:extLst>
      <p:ext uri="{BB962C8B-B14F-4D97-AF65-F5344CB8AC3E}">
        <p14:creationId xmlns:p14="http://schemas.microsoft.com/office/powerpoint/2010/main" val="392340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229C6-3FD7-4748-AF79-EE7A1276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01_02_01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494E658-0884-57EA-FCD7-F2ED0F97FEF2}"/>
              </a:ext>
            </a:extLst>
          </p:cNvPr>
          <p:cNvGrpSpPr/>
          <p:nvPr/>
        </p:nvGrpSpPr>
        <p:grpSpPr>
          <a:xfrm>
            <a:off x="262392" y="154669"/>
            <a:ext cx="11231107" cy="581025"/>
            <a:chOff x="262392" y="154669"/>
            <a:chExt cx="11231107" cy="581025"/>
          </a:xfrm>
        </p:grpSpPr>
        <p:sp>
          <p:nvSpPr>
            <p:cNvPr id="6" name="텍스트 개체 틀 3">
              <a:extLst>
                <a:ext uri="{FF2B5EF4-FFF2-40B4-BE49-F238E27FC236}">
                  <a16:creationId xmlns:a16="http://schemas.microsoft.com/office/drawing/2014/main" id="{F0AF79A3-C9FA-59B9-F2B1-DFF32E2AC67A}"/>
                </a:ext>
              </a:extLst>
            </p:cNvPr>
            <p:cNvSpPr txBox="1">
              <a:spLocks/>
            </p:cNvSpPr>
            <p:nvPr/>
          </p:nvSpPr>
          <p:spPr>
            <a:xfrm>
              <a:off x="262392" y="154669"/>
              <a:ext cx="11231107" cy="581025"/>
            </a:xfrm>
            <a:prstGeom prst="rect">
              <a:avLst/>
            </a:prstGeom>
          </p:spPr>
          <p:txBody>
            <a:bodyPr/>
            <a:lstStyle>
              <a:lvl1pPr marL="228450" indent="-228450" algn="l" defTabSz="913801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3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23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2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9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991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60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29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69851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6752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3652" indent="-228450" algn="l" defTabSz="913801" rtl="0" eaLnBrk="1" latinLnBrk="1" hangingPunct="1">
                <a:lnSpc>
                  <a:spcPct val="90000"/>
                </a:lnSpc>
                <a:spcBef>
                  <a:spcPts val="499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975390" fontAlgn="base">
                <a:spcBef>
                  <a:spcPct val="0"/>
                </a:spcBef>
                <a:spcAft>
                  <a:spcPts val="28"/>
                </a:spcAft>
                <a:buNone/>
              </a:pPr>
              <a:r>
                <a:rPr lang="ko-KR" altLang="en-US" sz="3200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j-cs"/>
                </a:rPr>
                <a:t>학습개요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CF5529-9C0E-CAA7-92B2-0BE9D80CF99F}"/>
                </a:ext>
              </a:extLst>
            </p:cNvPr>
            <p:cNvSpPr txBox="1"/>
            <p:nvPr/>
          </p:nvSpPr>
          <p:spPr>
            <a:xfrm>
              <a:off x="1890532" y="290797"/>
              <a:ext cx="7198041" cy="2924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44450" marR="0" lvl="0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28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508000" algn="l"/>
                  <a:tab pos="1016000" algn="l"/>
                  <a:tab pos="1524000" algn="l"/>
                  <a:tab pos="1996440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이번 시간의 학습목표와 학습내용을 확인하세요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.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4BDB907-B6DA-101E-14C3-63F43D042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614" y="1077692"/>
            <a:ext cx="6008336" cy="262559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None/>
              <a:defRPr lang="en-US" altLang="ko-KR" sz="2000" dirty="0" smtClean="0">
                <a:latin typeface="Microsoft Sans Serif" pitchFamily="34" charset="0"/>
                <a:ea typeface="+mj-ea"/>
                <a:cs typeface="Microsoft Sans Serif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 marL="288000" lvl="1" indent="-288925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4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커머스의 개념과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</a:t>
            </a:r>
            <a:r>
              <a:rPr lang="ko-KR" altLang="en-US" sz="200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이커머스와의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차이를 설명할 수 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88000" lvl="1" indent="-288925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4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커머스 가치사슬에 미치는 영향을 설명할 수 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88000" lvl="1" indent="-288925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4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커머스의 주요 사례를 분석하여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활용 방식을 설명할 수 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288000" lvl="1" indent="-288925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4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해외 시장에서 판매할 상품 또는 서비스를 선정하고 향후 분석 계획을 수립할 수 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3D58FA2-CC97-E50D-51B6-8AC5A37A51C5}"/>
              </a:ext>
            </a:extLst>
          </p:cNvPr>
          <p:cNvGrpSpPr/>
          <p:nvPr/>
        </p:nvGrpSpPr>
        <p:grpSpPr>
          <a:xfrm>
            <a:off x="2608614" y="4140919"/>
            <a:ext cx="5619511" cy="1702261"/>
            <a:chOff x="1768148" y="4595839"/>
            <a:chExt cx="5619511" cy="17022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7BC72F-557B-F753-363C-01C8BFE71D61}"/>
                </a:ext>
              </a:extLst>
            </p:cNvPr>
            <p:cNvSpPr txBox="1"/>
            <p:nvPr/>
          </p:nvSpPr>
          <p:spPr>
            <a:xfrm>
              <a:off x="2056555" y="4595839"/>
              <a:ext cx="5331104" cy="1702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글로벌 이커머스에서 글로벌 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커머스로</a:t>
              </a:r>
            </a:p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는 커머스 가치사슬을 어떻게 바꾸는가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?</a:t>
              </a:r>
            </a:p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사례 분석 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: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글로벌 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커머스의 주요 사례</a:t>
              </a:r>
            </a:p>
            <a:p>
              <a:pPr marL="0" marR="0" lvl="1" indent="0" algn="l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실습 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: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해외에 팔고 싶은 상품 또는 서비스 선정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5CE2574-9EB8-5126-5DE1-379FA8AF4F06}"/>
                </a:ext>
              </a:extLst>
            </p:cNvPr>
            <p:cNvSpPr/>
            <p:nvPr/>
          </p:nvSpPr>
          <p:spPr>
            <a:xfrm>
              <a:off x="1768148" y="4674806"/>
              <a:ext cx="270457" cy="270457"/>
            </a:xfrm>
            <a:prstGeom prst="roundRect">
              <a:avLst/>
            </a:prstGeom>
            <a:solidFill>
              <a:srgbClr val="9B8C6D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Ins="108000"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150" normalizeH="0" baseline="0" noProof="0" dirty="0">
                  <a:ln>
                    <a:solidFill>
                      <a:srgbClr val="E3574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1</a:t>
              </a:r>
              <a:endParaRPr kumimoji="0" lang="ko-KR" altLang="en-US" sz="2000" b="1" i="0" u="none" strike="noStrike" kern="1200" cap="none" spc="-150" normalizeH="0" baseline="0" noProof="0" dirty="0">
                <a:ln>
                  <a:solidFill>
                    <a:srgbClr val="E357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A86CD4E-8D10-3112-A907-C5B1F94DD1D4}"/>
                </a:ext>
              </a:extLst>
            </p:cNvPr>
            <p:cNvSpPr/>
            <p:nvPr/>
          </p:nvSpPr>
          <p:spPr>
            <a:xfrm>
              <a:off x="1768148" y="5101042"/>
              <a:ext cx="270457" cy="270457"/>
            </a:xfrm>
            <a:prstGeom prst="roundRect">
              <a:avLst/>
            </a:prstGeom>
            <a:solidFill>
              <a:srgbClr val="9B8C6D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150" normalizeH="0" baseline="0" noProof="0" dirty="0">
                  <a:ln>
                    <a:solidFill>
                      <a:srgbClr val="E3574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2</a:t>
              </a:r>
              <a:endParaRPr kumimoji="0" lang="ko-KR" altLang="en-US" sz="2000" b="1" i="0" u="none" strike="noStrike" kern="1200" cap="none" spc="-150" normalizeH="0" baseline="0" noProof="0" dirty="0">
                <a:ln>
                  <a:solidFill>
                    <a:srgbClr val="E357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40A369D-BF28-9EF1-ED19-79CAF6AAB3CD}"/>
                </a:ext>
              </a:extLst>
            </p:cNvPr>
            <p:cNvSpPr/>
            <p:nvPr/>
          </p:nvSpPr>
          <p:spPr>
            <a:xfrm>
              <a:off x="1768148" y="5527278"/>
              <a:ext cx="270457" cy="270457"/>
            </a:xfrm>
            <a:prstGeom prst="roundRect">
              <a:avLst/>
            </a:prstGeom>
            <a:solidFill>
              <a:srgbClr val="9B8C6D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150" normalizeH="0" baseline="0" noProof="0" dirty="0">
                  <a:ln>
                    <a:solidFill>
                      <a:srgbClr val="E3574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3</a:t>
              </a:r>
              <a:endParaRPr kumimoji="0" lang="ko-KR" altLang="en-US" sz="2000" b="1" i="0" u="none" strike="noStrike" kern="1200" cap="none" spc="-150" normalizeH="0" baseline="0" noProof="0" dirty="0">
                <a:ln>
                  <a:solidFill>
                    <a:srgbClr val="E357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1591ACC-E71C-CCED-82A0-8B8EC36A71BF}"/>
                </a:ext>
              </a:extLst>
            </p:cNvPr>
            <p:cNvSpPr/>
            <p:nvPr/>
          </p:nvSpPr>
          <p:spPr>
            <a:xfrm>
              <a:off x="1768148" y="5968376"/>
              <a:ext cx="270457" cy="270457"/>
            </a:xfrm>
            <a:prstGeom prst="roundRect">
              <a:avLst/>
            </a:prstGeom>
            <a:solidFill>
              <a:srgbClr val="9B8C6D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150" normalizeH="0" baseline="0" noProof="0">
                  <a:ln>
                    <a:solidFill>
                      <a:srgbClr val="E3574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4</a:t>
              </a:r>
              <a:endParaRPr kumimoji="0" lang="ko-KR" altLang="en-US" sz="2000" b="1" i="0" u="none" strike="noStrike" kern="1200" cap="none" spc="-150" normalizeH="0" baseline="0" noProof="0" dirty="0">
                <a:ln>
                  <a:solidFill>
                    <a:srgbClr val="E357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1BEBF5F-33BC-CBD2-3D93-47F99A82D5A9}"/>
              </a:ext>
            </a:extLst>
          </p:cNvPr>
          <p:cNvGrpSpPr/>
          <p:nvPr/>
        </p:nvGrpSpPr>
        <p:grpSpPr>
          <a:xfrm>
            <a:off x="669760" y="4164625"/>
            <a:ext cx="1728000" cy="1728000"/>
            <a:chOff x="866610" y="3699809"/>
            <a:chExt cx="1728000" cy="1728000"/>
          </a:xfrm>
        </p:grpSpPr>
        <p:sp>
          <p:nvSpPr>
            <p:cNvPr id="13" name="모서리가 둥근 직사각형 37">
              <a:extLst>
                <a:ext uri="{FF2B5EF4-FFF2-40B4-BE49-F238E27FC236}">
                  <a16:creationId xmlns:a16="http://schemas.microsoft.com/office/drawing/2014/main" id="{4ACE5119-4B26-6038-F406-D9AC34032506}"/>
                </a:ext>
              </a:extLst>
            </p:cNvPr>
            <p:cNvSpPr/>
            <p:nvPr/>
          </p:nvSpPr>
          <p:spPr>
            <a:xfrm>
              <a:off x="866610" y="3699809"/>
              <a:ext cx="1728000" cy="1728000"/>
            </a:xfrm>
            <a:prstGeom prst="ellipse">
              <a:avLst/>
            </a:prstGeom>
            <a:solidFill>
              <a:srgbClr val="E0DBD2"/>
            </a:solidFill>
            <a:ln w="19050" cap="flat" cmpd="sng" algn="ctr">
              <a:solidFill>
                <a:srgbClr val="40404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 latinLnBrk="1"/>
              <a:endParaRPr lang="ko-KR" altLang="en-US" sz="1800" kern="0">
                <a:solidFill>
                  <a:prstClr val="white"/>
                </a:solidFill>
                <a:latin typeface="Gidole"/>
                <a:ea typeface="맑은 고딕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3A712304-EAC8-103C-8A89-EDA240537731}"/>
                </a:ext>
              </a:extLst>
            </p:cNvPr>
            <p:cNvGrpSpPr/>
            <p:nvPr/>
          </p:nvGrpSpPr>
          <p:grpSpPr>
            <a:xfrm>
              <a:off x="1077464" y="4013792"/>
              <a:ext cx="1306293" cy="1100035"/>
              <a:chOff x="1077464" y="3890579"/>
              <a:chExt cx="1306293" cy="110003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BACA27-AE2A-8C8D-2A78-2B600FD3BC70}"/>
                  </a:ext>
                </a:extLst>
              </p:cNvPr>
              <p:cNvSpPr txBox="1"/>
              <p:nvPr/>
            </p:nvSpPr>
            <p:spPr>
              <a:xfrm>
                <a:off x="1077464" y="4616922"/>
                <a:ext cx="1306293" cy="373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75390" rtl="0" eaLnBrk="1" fontAlgn="base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28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ko-KR" altLang="en-US" sz="2300" b="1" i="0" u="none" strike="noStrike" kern="1200" cap="none" spc="-150" normalizeH="0" baseline="0" noProof="0" dirty="0">
                    <a:ln>
                      <a:solidFill>
                        <a:prstClr val="black">
                          <a:lumMod val="65000"/>
                          <a:lumOff val="35000"/>
                          <a:alpha val="0"/>
                        </a:prstClr>
                      </a:solidFill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Tahoma" panose="020B0604030504040204" pitchFamily="34" charset="0"/>
                  </a:rPr>
                  <a:t>학습내용</a:t>
                </a:r>
              </a:p>
            </p:txBody>
          </p:sp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8A692146-8CBB-F87C-35D7-A39DBD6E4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69290" y="3890579"/>
                <a:ext cx="522640" cy="673230"/>
              </a:xfrm>
              <a:prstGeom prst="rect">
                <a:avLst/>
              </a:prstGeom>
            </p:spPr>
          </p:pic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2C959DA-DABA-A6E6-058B-4D3761C581F6}"/>
              </a:ext>
            </a:extLst>
          </p:cNvPr>
          <p:cNvGrpSpPr/>
          <p:nvPr/>
        </p:nvGrpSpPr>
        <p:grpSpPr>
          <a:xfrm>
            <a:off x="646297" y="1135149"/>
            <a:ext cx="1727284" cy="1727284"/>
            <a:chOff x="843147" y="1698009"/>
            <a:chExt cx="1727284" cy="1727284"/>
          </a:xfrm>
        </p:grpSpPr>
        <p:sp>
          <p:nvSpPr>
            <p:cNvPr id="3" name="모서리가 둥근 직사각형 36">
              <a:extLst>
                <a:ext uri="{FF2B5EF4-FFF2-40B4-BE49-F238E27FC236}">
                  <a16:creationId xmlns:a16="http://schemas.microsoft.com/office/drawing/2014/main" id="{82113DDF-F652-F93E-F347-46E14FB9A3F2}"/>
                </a:ext>
              </a:extLst>
            </p:cNvPr>
            <p:cNvSpPr/>
            <p:nvPr/>
          </p:nvSpPr>
          <p:spPr>
            <a:xfrm rot="18900000">
              <a:off x="843147" y="1698009"/>
              <a:ext cx="1727284" cy="1727284"/>
            </a:xfrm>
            <a:prstGeom prst="ellipse">
              <a:avLst/>
            </a:prstGeom>
            <a:solidFill>
              <a:srgbClr val="F7DA91"/>
            </a:solidFill>
            <a:ln w="19050" cap="flat" cmpd="sng" algn="ctr">
              <a:solidFill>
                <a:srgbClr val="40404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dole"/>
                <a:ea typeface="맑은 고딕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34EA4A-FA93-94A2-80B0-F9A8BC48A292}"/>
                </a:ext>
              </a:extLst>
            </p:cNvPr>
            <p:cNvSpPr txBox="1"/>
            <p:nvPr/>
          </p:nvSpPr>
          <p:spPr>
            <a:xfrm>
              <a:off x="1053643" y="2716249"/>
              <a:ext cx="1306293" cy="3736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75390" rtl="0" eaLnBrk="1" fontAlgn="base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28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300" b="1" i="0" u="none" strike="noStrike" kern="1200" cap="none" spc="-150" normalizeH="0" baseline="0" noProof="0" dirty="0">
                  <a:ln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</a:ln>
                  <a:solidFill>
                    <a:srgbClr val="404040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Tahoma" panose="020B0604030504040204" pitchFamily="34" charset="0"/>
                </a:rPr>
                <a:t>학습목표</a:t>
              </a:r>
            </a:p>
          </p:txBody>
        </p:sp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ED7D41A6-AD73-91B0-AA30-ACB086AEC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63552" y="1949614"/>
              <a:ext cx="686475" cy="677004"/>
            </a:xfrm>
            <a:prstGeom prst="rect">
              <a:avLst/>
            </a:prstGeom>
          </p:spPr>
        </p:pic>
      </p:grpSp>
      <p:pic>
        <p:nvPicPr>
          <p:cNvPr id="22" name="그래픽 21">
            <a:extLst>
              <a:ext uri="{FF2B5EF4-FFF2-40B4-BE49-F238E27FC236}">
                <a16:creationId xmlns:a16="http://schemas.microsoft.com/office/drawing/2014/main" id="{63E96292-766A-5AE0-DE60-16340B5D59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0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01_03_01</a:t>
            </a: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1456303"/>
            <a:ext cx="2167847" cy="171792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E75F46-F717-E9C0-EF53-94D3512DEA4C}"/>
              </a:ext>
            </a:extLst>
          </p:cNvPr>
          <p:cNvSpPr/>
          <p:nvPr/>
        </p:nvSpPr>
        <p:spPr>
          <a:xfrm>
            <a:off x="2356221" y="505768"/>
            <a:ext cx="17363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_02_01.mp4</a:t>
            </a:r>
          </a:p>
        </p:txBody>
      </p:sp>
    </p:spTree>
    <p:extLst>
      <p:ext uri="{BB962C8B-B14F-4D97-AF65-F5344CB8AC3E}">
        <p14:creationId xmlns:p14="http://schemas.microsoft.com/office/powerpoint/2010/main" val="413907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25" name="사각형: 둥근 모서리 82">
            <a:extLst>
              <a:ext uri="{FF2B5EF4-FFF2-40B4-BE49-F238E27FC236}">
                <a16:creationId xmlns:a16="http://schemas.microsoft.com/office/drawing/2014/main" id="{D757E018-2D56-8A46-AA4B-9236AA768736}"/>
              </a:ext>
            </a:extLst>
          </p:cNvPr>
          <p:cNvSpPr/>
          <p:nvPr/>
        </p:nvSpPr>
        <p:spPr>
          <a:xfrm>
            <a:off x="3560717" y="2418781"/>
            <a:ext cx="4875257" cy="2183282"/>
          </a:xfrm>
          <a:prstGeom prst="roundRect">
            <a:avLst>
              <a:gd name="adj" fmla="val 5527"/>
            </a:avLst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lIns="144000" tIns="144000" rIns="144000" bIns="144000" rtlCol="0" anchor="t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단순히 해외 플랫폼에 상품을 올리는 것이 아니라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활용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 해외 고객을 이해하고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상품을 발견되게 하며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신뢰를 만들고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</a:t>
            </a:r>
            <a:r>
              <a:rPr lang="en-US" altLang="ko-KR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·CS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연결하는 </a:t>
            </a:r>
            <a:r>
              <a:rPr lang="ko-KR" altLang="en-US" sz="2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새로운 커머스 방식</a:t>
            </a:r>
            <a:endParaRPr lang="en-US" altLang="ko-KR" sz="21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highlight>
                <a:srgbClr val="F7DA91"/>
              </a:highligh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6" name="직선 연결선 85">
            <a:extLst>
              <a:ext uri="{FF2B5EF4-FFF2-40B4-BE49-F238E27FC236}">
                <a16:creationId xmlns:a16="http://schemas.microsoft.com/office/drawing/2014/main" id="{1A2BFA7D-0A91-570C-B976-93E476BF549B}"/>
              </a:ext>
            </a:extLst>
          </p:cNvPr>
          <p:cNvCxnSpPr>
            <a:cxnSpLocks/>
          </p:cNvCxnSpPr>
          <p:nvPr/>
        </p:nvCxnSpPr>
        <p:spPr>
          <a:xfrm>
            <a:off x="2974206" y="2997850"/>
            <a:ext cx="586512" cy="0"/>
          </a:xfrm>
          <a:prstGeom prst="line">
            <a:avLst/>
          </a:prstGeom>
          <a:solidFill>
            <a:srgbClr val="BBCCFA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2EFB8AE-6EB0-802F-552B-71BED66AE80A}"/>
              </a:ext>
            </a:extLst>
          </p:cNvPr>
          <p:cNvSpPr txBox="1"/>
          <p:nvPr/>
        </p:nvSpPr>
        <p:spPr>
          <a:xfrm>
            <a:off x="3560718" y="1671163"/>
            <a:ext cx="4160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글로벌 </a:t>
            </a:r>
            <a:r>
              <a:rPr lang="en-US" altLang="ko-KR" sz="3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3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커머스</a:t>
            </a:r>
            <a:endParaRPr lang="ko-KR" altLang="en-US" sz="2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8" name="그림 개체 틀 39">
            <a:extLst>
              <a:ext uri="{FF2B5EF4-FFF2-40B4-BE49-F238E27FC236}">
                <a16:creationId xmlns:a16="http://schemas.microsoft.com/office/drawing/2014/main" id="{EB2612A2-ABF1-5AC9-76DE-F24C0A5FBD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982" r="35982"/>
          <a:stretch/>
        </p:blipFill>
        <p:spPr>
          <a:xfrm>
            <a:off x="373452" y="1015459"/>
            <a:ext cx="2600754" cy="5402686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393542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>
            <a:extLst>
              <a:ext uri="{FF2B5EF4-FFF2-40B4-BE49-F238E27FC236}">
                <a16:creationId xmlns:a16="http://schemas.microsoft.com/office/drawing/2014/main" id="{A16DCA56-8512-0563-1C68-43FE14F17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27" b="23027"/>
          <a:stretch/>
        </p:blipFill>
        <p:spPr bwMode="auto">
          <a:xfrm>
            <a:off x="0" y="2692401"/>
            <a:ext cx="12192000" cy="416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3EF877-DFBA-75CD-E52E-CB487EC5164A}"/>
              </a:ext>
            </a:extLst>
          </p:cNvPr>
          <p:cNvSpPr/>
          <p:nvPr/>
        </p:nvSpPr>
        <p:spPr>
          <a:xfrm>
            <a:off x="0" y="2692401"/>
            <a:ext cx="12192000" cy="4165599"/>
          </a:xfrm>
          <a:prstGeom prst="rect">
            <a:avLst/>
          </a:prstGeom>
          <a:gradFill flip="none" rotWithShape="1">
            <a:gsLst>
              <a:gs pos="9000">
                <a:schemeClr val="bg1"/>
              </a:gs>
              <a:gs pos="68000">
                <a:schemeClr val="bg1">
                  <a:alpha val="60000"/>
                </a:schemeClr>
              </a:gs>
              <a:gs pos="100000">
                <a:schemeClr val="bg1">
                  <a:shade val="100000"/>
                  <a:satMod val="115000"/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는 해외판매를 어떻게 바꾸고 있는가</a:t>
            </a:r>
            <a:r>
              <a:rPr lang="en-US" altLang="ko-KR" dirty="0"/>
              <a:t>?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2875E47-8FD7-6391-8C2C-E6FB19A27AB1}"/>
              </a:ext>
            </a:extLst>
          </p:cNvPr>
          <p:cNvGrpSpPr/>
          <p:nvPr/>
        </p:nvGrpSpPr>
        <p:grpSpPr>
          <a:xfrm>
            <a:off x="623888" y="1413002"/>
            <a:ext cx="7812375" cy="1663700"/>
            <a:chOff x="606714" y="2208530"/>
            <a:chExt cx="7829549" cy="16637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0DC016E-9F2B-8C54-6233-77DCCDCB28CC}"/>
                </a:ext>
              </a:extLst>
            </p:cNvPr>
            <p:cNvSpPr/>
            <p:nvPr/>
          </p:nvSpPr>
          <p:spPr>
            <a:xfrm>
              <a:off x="615871" y="2411731"/>
              <a:ext cx="3748915" cy="1460499"/>
            </a:xfrm>
            <a:prstGeom prst="roundRect">
              <a:avLst/>
            </a:prstGeom>
            <a:solidFill>
              <a:srgbClr val="EEEDEA"/>
            </a:solidFill>
            <a:ln>
              <a:solidFill>
                <a:srgbClr val="4C4434"/>
              </a:solidFill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5" name="대각선 방향의 모서리가 잘린 사각형 42">
              <a:extLst>
                <a:ext uri="{FF2B5EF4-FFF2-40B4-BE49-F238E27FC236}">
                  <a16:creationId xmlns:a16="http://schemas.microsoft.com/office/drawing/2014/main" id="{E2550BDC-F4CA-0086-AD2D-E7CE48DE3913}"/>
                </a:ext>
              </a:extLst>
            </p:cNvPr>
            <p:cNvSpPr/>
            <p:nvPr/>
          </p:nvSpPr>
          <p:spPr>
            <a:xfrm>
              <a:off x="1237042" y="2208530"/>
              <a:ext cx="2506572" cy="402523"/>
            </a:xfrm>
            <a:prstGeom prst="roundRect">
              <a:avLst/>
            </a:prstGeom>
            <a:solidFill>
              <a:srgbClr val="EFB881"/>
            </a:solidFill>
            <a:ln w="12700">
              <a:solidFill>
                <a:srgbClr val="4C4434"/>
              </a:solidFill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과거</a:t>
              </a:r>
              <a:endPara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296FBE-3CFE-CCF7-A6E9-3B246486DAD3}"/>
                </a:ext>
              </a:extLst>
            </p:cNvPr>
            <p:cNvSpPr/>
            <p:nvPr/>
          </p:nvSpPr>
          <p:spPr>
            <a:xfrm>
              <a:off x="606714" y="2980633"/>
              <a:ext cx="3767229" cy="430887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609467" rtl="0" eaLnBrk="1" fontAlgn="base" latinLnBrk="0" hangingPunct="1">
                <a:lnSpc>
                  <a:spcPct val="110000"/>
                </a:lnSpc>
                <a:spcBef>
                  <a:spcPts val="4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 lang="ko-KR" altLang="en-US"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어디에 팔 것인가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?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2F3A75F-975E-39AF-644C-B28DA1DA50F9}"/>
                </a:ext>
              </a:extLst>
            </p:cNvPr>
            <p:cNvSpPr/>
            <p:nvPr/>
          </p:nvSpPr>
          <p:spPr>
            <a:xfrm>
              <a:off x="4678191" y="2411731"/>
              <a:ext cx="3748915" cy="1460499"/>
            </a:xfrm>
            <a:prstGeom prst="roundRect">
              <a:avLst/>
            </a:prstGeom>
            <a:solidFill>
              <a:srgbClr val="EEEDEA"/>
            </a:solidFill>
            <a:ln>
              <a:solidFill>
                <a:srgbClr val="4C4434"/>
              </a:solidFill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9" name="대각선 방향의 모서리가 잘린 사각형 44">
              <a:extLst>
                <a:ext uri="{FF2B5EF4-FFF2-40B4-BE49-F238E27FC236}">
                  <a16:creationId xmlns:a16="http://schemas.microsoft.com/office/drawing/2014/main" id="{2103E41E-6693-EF71-9E63-C4D18CF0B031}"/>
                </a:ext>
              </a:extLst>
            </p:cNvPr>
            <p:cNvSpPr/>
            <p:nvPr/>
          </p:nvSpPr>
          <p:spPr>
            <a:xfrm>
              <a:off x="5299362" y="2208530"/>
              <a:ext cx="2506572" cy="402523"/>
            </a:xfrm>
            <a:prstGeom prst="roundRect">
              <a:avLst/>
            </a:prstGeom>
            <a:solidFill>
              <a:srgbClr val="EEA796"/>
            </a:solidFill>
            <a:ln w="12700">
              <a:solidFill>
                <a:srgbClr val="4C4434"/>
              </a:solidFill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latinLnBrk="1">
                <a:lnSpc>
                  <a:spcPct val="110000"/>
                </a:lnSpc>
              </a:pPr>
              <a:r>
                <a:rPr lang="ko-KR" altLang="en-US" sz="200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2D2D2D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현재</a:t>
              </a:r>
              <a:endPara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41377F-564A-3E5E-FE51-32E23A37AC86}"/>
                </a:ext>
              </a:extLst>
            </p:cNvPr>
            <p:cNvSpPr/>
            <p:nvPr/>
          </p:nvSpPr>
          <p:spPr>
            <a:xfrm>
              <a:off x="4669034" y="2648876"/>
              <a:ext cx="3767229" cy="1094402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609467" rtl="0" eaLnBrk="1" fontAlgn="base" latinLnBrk="0" hangingPunct="1">
                <a:lnSpc>
                  <a:spcPct val="110000"/>
                </a:lnSpc>
                <a:spcBef>
                  <a:spcPts val="70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Pct val="110000"/>
                <a:buFontTx/>
                <a:buNone/>
                <a:tabLst>
                  <a:tab pos="1016000" algn="l"/>
                  <a:tab pos="1524000" algn="l"/>
                  <a:tab pos="1995488" algn="l"/>
                  <a:tab pos="2032000" algn="l"/>
                  <a:tab pos="2540000" algn="l"/>
                  <a:tab pos="3048000" algn="l"/>
                  <a:tab pos="3556000" algn="l"/>
                  <a:tab pos="4064000" algn="l"/>
                  <a:tab pos="4572000" algn="l"/>
                  <a:tab pos="5080000" algn="l"/>
                  <a:tab pos="5588000" algn="l"/>
                  <a:tab pos="6096000" algn="l"/>
                  <a:tab pos="6604000" algn="l"/>
                  <a:tab pos="7112000" algn="l"/>
                  <a:tab pos="7620000" algn="l"/>
                  <a:tab pos="8128000" algn="l"/>
                  <a:tab pos="8636000" algn="l"/>
                  <a:tab pos="9144000" algn="l"/>
                  <a:tab pos="9652000" algn="l"/>
                  <a:tab pos="10160000" algn="l"/>
                  <a:tab pos="10668000" algn="l"/>
                  <a:tab pos="11176000" algn="l"/>
                  <a:tab pos="11684000" algn="l"/>
                  <a:tab pos="12192000" algn="l"/>
                  <a:tab pos="12700000" algn="l"/>
                  <a:tab pos="13208000" algn="l"/>
                  <a:tab pos="13716000" algn="l"/>
                  <a:tab pos="14224000" algn="l"/>
                  <a:tab pos="14732000" algn="l"/>
                  <a:tab pos="15240000" algn="l"/>
                  <a:tab pos="15748000" algn="l"/>
                </a:tabLst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와 고객이 내 상품을 </a:t>
              </a:r>
              <a:b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어떻게 발견하고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b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왜 믿고 구매하게 할 것인가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?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9793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DFCBDE2-16AD-62C4-7E3C-F0F6F3286557}"/>
              </a:ext>
            </a:extLst>
          </p:cNvPr>
          <p:cNvSpPr/>
          <p:nvPr/>
        </p:nvSpPr>
        <p:spPr>
          <a:xfrm>
            <a:off x="640080" y="1669918"/>
            <a:ext cx="7789545" cy="5616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0000" rIns="0" bIns="90000" rtlCol="0" anchor="ctr"/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글로벌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커머스는 단순한 입점이나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활용법을 배우는 과목이 아님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B2E7C0D-5E74-9D53-BDF0-EB44B2C94492}"/>
              </a:ext>
            </a:extLst>
          </p:cNvPr>
          <p:cNvSpPr/>
          <p:nvPr/>
        </p:nvSpPr>
        <p:spPr>
          <a:xfrm>
            <a:off x="3652201" y="1094914"/>
            <a:ext cx="1765301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ko-KR" altLang="en-US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강의 핵심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BF76F7AD-4A1F-01A3-8627-36FEF41AA01C}"/>
              </a:ext>
            </a:extLst>
          </p:cNvPr>
          <p:cNvSpPr/>
          <p:nvPr/>
        </p:nvSpPr>
        <p:spPr>
          <a:xfrm>
            <a:off x="640080" y="2502521"/>
            <a:ext cx="7789545" cy="9000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0000" rIns="0" bIns="90000" rtlCol="0" anchor="ctr"/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시대에 글로벌 고객이 상품을 발견하고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판매자가 신뢰를 구축하는 방법을 이해하는 것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 핵심</a:t>
            </a:r>
          </a:p>
        </p:txBody>
      </p:sp>
    </p:spTree>
    <p:extLst>
      <p:ext uri="{BB962C8B-B14F-4D97-AF65-F5344CB8AC3E}">
        <p14:creationId xmlns:p14="http://schemas.microsoft.com/office/powerpoint/2010/main" val="181725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67D65B-A21E-FB2F-5B0C-786E6A7DCC58}"/>
              </a:ext>
            </a:extLst>
          </p:cNvPr>
          <p:cNvSpPr/>
          <p:nvPr/>
        </p:nvSpPr>
        <p:spPr>
          <a:xfrm>
            <a:off x="0" y="1412875"/>
            <a:ext cx="12192000" cy="5445125"/>
          </a:xfrm>
          <a:prstGeom prst="rect">
            <a:avLst/>
          </a:prstGeom>
          <a:solidFill>
            <a:srgbClr val="EEA796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39800D57-B7D7-6A37-29B1-05D3538FBB67}"/>
              </a:ext>
            </a:extLst>
          </p:cNvPr>
          <p:cNvSpPr/>
          <p:nvPr/>
        </p:nvSpPr>
        <p:spPr>
          <a:xfrm rot="5400000">
            <a:off x="1195342" y="-98952"/>
            <a:ext cx="540001" cy="29306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A7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>
              <a:lnSpc>
                <a:spcPct val="110000"/>
              </a:lnSpc>
            </a:pPr>
            <a:endParaRPr lang="ko-KR" altLang="en-US" sz="2000">
              <a:ln>
                <a:solidFill>
                  <a:srgbClr val="73B5E5">
                    <a:alpha val="0"/>
                  </a:srgbClr>
                </a:solidFill>
              </a:ln>
              <a:solidFill>
                <a:prstClr val="whit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35AAF-BB9B-97B2-D83B-3BB0356BC7D4}"/>
              </a:ext>
            </a:extLst>
          </p:cNvPr>
          <p:cNvSpPr txBox="1"/>
          <p:nvPr/>
        </p:nvSpPr>
        <p:spPr>
          <a:xfrm>
            <a:off x="1004033" y="1154139"/>
            <a:ext cx="2125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생각해 봅시다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CE13B68-8B2F-1DE8-3CC3-2CFA6D73FE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37" b="60000"/>
          <a:stretch/>
        </p:blipFill>
        <p:spPr>
          <a:xfrm rot="20967756">
            <a:off x="604653" y="973485"/>
            <a:ext cx="548734" cy="7604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C1F9F2-131B-D913-D419-840710E364CD}"/>
              </a:ext>
            </a:extLst>
          </p:cNvPr>
          <p:cNvSpPr txBox="1"/>
          <p:nvPr/>
        </p:nvSpPr>
        <p:spPr>
          <a:xfrm>
            <a:off x="1096107" y="1777661"/>
            <a:ext cx="7339868" cy="1094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여러분이 한국 상품 하나를 해외에 판다고 생각해 봅시다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가장 먼저 무엇을 해야 할까요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아마 많은 분들이 이렇게 생각할 수 있습니다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200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67313-3726-A5CA-DAD2-4031DBCCB9B2}"/>
              </a:ext>
            </a:extLst>
          </p:cNvPr>
          <p:cNvSpPr txBox="1"/>
          <p:nvPr/>
        </p:nvSpPr>
        <p:spPr>
          <a:xfrm>
            <a:off x="879020" y="2911010"/>
            <a:ext cx="611505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영어로 번역해야 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아마존이나 쇼피에 입점해야 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 방법을 알아봐야 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광고를 해야 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결제를 붙여야 한다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341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8DA7C20C-3F16-143A-99EA-8DBA4EFAD89E}"/>
              </a:ext>
            </a:extLst>
          </p:cNvPr>
          <p:cNvSpPr/>
          <p:nvPr/>
        </p:nvSpPr>
        <p:spPr>
          <a:xfrm rot="5400000">
            <a:off x="1195342" y="-98952"/>
            <a:ext cx="540001" cy="29306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A7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>
              <a:lnSpc>
                <a:spcPct val="110000"/>
              </a:lnSpc>
            </a:pPr>
            <a:endParaRPr lang="ko-KR" altLang="en-US" sz="2000">
              <a:ln>
                <a:solidFill>
                  <a:srgbClr val="73B5E5">
                    <a:alpha val="0"/>
                  </a:srgbClr>
                </a:solidFill>
              </a:ln>
              <a:solidFill>
                <a:prstClr val="whit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67D65B-A21E-FB2F-5B0C-786E6A7DCC58}"/>
              </a:ext>
            </a:extLst>
          </p:cNvPr>
          <p:cNvSpPr/>
          <p:nvPr/>
        </p:nvSpPr>
        <p:spPr>
          <a:xfrm>
            <a:off x="0" y="1412875"/>
            <a:ext cx="12192000" cy="5445125"/>
          </a:xfrm>
          <a:prstGeom prst="rect">
            <a:avLst/>
          </a:prstGeom>
          <a:solidFill>
            <a:srgbClr val="EEA796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1F9F2-131B-D913-D419-840710E364CD}"/>
              </a:ext>
            </a:extLst>
          </p:cNvPr>
          <p:cNvSpPr txBox="1"/>
          <p:nvPr/>
        </p:nvSpPr>
        <p:spPr>
          <a:xfrm>
            <a:off x="1096107" y="1777661"/>
            <a:ext cx="7339868" cy="7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물론 다 맞습니다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그런데 실제로는 그보다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highlight>
                  <a:srgbClr val="F7DA91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먼저 물어야 할 질문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있습니다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67313-3726-A5CA-DAD2-4031DBCCB9B2}"/>
              </a:ext>
            </a:extLst>
          </p:cNvPr>
          <p:cNvSpPr txBox="1"/>
          <p:nvPr/>
        </p:nvSpPr>
        <p:spPr>
          <a:xfrm>
            <a:off x="879020" y="2571344"/>
            <a:ext cx="7339868" cy="2558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해외 고객이 이 상품을 정말 원하는가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비슷한 상품은 이미 얼마나 많은가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 상품은 무엇이 다른가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배송비를 포함해도 살 만한 가격인가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리뷰가 없는 신규 판매자를 고객이 믿을 수 있는가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검색이나 추천에서 내 상품이 잘 설명될 수 있는가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D03DF-B7EE-399F-03F8-3A96AD8BC5C7}"/>
              </a:ext>
            </a:extLst>
          </p:cNvPr>
          <p:cNvSpPr txBox="1"/>
          <p:nvPr/>
        </p:nvSpPr>
        <p:spPr>
          <a:xfrm>
            <a:off x="1004033" y="1154139"/>
            <a:ext cx="2125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생각해 봅시다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B3A550A-C323-36ED-342E-DF3BCB9D07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37" b="60000"/>
          <a:stretch/>
        </p:blipFill>
        <p:spPr>
          <a:xfrm rot="20967756">
            <a:off x="604653" y="973485"/>
            <a:ext cx="548734" cy="76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6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867D65B-A21E-FB2F-5B0C-786E6A7DCC58}"/>
              </a:ext>
            </a:extLst>
          </p:cNvPr>
          <p:cNvSpPr/>
          <p:nvPr/>
        </p:nvSpPr>
        <p:spPr>
          <a:xfrm>
            <a:off x="0" y="1412875"/>
            <a:ext cx="12192000" cy="5445125"/>
          </a:xfrm>
          <a:prstGeom prst="rect">
            <a:avLst/>
          </a:prstGeom>
          <a:solidFill>
            <a:srgbClr val="EEA796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333214-8FE5-4967-9119-A6160DD3C669}"/>
              </a:ext>
            </a:extLst>
          </p:cNvPr>
          <p:cNvSpPr txBox="1"/>
          <p:nvPr/>
        </p:nvSpPr>
        <p:spPr>
          <a:xfrm>
            <a:off x="1096107" y="1777661"/>
            <a:ext cx="7339868" cy="41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질문을 하지 않고 상품부터 올리면 어떻게 될까요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67313-3726-A5CA-DAD2-4031DBCCB9B2}"/>
              </a:ext>
            </a:extLst>
          </p:cNvPr>
          <p:cNvSpPr txBox="1"/>
          <p:nvPr/>
        </p:nvSpPr>
        <p:spPr>
          <a:xfrm>
            <a:off x="879020" y="2200040"/>
            <a:ext cx="7339868" cy="170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상품은 올라갔는데 아무도 보지 않음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보더라도 믿지 않음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믿어도 배송비 때문에 나감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배송비를 넘어서도 리뷰가 없어서 망설임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D9FA683E-2D9D-FCF6-7301-58963BD28458}"/>
              </a:ext>
            </a:extLst>
          </p:cNvPr>
          <p:cNvSpPr/>
          <p:nvPr/>
        </p:nvSpPr>
        <p:spPr>
          <a:xfrm rot="5400000">
            <a:off x="1195342" y="-98952"/>
            <a:ext cx="540001" cy="29306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A7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>
              <a:lnSpc>
                <a:spcPct val="110000"/>
              </a:lnSpc>
            </a:pPr>
            <a:endParaRPr lang="ko-KR" altLang="en-US" sz="2000">
              <a:ln>
                <a:solidFill>
                  <a:srgbClr val="73B5E5">
                    <a:alpha val="0"/>
                  </a:srgbClr>
                </a:solidFill>
              </a:ln>
              <a:solidFill>
                <a:prstClr val="whit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4B385-6CBE-8347-9D10-E7FB05BEAE44}"/>
              </a:ext>
            </a:extLst>
          </p:cNvPr>
          <p:cNvSpPr txBox="1"/>
          <p:nvPr/>
        </p:nvSpPr>
        <p:spPr>
          <a:xfrm>
            <a:off x="1004033" y="1154139"/>
            <a:ext cx="2125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생각해 봅시다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5FB654-9600-6188-DA83-45F0C7898AF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37" b="60000"/>
          <a:stretch/>
        </p:blipFill>
        <p:spPr>
          <a:xfrm rot="20967756">
            <a:off x="604653" y="973485"/>
            <a:ext cx="548734" cy="76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2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01_03_01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커머스의 등장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67D65B-A21E-FB2F-5B0C-786E6A7DCC58}"/>
              </a:ext>
            </a:extLst>
          </p:cNvPr>
          <p:cNvSpPr/>
          <p:nvPr/>
        </p:nvSpPr>
        <p:spPr>
          <a:xfrm>
            <a:off x="0" y="1412875"/>
            <a:ext cx="12192000" cy="5445125"/>
          </a:xfrm>
          <a:prstGeom prst="rect">
            <a:avLst/>
          </a:prstGeom>
          <a:solidFill>
            <a:srgbClr val="EEA796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F05C4005-E7BF-7BF1-CE4F-380AAA01B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D9FA683E-2D9D-FCF6-7301-58963BD28458}"/>
              </a:ext>
            </a:extLst>
          </p:cNvPr>
          <p:cNvSpPr/>
          <p:nvPr/>
        </p:nvSpPr>
        <p:spPr>
          <a:xfrm rot="5400000">
            <a:off x="1195342" y="-98952"/>
            <a:ext cx="540001" cy="29306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A7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>
              <a:lnSpc>
                <a:spcPct val="110000"/>
              </a:lnSpc>
            </a:pPr>
            <a:endParaRPr lang="ko-KR" altLang="en-US" sz="2000">
              <a:ln>
                <a:solidFill>
                  <a:srgbClr val="73B5E5">
                    <a:alpha val="0"/>
                  </a:srgbClr>
                </a:solidFill>
              </a:ln>
              <a:solidFill>
                <a:prstClr val="whit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4B385-6CBE-8347-9D10-E7FB05BEAE44}"/>
              </a:ext>
            </a:extLst>
          </p:cNvPr>
          <p:cNvSpPr txBox="1"/>
          <p:nvPr/>
        </p:nvSpPr>
        <p:spPr>
          <a:xfrm>
            <a:off x="1004033" y="1154139"/>
            <a:ext cx="2125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생각해 봅시다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5FB654-9600-6188-DA83-45F0C7898AF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37" b="60000"/>
          <a:stretch/>
        </p:blipFill>
        <p:spPr>
          <a:xfrm rot="20967756">
            <a:off x="604653" y="973485"/>
            <a:ext cx="548734" cy="760412"/>
          </a:xfrm>
          <a:prstGeom prst="rect">
            <a:avLst/>
          </a:prstGeom>
        </p:spPr>
      </p:pic>
      <p:sp>
        <p:nvSpPr>
          <p:cNvPr id="20" name="사각형: 둥근 모서리 34">
            <a:extLst>
              <a:ext uri="{FF2B5EF4-FFF2-40B4-BE49-F238E27FC236}">
                <a16:creationId xmlns:a16="http://schemas.microsoft.com/office/drawing/2014/main" id="{C6040C7C-230A-4278-B9D3-7A665011542F}"/>
              </a:ext>
            </a:extLst>
          </p:cNvPr>
          <p:cNvSpPr/>
          <p:nvPr/>
        </p:nvSpPr>
        <p:spPr>
          <a:xfrm>
            <a:off x="911225" y="1870934"/>
            <a:ext cx="7524750" cy="5616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커머스는 단순한 판매기술이 아님</a:t>
            </a:r>
          </a:p>
        </p:txBody>
      </p:sp>
      <p:cxnSp>
        <p:nvCxnSpPr>
          <p:cNvPr id="32" name="직선 연결선 12">
            <a:extLst>
              <a:ext uri="{FF2B5EF4-FFF2-40B4-BE49-F238E27FC236}">
                <a16:creationId xmlns:a16="http://schemas.microsoft.com/office/drawing/2014/main" id="{C48C8470-E2EA-45B3-B1F2-AB76A75E0268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>
            <a:off x="2293875" y="3153688"/>
            <a:ext cx="4759452" cy="0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24" name="사각형: 둥근 모서리 8">
            <a:extLst>
              <a:ext uri="{FF2B5EF4-FFF2-40B4-BE49-F238E27FC236}">
                <a16:creationId xmlns:a16="http://schemas.microsoft.com/office/drawing/2014/main" id="{06B4371E-4821-475A-958A-EA932428E505}"/>
              </a:ext>
            </a:extLst>
          </p:cNvPr>
          <p:cNvSpPr/>
          <p:nvPr/>
        </p:nvSpPr>
        <p:spPr>
          <a:xfrm>
            <a:off x="911227" y="2757688"/>
            <a:ext cx="1382648" cy="792000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700"/>
              </a:spcBef>
            </a:pPr>
            <a:r>
              <a:rPr lang="ko-KR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고객발견</a:t>
            </a:r>
          </a:p>
        </p:txBody>
      </p:sp>
      <p:sp>
        <p:nvSpPr>
          <p:cNvPr id="26" name="사각형: 둥근 모서리 8">
            <a:extLst>
              <a:ext uri="{FF2B5EF4-FFF2-40B4-BE49-F238E27FC236}">
                <a16:creationId xmlns:a16="http://schemas.microsoft.com/office/drawing/2014/main" id="{057D3D9A-C290-477A-9E59-C0F974A15DF4}"/>
              </a:ext>
            </a:extLst>
          </p:cNvPr>
          <p:cNvSpPr/>
          <p:nvPr/>
        </p:nvSpPr>
        <p:spPr>
          <a:xfrm>
            <a:off x="2446752" y="2757688"/>
            <a:ext cx="1382648" cy="792000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700"/>
              </a:spcBef>
            </a:pPr>
            <a:r>
              <a:rPr lang="ko-KR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신뢰 설계</a:t>
            </a:r>
          </a:p>
        </p:txBody>
      </p:sp>
      <p:sp>
        <p:nvSpPr>
          <p:cNvPr id="27" name="사각형: 둥근 모서리 8">
            <a:extLst>
              <a:ext uri="{FF2B5EF4-FFF2-40B4-BE49-F238E27FC236}">
                <a16:creationId xmlns:a16="http://schemas.microsoft.com/office/drawing/2014/main" id="{B5C76E9D-F539-43BF-B4D3-B2EC78A89133}"/>
              </a:ext>
            </a:extLst>
          </p:cNvPr>
          <p:cNvSpPr/>
          <p:nvPr/>
        </p:nvSpPr>
        <p:spPr>
          <a:xfrm>
            <a:off x="3982277" y="2757688"/>
            <a:ext cx="1382648" cy="792000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700"/>
              </a:spcBef>
            </a:pPr>
            <a:r>
              <a:rPr lang="ko-KR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플랫폼 이해</a:t>
            </a:r>
          </a:p>
        </p:txBody>
      </p:sp>
      <p:sp>
        <p:nvSpPr>
          <p:cNvPr id="28" name="사각형: 둥근 모서리 8">
            <a:extLst>
              <a:ext uri="{FF2B5EF4-FFF2-40B4-BE49-F238E27FC236}">
                <a16:creationId xmlns:a16="http://schemas.microsoft.com/office/drawing/2014/main" id="{52AACBF2-4E93-4F45-A69A-A986562AD5B6}"/>
              </a:ext>
            </a:extLst>
          </p:cNvPr>
          <p:cNvSpPr/>
          <p:nvPr/>
        </p:nvSpPr>
        <p:spPr>
          <a:xfrm>
            <a:off x="5517802" y="2757688"/>
            <a:ext cx="1382648" cy="792000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700"/>
              </a:spcBef>
            </a:pPr>
            <a:r>
              <a:rPr lang="en-US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</a:t>
            </a:r>
          </a:p>
        </p:txBody>
      </p:sp>
      <p:sp>
        <p:nvSpPr>
          <p:cNvPr id="29" name="사각형: 둥근 모서리 8">
            <a:extLst>
              <a:ext uri="{FF2B5EF4-FFF2-40B4-BE49-F238E27FC236}">
                <a16:creationId xmlns:a16="http://schemas.microsoft.com/office/drawing/2014/main" id="{F0E5C792-635A-41B4-A96B-00AC98DE8FC9}"/>
              </a:ext>
            </a:extLst>
          </p:cNvPr>
          <p:cNvSpPr/>
          <p:nvPr/>
        </p:nvSpPr>
        <p:spPr>
          <a:xfrm>
            <a:off x="7053327" y="2757688"/>
            <a:ext cx="1382648" cy="792000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700"/>
              </a:spcBef>
            </a:pPr>
            <a:r>
              <a:rPr lang="ko-KR" altLang="en-US" sz="1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운영 관리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E32C26-2E9E-490E-A4F4-547940C7AB26}"/>
              </a:ext>
            </a:extLst>
          </p:cNvPr>
          <p:cNvSpPr txBox="1"/>
          <p:nvPr/>
        </p:nvSpPr>
        <p:spPr>
          <a:xfrm>
            <a:off x="3912539" y="4089982"/>
            <a:ext cx="1887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/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연결하는 전략임</a:t>
            </a:r>
            <a:endParaRPr lang="ko-Kore-KR" altLang="en-US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C21921CA-C44C-436B-AD9E-1FF2ED9EE94E}"/>
              </a:ext>
            </a:extLst>
          </p:cNvPr>
          <p:cNvSpPr/>
          <p:nvPr/>
        </p:nvSpPr>
        <p:spPr>
          <a:xfrm rot="16200000">
            <a:off x="4479810" y="712700"/>
            <a:ext cx="367793" cy="6125947"/>
          </a:xfrm>
          <a:prstGeom prst="leftBrace">
            <a:avLst>
              <a:gd name="adj1" fmla="val 85405"/>
              <a:gd name="adj2" fmla="val 50000"/>
            </a:avLst>
          </a:prstGeom>
          <a:noFill/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 latinLnBrk="1"/>
            <a:endParaRPr lang="ko-KR" altLang="en-US" sz="180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2D2D2D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558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02_01_01</a:t>
            </a: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2218978"/>
            <a:ext cx="2167847" cy="409921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86F4FE-60F2-A673-35B4-308D874C3AD1}"/>
              </a:ext>
            </a:extLst>
          </p:cNvPr>
          <p:cNvSpPr/>
          <p:nvPr/>
        </p:nvSpPr>
        <p:spPr>
          <a:xfrm>
            <a:off x="2356221" y="505768"/>
            <a:ext cx="1681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_01_03.mp4</a:t>
            </a:r>
          </a:p>
        </p:txBody>
      </p:sp>
    </p:spTree>
    <p:extLst>
      <p:ext uri="{BB962C8B-B14F-4D97-AF65-F5344CB8AC3E}">
        <p14:creationId xmlns:p14="http://schemas.microsoft.com/office/powerpoint/2010/main" val="2480766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E9119D6-ED70-FD54-AE51-86650663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EF5EF-576D-A35E-88EE-42771CDBC2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688" y="2607757"/>
            <a:ext cx="7253930" cy="1218634"/>
          </a:xfrm>
        </p:spPr>
        <p:txBody>
          <a:bodyPr anchor="t" anchorCtr="0"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01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기존 글로벌 이커머스의 특징</a:t>
            </a:r>
            <a:endParaRPr lang="ko-KR" altLang="en-US" dirty="0"/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BED4EBB1-03E9-1453-A334-53738F340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68335"/>
              </p:ext>
            </p:extLst>
          </p:nvPr>
        </p:nvGraphicFramePr>
        <p:xfrm>
          <a:off x="635000" y="1425575"/>
          <a:ext cx="7804150" cy="311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100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5734050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구분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2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기존 글로벌 </a:t>
                      </a:r>
                      <a:r>
                        <a:rPr lang="ko-KR" altLang="en-US" sz="2000" b="0" kern="1200" dirty="0" err="1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이커머스</a:t>
                      </a:r>
                      <a:endParaRPr lang="ko-KR" altLang="en-US" sz="2000" b="0" kern="1200" dirty="0">
                        <a:ln>
                          <a:solidFill>
                            <a:srgbClr val="E3574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ahoma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핵심 활동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해외 플랫폼 입점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 등록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배송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결제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판매 방식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검색 기반 판매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21667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 접점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상품페이지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2048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주요 역량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플랫폼 이해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가격경쟁력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물류 처리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88689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판매자 고민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어디에 입점할 것인가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어떻게 배송할 것인가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24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23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기존 글로벌 이커머스의 특징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B0C5A7A-0027-CDB2-2042-F4AEB4185211}"/>
              </a:ext>
            </a:extLst>
          </p:cNvPr>
          <p:cNvGrpSpPr/>
          <p:nvPr/>
        </p:nvGrpSpPr>
        <p:grpSpPr>
          <a:xfrm>
            <a:off x="623888" y="1503243"/>
            <a:ext cx="7812087" cy="755848"/>
            <a:chOff x="5896657" y="2645675"/>
            <a:chExt cx="7812087" cy="7558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F89161-F9DC-CB1B-23E4-B949D8868363}"/>
                </a:ext>
              </a:extLst>
            </p:cNvPr>
            <p:cNvSpPr/>
            <p:nvPr/>
          </p:nvSpPr>
          <p:spPr>
            <a:xfrm>
              <a:off x="6245914" y="2645675"/>
              <a:ext cx="7462830" cy="7558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기존에는 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“해외 플랫폼에 상품을 올리고 고객이 검색해서 </a:t>
              </a:r>
              <a:b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들어오게 만드는 구조”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중심이었음</a:t>
              </a:r>
            </a:p>
          </p:txBody>
        </p:sp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24C278B5-4C38-70E3-6CDC-77B3670AD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sp>
        <p:nvSpPr>
          <p:cNvPr id="16" name="사각형: 둥근 모서리 35">
            <a:extLst>
              <a:ext uri="{FF2B5EF4-FFF2-40B4-BE49-F238E27FC236}">
                <a16:creationId xmlns:a16="http://schemas.microsoft.com/office/drawing/2014/main" id="{AD2E2445-D4DC-F0EB-9158-EDB24AE07A80}"/>
              </a:ext>
            </a:extLst>
          </p:cNvPr>
          <p:cNvSpPr/>
          <p:nvPr/>
        </p:nvSpPr>
        <p:spPr>
          <a:xfrm>
            <a:off x="1011245" y="2351143"/>
            <a:ext cx="7424730" cy="1705745"/>
          </a:xfrm>
          <a:prstGeom prst="roundRect">
            <a:avLst>
              <a:gd name="adj" fmla="val 6680"/>
            </a:avLst>
          </a:prstGeom>
          <a:solidFill>
            <a:srgbClr val="EEEDEA"/>
          </a:solidFill>
          <a:ln w="12700">
            <a:solidFill>
              <a:srgbClr val="4C443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87312" marR="0" lvl="0" indent="0" algn="l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3F3F3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7" name="사각형: 둥근 모서리 34">
            <a:extLst>
              <a:ext uri="{FF2B5EF4-FFF2-40B4-BE49-F238E27FC236}">
                <a16:creationId xmlns:a16="http://schemas.microsoft.com/office/drawing/2014/main" id="{1AECCE9A-AF68-6593-001D-F1DA3746E539}"/>
              </a:ext>
            </a:extLst>
          </p:cNvPr>
          <p:cNvSpPr/>
          <p:nvPr/>
        </p:nvSpPr>
        <p:spPr>
          <a:xfrm>
            <a:off x="1011245" y="2351143"/>
            <a:ext cx="756284" cy="1705745"/>
          </a:xfrm>
          <a:prstGeom prst="roundRect">
            <a:avLst/>
          </a:prstGeom>
          <a:solidFill>
            <a:srgbClr val="9B8C6D"/>
          </a:solidFill>
          <a:ln w="12700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solidFill>
                    <a:srgbClr val="73B5E5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예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73B5E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AE3A3-D05E-D590-4082-AF4A066B9231}"/>
              </a:ext>
            </a:extLst>
          </p:cNvPr>
          <p:cNvSpPr txBox="1"/>
          <p:nvPr/>
        </p:nvSpPr>
        <p:spPr>
          <a:xfrm>
            <a:off x="1780232" y="2422802"/>
            <a:ext cx="6568064" cy="75584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215900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Amazon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에서는 고객이 검색창에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Stainless Steel Tumbler”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라고 검색함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567888-0F2A-48AB-EE41-5C30D6014DD6}"/>
              </a:ext>
            </a:extLst>
          </p:cNvPr>
          <p:cNvSpPr/>
          <p:nvPr/>
        </p:nvSpPr>
        <p:spPr>
          <a:xfrm>
            <a:off x="2497244" y="3178650"/>
            <a:ext cx="4540025" cy="755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그러면 판매자는 검색 키워드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리뷰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가격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배송 조건을 통해 노출 경쟁을 함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D8AF3EA6-02B7-B285-B3C1-38A0EF04B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2970" y="3285848"/>
            <a:ext cx="368300" cy="21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86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등장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DD3B65-D58E-CC89-17DD-3FA5B9027F95}"/>
              </a:ext>
            </a:extLst>
          </p:cNvPr>
          <p:cNvSpPr/>
          <p:nvPr/>
        </p:nvSpPr>
        <p:spPr>
          <a:xfrm>
            <a:off x="630555" y="1421707"/>
            <a:ext cx="7789545" cy="561600"/>
          </a:xfrm>
          <a:custGeom>
            <a:avLst/>
            <a:gdLst>
              <a:gd name="connsiteX0" fmla="*/ 0 w 5202754"/>
              <a:gd name="connsiteY0" fmla="*/ 0 h 4572000"/>
              <a:gd name="connsiteX1" fmla="*/ 5202754 w 5202754"/>
              <a:gd name="connsiteY1" fmla="*/ 0 h 4572000"/>
              <a:gd name="connsiteX2" fmla="*/ 5202754 w 5202754"/>
              <a:gd name="connsiteY2" fmla="*/ 4572000 h 4572000"/>
              <a:gd name="connsiteX3" fmla="*/ 0 w 5202754"/>
              <a:gd name="connsiteY3" fmla="*/ 4572000 h 4572000"/>
              <a:gd name="connsiteX4" fmla="*/ 0 w 5202754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2754" h="4572000">
                <a:moveTo>
                  <a:pt x="0" y="0"/>
                </a:moveTo>
                <a:lnTo>
                  <a:pt x="5202754" y="0"/>
                </a:lnTo>
                <a:lnTo>
                  <a:pt x="5202754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2700" dist="38100" dir="2400000" algn="tl" rotWithShape="0">
              <a:srgbClr val="B9B7B7">
                <a:alpha val="83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0000" rIns="0" bIns="90000" rtlCol="0" anchor="ctr"/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가 들어오면서 구조가 달라지고 있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음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3F52FB85-6547-C440-1924-6EB59A843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10142"/>
              </p:ext>
            </p:extLst>
          </p:nvPr>
        </p:nvGraphicFramePr>
        <p:xfrm>
          <a:off x="635000" y="2139950"/>
          <a:ext cx="7797800" cy="311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450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5848350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구분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801" rtl="0" eaLnBrk="1" latinLnBrk="1" hangingPunct="1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기존 글로벌 </a:t>
                      </a:r>
                      <a:r>
                        <a:rPr lang="ko-KR" altLang="en-US" sz="2000" b="0" kern="1200" dirty="0" err="1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이커머스</a:t>
                      </a:r>
                      <a:endParaRPr lang="ko-KR" altLang="en-US" sz="2000" b="0" kern="1200" dirty="0">
                        <a:ln>
                          <a:solidFill>
                            <a:srgbClr val="E3574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ahoma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핵심 활동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기반 시장조사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 기획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현지화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추천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자동화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판매 방식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검색형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+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추천형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+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대화형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+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콘텐츠형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5216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 접점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쇼핑비서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숏폼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챗봇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개인화 추천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 요약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731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주요 역량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데이터 이해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AI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활용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고객경험 설계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신뢰 관리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90359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판매자 고민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와 고객이 내 상품을 어떻게 이해하게 할 것인가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76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307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ABCD7F7-001C-4646-826C-72F7F72A7CDF}"/>
              </a:ext>
            </a:extLst>
          </p:cNvPr>
          <p:cNvSpPr/>
          <p:nvPr/>
        </p:nvSpPr>
        <p:spPr>
          <a:xfrm>
            <a:off x="0" y="4310582"/>
            <a:ext cx="12192000" cy="254741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등장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41649-DB03-6822-D101-02CC81469EF6}"/>
              </a:ext>
            </a:extLst>
          </p:cNvPr>
          <p:cNvSpPr txBox="1"/>
          <p:nvPr/>
        </p:nvSpPr>
        <p:spPr>
          <a:xfrm>
            <a:off x="2233549" y="2945488"/>
            <a:ext cx="8015287" cy="127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여행 갈 때 쓸 가볍고 튼튼한 텀블러 추천해줘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달러 이하의 방수 </a:t>
            </a:r>
            <a:r>
              <a:rPr lang="ko-KR" altLang="en-US" sz="200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백팩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중 리뷰 좋은 제품 알려줘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민감성 피부에 맞는 한국 스킨케어 제품 추천해줘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06AE884-51D1-3BE5-B1ED-89C29C20516B}"/>
              </a:ext>
            </a:extLst>
          </p:cNvPr>
          <p:cNvGrpSpPr/>
          <p:nvPr/>
        </p:nvGrpSpPr>
        <p:grpSpPr>
          <a:xfrm>
            <a:off x="623888" y="4430623"/>
            <a:ext cx="7812375" cy="755848"/>
            <a:chOff x="5896657" y="2645675"/>
            <a:chExt cx="7812375" cy="75584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938A91-CD52-FF56-9600-7B15AF3F6C95}"/>
                </a:ext>
              </a:extLst>
            </p:cNvPr>
            <p:cNvSpPr/>
            <p:nvPr/>
          </p:nvSpPr>
          <p:spPr>
            <a:xfrm>
              <a:off x="6245914" y="2645675"/>
              <a:ext cx="7463118" cy="7558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중요한 것은 단순히 키워드가 아닌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 내 상품의 용도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장점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가격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b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리뷰</a:t>
              </a:r>
              <a:r>
                <a:rPr lang="en-US" altLang="ko-KR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신뢰 요소를 제대로 이해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할 수 있어야 함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D240A8CA-2718-DE7A-0273-41E8F5024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2B6F551-FF12-6D21-88F5-17C878B783D1}"/>
              </a:ext>
            </a:extLst>
          </p:cNvPr>
          <p:cNvGrpSpPr/>
          <p:nvPr/>
        </p:nvGrpSpPr>
        <p:grpSpPr>
          <a:xfrm>
            <a:off x="2128773" y="2973103"/>
            <a:ext cx="363108" cy="369332"/>
            <a:chOff x="3556402" y="2673535"/>
            <a:chExt cx="363108" cy="369332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F76AD66-CE84-7FD8-10D7-6F4A270A9D62}"/>
                </a:ext>
              </a:extLst>
            </p:cNvPr>
            <p:cNvSpPr/>
            <p:nvPr/>
          </p:nvSpPr>
          <p:spPr>
            <a:xfrm>
              <a:off x="3556402" y="2715146"/>
              <a:ext cx="287474" cy="288032"/>
            </a:xfrm>
            <a:prstGeom prst="roundRect">
              <a:avLst/>
            </a:prstGeom>
            <a:solidFill>
              <a:srgbClr val="9B8C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55BEE9-B722-E658-ACD6-FE47E3D062DA}"/>
                </a:ext>
              </a:extLst>
            </p:cNvPr>
            <p:cNvSpPr txBox="1"/>
            <p:nvPr/>
          </p:nvSpPr>
          <p:spPr>
            <a:xfrm>
              <a:off x="3588638" y="2673535"/>
              <a:ext cx="214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09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예</a:t>
              </a:r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E47BD572-FC4E-72E5-5881-E456BB798227}"/>
                </a:ext>
              </a:extLst>
            </p:cNvPr>
            <p:cNvSpPr/>
            <p:nvPr/>
          </p:nvSpPr>
          <p:spPr>
            <a:xfrm rot="5400000">
              <a:off x="3823283" y="2826895"/>
              <a:ext cx="116819" cy="75634"/>
            </a:xfrm>
            <a:prstGeom prst="triangle">
              <a:avLst/>
            </a:prstGeom>
            <a:solidFill>
              <a:srgbClr val="9B8C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9F57EBC-352C-4828-8A5E-7116EE47D75A}"/>
              </a:ext>
            </a:extLst>
          </p:cNvPr>
          <p:cNvSpPr/>
          <p:nvPr/>
        </p:nvSpPr>
        <p:spPr>
          <a:xfrm>
            <a:off x="632096" y="1628776"/>
            <a:ext cx="3736754" cy="840104"/>
          </a:xfrm>
          <a:prstGeom prst="roundRect">
            <a:avLst>
              <a:gd name="adj" fmla="val 11063"/>
            </a:avLst>
          </a:prstGeom>
          <a:solidFill>
            <a:srgbClr val="EEEDEA"/>
          </a:solidFill>
          <a:ln>
            <a:solidFill>
              <a:srgbClr val="4C4434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8" name="대각선 방향의 모서리가 잘린 사각형 42">
            <a:extLst>
              <a:ext uri="{FF2B5EF4-FFF2-40B4-BE49-F238E27FC236}">
                <a16:creationId xmlns:a16="http://schemas.microsoft.com/office/drawing/2014/main" id="{E9C8EBA2-662A-4E5F-8AE6-BF739199220E}"/>
              </a:ext>
            </a:extLst>
          </p:cNvPr>
          <p:cNvSpPr/>
          <p:nvPr/>
        </p:nvSpPr>
        <p:spPr>
          <a:xfrm>
            <a:off x="1251252" y="1425575"/>
            <a:ext cx="2498441" cy="402523"/>
          </a:xfrm>
          <a:prstGeom prst="roundRect">
            <a:avLst/>
          </a:prstGeom>
          <a:solidFill>
            <a:srgbClr val="EFB881"/>
          </a:solidFill>
          <a:ln w="12700">
            <a:solidFill>
              <a:srgbClr val="4C4434"/>
            </a:solidFill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과거의 검색</a:t>
            </a:r>
            <a:endParaRPr lang="en-US" altLang="ko-KR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19EEFD-2847-468E-9AE8-0D27CC4B185D}"/>
              </a:ext>
            </a:extLst>
          </p:cNvPr>
          <p:cNvSpPr/>
          <p:nvPr/>
        </p:nvSpPr>
        <p:spPr>
          <a:xfrm>
            <a:off x="622969" y="1920785"/>
            <a:ext cx="3755008" cy="417294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 lang="ko-KR" altLang="en-US"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고객이 직접 검색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EACE322-0483-4B3D-979C-FE6CC0DCC0A6}"/>
              </a:ext>
            </a:extLst>
          </p:cNvPr>
          <p:cNvSpPr/>
          <p:nvPr/>
        </p:nvSpPr>
        <p:spPr>
          <a:xfrm>
            <a:off x="4699526" y="1628776"/>
            <a:ext cx="3736754" cy="840104"/>
          </a:xfrm>
          <a:prstGeom prst="roundRect">
            <a:avLst>
              <a:gd name="adj" fmla="val 12464"/>
            </a:avLst>
          </a:prstGeom>
          <a:solidFill>
            <a:srgbClr val="EEEDEA"/>
          </a:solidFill>
          <a:ln>
            <a:solidFill>
              <a:srgbClr val="4C4434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1" name="대각선 방향의 모서리가 잘린 사각형 44">
            <a:extLst>
              <a:ext uri="{FF2B5EF4-FFF2-40B4-BE49-F238E27FC236}">
                <a16:creationId xmlns:a16="http://schemas.microsoft.com/office/drawing/2014/main" id="{4697C70B-3EB8-4D9F-818C-D5752D12126A}"/>
              </a:ext>
            </a:extLst>
          </p:cNvPr>
          <p:cNvSpPr/>
          <p:nvPr/>
        </p:nvSpPr>
        <p:spPr>
          <a:xfrm>
            <a:off x="5318682" y="1425575"/>
            <a:ext cx="2498441" cy="402523"/>
          </a:xfrm>
          <a:prstGeom prst="roundRect">
            <a:avLst/>
          </a:prstGeom>
          <a:solidFill>
            <a:srgbClr val="EEA796"/>
          </a:solidFill>
          <a:ln w="12700">
            <a:solidFill>
              <a:srgbClr val="4C4434"/>
            </a:solidFill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현재의 검색</a:t>
            </a:r>
            <a:endParaRPr lang="en-US" altLang="ko-KR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40E7DB-BCF0-4C3B-92C7-2043F6BD6EF2}"/>
              </a:ext>
            </a:extLst>
          </p:cNvPr>
          <p:cNvSpPr/>
          <p:nvPr/>
        </p:nvSpPr>
        <p:spPr>
          <a:xfrm>
            <a:off x="4690399" y="1920785"/>
            <a:ext cx="3755008" cy="417294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lvl="0" algn="ctr" fontAlgn="base">
              <a:lnSpc>
                <a:spcPct val="110000"/>
              </a:lnSpc>
              <a:spcBef>
                <a:spcPts val="700"/>
              </a:spcBef>
              <a:buClr>
                <a:prstClr val="white">
                  <a:lumMod val="65000"/>
                </a:prstClr>
              </a:buClr>
              <a:buSzPct val="110000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고객이 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물어볼 수 있음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9266CD17-DF99-4A45-A4C6-2C5B3794D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6397184" y="2563596"/>
            <a:ext cx="323151" cy="32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77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검색형</a:t>
            </a:r>
            <a:r>
              <a:rPr lang="en-US" altLang="ko-KR"/>
              <a:t>·</a:t>
            </a:r>
            <a:r>
              <a:rPr lang="ko-KR" altLang="en-US"/>
              <a:t>추천형</a:t>
            </a:r>
            <a:r>
              <a:rPr lang="en-US" altLang="ko-KR"/>
              <a:t>·</a:t>
            </a:r>
            <a:r>
              <a:rPr lang="ko-KR" altLang="en-US"/>
              <a:t>대화형</a:t>
            </a:r>
            <a:r>
              <a:rPr lang="en-US" altLang="ko-KR"/>
              <a:t>·</a:t>
            </a:r>
            <a:r>
              <a:rPr lang="ko-KR" altLang="en-US"/>
              <a:t>콘텐츠형 커머스</a:t>
            </a:r>
            <a:endParaRPr lang="ko-KR" altLang="en-US" dirty="0"/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7245198D-AA9F-A921-FD18-3BA14D8C4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87748"/>
              </p:ext>
            </p:extLst>
          </p:nvPr>
        </p:nvGraphicFramePr>
        <p:xfrm>
          <a:off x="634999" y="1434719"/>
          <a:ext cx="7800975" cy="4201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329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2373502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유형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7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설명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7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예시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검색형 커머스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고객이 직접 검색어를 입력해 상품을 찾음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Amazon, </a:t>
                      </a:r>
                      <a:b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네이버쇼핑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추천형 커머스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플랫폼이 고객 데이터 기반으로 상품을 추천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쿠팡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추천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Amazon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추천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04099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대화형 커머스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고객이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나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챗봇과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대화하며 상품을 탐색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ChatGPT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쇼핑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쇼핑비서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2850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콘텐츠형 커머스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숏폼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라이브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인플루언서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콘텐츠를 보고 구매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TikTok Shop, </a:t>
                      </a:r>
                      <a:b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Instagram Shopping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3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872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검색형</a:t>
            </a:r>
            <a:r>
              <a:rPr lang="en-US" altLang="ko-KR"/>
              <a:t>·</a:t>
            </a:r>
            <a:r>
              <a:rPr lang="ko-KR" altLang="en-US"/>
              <a:t>추천형</a:t>
            </a:r>
            <a:r>
              <a:rPr lang="en-US" altLang="ko-KR"/>
              <a:t>·</a:t>
            </a:r>
            <a:r>
              <a:rPr lang="ko-KR" altLang="en-US"/>
              <a:t>대화형</a:t>
            </a:r>
            <a:r>
              <a:rPr lang="en-US" altLang="ko-KR"/>
              <a:t>·</a:t>
            </a:r>
            <a:r>
              <a:rPr lang="ko-KR" altLang="en-US"/>
              <a:t>콘텐츠형 커머스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98A2C96-3B62-DC11-22F6-EBA1C794C20B}"/>
              </a:ext>
            </a:extLst>
          </p:cNvPr>
          <p:cNvSpPr/>
          <p:nvPr/>
        </p:nvSpPr>
        <p:spPr>
          <a:xfrm>
            <a:off x="632096" y="1628776"/>
            <a:ext cx="3736754" cy="1812924"/>
          </a:xfrm>
          <a:prstGeom prst="roundRect">
            <a:avLst>
              <a:gd name="adj" fmla="val 11063"/>
            </a:avLst>
          </a:prstGeom>
          <a:solidFill>
            <a:srgbClr val="EEEDEA"/>
          </a:solidFill>
          <a:ln>
            <a:solidFill>
              <a:srgbClr val="4C4434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" name="대각선 방향의 모서리가 잘린 사각형 42">
            <a:extLst>
              <a:ext uri="{FF2B5EF4-FFF2-40B4-BE49-F238E27FC236}">
                <a16:creationId xmlns:a16="http://schemas.microsoft.com/office/drawing/2014/main" id="{6E6C2E0C-59F0-4AED-76FD-284611B1B692}"/>
              </a:ext>
            </a:extLst>
          </p:cNvPr>
          <p:cNvSpPr/>
          <p:nvPr/>
        </p:nvSpPr>
        <p:spPr>
          <a:xfrm>
            <a:off x="1251252" y="1425575"/>
            <a:ext cx="2498441" cy="402523"/>
          </a:xfrm>
          <a:prstGeom prst="roundRect">
            <a:avLst/>
          </a:prstGeom>
          <a:solidFill>
            <a:srgbClr val="EFB881"/>
          </a:solidFill>
          <a:ln w="12700">
            <a:solidFill>
              <a:srgbClr val="4C4434"/>
            </a:solidFill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커머스</a:t>
            </a:r>
            <a:endParaRPr lang="en-US" altLang="ko-KR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969EF8-6E38-7B2C-5803-3168C3CA93DB}"/>
              </a:ext>
            </a:extLst>
          </p:cNvPr>
          <p:cNvSpPr/>
          <p:nvPr/>
        </p:nvSpPr>
        <p:spPr>
          <a:xfrm>
            <a:off x="622969" y="2204475"/>
            <a:ext cx="3755008" cy="755848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 lang="ko-KR" altLang="en-US"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고객이 “필요해서 검색하는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방식”이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강했음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1A7A14D-80FD-8DA7-F38F-6A527007AC48}"/>
              </a:ext>
            </a:extLst>
          </p:cNvPr>
          <p:cNvSpPr/>
          <p:nvPr/>
        </p:nvSpPr>
        <p:spPr>
          <a:xfrm>
            <a:off x="4699526" y="1628776"/>
            <a:ext cx="3736754" cy="1812924"/>
          </a:xfrm>
          <a:prstGeom prst="roundRect">
            <a:avLst>
              <a:gd name="adj" fmla="val 12464"/>
            </a:avLst>
          </a:prstGeom>
          <a:solidFill>
            <a:srgbClr val="EEEDEA"/>
          </a:solidFill>
          <a:ln>
            <a:solidFill>
              <a:srgbClr val="4C4434"/>
            </a:solidFill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0" name="대각선 방향의 모서리가 잘린 사각형 44">
            <a:extLst>
              <a:ext uri="{FF2B5EF4-FFF2-40B4-BE49-F238E27FC236}">
                <a16:creationId xmlns:a16="http://schemas.microsoft.com/office/drawing/2014/main" id="{C64BD77F-32E2-194E-73FC-E98F02E2C553}"/>
              </a:ext>
            </a:extLst>
          </p:cNvPr>
          <p:cNvSpPr/>
          <p:nvPr/>
        </p:nvSpPr>
        <p:spPr>
          <a:xfrm>
            <a:off x="5318682" y="1425575"/>
            <a:ext cx="2498441" cy="402523"/>
          </a:xfrm>
          <a:prstGeom prst="roundRect">
            <a:avLst/>
          </a:prstGeom>
          <a:solidFill>
            <a:srgbClr val="EEA796"/>
          </a:solidFill>
          <a:ln w="12700">
            <a:solidFill>
              <a:srgbClr val="4C4434"/>
            </a:solidFill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현재 커머스</a:t>
            </a:r>
            <a:endParaRPr lang="en-US" altLang="ko-KR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85B415-489B-9106-EAE9-0EA2DD1FFC9E}"/>
              </a:ext>
            </a:extLst>
          </p:cNvPr>
          <p:cNvSpPr/>
          <p:nvPr/>
        </p:nvSpPr>
        <p:spPr>
          <a:xfrm>
            <a:off x="4690399" y="1865921"/>
            <a:ext cx="3755008" cy="1432956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고객이 콘텐츠를 보다가 사고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의 추천을 받고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챗봇에게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질문하고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b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리뷰 요약을 보고 결정함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6FBBA77-27C6-C96C-21C8-1E9221061B27}"/>
              </a:ext>
            </a:extLst>
          </p:cNvPr>
          <p:cNvGrpSpPr/>
          <p:nvPr/>
        </p:nvGrpSpPr>
        <p:grpSpPr>
          <a:xfrm>
            <a:off x="5118796" y="3533766"/>
            <a:ext cx="2898214" cy="755848"/>
            <a:chOff x="3533470" y="3195806"/>
            <a:chExt cx="2907646" cy="75584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6D8E456-4EE6-723A-FDC9-3BC3444016EE}"/>
                </a:ext>
              </a:extLst>
            </p:cNvPr>
            <p:cNvSpPr/>
            <p:nvPr/>
          </p:nvSpPr>
          <p:spPr>
            <a:xfrm>
              <a:off x="3957744" y="3195806"/>
              <a:ext cx="2483372" cy="7558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판매자는 이제 상품만 </a:t>
              </a:r>
              <a:b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잘 올리면 안 됨</a:t>
              </a: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D052C569-2E34-2DAF-E4F0-D82785904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3470" y="3303004"/>
              <a:ext cx="368300" cy="2117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2629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02_01_01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글로벌 이커머스에서 글로벌 </a:t>
            </a:r>
            <a:r>
              <a:rPr lang="en-US" altLang="ko-KR"/>
              <a:t>AI </a:t>
            </a:r>
            <a:r>
              <a:rPr lang="ko-KR" altLang="en-US"/>
              <a:t>커머스로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검색형</a:t>
            </a:r>
            <a:r>
              <a:rPr lang="en-US" altLang="ko-KR"/>
              <a:t>·</a:t>
            </a:r>
            <a:r>
              <a:rPr lang="ko-KR" altLang="en-US"/>
              <a:t>추천형</a:t>
            </a:r>
            <a:r>
              <a:rPr lang="en-US" altLang="ko-KR"/>
              <a:t>·</a:t>
            </a:r>
            <a:r>
              <a:rPr lang="ko-KR" altLang="en-US"/>
              <a:t>대화형</a:t>
            </a:r>
            <a:r>
              <a:rPr lang="en-US" altLang="ko-KR"/>
              <a:t>·</a:t>
            </a:r>
            <a:r>
              <a:rPr lang="ko-KR" altLang="en-US"/>
              <a:t>콘텐츠형 커머스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AAE2CE7-1CE1-0878-3546-81FFBE516CB8}"/>
              </a:ext>
            </a:extLst>
          </p:cNvPr>
          <p:cNvSpPr/>
          <p:nvPr/>
        </p:nvSpPr>
        <p:spPr>
          <a:xfrm>
            <a:off x="2839401" y="1421337"/>
            <a:ext cx="3390901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ko-KR" altLang="en-US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글로벌 </a:t>
            </a:r>
            <a:r>
              <a:rPr kumimoji="0" lang="en-US" altLang="ko-KR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AI 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커머스의 출발점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E8E0F68F-58A2-0678-C953-CED09F5E7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  <p:sp>
        <p:nvSpPr>
          <p:cNvPr id="24" name="사각형: 둥근 모서리 34">
            <a:extLst>
              <a:ext uri="{FF2B5EF4-FFF2-40B4-BE49-F238E27FC236}">
                <a16:creationId xmlns:a16="http://schemas.microsoft.com/office/drawing/2014/main" id="{34ADB90C-F6CE-3ED3-DF94-4753927702DB}"/>
              </a:ext>
            </a:extLst>
          </p:cNvPr>
          <p:cNvSpPr/>
          <p:nvPr/>
        </p:nvSpPr>
        <p:spPr>
          <a:xfrm>
            <a:off x="624495" y="1999971"/>
            <a:ext cx="7802244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검색에 잘 걸리게 해야 함</a:t>
            </a:r>
          </a:p>
        </p:txBody>
      </p:sp>
      <p:sp>
        <p:nvSpPr>
          <p:cNvPr id="25" name="사각형: 둥근 모서리 34">
            <a:extLst>
              <a:ext uri="{FF2B5EF4-FFF2-40B4-BE49-F238E27FC236}">
                <a16:creationId xmlns:a16="http://schemas.microsoft.com/office/drawing/2014/main" id="{8104D655-8B23-735B-8D84-4A182EBFF570}"/>
              </a:ext>
            </a:extLst>
          </p:cNvPr>
          <p:cNvSpPr/>
          <p:nvPr/>
        </p:nvSpPr>
        <p:spPr>
          <a:xfrm>
            <a:off x="624495" y="2706130"/>
            <a:ext cx="7802244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•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추천될 만한 정보가 있어야 함</a:t>
            </a:r>
          </a:p>
        </p:txBody>
      </p:sp>
      <p:sp>
        <p:nvSpPr>
          <p:cNvPr id="26" name="사각형: 둥근 모서리 34">
            <a:extLst>
              <a:ext uri="{FF2B5EF4-FFF2-40B4-BE49-F238E27FC236}">
                <a16:creationId xmlns:a16="http://schemas.microsoft.com/office/drawing/2014/main" id="{9434CDB7-8408-0F88-9A77-AA60321B93C5}"/>
              </a:ext>
            </a:extLst>
          </p:cNvPr>
          <p:cNvSpPr/>
          <p:nvPr/>
        </p:nvSpPr>
        <p:spPr>
          <a:xfrm>
            <a:off x="624495" y="3411302"/>
            <a:ext cx="7802244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콘텐츠로 보여줄 수 있어야 함</a:t>
            </a:r>
          </a:p>
        </p:txBody>
      </p:sp>
      <p:sp>
        <p:nvSpPr>
          <p:cNvPr id="27" name="사각형: 둥근 모서리 34">
            <a:extLst>
              <a:ext uri="{FF2B5EF4-FFF2-40B4-BE49-F238E27FC236}">
                <a16:creationId xmlns:a16="http://schemas.microsoft.com/office/drawing/2014/main" id="{784AA4D0-5967-441C-FD2E-B0ADA1E3C8EB}"/>
              </a:ext>
            </a:extLst>
          </p:cNvPr>
          <p:cNvSpPr/>
          <p:nvPr/>
        </p:nvSpPr>
        <p:spPr>
          <a:xfrm>
            <a:off x="624495" y="4115486"/>
            <a:ext cx="7802244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이해하기 쉬운 상품정보를 만들어야 함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679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03_01_01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3151630"/>
            <a:ext cx="2167847" cy="409921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86F4FE-60F2-A673-35B4-308D874C3AD1}"/>
              </a:ext>
            </a:extLst>
          </p:cNvPr>
          <p:cNvSpPr/>
          <p:nvPr/>
        </p:nvSpPr>
        <p:spPr>
          <a:xfrm>
            <a:off x="2356221" y="505768"/>
            <a:ext cx="1681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_01_04.mp4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15404B-A289-4681-A3AF-81746AEE1C52}"/>
              </a:ext>
            </a:extLst>
          </p:cNvPr>
          <p:cNvGrpSpPr/>
          <p:nvPr/>
        </p:nvGrpSpPr>
        <p:grpSpPr>
          <a:xfrm>
            <a:off x="2398184" y="2395730"/>
            <a:ext cx="7744216" cy="559784"/>
            <a:chOff x="2398184" y="4266629"/>
            <a:chExt cx="7744216" cy="55978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76E7FB-23B9-47EF-8DB1-D12A2AE26CE7}"/>
                </a:ext>
              </a:extLst>
            </p:cNvPr>
            <p:cNvSpPr txBox="1"/>
            <p:nvPr/>
          </p:nvSpPr>
          <p:spPr>
            <a:xfrm>
              <a:off x="2398184" y="4266629"/>
              <a:ext cx="7744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0198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출처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]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Lead Body Copy">
              <a:extLst>
                <a:ext uri="{FF2B5EF4-FFF2-40B4-BE49-F238E27FC236}">
                  <a16:creationId xmlns:a16="http://schemas.microsoft.com/office/drawing/2014/main" id="{7E3F28D0-FA06-4555-AA8B-494F1E78BC7B}"/>
                </a:ext>
              </a:extLst>
            </p:cNvPr>
            <p:cNvSpPr txBox="1"/>
            <p:nvPr/>
          </p:nvSpPr>
          <p:spPr>
            <a:xfrm>
              <a:off x="2487613" y="4655982"/>
              <a:ext cx="7654787" cy="1704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lvl="0" indent="-171450">
                <a:lnSpc>
                  <a:spcPct val="110000"/>
                </a:lnSpc>
                <a:spcAft>
                  <a:spcPts val="468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#1 :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교수자 직접 제공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144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E9119D6-ED70-FD54-AE51-86650663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EF5EF-576D-A35E-88EE-42771CDBC2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688" y="2645857"/>
            <a:ext cx="7696426" cy="1218634"/>
          </a:xfrm>
        </p:spPr>
        <p:txBody>
          <a:bodyPr anchor="t" anchorCtr="0"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8698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87A721-B466-DD81-C624-BCF0268C7099}"/>
              </a:ext>
            </a:extLst>
          </p:cNvPr>
          <p:cNvSpPr/>
          <p:nvPr/>
        </p:nvSpPr>
        <p:spPr>
          <a:xfrm>
            <a:off x="1338882" y="4686291"/>
            <a:ext cx="6096000" cy="788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AI</a:t>
            </a:r>
            <a:r>
              <a:rPr kumimoji="0" lang="ko-KR" altLang="en-US" sz="21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는 커머스의 특정 한 부분만 바꾸는 것이 아닌</a:t>
            </a:r>
            <a:r>
              <a:rPr kumimoji="0" lang="en-US" altLang="ko-KR" sz="21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2100" b="0" i="0" u="none" strike="noStrike" kern="1200" cap="none" spc="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상품기획부터 고객관리까지 </a:t>
            </a:r>
            <a:r>
              <a:rPr lang="ko-KR" altLang="en-US" sz="21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 흐름을 바꾸고 있음</a:t>
            </a:r>
            <a:endParaRPr lang="ko-KR" altLang="en-US" sz="21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E8556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개체 틀 6">
            <a:extLst>
              <a:ext uri="{FF2B5EF4-FFF2-40B4-BE49-F238E27FC236}">
                <a16:creationId xmlns:a16="http://schemas.microsoft.com/office/drawing/2014/main" id="{5D03E910-B59E-F005-612F-B3ED66C120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36" b="22236"/>
          <a:stretch/>
        </p:blipFill>
        <p:spPr>
          <a:xfrm>
            <a:off x="1374619" y="1535229"/>
            <a:ext cx="6024527" cy="2229620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6" name="모서리가 둥근 직사각형 9">
            <a:extLst>
              <a:ext uri="{FF2B5EF4-FFF2-40B4-BE49-F238E27FC236}">
                <a16:creationId xmlns:a16="http://schemas.microsoft.com/office/drawing/2014/main" id="{EE0DB242-66D0-610D-36D5-DC9283561365}"/>
              </a:ext>
            </a:extLst>
          </p:cNvPr>
          <p:cNvSpPr/>
          <p:nvPr/>
        </p:nvSpPr>
        <p:spPr>
          <a:xfrm>
            <a:off x="1374619" y="3898157"/>
            <a:ext cx="6024527" cy="581025"/>
          </a:xfrm>
          <a:prstGeom prst="roundRect">
            <a:avLst>
              <a:gd name="adj" fmla="val 23077"/>
            </a:avLst>
          </a:prstGeom>
          <a:solidFill>
            <a:srgbClr val="EFB88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n-US" altLang="ko-KR" sz="28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</a:t>
            </a:r>
            <a:r>
              <a:rPr lang="en-US" altLang="ko-KR" sz="18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(Artificial Intelligence)</a:t>
            </a:r>
            <a:endParaRPr lang="ko-KR" altLang="en-US" sz="18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268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커머스 가치사슬 </a:t>
            </a:r>
            <a:r>
              <a:rPr lang="en-US" altLang="ko-KR" dirty="0"/>
              <a:t>: </a:t>
            </a:r>
            <a:r>
              <a:rPr lang="ko-KR" altLang="en-US" dirty="0"/>
              <a:t>기존 방식에서 </a:t>
            </a:r>
            <a:r>
              <a:rPr lang="en-US" altLang="ko-KR" dirty="0"/>
              <a:t>AI </a:t>
            </a:r>
            <a:r>
              <a:rPr lang="ko-KR" altLang="en-US" dirty="0"/>
              <a:t>활용 방식으로의 전환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EE549CA-FCFC-4C84-934E-BE7FC2FC3B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b="47924"/>
          <a:stretch/>
        </p:blipFill>
        <p:spPr>
          <a:xfrm>
            <a:off x="1060849" y="1351716"/>
            <a:ext cx="7067151" cy="3873428"/>
          </a:xfrm>
          <a:prstGeom prst="rect">
            <a:avLst/>
          </a:prstGeom>
        </p:spPr>
      </p:pic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61FF9797-6594-4684-B2B7-4C3D743E46AB}"/>
              </a:ext>
            </a:extLst>
          </p:cNvPr>
          <p:cNvSpPr/>
          <p:nvPr/>
        </p:nvSpPr>
        <p:spPr>
          <a:xfrm rot="10800000">
            <a:off x="1182751" y="5195950"/>
            <a:ext cx="147574" cy="150749"/>
          </a:xfrm>
          <a:prstGeom prst="triangle">
            <a:avLst/>
          </a:prstGeom>
          <a:solidFill>
            <a:srgbClr val="002257"/>
          </a:solidFill>
          <a:ln>
            <a:solidFill>
              <a:srgbClr val="0022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35C9A-833B-418B-9D2E-A6C0782CCDFB}"/>
              </a:ext>
            </a:extLst>
          </p:cNvPr>
          <p:cNvSpPr/>
          <p:nvPr/>
        </p:nvSpPr>
        <p:spPr>
          <a:xfrm>
            <a:off x="7162799" y="6141370"/>
            <a:ext cx="1338155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#1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D1878-1BAF-4F56-B291-5E0D6E2389AD}"/>
              </a:ext>
            </a:extLst>
          </p:cNvPr>
          <p:cNvSpPr txBox="1"/>
          <p:nvPr/>
        </p:nvSpPr>
        <p:spPr>
          <a:xfrm>
            <a:off x="7837908" y="5880298"/>
            <a:ext cx="683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(1/2)</a:t>
            </a:r>
            <a:endParaRPr lang="ko-KR" altLang="en-US" sz="140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38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커머스 가치사슬 </a:t>
            </a:r>
            <a:r>
              <a:rPr lang="en-US" altLang="ko-KR" dirty="0"/>
              <a:t>: </a:t>
            </a:r>
            <a:r>
              <a:rPr lang="ko-KR" altLang="en-US" dirty="0"/>
              <a:t>기존 방식에서 </a:t>
            </a:r>
            <a:r>
              <a:rPr lang="en-US" altLang="ko-KR" dirty="0"/>
              <a:t>AI </a:t>
            </a:r>
            <a:r>
              <a:rPr lang="ko-KR" altLang="en-US" dirty="0"/>
              <a:t>활용 방식으로의 전환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EE549CA-FCFC-4C84-934E-BE7FC2FC3B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b="82668"/>
          <a:stretch/>
        </p:blipFill>
        <p:spPr>
          <a:xfrm>
            <a:off x="1060849" y="1351715"/>
            <a:ext cx="7067151" cy="5485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8AC3BC-0201-4E71-B12D-662D6FD3D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6"/>
          <a:stretch/>
        </p:blipFill>
        <p:spPr>
          <a:xfrm>
            <a:off x="1060849" y="1907541"/>
            <a:ext cx="7067150" cy="458226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099E2CB-7680-4DC5-8104-0DB63CA59081}"/>
              </a:ext>
            </a:extLst>
          </p:cNvPr>
          <p:cNvSpPr/>
          <p:nvPr/>
        </p:nvSpPr>
        <p:spPr>
          <a:xfrm>
            <a:off x="7162799" y="6141370"/>
            <a:ext cx="1338155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#1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8EC2B-73AA-4C06-9DCF-C33E2A08D6B2}"/>
              </a:ext>
            </a:extLst>
          </p:cNvPr>
          <p:cNvSpPr txBox="1"/>
          <p:nvPr/>
        </p:nvSpPr>
        <p:spPr>
          <a:xfrm>
            <a:off x="7837908" y="5880298"/>
            <a:ext cx="683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(2/2)</a:t>
            </a:r>
            <a:endParaRPr lang="ko-KR" altLang="en-US" sz="140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FC450A94-F2C5-41D0-B55B-2028342DB0F2}"/>
              </a:ext>
            </a:extLst>
          </p:cNvPr>
          <p:cNvSpPr/>
          <p:nvPr/>
        </p:nvSpPr>
        <p:spPr>
          <a:xfrm rot="10800000">
            <a:off x="1182751" y="1900300"/>
            <a:ext cx="147574" cy="150749"/>
          </a:xfrm>
          <a:prstGeom prst="triangle">
            <a:avLst/>
          </a:prstGeom>
          <a:solidFill>
            <a:srgbClr val="002257"/>
          </a:solidFill>
          <a:ln>
            <a:solidFill>
              <a:srgbClr val="0022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229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커머스 가치사슬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5EEA979-EC20-C6C7-A6A9-30776492B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39722"/>
              </p:ext>
            </p:extLst>
          </p:nvPr>
        </p:nvGraphicFramePr>
        <p:xfrm>
          <a:off x="634999" y="1425575"/>
          <a:ext cx="7800975" cy="3223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1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5941885"/>
                    </a:ext>
                  </a:extLst>
                </a:gridCol>
                <a:gridCol w="3622674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단계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기존 방식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AI </a:t>
                      </a: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활용 방식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콘텐츠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사람이 광고문구 작성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로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숏폼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대본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광고문구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이미지 문구 생성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고객응대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사람이 반복 문의 처리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챗봇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자동응답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다국어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CS</a:t>
                      </a: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9374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물류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재고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경험 기반 예측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수요예측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재고 부족 예측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579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결제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보안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수동 모니터링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이상거래 탐지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사기 방지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6758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리뷰관리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개별 리뷰 확인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 감성분석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불만요인 분석</a:t>
                      </a:r>
                    </a:p>
                  </a:txBody>
                  <a:tcPr marL="90000" marR="9525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7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507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가 판매자에게 주는 기회</a:t>
            </a:r>
          </a:p>
        </p:txBody>
      </p:sp>
      <p:sp>
        <p:nvSpPr>
          <p:cNvPr id="4" name="사각형: 둥근 모서리 34">
            <a:extLst>
              <a:ext uri="{FF2B5EF4-FFF2-40B4-BE49-F238E27FC236}">
                <a16:creationId xmlns:a16="http://schemas.microsoft.com/office/drawing/2014/main" id="{CD356FDC-14D2-E839-1FF3-EB04AD2D851F}"/>
              </a:ext>
            </a:extLst>
          </p:cNvPr>
          <p:cNvSpPr/>
          <p:nvPr/>
        </p:nvSpPr>
        <p:spPr>
          <a:xfrm>
            <a:off x="624495" y="1425575"/>
            <a:ext cx="7802244" cy="560613"/>
          </a:xfrm>
          <a:prstGeom prst="roundRect">
            <a:avLst/>
          </a:prstGeom>
          <a:solidFill>
            <a:srgbClr val="EFB881"/>
          </a:solidFill>
          <a:ln w="12700">
            <a:solidFill>
              <a:srgbClr val="4C4434"/>
            </a:solidFill>
          </a:ln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특히 소규모 판매자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1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창업자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성인학습자에게 기회를 줌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14AB6A4-A296-3301-C105-BA86FD68B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911729"/>
              </p:ext>
            </p:extLst>
          </p:nvPr>
        </p:nvGraphicFramePr>
        <p:xfrm>
          <a:off x="634999" y="2212011"/>
          <a:ext cx="7800976" cy="275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630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4749346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기회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설명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시장조사 시간 단축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해외시장과 경쟁상품을 빠르게 파악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콘텐츠 제작 효율화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상품명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설명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광고문구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숏폼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대본 작성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588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언어 장벽 완화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영어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일본어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중국어 등 다국어 초안 작성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9218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고객응대 자동화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반복 문의에 빠르게 대응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43579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데이터 기반 의사결정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감이 아니라 근거를 바탕으로 상품 개선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8236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3DE6EE2B-7F10-9EE8-2204-04CF18971EFB}"/>
              </a:ext>
            </a:extLst>
          </p:cNvPr>
          <p:cNvGrpSpPr/>
          <p:nvPr/>
        </p:nvGrpSpPr>
        <p:grpSpPr>
          <a:xfrm>
            <a:off x="634999" y="5112566"/>
            <a:ext cx="7979872" cy="417294"/>
            <a:chOff x="5896657" y="2645675"/>
            <a:chExt cx="7979872" cy="41729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25A70BC-5D61-CA89-A706-78EFA2429920}"/>
                </a:ext>
              </a:extLst>
            </p:cNvPr>
            <p:cNvSpPr/>
            <p:nvPr/>
          </p:nvSpPr>
          <p:spPr>
            <a:xfrm>
              <a:off x="6245914" y="2645675"/>
              <a:ext cx="7630615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는 업무를 지원하는 도구이며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BB5146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최종 검토와 판단은 사람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이 수행해야 함</a:t>
              </a: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BA4DB0B3-E7B0-D5F4-E7D3-AE9CC21C3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1545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활용의 위험</a:t>
            </a:r>
          </a:p>
        </p:txBody>
      </p:sp>
      <p:sp>
        <p:nvSpPr>
          <p:cNvPr id="4" name="사각형: 둥근 모서리 34">
            <a:extLst>
              <a:ext uri="{FF2B5EF4-FFF2-40B4-BE49-F238E27FC236}">
                <a16:creationId xmlns:a16="http://schemas.microsoft.com/office/drawing/2014/main" id="{CD356FDC-14D2-E839-1FF3-EB04AD2D851F}"/>
              </a:ext>
            </a:extLst>
          </p:cNvPr>
          <p:cNvSpPr/>
          <p:nvPr/>
        </p:nvSpPr>
        <p:spPr>
          <a:xfrm>
            <a:off x="624495" y="1425575"/>
            <a:ext cx="7802244" cy="560613"/>
          </a:xfrm>
          <a:prstGeom prst="roundRect">
            <a:avLst/>
          </a:prstGeom>
          <a:solidFill>
            <a:srgbClr val="B9C266"/>
          </a:solidFill>
          <a:ln w="12700">
            <a:solidFill>
              <a:srgbClr val="4C4434"/>
            </a:solidFill>
          </a:ln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en-US" altLang="ko-KR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커머스에는 기회만 있는 것이 아님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CD28E13-E8EA-20A4-5860-B413AD415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45534"/>
              </p:ext>
            </p:extLst>
          </p:nvPr>
        </p:nvGraphicFramePr>
        <p:xfrm>
          <a:off x="634999" y="2212011"/>
          <a:ext cx="7802244" cy="3437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30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5665014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위험</a:t>
                      </a:r>
                      <a:endParaRPr lang="ko-KR" altLang="en-US" sz="2000" b="0" kern="1200" dirty="0">
                        <a:ln>
                          <a:solidFill>
                            <a:srgbClr val="E3574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2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설명</a:t>
                      </a:r>
                    </a:p>
                  </a:txBody>
                  <a:tcPr marL="10800" marR="10800" marT="10800" marB="108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잘못된 정보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가 틀린 시장정보나 허위 데이터를 제시할 수 있음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과장광고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 효능을 지나치게 부풀릴 위험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048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가짜 리뷰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로 허위 리뷰를 만들 수 있음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0261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저작권 문제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이미지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문구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디자인 침해 가능성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6092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개인정보 문제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고객 데이터 수집과 활용의 윤리 문제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3822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플랫폼 의존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B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알고리즘 변화와 계정 정지 위험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07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19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는 커머스 가치사슬을 어떻게 바꾸는가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CA47DF-26D4-5E43-C02E-58DA15F8F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활용의 위험</a:t>
            </a:r>
          </a:p>
        </p:txBody>
      </p:sp>
      <p:sp>
        <p:nvSpPr>
          <p:cNvPr id="5" name="사각형: 둥근 모서리 34">
            <a:extLst>
              <a:ext uri="{FF2B5EF4-FFF2-40B4-BE49-F238E27FC236}">
                <a16:creationId xmlns:a16="http://schemas.microsoft.com/office/drawing/2014/main" id="{8FEB2DE5-B206-0E00-C671-B582B4EFFDC5}"/>
              </a:ext>
            </a:extLst>
          </p:cNvPr>
          <p:cNvSpPr/>
          <p:nvPr/>
        </p:nvSpPr>
        <p:spPr>
          <a:xfrm>
            <a:off x="624495" y="1412875"/>
            <a:ext cx="7802244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잘 쓰는 사람은 빠름</a:t>
            </a:r>
            <a:endParaRPr lang="ko-KR" altLang="en-US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D002BAC-97D9-9C66-9579-1C39DC90FD92}"/>
              </a:ext>
            </a:extLst>
          </p:cNvPr>
          <p:cNvGrpSpPr/>
          <p:nvPr/>
        </p:nvGrpSpPr>
        <p:grpSpPr>
          <a:xfrm>
            <a:off x="922022" y="2102572"/>
            <a:ext cx="4930839" cy="417294"/>
            <a:chOff x="5904054" y="3222274"/>
            <a:chExt cx="4930839" cy="4172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E3CF0F7-B950-6B15-6B71-FC77916B48B4}"/>
                </a:ext>
              </a:extLst>
            </p:cNvPr>
            <p:cNvSpPr/>
            <p:nvPr/>
          </p:nvSpPr>
          <p:spPr>
            <a:xfrm>
              <a:off x="5904054" y="3279675"/>
              <a:ext cx="698359" cy="304800"/>
            </a:xfrm>
            <a:prstGeom prst="roundRect">
              <a:avLst>
                <a:gd name="adj" fmla="val 50000"/>
              </a:avLst>
            </a:prstGeom>
            <a:solidFill>
              <a:srgbClr val="E855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altLang="ko-KR" sz="180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BUT</a:t>
              </a:r>
              <a:endParaRPr lang="ko-KR" altLang="en-US" sz="18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A2EDE1D-E8F2-22CC-19F2-76A74CFC0953}"/>
                </a:ext>
              </a:extLst>
            </p:cNvPr>
            <p:cNvSpPr/>
            <p:nvPr/>
          </p:nvSpPr>
          <p:spPr>
            <a:xfrm>
              <a:off x="6578600" y="3222274"/>
              <a:ext cx="4256293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를 검증하지 않는 사람은 빠르게 틀림</a:t>
              </a:r>
            </a:p>
          </p:txBody>
        </p:sp>
      </p:grp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11D2C5FE-48FD-07D8-0210-68CB6613DF22}"/>
              </a:ext>
            </a:extLst>
          </p:cNvPr>
          <p:cNvSpPr/>
          <p:nvPr/>
        </p:nvSpPr>
        <p:spPr>
          <a:xfrm>
            <a:off x="624495" y="2999024"/>
            <a:ext cx="7802244" cy="864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커머스에서는 한 번의 과장광고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번의 허위정보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번의 </a:t>
            </a: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CS </a:t>
            </a: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실패가 신뢰를 무너뜨릴 수 있음</a:t>
            </a:r>
            <a:endParaRPr lang="ko-KR" altLang="en-US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D0D463D4-3D83-A853-224F-7954EBAD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3E66AD-3441-4D21-BEE0-44E13B4E303A}"/>
              </a:ext>
            </a:extLst>
          </p:cNvPr>
          <p:cNvSpPr/>
          <p:nvPr/>
        </p:nvSpPr>
        <p:spPr>
          <a:xfrm>
            <a:off x="971205" y="4223310"/>
            <a:ext cx="1582412" cy="1606873"/>
          </a:xfrm>
          <a:prstGeom prst="roundRect">
            <a:avLst>
              <a:gd name="adj" fmla="val 50000"/>
            </a:avLst>
          </a:prstGeom>
          <a:solidFill>
            <a:srgbClr val="EFB881"/>
          </a:solidFill>
          <a:ln w="15875" cap="flat" cmpd="sng" algn="ctr">
            <a:solidFill>
              <a:srgbClr val="4C4434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R="0" lvl="0" indent="0" algn="ctr" defTabSz="9144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13CAFF-10FB-43ED-9093-2A7C0D2ED655}"/>
              </a:ext>
            </a:extLst>
          </p:cNvPr>
          <p:cNvSpPr/>
          <p:nvPr/>
        </p:nvSpPr>
        <p:spPr>
          <a:xfrm>
            <a:off x="3155486" y="4223310"/>
            <a:ext cx="1582412" cy="1606873"/>
          </a:xfrm>
          <a:prstGeom prst="roundRect">
            <a:avLst>
              <a:gd name="adj" fmla="val 50000"/>
            </a:avLst>
          </a:prstGeom>
          <a:solidFill>
            <a:srgbClr val="EEA796"/>
          </a:solidFill>
          <a:ln w="15875" cap="flat" cmpd="sng" algn="ctr">
            <a:solidFill>
              <a:srgbClr val="4C4434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R="0" lvl="0" indent="0" algn="ctr" defTabSz="9144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신뢰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C2A723-AF58-470B-8601-27B7545A1128}"/>
              </a:ext>
            </a:extLst>
          </p:cNvPr>
          <p:cNvSpPr/>
          <p:nvPr/>
        </p:nvSpPr>
        <p:spPr>
          <a:xfrm>
            <a:off x="4826552" y="4223310"/>
            <a:ext cx="1582412" cy="1606873"/>
          </a:xfrm>
          <a:prstGeom prst="roundRect">
            <a:avLst>
              <a:gd name="adj" fmla="val 50000"/>
            </a:avLst>
          </a:prstGeom>
          <a:solidFill>
            <a:srgbClr val="EEA796"/>
          </a:solidFill>
          <a:ln w="15875" cap="flat" cmpd="sng" algn="ctr">
            <a:solidFill>
              <a:srgbClr val="4C4434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R="0" lvl="0" indent="0" algn="ctr" defTabSz="9144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윤리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BD996F-D6B4-42B1-A6D6-738DEE26A9EA}"/>
              </a:ext>
            </a:extLst>
          </p:cNvPr>
          <p:cNvSpPr/>
          <p:nvPr/>
        </p:nvSpPr>
        <p:spPr>
          <a:xfrm>
            <a:off x="6497618" y="4223310"/>
            <a:ext cx="1582412" cy="1606873"/>
          </a:xfrm>
          <a:prstGeom prst="roundRect">
            <a:avLst>
              <a:gd name="adj" fmla="val 50000"/>
            </a:avLst>
          </a:prstGeom>
          <a:solidFill>
            <a:srgbClr val="EEA796"/>
          </a:solidFill>
          <a:ln w="15875" cap="flat" cmpd="sng" algn="ctr">
            <a:solidFill>
              <a:srgbClr val="4C4434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R="0" lvl="0" indent="0" algn="ctr" defTabSz="914400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리스크 관리</a:t>
            </a:r>
          </a:p>
        </p:txBody>
      </p:sp>
      <p:sp>
        <p:nvSpPr>
          <p:cNvPr id="4" name="더하기 기호 3">
            <a:extLst>
              <a:ext uri="{FF2B5EF4-FFF2-40B4-BE49-F238E27FC236}">
                <a16:creationId xmlns:a16="http://schemas.microsoft.com/office/drawing/2014/main" id="{E2C9C9D4-2197-42DA-8872-227C0C4776F5}"/>
              </a:ext>
            </a:extLst>
          </p:cNvPr>
          <p:cNvSpPr/>
          <p:nvPr/>
        </p:nvSpPr>
        <p:spPr>
          <a:xfrm>
            <a:off x="2653066" y="4820563"/>
            <a:ext cx="356616" cy="365760"/>
          </a:xfrm>
          <a:prstGeom prst="mathPlus">
            <a:avLst/>
          </a:prstGeom>
          <a:solidFill>
            <a:srgbClr val="9B8C6D"/>
          </a:solidFill>
          <a:ln w="15875" cap="flat" cmpd="sng" algn="ctr">
            <a:solidFill>
              <a:srgbClr val="9B8C6D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10000"/>
              </a:lnSpc>
              <a:spcBef>
                <a:spcPts val="600"/>
              </a:spcBef>
            </a:pPr>
            <a:endParaRPr lang="ko-KR" altLang="en-US" sz="200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2D2D2D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7332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04_01_01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4104130"/>
            <a:ext cx="2167847" cy="409921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2A26000-6540-440C-83CC-336DD7392CFE}"/>
              </a:ext>
            </a:extLst>
          </p:cNvPr>
          <p:cNvGrpSpPr/>
          <p:nvPr/>
        </p:nvGrpSpPr>
        <p:grpSpPr>
          <a:xfrm>
            <a:off x="2398184" y="2392235"/>
            <a:ext cx="7744216" cy="1683169"/>
            <a:chOff x="2398184" y="4266629"/>
            <a:chExt cx="7744216" cy="168316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FE8625-537A-4EF6-B4B0-73DC558FEE28}"/>
                </a:ext>
              </a:extLst>
            </p:cNvPr>
            <p:cNvSpPr txBox="1"/>
            <p:nvPr/>
          </p:nvSpPr>
          <p:spPr>
            <a:xfrm>
              <a:off x="2398184" y="4266629"/>
              <a:ext cx="7744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19830">
                <a:defRPr/>
              </a:pP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출처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Lead Body Copy">
              <a:extLst>
                <a:ext uri="{FF2B5EF4-FFF2-40B4-BE49-F238E27FC236}">
                  <a16:creationId xmlns:a16="http://schemas.microsoft.com/office/drawing/2014/main" id="{91CACE68-05BF-4F92-BDE7-38A71FCAEF1D}"/>
                </a:ext>
              </a:extLst>
            </p:cNvPr>
            <p:cNvSpPr txBox="1"/>
            <p:nvPr/>
          </p:nvSpPr>
          <p:spPr>
            <a:xfrm>
              <a:off x="2487613" y="4655982"/>
              <a:ext cx="7654787" cy="12938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10000"/>
                </a:lnSpc>
                <a:spcAft>
                  <a:spcPts val="468"/>
                </a:spcAft>
                <a:buFont typeface="Arial" panose="020B0604020202020204" pitchFamily="34" charset="0"/>
                <a:buChar char="•"/>
              </a:pP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#1 : Amazon, https://t2.gstatic.com/images?q=tbn:ANd9GcTpwKtcwECaCeznCq_0llz0YLIi4Ilak8cJgYNGUFtDW-ceyRsgzRlZO50L-sEkFQ, 2026. 07. 13.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접속</a:t>
              </a:r>
            </a:p>
            <a:p>
              <a:pPr marL="171450" indent="-171450">
                <a:lnSpc>
                  <a:spcPct val="110000"/>
                </a:lnSpc>
                <a:spcAft>
                  <a:spcPts val="468"/>
                </a:spcAft>
                <a:buFont typeface="Arial" panose="020B0604020202020204" pitchFamily="34" charset="0"/>
                <a:buChar char="•"/>
              </a:pP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#2 : Shopify, https://www.shopify.com/kr/blog/what-is-shopify, 2026. 07. 13.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접속</a:t>
              </a:r>
            </a:p>
            <a:p>
              <a:pPr marL="171450" indent="-171450">
                <a:lnSpc>
                  <a:spcPct val="110000"/>
                </a:lnSpc>
                <a:spcAft>
                  <a:spcPts val="468"/>
                </a:spcAft>
                <a:buFont typeface="Arial" panose="020B0604020202020204" pitchFamily="34" charset="0"/>
                <a:buChar char="•"/>
              </a:pP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#3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김예지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「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AI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시대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직장인 생존법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…AI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리터러시가 경쟁력」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,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디지털투데이</a:t>
              </a: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, https://www.digitaltoday.co.kr/news/articleView.html?idxno=617797, 2026. 07. 13.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접속</a:t>
              </a:r>
            </a:p>
            <a:p>
              <a:pPr marL="171450" indent="-171450">
                <a:lnSpc>
                  <a:spcPct val="110000"/>
                </a:lnSpc>
                <a:spcAft>
                  <a:spcPts val="468"/>
                </a:spcAft>
                <a:buFont typeface="Arial" panose="020B0604020202020204" pitchFamily="34" charset="0"/>
                <a:buChar char="•"/>
              </a:pPr>
              <a:r>
                <a:rPr lang="en-US" altLang="ko-KR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#4 : Shopee, https://shopee.vn/, 2026. 07. 13. </a:t>
              </a:r>
              <a:r>
                <a:rPr lang="ko-KR" altLang="en-US" sz="1100" noProof="1">
                  <a:solidFill>
                    <a:srgbClr val="5F5F5F"/>
                  </a:solidFill>
                  <a:latin typeface="맑은 고딕" panose="020B0503020000020004" pitchFamily="50" charset="-127"/>
                  <a:cs typeface="Segoe UI Semibold" panose="020B0702040204020203" pitchFamily="34" charset="0"/>
                </a:rPr>
                <a:t>접속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86F4FE-60F2-A673-35B4-308D874C3AD1}"/>
              </a:ext>
            </a:extLst>
          </p:cNvPr>
          <p:cNvSpPr/>
          <p:nvPr/>
        </p:nvSpPr>
        <p:spPr>
          <a:xfrm>
            <a:off x="2356221" y="505768"/>
            <a:ext cx="1681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_01_05.mp4</a:t>
            </a:r>
          </a:p>
        </p:txBody>
      </p:sp>
    </p:spTree>
    <p:extLst>
      <p:ext uri="{BB962C8B-B14F-4D97-AF65-F5344CB8AC3E}">
        <p14:creationId xmlns:p14="http://schemas.microsoft.com/office/powerpoint/2010/main" val="680321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E9119D6-ED70-FD54-AE51-86650663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372452-2B8B-C2E4-87FA-2DEF7F196F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688" y="2531557"/>
            <a:ext cx="7253930" cy="1218634"/>
          </a:xfrm>
        </p:spPr>
        <p:txBody>
          <a:bodyPr anchor="t" anchorCtr="0"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</a:t>
            </a:r>
            <a:br>
              <a:rPr lang="en-US" altLang="ko-KR"/>
            </a:br>
            <a:r>
              <a:rPr lang="ko-KR" altLang="en-US"/>
              <a:t>주요 사례</a:t>
            </a:r>
          </a:p>
        </p:txBody>
      </p:sp>
    </p:spTree>
    <p:extLst>
      <p:ext uri="{BB962C8B-B14F-4D97-AF65-F5344CB8AC3E}">
        <p14:creationId xmlns:p14="http://schemas.microsoft.com/office/powerpoint/2010/main" val="1132116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Amazon : </a:t>
            </a:r>
            <a:r>
              <a:rPr lang="ko-KR" altLang="en-US"/>
              <a:t>검색과 추천의 결합</a:t>
            </a:r>
            <a:endParaRPr lang="ko-KR" altLang="en-US" dirty="0"/>
          </a:p>
        </p:txBody>
      </p:sp>
      <p:sp>
        <p:nvSpPr>
          <p:cNvPr id="8" name="사각형: 둥근 모서리 82">
            <a:extLst>
              <a:ext uri="{FF2B5EF4-FFF2-40B4-BE49-F238E27FC236}">
                <a16:creationId xmlns:a16="http://schemas.microsoft.com/office/drawing/2014/main" id="{B8D292BB-42A5-5D5C-3D7C-A53DEFA0BA72}"/>
              </a:ext>
            </a:extLst>
          </p:cNvPr>
          <p:cNvSpPr/>
          <p:nvPr/>
        </p:nvSpPr>
        <p:spPr>
          <a:xfrm>
            <a:off x="3586118" y="2302667"/>
            <a:ext cx="4849858" cy="3385120"/>
          </a:xfrm>
          <a:prstGeom prst="roundRect">
            <a:avLst>
              <a:gd name="adj" fmla="val 5527"/>
            </a:avLst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lIns="144000" tIns="144000" rIns="144000" bIns="144000" rtlCol="0" anchor="t">
            <a:noAutofit/>
          </a:bodyPr>
          <a:lstStyle/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전통적인 검색 기반 커머스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대표 플랫폼</a:t>
            </a:r>
            <a:endParaRPr lang="en-US" altLang="ko-KR" sz="200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고객은 검색어를 입력하고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상품명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리뷰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가격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 조건을 비교함</a:t>
            </a:r>
            <a:endParaRPr lang="en-US" altLang="ko-KR" sz="200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Amazon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단순 검색 플랫폼이 아님</a:t>
            </a:r>
            <a:endParaRPr lang="en-US" altLang="ko-KR" sz="200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628650" lvl="1" indent="-3429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white">
                  <a:lumMod val="65000"/>
                </a:prstClr>
              </a:buClr>
              <a:buSzPct val="130000"/>
              <a:buBlip>
                <a:blip r:embed="rId4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추천 알고리즘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리뷰 요약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FBA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물류</a:t>
            </a: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광고 시스템을 통해 판매자와 고객을 연결함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연결선 85">
            <a:extLst>
              <a:ext uri="{FF2B5EF4-FFF2-40B4-BE49-F238E27FC236}">
                <a16:creationId xmlns:a16="http://schemas.microsoft.com/office/drawing/2014/main" id="{7C9040A8-F57A-6C0D-7141-4F9741025040}"/>
              </a:ext>
            </a:extLst>
          </p:cNvPr>
          <p:cNvCxnSpPr>
            <a:cxnSpLocks/>
          </p:cNvCxnSpPr>
          <p:nvPr/>
        </p:nvCxnSpPr>
        <p:spPr>
          <a:xfrm>
            <a:off x="2999606" y="2881736"/>
            <a:ext cx="586512" cy="0"/>
          </a:xfrm>
          <a:prstGeom prst="line">
            <a:avLst/>
          </a:prstGeom>
          <a:solidFill>
            <a:srgbClr val="BBCCFA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6F30B7-4ED6-0B8B-1EE5-B039210FA316}"/>
              </a:ext>
            </a:extLst>
          </p:cNvPr>
          <p:cNvSpPr txBox="1"/>
          <p:nvPr/>
        </p:nvSpPr>
        <p:spPr>
          <a:xfrm>
            <a:off x="3586118" y="1555049"/>
            <a:ext cx="2931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2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아마존</a:t>
            </a:r>
            <a:r>
              <a:rPr lang="en-US" altLang="ko-KR" sz="20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(Amazon)</a:t>
            </a:r>
            <a:endParaRPr lang="ko-KR" altLang="en-US" sz="2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개체 틀 39">
            <a:extLst>
              <a:ext uri="{FF2B5EF4-FFF2-40B4-BE49-F238E27FC236}">
                <a16:creationId xmlns:a16="http://schemas.microsoft.com/office/drawing/2014/main" id="{7F6BF114-238A-A813-CC9C-2E2B5D1184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6" r="31216"/>
          <a:stretch/>
        </p:blipFill>
        <p:spPr>
          <a:xfrm>
            <a:off x="649288" y="1453924"/>
            <a:ext cx="2350318" cy="4860806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D895C-FD13-F766-3DF1-7AE52232E73B}"/>
              </a:ext>
            </a:extLst>
          </p:cNvPr>
          <p:cNvSpPr txBox="1"/>
          <p:nvPr/>
        </p:nvSpPr>
        <p:spPr>
          <a:xfrm>
            <a:off x="8062155" y="623542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>
                <a:ln>
                  <a:solidFill>
                    <a:srgbClr val="73B5E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#1</a:t>
            </a:r>
            <a:endParaRPr lang="ko-KR" altLang="en-US" sz="1200" dirty="0">
              <a:ln>
                <a:solidFill>
                  <a:srgbClr val="73B5E5"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6253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Amazon : </a:t>
            </a:r>
            <a:r>
              <a:rPr lang="ko-KR" altLang="en-US"/>
              <a:t>검색과 추천의 결합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FB3406-16B4-1CD9-F3A1-08A0009BDEEF}"/>
              </a:ext>
            </a:extLst>
          </p:cNvPr>
          <p:cNvSpPr/>
          <p:nvPr/>
        </p:nvSpPr>
        <p:spPr>
          <a:xfrm>
            <a:off x="2877501" y="1425912"/>
            <a:ext cx="3314701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en-US" altLang="ko-KR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Amazon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에서 중요한 요소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460A61-CD84-8459-B837-312204E89771}"/>
              </a:ext>
            </a:extLst>
          </p:cNvPr>
          <p:cNvSpPr/>
          <p:nvPr/>
        </p:nvSpPr>
        <p:spPr>
          <a:xfrm>
            <a:off x="0" y="4978400"/>
            <a:ext cx="12192000" cy="1879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F82C257-A31E-2CE7-3445-6BA979DFA131}"/>
              </a:ext>
            </a:extLst>
          </p:cNvPr>
          <p:cNvGrpSpPr/>
          <p:nvPr/>
        </p:nvGrpSpPr>
        <p:grpSpPr>
          <a:xfrm>
            <a:off x="623888" y="5192115"/>
            <a:ext cx="7061992" cy="755848"/>
            <a:chOff x="5896657" y="2645675"/>
            <a:chExt cx="7061992" cy="75584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6DFC608-11BC-1D67-DCC1-3D9709CA39ED}"/>
                </a:ext>
              </a:extLst>
            </p:cNvPr>
            <p:cNvSpPr/>
            <p:nvPr/>
          </p:nvSpPr>
          <p:spPr>
            <a:xfrm>
              <a:off x="6245914" y="2645675"/>
              <a:ext cx="6712735" cy="7558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Amazon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에서는 “좋은 상품”도 중요하지만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검색되고 비교되고 </a:t>
              </a:r>
              <a:b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신뢰받는 상품정보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중요함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79FA8FE2-6EE8-CB6D-A0F7-5DA4E84BE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sp>
        <p:nvSpPr>
          <p:cNvPr id="8" name="사각형: 둥근 모서리 34">
            <a:extLst>
              <a:ext uri="{FF2B5EF4-FFF2-40B4-BE49-F238E27FC236}">
                <a16:creationId xmlns:a16="http://schemas.microsoft.com/office/drawing/2014/main" id="{67951AC8-342C-4FEE-97DA-7BCB18722804}"/>
              </a:ext>
            </a:extLst>
          </p:cNvPr>
          <p:cNvSpPr/>
          <p:nvPr/>
        </p:nvSpPr>
        <p:spPr>
          <a:xfrm>
            <a:off x="630937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검색 키워드</a:t>
            </a:r>
          </a:p>
        </p:txBody>
      </p:sp>
      <p:sp>
        <p:nvSpPr>
          <p:cNvPr id="9" name="사각형: 둥근 모서리 34">
            <a:extLst>
              <a:ext uri="{FF2B5EF4-FFF2-40B4-BE49-F238E27FC236}">
                <a16:creationId xmlns:a16="http://schemas.microsoft.com/office/drawing/2014/main" id="{257B07F0-C0A5-6BC9-9277-4AEB9B3F0F03}"/>
              </a:ext>
            </a:extLst>
          </p:cNvPr>
          <p:cNvSpPr/>
          <p:nvPr/>
        </p:nvSpPr>
        <p:spPr>
          <a:xfrm>
            <a:off x="4652393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상품명 구조</a:t>
            </a:r>
          </a:p>
        </p:txBody>
      </p:sp>
      <p:sp>
        <p:nvSpPr>
          <p:cNvPr id="10" name="사각형: 둥근 모서리 34">
            <a:extLst>
              <a:ext uri="{FF2B5EF4-FFF2-40B4-BE49-F238E27FC236}">
                <a16:creationId xmlns:a16="http://schemas.microsoft.com/office/drawing/2014/main" id="{91A28C20-7740-AA04-FDB3-F04D8A611DC4}"/>
              </a:ext>
            </a:extLst>
          </p:cNvPr>
          <p:cNvSpPr/>
          <p:nvPr/>
        </p:nvSpPr>
        <p:spPr>
          <a:xfrm>
            <a:off x="630937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리뷰 수와 평점</a:t>
            </a:r>
          </a:p>
        </p:txBody>
      </p: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841DD669-030F-FFE7-9BF5-019DF0BDC81B}"/>
              </a:ext>
            </a:extLst>
          </p:cNvPr>
          <p:cNvSpPr/>
          <p:nvPr/>
        </p:nvSpPr>
        <p:spPr>
          <a:xfrm>
            <a:off x="4652393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배송 속도</a:t>
            </a:r>
          </a:p>
        </p:txBody>
      </p:sp>
      <p:sp>
        <p:nvSpPr>
          <p:cNvPr id="12" name="사각형: 둥근 모서리 34">
            <a:extLst>
              <a:ext uri="{FF2B5EF4-FFF2-40B4-BE49-F238E27FC236}">
                <a16:creationId xmlns:a16="http://schemas.microsoft.com/office/drawing/2014/main" id="{6A0DCAEA-6F8D-246E-4595-EB0089D15A3C}"/>
              </a:ext>
            </a:extLst>
          </p:cNvPr>
          <p:cNvSpPr/>
          <p:nvPr/>
        </p:nvSpPr>
        <p:spPr>
          <a:xfrm>
            <a:off x="630937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가격 경쟁력</a:t>
            </a:r>
          </a:p>
        </p:txBody>
      </p:sp>
      <p:sp>
        <p:nvSpPr>
          <p:cNvPr id="13" name="사각형: 둥근 모서리 34">
            <a:extLst>
              <a:ext uri="{FF2B5EF4-FFF2-40B4-BE49-F238E27FC236}">
                <a16:creationId xmlns:a16="http://schemas.microsoft.com/office/drawing/2014/main" id="{3B82950C-4018-00E7-5330-6B152FA4EBD6}"/>
              </a:ext>
            </a:extLst>
          </p:cNvPr>
          <p:cNvSpPr/>
          <p:nvPr/>
        </p:nvSpPr>
        <p:spPr>
          <a:xfrm>
            <a:off x="4652393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광고 운영</a:t>
            </a:r>
          </a:p>
        </p:txBody>
      </p:sp>
      <p:sp>
        <p:nvSpPr>
          <p:cNvPr id="24" name="사각형: 둥근 모서리 34">
            <a:extLst>
              <a:ext uri="{FF2B5EF4-FFF2-40B4-BE49-F238E27FC236}">
                <a16:creationId xmlns:a16="http://schemas.microsoft.com/office/drawing/2014/main" id="{A64BEB08-5DB8-D24F-91FE-9D8369DB6699}"/>
              </a:ext>
            </a:extLst>
          </p:cNvPr>
          <p:cNvSpPr/>
          <p:nvPr/>
        </p:nvSpPr>
        <p:spPr>
          <a:xfrm>
            <a:off x="630937" y="424809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반품정책</a:t>
            </a:r>
          </a:p>
        </p:txBody>
      </p:sp>
    </p:spTree>
    <p:extLst>
      <p:ext uri="{BB962C8B-B14F-4D97-AF65-F5344CB8AC3E}">
        <p14:creationId xmlns:p14="http://schemas.microsoft.com/office/powerpoint/2010/main" val="2594670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Shopify : </a:t>
            </a:r>
            <a:r>
              <a:rPr lang="ko-KR" altLang="en-US"/>
              <a:t>독립몰과 </a:t>
            </a:r>
            <a:r>
              <a:rPr lang="en-US" altLang="ko-KR"/>
              <a:t>AI </a:t>
            </a:r>
            <a:r>
              <a:rPr lang="ko-KR" altLang="en-US"/>
              <a:t>운영</a:t>
            </a:r>
            <a:endParaRPr lang="ko-KR" altLang="en-US" dirty="0"/>
          </a:p>
        </p:txBody>
      </p:sp>
      <p:sp>
        <p:nvSpPr>
          <p:cNvPr id="8" name="사각형: 둥근 모서리 82">
            <a:extLst>
              <a:ext uri="{FF2B5EF4-FFF2-40B4-BE49-F238E27FC236}">
                <a16:creationId xmlns:a16="http://schemas.microsoft.com/office/drawing/2014/main" id="{B8D292BB-42A5-5D5C-3D7C-A53DEFA0BA72}"/>
              </a:ext>
            </a:extLst>
          </p:cNvPr>
          <p:cNvSpPr/>
          <p:nvPr/>
        </p:nvSpPr>
        <p:spPr>
          <a:xfrm>
            <a:off x="3575232" y="2317182"/>
            <a:ext cx="4860744" cy="2508818"/>
          </a:xfrm>
          <a:prstGeom prst="roundRect">
            <a:avLst>
              <a:gd name="adj" fmla="val 5527"/>
            </a:avLst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lIns="144000" tIns="144000" rIns="144000" bIns="144000" rtlCol="0" anchor="t">
            <a:noAutofit/>
          </a:bodyPr>
          <a:lstStyle/>
          <a:p>
            <a:pPr marL="342000" lvl="1" indent="-342900" defTabSz="9144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판매자가 자기 브랜드몰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만들 수 있게 해주는 플랫폼</a:t>
            </a:r>
            <a:endParaRPr lang="en-US" altLang="ko-KR" sz="200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000" lvl="1" indent="-342900" defTabSz="914400" fontAlgn="base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Amazon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거대한 시장 안에서 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경쟁하는 방식이라면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Shopify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자신만의 매장을 구축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방식임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연결선 85">
            <a:extLst>
              <a:ext uri="{FF2B5EF4-FFF2-40B4-BE49-F238E27FC236}">
                <a16:creationId xmlns:a16="http://schemas.microsoft.com/office/drawing/2014/main" id="{7C9040A8-F57A-6C0D-7141-4F9741025040}"/>
              </a:ext>
            </a:extLst>
          </p:cNvPr>
          <p:cNvCxnSpPr>
            <a:cxnSpLocks/>
          </p:cNvCxnSpPr>
          <p:nvPr/>
        </p:nvCxnSpPr>
        <p:spPr>
          <a:xfrm>
            <a:off x="2988720" y="2896251"/>
            <a:ext cx="586512" cy="0"/>
          </a:xfrm>
          <a:prstGeom prst="line">
            <a:avLst/>
          </a:prstGeom>
          <a:solidFill>
            <a:srgbClr val="BBCCFA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6F30B7-4ED6-0B8B-1EE5-B039210FA316}"/>
              </a:ext>
            </a:extLst>
          </p:cNvPr>
          <p:cNvSpPr txBox="1"/>
          <p:nvPr/>
        </p:nvSpPr>
        <p:spPr>
          <a:xfrm>
            <a:off x="3575232" y="1569564"/>
            <a:ext cx="3983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2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쇼피파이</a:t>
            </a:r>
            <a:r>
              <a:rPr lang="en-US" altLang="ko-KR" sz="20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(Shopify)</a:t>
            </a:r>
            <a:endParaRPr lang="ko-KR" altLang="en-US" sz="2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개체 틀 39">
            <a:extLst>
              <a:ext uri="{FF2B5EF4-FFF2-40B4-BE49-F238E27FC236}">
                <a16:creationId xmlns:a16="http://schemas.microsoft.com/office/drawing/2014/main" id="{7F6BF114-238A-A813-CC9C-2E2B5D1184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59" r="18011"/>
          <a:stretch/>
        </p:blipFill>
        <p:spPr>
          <a:xfrm>
            <a:off x="651102" y="1443039"/>
            <a:ext cx="2350318" cy="4860806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D895C-FD13-F766-3DF1-7AE52232E73B}"/>
              </a:ext>
            </a:extLst>
          </p:cNvPr>
          <p:cNvSpPr txBox="1"/>
          <p:nvPr/>
        </p:nvSpPr>
        <p:spPr>
          <a:xfrm>
            <a:off x="8062155" y="623542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>
                <a:ln>
                  <a:solidFill>
                    <a:srgbClr val="73B5E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#2</a:t>
            </a:r>
            <a:endParaRPr lang="ko-KR" altLang="en-US" sz="1200" dirty="0">
              <a:ln>
                <a:solidFill>
                  <a:srgbClr val="73B5E5"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3878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Shopify : </a:t>
            </a:r>
            <a:r>
              <a:rPr lang="ko-KR" altLang="en-US"/>
              <a:t>독립몰과 </a:t>
            </a:r>
            <a:r>
              <a:rPr lang="en-US" altLang="ko-KR"/>
              <a:t>AI </a:t>
            </a:r>
            <a:r>
              <a:rPr lang="ko-KR" altLang="en-US"/>
              <a:t>운영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CF68275-7BA1-04D9-2B56-5D01F25B5B05}"/>
              </a:ext>
            </a:extLst>
          </p:cNvPr>
          <p:cNvSpPr/>
          <p:nvPr/>
        </p:nvSpPr>
        <p:spPr>
          <a:xfrm>
            <a:off x="3280631" y="1414954"/>
            <a:ext cx="2304099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AI </a:t>
            </a:r>
            <a:r>
              <a:rPr kumimoji="0" lang="ko-KR" altLang="en-US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활용 영역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66A969-6E75-6877-DFC5-8751787FC740}"/>
              </a:ext>
            </a:extLst>
          </p:cNvPr>
          <p:cNvSpPr/>
          <p:nvPr/>
        </p:nvSpPr>
        <p:spPr>
          <a:xfrm>
            <a:off x="0" y="4314290"/>
            <a:ext cx="12192000" cy="25437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B36510D-30A9-9776-99F5-F5F2E497618C}"/>
              </a:ext>
            </a:extLst>
          </p:cNvPr>
          <p:cNvGrpSpPr/>
          <p:nvPr/>
        </p:nvGrpSpPr>
        <p:grpSpPr>
          <a:xfrm>
            <a:off x="623888" y="4453991"/>
            <a:ext cx="7431645" cy="755848"/>
            <a:chOff x="5896657" y="2645675"/>
            <a:chExt cx="7431645" cy="75584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2001B84-FBA4-0A54-A2A8-0286D3B30495}"/>
                </a:ext>
              </a:extLst>
            </p:cNvPr>
            <p:cNvSpPr/>
            <p:nvPr/>
          </p:nvSpPr>
          <p:spPr>
            <a:xfrm>
              <a:off x="6245914" y="2645675"/>
              <a:ext cx="7082388" cy="7558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Shopify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형 커머스에서는 단순 판매보다 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브랜드 스토리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고객관계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b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재구매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중요함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4213964-C914-8259-AE30-18EC1D956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sp>
        <p:nvSpPr>
          <p:cNvPr id="8" name="사각형: 둥근 모서리 34">
            <a:extLst>
              <a:ext uri="{FF2B5EF4-FFF2-40B4-BE49-F238E27FC236}">
                <a16:creationId xmlns:a16="http://schemas.microsoft.com/office/drawing/2014/main" id="{054A5F1D-C934-C28F-925F-B613B839EBA7}"/>
              </a:ext>
            </a:extLst>
          </p:cNvPr>
          <p:cNvSpPr/>
          <p:nvPr/>
        </p:nvSpPr>
        <p:spPr>
          <a:xfrm>
            <a:off x="630937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 설명 작성</a:t>
            </a:r>
          </a:p>
        </p:txBody>
      </p:sp>
      <p:sp>
        <p:nvSpPr>
          <p:cNvPr id="9" name="사각형: 둥근 모서리 34">
            <a:extLst>
              <a:ext uri="{FF2B5EF4-FFF2-40B4-BE49-F238E27FC236}">
                <a16:creationId xmlns:a16="http://schemas.microsoft.com/office/drawing/2014/main" id="{746720B9-38F4-B3E3-2C67-4EE1BB8D9ED6}"/>
              </a:ext>
            </a:extLst>
          </p:cNvPr>
          <p:cNvSpPr/>
          <p:nvPr/>
        </p:nvSpPr>
        <p:spPr>
          <a:xfrm>
            <a:off x="4652393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이메일 마케팅</a:t>
            </a:r>
          </a:p>
        </p:txBody>
      </p:sp>
      <p:sp>
        <p:nvSpPr>
          <p:cNvPr id="10" name="사각형: 둥근 모서리 34">
            <a:extLst>
              <a:ext uri="{FF2B5EF4-FFF2-40B4-BE49-F238E27FC236}">
                <a16:creationId xmlns:a16="http://schemas.microsoft.com/office/drawing/2014/main" id="{6B97962F-C821-735E-0480-3856A4D2D3AB}"/>
              </a:ext>
            </a:extLst>
          </p:cNvPr>
          <p:cNvSpPr/>
          <p:nvPr/>
        </p:nvSpPr>
        <p:spPr>
          <a:xfrm>
            <a:off x="630937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고객 세분화</a:t>
            </a:r>
          </a:p>
        </p:txBody>
      </p: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2EDCF8E1-4BCB-F305-A864-D3F93CA23B19}"/>
              </a:ext>
            </a:extLst>
          </p:cNvPr>
          <p:cNvSpPr/>
          <p:nvPr/>
        </p:nvSpPr>
        <p:spPr>
          <a:xfrm>
            <a:off x="4652393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할인 캠페인</a:t>
            </a:r>
          </a:p>
        </p:txBody>
      </p:sp>
      <p:sp>
        <p:nvSpPr>
          <p:cNvPr id="13" name="사각형: 둥근 모서리 34">
            <a:extLst>
              <a:ext uri="{FF2B5EF4-FFF2-40B4-BE49-F238E27FC236}">
                <a16:creationId xmlns:a16="http://schemas.microsoft.com/office/drawing/2014/main" id="{BC3C9D8C-BF0A-B0C8-699F-2180CB7F86A3}"/>
              </a:ext>
            </a:extLst>
          </p:cNvPr>
          <p:cNvSpPr/>
          <p:nvPr/>
        </p:nvSpPr>
        <p:spPr>
          <a:xfrm>
            <a:off x="630937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FAQ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자동화</a:t>
            </a:r>
          </a:p>
        </p:txBody>
      </p:sp>
      <p:sp>
        <p:nvSpPr>
          <p:cNvPr id="19" name="사각형: 둥근 모서리 34">
            <a:extLst>
              <a:ext uri="{FF2B5EF4-FFF2-40B4-BE49-F238E27FC236}">
                <a16:creationId xmlns:a16="http://schemas.microsoft.com/office/drawing/2014/main" id="{BB7BE594-EFE0-ADB2-AE36-78530598B36C}"/>
              </a:ext>
            </a:extLst>
          </p:cNvPr>
          <p:cNvSpPr/>
          <p:nvPr/>
        </p:nvSpPr>
        <p:spPr>
          <a:xfrm>
            <a:off x="4652393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고객 재구매 유도</a:t>
            </a:r>
          </a:p>
        </p:txBody>
      </p:sp>
    </p:spTree>
    <p:extLst>
      <p:ext uri="{BB962C8B-B14F-4D97-AF65-F5344CB8AC3E}">
        <p14:creationId xmlns:p14="http://schemas.microsoft.com/office/powerpoint/2010/main" val="1857570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TikTok Shop : </a:t>
            </a:r>
            <a:r>
              <a:rPr lang="ko-KR" altLang="en-US"/>
              <a:t>콘텐츠가 매장이 되는 구조</a:t>
            </a:r>
            <a:endParaRPr lang="ko-KR" altLang="en-US" dirty="0"/>
          </a:p>
        </p:txBody>
      </p:sp>
      <p:sp>
        <p:nvSpPr>
          <p:cNvPr id="8" name="사각형: 둥근 모서리 82">
            <a:extLst>
              <a:ext uri="{FF2B5EF4-FFF2-40B4-BE49-F238E27FC236}">
                <a16:creationId xmlns:a16="http://schemas.microsoft.com/office/drawing/2014/main" id="{B8D292BB-42A5-5D5C-3D7C-A53DEFA0BA72}"/>
              </a:ext>
            </a:extLst>
          </p:cNvPr>
          <p:cNvSpPr/>
          <p:nvPr/>
        </p:nvSpPr>
        <p:spPr>
          <a:xfrm>
            <a:off x="3586117" y="2302667"/>
            <a:ext cx="4875257" cy="1556315"/>
          </a:xfrm>
          <a:prstGeom prst="roundRect">
            <a:avLst>
              <a:gd name="adj" fmla="val 10508"/>
            </a:avLst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lIns="144000" tIns="144000" rIns="144000" bIns="144000" rtlCol="0" anchor="t">
            <a:noAutofit/>
          </a:bodyPr>
          <a:lstStyle/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콘텐츠형 커머스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대표 사례</a:t>
            </a:r>
            <a:endParaRPr lang="en-US" altLang="ko-KR" sz="200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고객이 상품을 검색해서 들어오기보다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영상을 보다가 흥미를 느끼고 구매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연결선 85">
            <a:extLst>
              <a:ext uri="{FF2B5EF4-FFF2-40B4-BE49-F238E27FC236}">
                <a16:creationId xmlns:a16="http://schemas.microsoft.com/office/drawing/2014/main" id="{7C9040A8-F57A-6C0D-7141-4F9741025040}"/>
              </a:ext>
            </a:extLst>
          </p:cNvPr>
          <p:cNvCxnSpPr>
            <a:cxnSpLocks/>
          </p:cNvCxnSpPr>
          <p:nvPr/>
        </p:nvCxnSpPr>
        <p:spPr>
          <a:xfrm>
            <a:off x="2999606" y="2881736"/>
            <a:ext cx="586512" cy="0"/>
          </a:xfrm>
          <a:prstGeom prst="line">
            <a:avLst/>
          </a:prstGeom>
          <a:solidFill>
            <a:srgbClr val="BBCCFA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6F30B7-4ED6-0B8B-1EE5-B039210FA316}"/>
              </a:ext>
            </a:extLst>
          </p:cNvPr>
          <p:cNvSpPr txBox="1"/>
          <p:nvPr/>
        </p:nvSpPr>
        <p:spPr>
          <a:xfrm>
            <a:off x="3586117" y="1555049"/>
            <a:ext cx="4501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20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틱톡</a:t>
            </a:r>
            <a:r>
              <a:rPr lang="ko-KR" altLang="en-US" sz="3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샵</a:t>
            </a:r>
            <a:r>
              <a:rPr lang="en-US" altLang="ko-KR" sz="2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(TikTok Shop)</a:t>
            </a:r>
            <a:endParaRPr lang="ko-KR" altLang="en-US" sz="2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개체 틀 39">
            <a:extLst>
              <a:ext uri="{FF2B5EF4-FFF2-40B4-BE49-F238E27FC236}">
                <a16:creationId xmlns:a16="http://schemas.microsoft.com/office/drawing/2014/main" id="{7F6BF114-238A-A813-CC9C-2E2B5D1184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8" r="27810"/>
          <a:stretch/>
        </p:blipFill>
        <p:spPr>
          <a:xfrm>
            <a:off x="649288" y="1450862"/>
            <a:ext cx="2350318" cy="4860806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D895C-FD13-F766-3DF1-7AE52232E73B}"/>
              </a:ext>
            </a:extLst>
          </p:cNvPr>
          <p:cNvSpPr txBox="1"/>
          <p:nvPr/>
        </p:nvSpPr>
        <p:spPr>
          <a:xfrm>
            <a:off x="8062155" y="623542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>
                <a:ln>
                  <a:solidFill>
                    <a:srgbClr val="73B5E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#3</a:t>
            </a:r>
            <a:endParaRPr lang="ko-KR" altLang="en-US" sz="1200" dirty="0">
              <a:ln>
                <a:solidFill>
                  <a:srgbClr val="73B5E5"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893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TikTok Shop : </a:t>
            </a:r>
            <a:r>
              <a:rPr lang="ko-KR" altLang="en-US"/>
              <a:t>콘텐츠가 매장이 되는 구조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61C2844-81AC-920B-0465-976DFF832D60}"/>
              </a:ext>
            </a:extLst>
          </p:cNvPr>
          <p:cNvSpPr/>
          <p:nvPr/>
        </p:nvSpPr>
        <p:spPr>
          <a:xfrm>
            <a:off x="3169525" y="1424098"/>
            <a:ext cx="2984025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en-US" altLang="ko-KR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TikTok Shop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의 특징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DFFB4F-4C60-F3D9-4889-A3F019CEE5C7}"/>
              </a:ext>
            </a:extLst>
          </p:cNvPr>
          <p:cNvSpPr/>
          <p:nvPr/>
        </p:nvSpPr>
        <p:spPr>
          <a:xfrm>
            <a:off x="0" y="4381500"/>
            <a:ext cx="12192000" cy="2476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D21192-7345-CC71-9290-7C0E812D5AB1}"/>
              </a:ext>
            </a:extLst>
          </p:cNvPr>
          <p:cNvGrpSpPr/>
          <p:nvPr/>
        </p:nvGrpSpPr>
        <p:grpSpPr>
          <a:xfrm>
            <a:off x="623888" y="4569815"/>
            <a:ext cx="6970621" cy="755848"/>
            <a:chOff x="5896657" y="2645675"/>
            <a:chExt cx="6970621" cy="75584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380BE36-DDC8-39D8-2E8B-EBCD5D5735A5}"/>
                </a:ext>
              </a:extLst>
            </p:cNvPr>
            <p:cNvSpPr/>
            <p:nvPr/>
          </p:nvSpPr>
          <p:spPr>
            <a:xfrm>
              <a:off x="6245914" y="2645675"/>
              <a:ext cx="6621364" cy="7558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TikTok Shop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에서는 상품페이지보다 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처음 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초의 관심 유도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</a:t>
              </a:r>
              <a:b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중요할 수 있음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81BD5FA5-B6BC-321B-1310-3592C4BD4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A6B546B-BA88-7CB9-4E19-2B61123943F9}"/>
              </a:ext>
            </a:extLst>
          </p:cNvPr>
          <p:cNvGrpSpPr/>
          <p:nvPr/>
        </p:nvGrpSpPr>
        <p:grpSpPr>
          <a:xfrm>
            <a:off x="973145" y="5330731"/>
            <a:ext cx="4375997" cy="417294"/>
            <a:chOff x="3533470" y="3195806"/>
            <a:chExt cx="4375997" cy="41729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ACF0999-538E-C79F-147D-BA6F87D26C64}"/>
                </a:ext>
              </a:extLst>
            </p:cNvPr>
            <p:cNvSpPr/>
            <p:nvPr/>
          </p:nvSpPr>
          <p:spPr>
            <a:xfrm>
              <a:off x="3957744" y="3195806"/>
              <a:ext cx="3951723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이제 콘텐츠는 광고가 아니라 매장임</a:t>
              </a: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55B93A64-DE8E-3937-A6F2-0B2D821BB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33470" y="3303004"/>
              <a:ext cx="368300" cy="211740"/>
            </a:xfrm>
            <a:prstGeom prst="rect">
              <a:avLst/>
            </a:prstGeom>
          </p:spPr>
        </p:pic>
      </p:grpSp>
      <p:sp>
        <p:nvSpPr>
          <p:cNvPr id="8" name="사각형: 둥근 모서리 34">
            <a:extLst>
              <a:ext uri="{FF2B5EF4-FFF2-40B4-BE49-F238E27FC236}">
                <a16:creationId xmlns:a16="http://schemas.microsoft.com/office/drawing/2014/main" id="{C7CCE0B1-681C-371D-FBC4-52AE3E7AC435}"/>
              </a:ext>
            </a:extLst>
          </p:cNvPr>
          <p:cNvSpPr/>
          <p:nvPr/>
        </p:nvSpPr>
        <p:spPr>
          <a:xfrm>
            <a:off x="630937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숏폼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영상 중심</a:t>
            </a:r>
          </a:p>
        </p:txBody>
      </p:sp>
      <p:sp>
        <p:nvSpPr>
          <p:cNvPr id="9" name="사각형: 둥근 모서리 34">
            <a:extLst>
              <a:ext uri="{FF2B5EF4-FFF2-40B4-BE49-F238E27FC236}">
                <a16:creationId xmlns:a16="http://schemas.microsoft.com/office/drawing/2014/main" id="{B2ACDCD0-426D-29A0-04A1-7B63538BA2E6}"/>
              </a:ext>
            </a:extLst>
          </p:cNvPr>
          <p:cNvSpPr/>
          <p:nvPr/>
        </p:nvSpPr>
        <p:spPr>
          <a:xfrm>
            <a:off x="4652393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크리에이터 영향력</a:t>
            </a:r>
          </a:p>
        </p:txBody>
      </p:sp>
      <p:sp>
        <p:nvSpPr>
          <p:cNvPr id="10" name="사각형: 둥근 모서리 34">
            <a:extLst>
              <a:ext uri="{FF2B5EF4-FFF2-40B4-BE49-F238E27FC236}">
                <a16:creationId xmlns:a16="http://schemas.microsoft.com/office/drawing/2014/main" id="{5262DF9B-730C-D5BC-E6AC-8B30D7CB2CE8}"/>
              </a:ext>
            </a:extLst>
          </p:cNvPr>
          <p:cNvSpPr/>
          <p:nvPr/>
        </p:nvSpPr>
        <p:spPr>
          <a:xfrm>
            <a:off x="630937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충동구매 가능성</a:t>
            </a:r>
          </a:p>
        </p:txBody>
      </p: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F7107E9C-72CC-C09E-67A5-3D483C732B86}"/>
              </a:ext>
            </a:extLst>
          </p:cNvPr>
          <p:cNvSpPr/>
          <p:nvPr/>
        </p:nvSpPr>
        <p:spPr>
          <a:xfrm>
            <a:off x="4652393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실시간 반응</a:t>
            </a:r>
          </a:p>
        </p:txBody>
      </p:sp>
      <p:sp>
        <p:nvSpPr>
          <p:cNvPr id="13" name="사각형: 둥근 모서리 34">
            <a:extLst>
              <a:ext uri="{FF2B5EF4-FFF2-40B4-BE49-F238E27FC236}">
                <a16:creationId xmlns:a16="http://schemas.microsoft.com/office/drawing/2014/main" id="{BBFAF437-F44C-D4DA-82A7-C27883EF2A01}"/>
              </a:ext>
            </a:extLst>
          </p:cNvPr>
          <p:cNvSpPr/>
          <p:nvPr/>
        </p:nvSpPr>
        <p:spPr>
          <a:xfrm>
            <a:off x="630937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댓글과 리뷰의 확산</a:t>
            </a:r>
          </a:p>
        </p:txBody>
      </p:sp>
      <p:sp>
        <p:nvSpPr>
          <p:cNvPr id="26" name="사각형: 둥근 모서리 34">
            <a:extLst>
              <a:ext uri="{FF2B5EF4-FFF2-40B4-BE49-F238E27FC236}">
                <a16:creationId xmlns:a16="http://schemas.microsoft.com/office/drawing/2014/main" id="{29C45751-7742-F278-FCFC-A22A95766366}"/>
              </a:ext>
            </a:extLst>
          </p:cNvPr>
          <p:cNvSpPr/>
          <p:nvPr/>
        </p:nvSpPr>
        <p:spPr>
          <a:xfrm>
            <a:off x="4652393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라이브커머스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연계</a:t>
            </a:r>
          </a:p>
        </p:txBody>
      </p:sp>
    </p:spTree>
    <p:extLst>
      <p:ext uri="{BB962C8B-B14F-4D97-AF65-F5344CB8AC3E}">
        <p14:creationId xmlns:p14="http://schemas.microsoft.com/office/powerpoint/2010/main" val="1830436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ChatGPT</a:t>
            </a:r>
            <a:r>
              <a:rPr lang="ko-KR" altLang="en-US"/>
              <a:t>형 쇼핑 </a:t>
            </a:r>
            <a:r>
              <a:rPr lang="en-US" altLang="ko-KR"/>
              <a:t>: </a:t>
            </a:r>
            <a:r>
              <a:rPr lang="ko-KR" altLang="en-US"/>
              <a:t>대화형 상품 탐색</a:t>
            </a:r>
            <a:endParaRPr lang="ko-KR" altLang="en-US" dirty="0"/>
          </a:p>
        </p:txBody>
      </p:sp>
      <p:sp>
        <p:nvSpPr>
          <p:cNvPr id="4" name="사각형: 둥근 모서리 34">
            <a:extLst>
              <a:ext uri="{FF2B5EF4-FFF2-40B4-BE49-F238E27FC236}">
                <a16:creationId xmlns:a16="http://schemas.microsoft.com/office/drawing/2014/main" id="{8A59EA1A-678D-2365-61BB-73BE54D02D1B}"/>
              </a:ext>
            </a:extLst>
          </p:cNvPr>
          <p:cNvSpPr/>
          <p:nvPr/>
        </p:nvSpPr>
        <p:spPr>
          <a:xfrm>
            <a:off x="637195" y="1416430"/>
            <a:ext cx="7798779" cy="90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latinLnBrk="1">
              <a:lnSpc>
                <a:spcPct val="110000"/>
              </a:lnSpc>
            </a:pPr>
            <a: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쇼핑 에이전트는 고객이 원하는 조건을 말하면 </a:t>
            </a:r>
            <a:br>
              <a:rPr lang="en-US" altLang="ko-KR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상품을 비교하고 추천하는 방식으로 발전하고 있음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65306D-65A2-9167-C554-D137652CA6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2" y="3095711"/>
            <a:ext cx="3863068" cy="386306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9E7866E-ECF8-AB91-F583-CFB444F6C30F}"/>
              </a:ext>
            </a:extLst>
          </p:cNvPr>
          <p:cNvGrpSpPr/>
          <p:nvPr/>
        </p:nvGrpSpPr>
        <p:grpSpPr>
          <a:xfrm>
            <a:off x="2447508" y="2621519"/>
            <a:ext cx="4830619" cy="1129456"/>
            <a:chOff x="4133396" y="3044420"/>
            <a:chExt cx="4830619" cy="1129456"/>
          </a:xfrm>
        </p:grpSpPr>
        <p:sp>
          <p:nvSpPr>
            <p:cNvPr id="9" name="사각형: 둥근 모서리 34">
              <a:extLst>
                <a:ext uri="{FF2B5EF4-FFF2-40B4-BE49-F238E27FC236}">
                  <a16:creationId xmlns:a16="http://schemas.microsoft.com/office/drawing/2014/main" id="{019ED2BB-A5C9-8A4F-3ACF-875F6AA7BC2E}"/>
                </a:ext>
              </a:extLst>
            </p:cNvPr>
            <p:cNvSpPr/>
            <p:nvPr/>
          </p:nvSpPr>
          <p:spPr>
            <a:xfrm>
              <a:off x="4133396" y="3044420"/>
              <a:ext cx="4830619" cy="792000"/>
            </a:xfrm>
            <a:prstGeom prst="roundRect">
              <a:avLst/>
            </a:prstGeom>
            <a:solidFill>
              <a:srgbClr val="9B8C6D"/>
            </a:solidFill>
            <a:ln w="12700">
              <a:noFill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latinLnBrk="1">
                <a:lnSpc>
                  <a:spcPct val="110000"/>
                </a:lnSpc>
              </a:pP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50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달러 이하의 여행용 보조가방 추천해줘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endPara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71125687-3D7A-0CAE-2EC3-BD103FE2AF50}"/>
                </a:ext>
              </a:extLst>
            </p:cNvPr>
            <p:cNvSpPr/>
            <p:nvPr/>
          </p:nvSpPr>
          <p:spPr>
            <a:xfrm rot="10800000">
              <a:off x="4484726" y="3775942"/>
              <a:ext cx="338667" cy="397934"/>
            </a:xfrm>
            <a:prstGeom prst="triangle">
              <a:avLst>
                <a:gd name="adj" fmla="val 100000"/>
              </a:avLst>
            </a:prstGeom>
            <a:solidFill>
              <a:srgbClr val="9B8C6D"/>
            </a:solidFill>
            <a:ln w="12700">
              <a:noFill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latinLnBrk="1">
                <a:lnSpc>
                  <a:spcPct val="110000"/>
                </a:lnSpc>
              </a:pPr>
              <a:endPara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904B29A-E88E-5CFE-AC14-4ED0B8AEE5BC}"/>
              </a:ext>
            </a:extLst>
          </p:cNvPr>
          <p:cNvGrpSpPr/>
          <p:nvPr/>
        </p:nvGrpSpPr>
        <p:grpSpPr>
          <a:xfrm>
            <a:off x="3267426" y="3661693"/>
            <a:ext cx="2702832" cy="1129456"/>
            <a:chOff x="4133397" y="2542330"/>
            <a:chExt cx="2702832" cy="1129456"/>
          </a:xfrm>
          <a:solidFill>
            <a:srgbClr val="93AA5A"/>
          </a:solidFill>
        </p:grpSpPr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819F39F0-262B-12AA-B869-1D2D2E06B08F}"/>
                </a:ext>
              </a:extLst>
            </p:cNvPr>
            <p:cNvSpPr/>
            <p:nvPr/>
          </p:nvSpPr>
          <p:spPr>
            <a:xfrm>
              <a:off x="4133397" y="2542330"/>
              <a:ext cx="2702832" cy="792000"/>
            </a:xfrm>
            <a:prstGeom prst="roundRect">
              <a:avLst/>
            </a:prstGeom>
            <a:solidFill>
              <a:srgbClr val="9B8C6D"/>
            </a:solidFill>
            <a:ln w="12700">
              <a:noFill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latinLnBrk="1">
                <a:lnSpc>
                  <a:spcPct val="110000"/>
                </a:lnSpc>
              </a:pP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가볍고 방수되면 좋겠어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endPara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D5B7665F-9BFB-B2DB-CBCA-FA9D5EFDF4CA}"/>
                </a:ext>
              </a:extLst>
            </p:cNvPr>
            <p:cNvSpPr/>
            <p:nvPr/>
          </p:nvSpPr>
          <p:spPr>
            <a:xfrm rot="10800000">
              <a:off x="4484726" y="3273852"/>
              <a:ext cx="338667" cy="397934"/>
            </a:xfrm>
            <a:prstGeom prst="triangle">
              <a:avLst>
                <a:gd name="adj" fmla="val 100000"/>
              </a:avLst>
            </a:prstGeom>
            <a:solidFill>
              <a:srgbClr val="9B8C6D"/>
            </a:solidFill>
            <a:ln w="12700">
              <a:noFill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latinLnBrk="1">
                <a:lnSpc>
                  <a:spcPct val="110000"/>
                </a:lnSpc>
              </a:pPr>
              <a:endPara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D43139C-C43A-420E-F4C5-E2416F865D9D}"/>
              </a:ext>
            </a:extLst>
          </p:cNvPr>
          <p:cNvGrpSpPr/>
          <p:nvPr/>
        </p:nvGrpSpPr>
        <p:grpSpPr>
          <a:xfrm>
            <a:off x="3766305" y="4911566"/>
            <a:ext cx="4669670" cy="417294"/>
            <a:chOff x="5896657" y="2645675"/>
            <a:chExt cx="4669670" cy="41729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E16903F-D9BE-F98E-5A68-69D0E82A6405}"/>
                </a:ext>
              </a:extLst>
            </p:cNvPr>
            <p:cNvSpPr/>
            <p:nvPr/>
          </p:nvSpPr>
          <p:spPr>
            <a:xfrm>
              <a:off x="6245914" y="2645675"/>
              <a:ext cx="4320413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는 여러 상품을 비교해 추천할 수 있음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C9C01BB2-8096-8CBA-228F-EA99DA806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5711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ChatGPT</a:t>
            </a:r>
            <a:r>
              <a:rPr lang="ko-KR" altLang="en-US"/>
              <a:t>형 쇼핑 </a:t>
            </a:r>
            <a:r>
              <a:rPr lang="en-US" altLang="ko-KR"/>
              <a:t>: </a:t>
            </a:r>
            <a:r>
              <a:rPr lang="ko-KR" altLang="en-US"/>
              <a:t>대화형 상품 탐색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89DF0EE-1359-CFD2-0813-77B80B16F46C}"/>
              </a:ext>
            </a:extLst>
          </p:cNvPr>
          <p:cNvSpPr/>
          <p:nvPr/>
        </p:nvSpPr>
        <p:spPr>
          <a:xfrm>
            <a:off x="3169525" y="1424098"/>
            <a:ext cx="2984025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AI </a:t>
            </a:r>
            <a:r>
              <a:rPr kumimoji="0" lang="ko-KR" altLang="en-US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쇼핑 시대의 준비 요소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0FBA03-B2F6-19A7-C39D-AA009A2258D9}"/>
              </a:ext>
            </a:extLst>
          </p:cNvPr>
          <p:cNvSpPr/>
          <p:nvPr/>
        </p:nvSpPr>
        <p:spPr>
          <a:xfrm>
            <a:off x="0" y="4329063"/>
            <a:ext cx="12192000" cy="25289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D63D9E-16EB-239D-7A67-7FB392F7E3C5}"/>
              </a:ext>
            </a:extLst>
          </p:cNvPr>
          <p:cNvGrpSpPr/>
          <p:nvPr/>
        </p:nvGrpSpPr>
        <p:grpSpPr>
          <a:xfrm>
            <a:off x="623888" y="4554846"/>
            <a:ext cx="7202415" cy="417294"/>
            <a:chOff x="5896657" y="2645675"/>
            <a:chExt cx="7202415" cy="41729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FB3E6C6-D9EC-0E43-B154-01A398849547}"/>
                </a:ext>
              </a:extLst>
            </p:cNvPr>
            <p:cNvSpPr/>
            <p:nvPr/>
          </p:nvSpPr>
          <p:spPr>
            <a:xfrm>
              <a:off x="6245914" y="2645675"/>
              <a:ext cx="6853158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앞으로는 고객뿐 아니라 </a:t>
              </a:r>
              <a:r>
                <a:rPr lang="en-US" altLang="ko-KR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  <a:r>
                <a:rPr lang="ko-KR" altLang="en-US" sz="200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E8556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도 내 상품을 이해해야 하는 시대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됨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E8DA0E61-BFF4-E4B0-52AE-38809FC03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518B47E-9E7A-9AFD-2A04-D234EC7688B7}"/>
              </a:ext>
            </a:extLst>
          </p:cNvPr>
          <p:cNvGrpSpPr/>
          <p:nvPr/>
        </p:nvGrpSpPr>
        <p:grpSpPr>
          <a:xfrm>
            <a:off x="973145" y="5011597"/>
            <a:ext cx="7442512" cy="755848"/>
            <a:chOff x="3533470" y="3195806"/>
            <a:chExt cx="7442512" cy="755848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B4950A-A9EB-B9BE-DE55-F1936D179A95}"/>
                </a:ext>
              </a:extLst>
            </p:cNvPr>
            <p:cNvSpPr/>
            <p:nvPr/>
          </p:nvSpPr>
          <p:spPr>
            <a:xfrm>
              <a:off x="3957744" y="3195806"/>
              <a:ext cx="7018238" cy="7558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상품정보는 사람이 읽기 좋아야 하고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b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동시에 </a:t>
              </a:r>
              <a:r>
                <a:rPr kumimoji="0" lang="en-US" altLang="ko-KR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AI</a:t>
              </a:r>
              <a:r>
                <a:rPr kumimoji="0" lang="ko-KR" altLang="en-US" sz="2000" b="0" i="0" u="none" strike="noStrike" kern="1200" cap="none" spc="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가 해석하기 쉬워야 함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F07FDC31-D08D-3294-8C8A-534EA4529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33470" y="3303004"/>
              <a:ext cx="368300" cy="211740"/>
            </a:xfrm>
            <a:prstGeom prst="rect">
              <a:avLst/>
            </a:prstGeom>
          </p:spPr>
        </p:pic>
      </p:grpSp>
      <p:sp>
        <p:nvSpPr>
          <p:cNvPr id="4" name="사각형: 둥근 모서리 34">
            <a:extLst>
              <a:ext uri="{FF2B5EF4-FFF2-40B4-BE49-F238E27FC236}">
                <a16:creationId xmlns:a16="http://schemas.microsoft.com/office/drawing/2014/main" id="{73EB4D8B-05BF-9E98-AE0D-BF8828595D0C}"/>
              </a:ext>
            </a:extLst>
          </p:cNvPr>
          <p:cNvSpPr/>
          <p:nvPr/>
        </p:nvSpPr>
        <p:spPr>
          <a:xfrm>
            <a:off x="630937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상품정보의 명확성</a:t>
            </a:r>
          </a:p>
        </p:txBody>
      </p:sp>
      <p:sp>
        <p:nvSpPr>
          <p:cNvPr id="5" name="사각형: 둥근 모서리 34">
            <a:extLst>
              <a:ext uri="{FF2B5EF4-FFF2-40B4-BE49-F238E27FC236}">
                <a16:creationId xmlns:a16="http://schemas.microsoft.com/office/drawing/2014/main" id="{C010BFB9-FB39-5183-237B-FF99ACD600CF}"/>
              </a:ext>
            </a:extLst>
          </p:cNvPr>
          <p:cNvSpPr/>
          <p:nvPr/>
        </p:nvSpPr>
        <p:spPr>
          <a:xfrm>
            <a:off x="4652393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사용 상황 설명</a:t>
            </a:r>
          </a:p>
        </p:txBody>
      </p:sp>
      <p:sp>
        <p:nvSpPr>
          <p:cNvPr id="6" name="사각형: 둥근 모서리 34">
            <a:extLst>
              <a:ext uri="{FF2B5EF4-FFF2-40B4-BE49-F238E27FC236}">
                <a16:creationId xmlns:a16="http://schemas.microsoft.com/office/drawing/2014/main" id="{733738A3-2179-A901-0277-FB2D351B9655}"/>
              </a:ext>
            </a:extLst>
          </p:cNvPr>
          <p:cNvSpPr/>
          <p:nvPr/>
        </p:nvSpPr>
        <p:spPr>
          <a:xfrm>
            <a:off x="630937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장점과 한계의 구체성</a:t>
            </a:r>
          </a:p>
        </p:txBody>
      </p:sp>
      <p:sp>
        <p:nvSpPr>
          <p:cNvPr id="22" name="사각형: 둥근 모서리 34">
            <a:extLst>
              <a:ext uri="{FF2B5EF4-FFF2-40B4-BE49-F238E27FC236}">
                <a16:creationId xmlns:a16="http://schemas.microsoft.com/office/drawing/2014/main" id="{B11653B7-DC23-E7AE-E2F8-C86D2F86C3D4}"/>
              </a:ext>
            </a:extLst>
          </p:cNvPr>
          <p:cNvSpPr/>
          <p:nvPr/>
        </p:nvSpPr>
        <p:spPr>
          <a:xfrm>
            <a:off x="4652393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리뷰의 신뢰성</a:t>
            </a:r>
          </a:p>
        </p:txBody>
      </p:sp>
      <p:sp>
        <p:nvSpPr>
          <p:cNvPr id="23" name="사각형: 둥근 모서리 34">
            <a:extLst>
              <a:ext uri="{FF2B5EF4-FFF2-40B4-BE49-F238E27FC236}">
                <a16:creationId xmlns:a16="http://schemas.microsoft.com/office/drawing/2014/main" id="{4B1BBE10-B4A5-FDBB-5A31-200DA6EA057C}"/>
              </a:ext>
            </a:extLst>
          </p:cNvPr>
          <p:cNvSpPr/>
          <p:nvPr/>
        </p:nvSpPr>
        <p:spPr>
          <a:xfrm>
            <a:off x="630937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가격과 배송 조건</a:t>
            </a:r>
          </a:p>
        </p:txBody>
      </p:sp>
      <p:sp>
        <p:nvSpPr>
          <p:cNvPr id="24" name="사각형: 둥근 모서리 34">
            <a:extLst>
              <a:ext uri="{FF2B5EF4-FFF2-40B4-BE49-F238E27FC236}">
                <a16:creationId xmlns:a16="http://schemas.microsoft.com/office/drawing/2014/main" id="{2423B02E-6D5A-AF49-D79D-434D5C8EDF41}"/>
              </a:ext>
            </a:extLst>
          </p:cNvPr>
          <p:cNvSpPr/>
          <p:nvPr/>
        </p:nvSpPr>
        <p:spPr>
          <a:xfrm>
            <a:off x="4652393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FB881"/>
            </a:solidFill>
          </a:ln>
          <a:effectLst>
            <a:outerShdw dist="38100" dir="2700000" algn="tl" rotWithShape="0">
              <a:srgbClr val="EFB881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FAQ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와 비교 정보</a:t>
            </a:r>
          </a:p>
        </p:txBody>
      </p:sp>
    </p:spTree>
    <p:extLst>
      <p:ext uri="{BB962C8B-B14F-4D97-AF65-F5344CB8AC3E}">
        <p14:creationId xmlns:p14="http://schemas.microsoft.com/office/powerpoint/2010/main" val="3999757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Shopee : </a:t>
            </a:r>
            <a:r>
              <a:rPr lang="ko-KR" altLang="en-US"/>
              <a:t>동남아 모바일 커머스</a:t>
            </a:r>
            <a:endParaRPr lang="ko-KR" altLang="en-US" dirty="0"/>
          </a:p>
        </p:txBody>
      </p:sp>
      <p:sp>
        <p:nvSpPr>
          <p:cNvPr id="8" name="사각형: 둥근 모서리 82">
            <a:extLst>
              <a:ext uri="{FF2B5EF4-FFF2-40B4-BE49-F238E27FC236}">
                <a16:creationId xmlns:a16="http://schemas.microsoft.com/office/drawing/2014/main" id="{B8D292BB-42A5-5D5C-3D7C-A53DEFA0BA72}"/>
              </a:ext>
            </a:extLst>
          </p:cNvPr>
          <p:cNvSpPr/>
          <p:nvPr/>
        </p:nvSpPr>
        <p:spPr>
          <a:xfrm>
            <a:off x="3586118" y="2302667"/>
            <a:ext cx="4849858" cy="1891956"/>
          </a:xfrm>
          <a:prstGeom prst="roundRect">
            <a:avLst>
              <a:gd name="adj" fmla="val 10508"/>
            </a:avLst>
          </a:prstGeom>
          <a:solidFill>
            <a:srgbClr val="FFFFFF">
              <a:lumMod val="95000"/>
            </a:srgbClr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wrap="square" lIns="144000" tIns="144000" rIns="144000" bIns="144000" rtlCol="0" anchor="t">
            <a:noAutofit/>
          </a:bodyPr>
          <a:lstStyle/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동남아 시장에서 강한 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20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E855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모바일 중심 플랫폼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E8556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000" lvl="1" indent="-342900" defTabSz="914400" fontAlgn="base" latinLnBrk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Clr>
                <a:prstClr val="black">
                  <a:lumMod val="50000"/>
                  <a:lumOff val="50000"/>
                </a:prstClr>
              </a:buClr>
              <a:buSzPct val="160000"/>
              <a:buBlip>
                <a:blip r:embed="rId3"/>
              </a:buBlip>
              <a:tabLst>
                <a:tab pos="2960688" algn="l"/>
              </a:tabLst>
              <a:defRPr/>
            </a:pP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가격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쿠폰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무료배송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모바일 결제</a:t>
            </a: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b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라이브커머스가</a:t>
            </a:r>
            <a:r>
              <a:rPr lang="ko-KR" altLang="en-US" sz="20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중요한 역할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연결선 85">
            <a:extLst>
              <a:ext uri="{FF2B5EF4-FFF2-40B4-BE49-F238E27FC236}">
                <a16:creationId xmlns:a16="http://schemas.microsoft.com/office/drawing/2014/main" id="{7C9040A8-F57A-6C0D-7141-4F9741025040}"/>
              </a:ext>
            </a:extLst>
          </p:cNvPr>
          <p:cNvCxnSpPr>
            <a:cxnSpLocks/>
          </p:cNvCxnSpPr>
          <p:nvPr/>
        </p:nvCxnSpPr>
        <p:spPr>
          <a:xfrm>
            <a:off x="2999606" y="2881736"/>
            <a:ext cx="586512" cy="0"/>
          </a:xfrm>
          <a:prstGeom prst="line">
            <a:avLst/>
          </a:prstGeom>
          <a:solidFill>
            <a:srgbClr val="BBCCFA"/>
          </a:solidFill>
          <a:ln w="15875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6F30B7-4ED6-0B8B-1EE5-B039210FA316}"/>
              </a:ext>
            </a:extLst>
          </p:cNvPr>
          <p:cNvSpPr txBox="1"/>
          <p:nvPr/>
        </p:nvSpPr>
        <p:spPr>
          <a:xfrm>
            <a:off x="3586117" y="1555049"/>
            <a:ext cx="4501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2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쇼피</a:t>
            </a:r>
            <a:r>
              <a:rPr lang="en-US" altLang="ko-KR" sz="20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(Shopee)</a:t>
            </a:r>
            <a:endParaRPr lang="ko-KR" altLang="en-US" sz="2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개체 틀 39">
            <a:extLst>
              <a:ext uri="{FF2B5EF4-FFF2-40B4-BE49-F238E27FC236}">
                <a16:creationId xmlns:a16="http://schemas.microsoft.com/office/drawing/2014/main" id="{7F6BF114-238A-A813-CC9C-2E2B5D1184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" r="55593"/>
          <a:stretch/>
        </p:blipFill>
        <p:spPr>
          <a:xfrm>
            <a:off x="649288" y="1441224"/>
            <a:ext cx="2350318" cy="4860806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D895C-FD13-F766-3DF1-7AE52232E73B}"/>
              </a:ext>
            </a:extLst>
          </p:cNvPr>
          <p:cNvSpPr txBox="1"/>
          <p:nvPr/>
        </p:nvSpPr>
        <p:spPr>
          <a:xfrm>
            <a:off x="8062155" y="623542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>
                <a:ln>
                  <a:solidFill>
                    <a:srgbClr val="73B5E5"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#4</a:t>
            </a:r>
            <a:endParaRPr lang="ko-KR" altLang="en-US" sz="1200" dirty="0">
              <a:ln>
                <a:solidFill>
                  <a:srgbClr val="73B5E5"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5216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사례 분석 </a:t>
            </a:r>
            <a:r>
              <a:rPr lang="en-US" altLang="ko-KR"/>
              <a:t>: </a:t>
            </a:r>
            <a:r>
              <a:rPr lang="ko-KR" altLang="en-US"/>
              <a:t>글로벌 </a:t>
            </a:r>
            <a:r>
              <a:rPr lang="en-US" altLang="ko-KR"/>
              <a:t>AI </a:t>
            </a:r>
            <a:r>
              <a:rPr lang="ko-KR" altLang="en-US"/>
              <a:t>커머스의 주요 사례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Shopee : </a:t>
            </a:r>
            <a:r>
              <a:rPr lang="ko-KR" altLang="en-US"/>
              <a:t>동남아 모바일 커머스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B26A03A-7295-1AF9-3B72-B6E8B154E310}"/>
              </a:ext>
            </a:extLst>
          </p:cNvPr>
          <p:cNvSpPr/>
          <p:nvPr/>
        </p:nvSpPr>
        <p:spPr>
          <a:xfrm>
            <a:off x="2859821" y="1424098"/>
            <a:ext cx="3236179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Shopee</a:t>
            </a:r>
            <a:r>
              <a:rPr kumimoji="0" lang="ko-KR" altLang="en-US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에서 중요한 요소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9C6421-02D7-FE25-D87D-F0AC80538C0A}"/>
              </a:ext>
            </a:extLst>
          </p:cNvPr>
          <p:cNvSpPr/>
          <p:nvPr/>
        </p:nvSpPr>
        <p:spPr>
          <a:xfrm>
            <a:off x="0" y="4381500"/>
            <a:ext cx="12192000" cy="2476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맑은 고딕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003860C-F4B9-C663-7018-319B3C7D41C7}"/>
              </a:ext>
            </a:extLst>
          </p:cNvPr>
          <p:cNvGrpSpPr/>
          <p:nvPr/>
        </p:nvGrpSpPr>
        <p:grpSpPr>
          <a:xfrm>
            <a:off x="623888" y="4523956"/>
            <a:ext cx="3768783" cy="417294"/>
            <a:chOff x="5896657" y="2645675"/>
            <a:chExt cx="3768783" cy="41729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CEDD72E-A63A-6870-E796-B7CD2B2F6DFA}"/>
                </a:ext>
              </a:extLst>
            </p:cNvPr>
            <p:cNvSpPr/>
            <p:nvPr/>
          </p:nvSpPr>
          <p:spPr>
            <a:xfrm>
              <a:off x="6245914" y="2645675"/>
              <a:ext cx="3419526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글로벌 커머스는 국가마다 다름</a:t>
              </a:r>
              <a:endPara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710AC4EB-CDC0-AAFA-B1A8-5A9700FF5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6657" y="2657716"/>
              <a:ext cx="339725" cy="392571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667F817-AC17-0891-90F9-A30BE915653C}"/>
              </a:ext>
            </a:extLst>
          </p:cNvPr>
          <p:cNvGrpSpPr/>
          <p:nvPr/>
        </p:nvGrpSpPr>
        <p:grpSpPr>
          <a:xfrm>
            <a:off x="973145" y="4980707"/>
            <a:ext cx="6719587" cy="417294"/>
            <a:chOff x="3533470" y="3195806"/>
            <a:chExt cx="6719587" cy="417294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571F40B-22FC-FFB9-53F5-B5660BD0B84E}"/>
                </a:ext>
              </a:extLst>
            </p:cNvPr>
            <p:cNvSpPr/>
            <p:nvPr/>
          </p:nvSpPr>
          <p:spPr>
            <a:xfrm>
              <a:off x="3957744" y="3195806"/>
              <a:ext cx="6295313" cy="4172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0946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미국 고객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일본 고객</a:t>
              </a:r>
              <a:r>
                <a:rPr kumimoji="0" lang="en-US" altLang="ko-KR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, </a:t>
              </a:r>
              <a:r>
                <a:rPr kumimoji="0" lang="ko-KR" altLang="en-US" sz="2000" b="0" i="0" u="none" strike="noStrike" kern="1200" cap="none" spc="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srgbClr val="2D2D2D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동남아 고객은 같은 상품도 다르게 봄</a:t>
              </a: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0BBF172B-1D7F-B0C3-C9C6-EA8C230F9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33470" y="3303004"/>
              <a:ext cx="368300" cy="211740"/>
            </a:xfrm>
            <a:prstGeom prst="rect">
              <a:avLst/>
            </a:prstGeom>
          </p:spPr>
        </p:pic>
      </p:grpSp>
      <p:pic>
        <p:nvPicPr>
          <p:cNvPr id="24" name="그래픽 23">
            <a:extLst>
              <a:ext uri="{FF2B5EF4-FFF2-40B4-BE49-F238E27FC236}">
                <a16:creationId xmlns:a16="http://schemas.microsoft.com/office/drawing/2014/main" id="{2C3D4261-A96F-E24C-529C-73E38D1366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  <p:sp>
        <p:nvSpPr>
          <p:cNvPr id="8" name="사각형: 둥근 모서리 34">
            <a:extLst>
              <a:ext uri="{FF2B5EF4-FFF2-40B4-BE49-F238E27FC236}">
                <a16:creationId xmlns:a16="http://schemas.microsoft.com/office/drawing/2014/main" id="{93E198C8-AC09-6688-250C-703A3AB7DAD7}"/>
              </a:ext>
            </a:extLst>
          </p:cNvPr>
          <p:cNvSpPr/>
          <p:nvPr/>
        </p:nvSpPr>
        <p:spPr>
          <a:xfrm>
            <a:off x="630937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가격 경쟁력</a:t>
            </a:r>
          </a:p>
        </p:txBody>
      </p:sp>
      <p:sp>
        <p:nvSpPr>
          <p:cNvPr id="9" name="사각형: 둥근 모서리 34">
            <a:extLst>
              <a:ext uri="{FF2B5EF4-FFF2-40B4-BE49-F238E27FC236}">
                <a16:creationId xmlns:a16="http://schemas.microsoft.com/office/drawing/2014/main" id="{0D9EB0CE-2F6A-770C-72B0-EA5E0CE1AA60}"/>
              </a:ext>
            </a:extLst>
          </p:cNvPr>
          <p:cNvSpPr/>
          <p:nvPr/>
        </p:nvSpPr>
        <p:spPr>
          <a:xfrm>
            <a:off x="4652393" y="1998493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배송비</a:t>
            </a:r>
          </a:p>
        </p:txBody>
      </p:sp>
      <p:sp>
        <p:nvSpPr>
          <p:cNvPr id="10" name="사각형: 둥근 모서리 34">
            <a:extLst>
              <a:ext uri="{FF2B5EF4-FFF2-40B4-BE49-F238E27FC236}">
                <a16:creationId xmlns:a16="http://schemas.microsoft.com/office/drawing/2014/main" id="{62D47F91-6676-385D-286E-5A3B74A7EA75}"/>
              </a:ext>
            </a:extLst>
          </p:cNvPr>
          <p:cNvSpPr/>
          <p:nvPr/>
        </p:nvSpPr>
        <p:spPr>
          <a:xfrm>
            <a:off x="630937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쿠폰과 프로모션</a:t>
            </a:r>
          </a:p>
        </p:txBody>
      </p: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BC057228-F0A3-1C44-2233-CB4B28B1AA41}"/>
              </a:ext>
            </a:extLst>
          </p:cNvPr>
          <p:cNvSpPr/>
          <p:nvPr/>
        </p:nvSpPr>
        <p:spPr>
          <a:xfrm>
            <a:off x="4652393" y="274911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모바일 친화성</a:t>
            </a:r>
          </a:p>
        </p:txBody>
      </p:sp>
      <p:sp>
        <p:nvSpPr>
          <p:cNvPr id="13" name="사각형: 둥근 모서리 34">
            <a:extLst>
              <a:ext uri="{FF2B5EF4-FFF2-40B4-BE49-F238E27FC236}">
                <a16:creationId xmlns:a16="http://schemas.microsoft.com/office/drawing/2014/main" id="{7F379C82-B726-37A5-9DCA-1F07809FE832}"/>
              </a:ext>
            </a:extLst>
          </p:cNvPr>
          <p:cNvSpPr/>
          <p:nvPr/>
        </p:nvSpPr>
        <p:spPr>
          <a:xfrm>
            <a:off x="630937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라이브커머스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5" name="사각형: 둥근 모서리 34">
            <a:extLst>
              <a:ext uri="{FF2B5EF4-FFF2-40B4-BE49-F238E27FC236}">
                <a16:creationId xmlns:a16="http://schemas.microsoft.com/office/drawing/2014/main" id="{567DAB39-7F3C-CE08-EA4C-2C7D9B24F86A}"/>
              </a:ext>
            </a:extLst>
          </p:cNvPr>
          <p:cNvSpPr/>
          <p:nvPr/>
        </p:nvSpPr>
        <p:spPr>
          <a:xfrm>
            <a:off x="4652393" y="3498606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EA796"/>
            </a:solidFill>
          </a:ln>
          <a:effectLst>
            <a:outerShdw dist="38100" dir="2700000" algn="tl" rotWithShape="0">
              <a:srgbClr val="EEA79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현지 언어와 문화</a:t>
            </a:r>
          </a:p>
        </p:txBody>
      </p:sp>
    </p:spTree>
    <p:extLst>
      <p:ext uri="{BB962C8B-B14F-4D97-AF65-F5344CB8AC3E}">
        <p14:creationId xmlns:p14="http://schemas.microsoft.com/office/powerpoint/2010/main" val="6402639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7"/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t>05_01_01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60983" y="5069330"/>
            <a:ext cx="2167847" cy="409921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Video Player" descr="&lt;SmartSettings&gt;&lt;SmartResize enabled=&quot;True&quot; minWidth=&quot;70&quot; minHeight=&quot;7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360897" y="500549"/>
            <a:ext cx="7783227" cy="1658938"/>
            <a:chOff x="595686" y="1261241"/>
            <a:chExt cx="2592292" cy="1728195"/>
          </a:xfrm>
        </p:grpSpPr>
        <p:sp>
          <p:nvSpPr>
            <p:cNvPr id="13" name="Media Controls Background" descr="&lt;SmartSettings&gt;&lt;SmartResize anchorLeft=&quot;Absolute&quot; anchorTop=&quot;None&quot; anchorRight=&quot;Absolute&quot; anchorBottom=&quot;Absolute&quot; /&gt;&lt;/SmartSettings&gt;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595686" y="2725717"/>
              <a:ext cx="2592292" cy="26371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Media Area" descr="&lt;SmartSettings&gt;&lt;SmartResize anchorLeft=&quot;Absolute&quot; anchorTop=&quot;Absolute&quot; anchorRight=&quot;Absolute&quot; anchorBottom=&quot;Absolute&quot; /&gt;&lt;/SmartSettings&gt;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595686" y="1261241"/>
              <a:ext cx="2592292" cy="14644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Play Icon" descr="&lt;SmartSettings&gt;&lt;SmartResize anchorLeft=&quot;None&quot; anchorTop=&quot;None&quot; anchorRight=&quot;None&quot; anchorBottom=&quot;None&quot; /&gt;&lt;/SmartSettings&gt;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>
              <a:off x="1834936" y="1767425"/>
              <a:ext cx="113790" cy="445638"/>
            </a:xfrm>
            <a:custGeom>
              <a:avLst/>
              <a:gdLst>
                <a:gd name="connsiteX0" fmla="*/ 0 w 364648"/>
                <a:gd name="connsiteY0" fmla="*/ 456576 h 456576"/>
                <a:gd name="connsiteX1" fmla="*/ 0 w 364648"/>
                <a:gd name="connsiteY1" fmla="*/ 0 h 456576"/>
                <a:gd name="connsiteX2" fmla="*/ 364648 w 364648"/>
                <a:gd name="connsiteY2" fmla="*/ 228253 h 45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4648" h="456576">
                  <a:moveTo>
                    <a:pt x="0" y="456576"/>
                  </a:moveTo>
                  <a:lnTo>
                    <a:pt x="0" y="0"/>
                  </a:lnTo>
                  <a:lnTo>
                    <a:pt x="364648" y="228253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Volume Control" descr="&lt;SmartSettings&gt;&lt;SmartResize anchorLeft=&quot;None&quot; anchorTop=&quot;None&quot; anchorRight=&quot;Absolute&quot; anchorBottom=&quot;Absolute&quot; /&gt;&lt;/SmartSettings&gt;"/>
            <p:cNvSpPr>
              <a:spLocks noChangeAspect="1"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16178" y="2794822"/>
              <a:ext cx="47557" cy="125508"/>
            </a:xfrm>
            <a:custGeom>
              <a:avLst/>
              <a:gdLst>
                <a:gd name="T0" fmla="*/ 318 w 418"/>
                <a:gd name="T1" fmla="*/ 0 h 351"/>
                <a:gd name="T2" fmla="*/ 308 w 418"/>
                <a:gd name="T3" fmla="*/ 22 h 351"/>
                <a:gd name="T4" fmla="*/ 308 w 418"/>
                <a:gd name="T5" fmla="*/ 318 h 351"/>
                <a:gd name="T6" fmla="*/ 327 w 418"/>
                <a:gd name="T7" fmla="*/ 338 h 351"/>
                <a:gd name="T8" fmla="*/ 327 w 418"/>
                <a:gd name="T9" fmla="*/ 3 h 351"/>
                <a:gd name="T10" fmla="*/ 318 w 418"/>
                <a:gd name="T11" fmla="*/ 0 h 351"/>
                <a:gd name="T12" fmla="*/ 223 w 418"/>
                <a:gd name="T13" fmla="*/ 4 h 351"/>
                <a:gd name="T14" fmla="*/ 216 w 418"/>
                <a:gd name="T15" fmla="*/ 5 h 351"/>
                <a:gd name="T16" fmla="*/ 87 w 418"/>
                <a:gd name="T17" fmla="*/ 92 h 351"/>
                <a:gd name="T18" fmla="*/ 8 w 418"/>
                <a:gd name="T19" fmla="*/ 92 h 351"/>
                <a:gd name="T20" fmla="*/ 0 w 418"/>
                <a:gd name="T21" fmla="*/ 100 h 351"/>
                <a:gd name="T22" fmla="*/ 0 w 418"/>
                <a:gd name="T23" fmla="*/ 242 h 351"/>
                <a:gd name="T24" fmla="*/ 8 w 418"/>
                <a:gd name="T25" fmla="*/ 251 h 351"/>
                <a:gd name="T26" fmla="*/ 87 w 418"/>
                <a:gd name="T27" fmla="*/ 251 h 351"/>
                <a:gd name="T28" fmla="*/ 216 w 418"/>
                <a:gd name="T29" fmla="*/ 337 h 351"/>
                <a:gd name="T30" fmla="*/ 229 w 418"/>
                <a:gd name="T31" fmla="*/ 330 h 351"/>
                <a:gd name="T32" fmla="*/ 229 w 418"/>
                <a:gd name="T33" fmla="*/ 12 h 351"/>
                <a:gd name="T34" fmla="*/ 223 w 418"/>
                <a:gd name="T35" fmla="*/ 4 h 351"/>
                <a:gd name="T36" fmla="*/ 212 w 418"/>
                <a:gd name="T37" fmla="*/ 28 h 351"/>
                <a:gd name="T38" fmla="*/ 212 w 418"/>
                <a:gd name="T39" fmla="*/ 315 h 351"/>
                <a:gd name="T40" fmla="*/ 94 w 418"/>
                <a:gd name="T41" fmla="*/ 235 h 351"/>
                <a:gd name="T42" fmla="*/ 89 w 418"/>
                <a:gd name="T43" fmla="*/ 233 h 351"/>
                <a:gd name="T44" fmla="*/ 17 w 418"/>
                <a:gd name="T45" fmla="*/ 233 h 351"/>
                <a:gd name="T46" fmla="*/ 17 w 418"/>
                <a:gd name="T47" fmla="*/ 108 h 351"/>
                <a:gd name="T48" fmla="*/ 89 w 418"/>
                <a:gd name="T49" fmla="*/ 108 h 351"/>
                <a:gd name="T50" fmla="*/ 94 w 418"/>
                <a:gd name="T51" fmla="*/ 107 h 351"/>
                <a:gd name="T52" fmla="*/ 212 w 418"/>
                <a:gd name="T53" fmla="*/ 28 h 351"/>
                <a:gd name="T54" fmla="*/ 274 w 418"/>
                <a:gd name="T55" fmla="*/ 52 h 351"/>
                <a:gd name="T56" fmla="*/ 264 w 418"/>
                <a:gd name="T57" fmla="*/ 75 h 351"/>
                <a:gd name="T58" fmla="*/ 264 w 418"/>
                <a:gd name="T59" fmla="*/ 265 h 351"/>
                <a:gd name="T60" fmla="*/ 284 w 418"/>
                <a:gd name="T61" fmla="*/ 285 h 351"/>
                <a:gd name="T62" fmla="*/ 284 w 418"/>
                <a:gd name="T63" fmla="*/ 56 h 351"/>
                <a:gd name="T64" fmla="*/ 274 w 418"/>
                <a:gd name="T65" fmla="*/ 5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8" h="351">
                  <a:moveTo>
                    <a:pt x="318" y="0"/>
                  </a:moveTo>
                  <a:cubicBezTo>
                    <a:pt x="308" y="1"/>
                    <a:pt x="299" y="14"/>
                    <a:pt x="308" y="22"/>
                  </a:cubicBezTo>
                  <a:cubicBezTo>
                    <a:pt x="389" y="106"/>
                    <a:pt x="389" y="236"/>
                    <a:pt x="308" y="318"/>
                  </a:cubicBezTo>
                  <a:cubicBezTo>
                    <a:pt x="295" y="331"/>
                    <a:pt x="315" y="351"/>
                    <a:pt x="327" y="338"/>
                  </a:cubicBezTo>
                  <a:cubicBezTo>
                    <a:pt x="418" y="245"/>
                    <a:pt x="418" y="97"/>
                    <a:pt x="327" y="3"/>
                  </a:cubicBezTo>
                  <a:cubicBezTo>
                    <a:pt x="324" y="0"/>
                    <a:pt x="321" y="0"/>
                    <a:pt x="318" y="0"/>
                  </a:cubicBezTo>
                  <a:close/>
                  <a:moveTo>
                    <a:pt x="223" y="4"/>
                  </a:moveTo>
                  <a:cubicBezTo>
                    <a:pt x="219" y="4"/>
                    <a:pt x="216" y="5"/>
                    <a:pt x="216" y="5"/>
                  </a:cubicBezTo>
                  <a:lnTo>
                    <a:pt x="87" y="92"/>
                  </a:lnTo>
                  <a:lnTo>
                    <a:pt x="8" y="92"/>
                  </a:lnTo>
                  <a:cubicBezTo>
                    <a:pt x="3" y="92"/>
                    <a:pt x="0" y="98"/>
                    <a:pt x="0" y="100"/>
                  </a:cubicBezTo>
                  <a:lnTo>
                    <a:pt x="0" y="242"/>
                  </a:lnTo>
                  <a:cubicBezTo>
                    <a:pt x="0" y="248"/>
                    <a:pt x="6" y="251"/>
                    <a:pt x="8" y="251"/>
                  </a:cubicBezTo>
                  <a:lnTo>
                    <a:pt x="87" y="251"/>
                  </a:lnTo>
                  <a:lnTo>
                    <a:pt x="216" y="337"/>
                  </a:lnTo>
                  <a:cubicBezTo>
                    <a:pt x="225" y="343"/>
                    <a:pt x="229" y="333"/>
                    <a:pt x="229" y="330"/>
                  </a:cubicBezTo>
                  <a:lnTo>
                    <a:pt x="229" y="12"/>
                  </a:lnTo>
                  <a:cubicBezTo>
                    <a:pt x="229" y="7"/>
                    <a:pt x="226" y="5"/>
                    <a:pt x="223" y="4"/>
                  </a:cubicBezTo>
                  <a:close/>
                  <a:moveTo>
                    <a:pt x="212" y="28"/>
                  </a:moveTo>
                  <a:lnTo>
                    <a:pt x="212" y="315"/>
                  </a:lnTo>
                  <a:lnTo>
                    <a:pt x="94" y="235"/>
                  </a:lnTo>
                  <a:cubicBezTo>
                    <a:pt x="92" y="234"/>
                    <a:pt x="90" y="233"/>
                    <a:pt x="89" y="233"/>
                  </a:cubicBezTo>
                  <a:lnTo>
                    <a:pt x="17" y="233"/>
                  </a:lnTo>
                  <a:lnTo>
                    <a:pt x="17" y="108"/>
                  </a:lnTo>
                  <a:lnTo>
                    <a:pt x="89" y="108"/>
                  </a:lnTo>
                  <a:cubicBezTo>
                    <a:pt x="90" y="108"/>
                    <a:pt x="92" y="108"/>
                    <a:pt x="94" y="107"/>
                  </a:cubicBezTo>
                  <a:lnTo>
                    <a:pt x="212" y="28"/>
                  </a:lnTo>
                  <a:close/>
                  <a:moveTo>
                    <a:pt x="274" y="52"/>
                  </a:moveTo>
                  <a:cubicBezTo>
                    <a:pt x="264" y="53"/>
                    <a:pt x="255" y="66"/>
                    <a:pt x="264" y="75"/>
                  </a:cubicBezTo>
                  <a:cubicBezTo>
                    <a:pt x="316" y="129"/>
                    <a:pt x="316" y="212"/>
                    <a:pt x="264" y="265"/>
                  </a:cubicBezTo>
                  <a:cubicBezTo>
                    <a:pt x="252" y="278"/>
                    <a:pt x="271" y="298"/>
                    <a:pt x="284" y="285"/>
                  </a:cubicBezTo>
                  <a:cubicBezTo>
                    <a:pt x="346" y="221"/>
                    <a:pt x="346" y="121"/>
                    <a:pt x="284" y="56"/>
                  </a:cubicBezTo>
                  <a:cubicBezTo>
                    <a:pt x="281" y="53"/>
                    <a:pt x="277" y="52"/>
                    <a:pt x="274" y="52"/>
                  </a:cubicBez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Play Button" descr="&lt;SmartSettings&gt;&lt;SmartResize anchorLeft=&quot;Absolute&quot; anchorTop=&quot;None&quot; anchorRight=&quot;None&quot; anchorBottom=&quot;Absolute&quot; /&gt;&lt;/SmartSettings&gt;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34326" y="2786300"/>
              <a:ext cx="39136" cy="142552"/>
            </a:xfrm>
            <a:custGeom>
              <a:avLst/>
              <a:gdLst>
                <a:gd name="T0" fmla="*/ 9 w 344"/>
                <a:gd name="T1" fmla="*/ 0 h 397"/>
                <a:gd name="T2" fmla="*/ 0 w 344"/>
                <a:gd name="T3" fmla="*/ 9 h 397"/>
                <a:gd name="T4" fmla="*/ 0 w 344"/>
                <a:gd name="T5" fmla="*/ 387 h 397"/>
                <a:gd name="T6" fmla="*/ 13 w 344"/>
                <a:gd name="T7" fmla="*/ 394 h 397"/>
                <a:gd name="T8" fmla="*/ 339 w 344"/>
                <a:gd name="T9" fmla="*/ 205 h 397"/>
                <a:gd name="T10" fmla="*/ 339 w 344"/>
                <a:gd name="T11" fmla="*/ 191 h 397"/>
                <a:gd name="T12" fmla="*/ 13 w 344"/>
                <a:gd name="T13" fmla="*/ 2 h 397"/>
                <a:gd name="T14" fmla="*/ 9 w 344"/>
                <a:gd name="T15" fmla="*/ 0 h 397"/>
                <a:gd name="T16" fmla="*/ 17 w 344"/>
                <a:gd name="T17" fmla="*/ 24 h 397"/>
                <a:gd name="T18" fmla="*/ 318 w 344"/>
                <a:gd name="T19" fmla="*/ 198 h 397"/>
                <a:gd name="T20" fmla="*/ 17 w 344"/>
                <a:gd name="T21" fmla="*/ 372 h 397"/>
                <a:gd name="T22" fmla="*/ 17 w 344"/>
                <a:gd name="T23" fmla="*/ 2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4" h="397">
                  <a:moveTo>
                    <a:pt x="9" y="0"/>
                  </a:moveTo>
                  <a:cubicBezTo>
                    <a:pt x="5" y="0"/>
                    <a:pt x="0" y="4"/>
                    <a:pt x="0" y="9"/>
                  </a:cubicBezTo>
                  <a:lnTo>
                    <a:pt x="0" y="387"/>
                  </a:lnTo>
                  <a:cubicBezTo>
                    <a:pt x="0" y="393"/>
                    <a:pt x="8" y="397"/>
                    <a:pt x="13" y="394"/>
                  </a:cubicBezTo>
                  <a:lnTo>
                    <a:pt x="339" y="205"/>
                  </a:lnTo>
                  <a:cubicBezTo>
                    <a:pt x="344" y="202"/>
                    <a:pt x="344" y="194"/>
                    <a:pt x="339" y="191"/>
                  </a:cubicBezTo>
                  <a:lnTo>
                    <a:pt x="13" y="2"/>
                  </a:lnTo>
                  <a:cubicBezTo>
                    <a:pt x="12" y="1"/>
                    <a:pt x="11" y="0"/>
                    <a:pt x="9" y="0"/>
                  </a:cubicBezTo>
                  <a:close/>
                  <a:moveTo>
                    <a:pt x="17" y="24"/>
                  </a:moveTo>
                  <a:lnTo>
                    <a:pt x="318" y="198"/>
                  </a:lnTo>
                  <a:lnTo>
                    <a:pt x="17" y="372"/>
                  </a:lnTo>
                  <a:lnTo>
                    <a:pt x="17" y="24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rack" descr="&lt;SmartSettings&gt;&lt;SmartResize anchorLeft=&quot;Absolute&quot; anchorTop=&quot;Non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693048" y="2830033"/>
              <a:ext cx="2395670" cy="48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lider Thumb" descr="&lt;SmartSettings&gt;&lt;SmartResize anchorLeft=&quot;Relative&quot; anchorTop=&quot;None&quot; anchorRight=&quot;None&quot; anchorBottom=&quot;Absolut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1532469" y="2794048"/>
              <a:ext cx="40622" cy="12705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5673" tIns="42836" rIns="85673" bIns="4283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43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86F4FE-60F2-A673-35B4-308D874C3AD1}"/>
              </a:ext>
            </a:extLst>
          </p:cNvPr>
          <p:cNvSpPr/>
          <p:nvPr/>
        </p:nvSpPr>
        <p:spPr>
          <a:xfrm>
            <a:off x="2356221" y="505768"/>
            <a:ext cx="1681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ko-KR" sz="1200" dirty="0">
                <a:solidFill>
                  <a:srgbClr val="0000FF"/>
                </a:solidFill>
                <a:latin typeface="맑은 고딕" panose="020B0503020000020004" pitchFamily="50" charset="-127"/>
              </a:rPr>
              <a:t>15581821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_01_06.mp4</a:t>
            </a:r>
          </a:p>
        </p:txBody>
      </p:sp>
    </p:spTree>
    <p:extLst>
      <p:ext uri="{BB962C8B-B14F-4D97-AF65-F5344CB8AC3E}">
        <p14:creationId xmlns:p14="http://schemas.microsoft.com/office/powerpoint/2010/main" val="2551927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E9119D6-ED70-FD54-AE51-86650663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EF5EF-576D-A35E-88EE-42771CDBC2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688" y="2645857"/>
            <a:ext cx="7732712" cy="1218634"/>
          </a:xfrm>
        </p:spPr>
        <p:txBody>
          <a:bodyPr anchor="t" anchorCtr="0"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556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pic>
        <p:nvPicPr>
          <p:cNvPr id="4" name="그림 개체 틀 6">
            <a:extLst>
              <a:ext uri="{FF2B5EF4-FFF2-40B4-BE49-F238E27FC236}">
                <a16:creationId xmlns:a16="http://schemas.microsoft.com/office/drawing/2014/main" id="{62E590BC-CB3F-DD3A-A9E4-239A4F7F9B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43" b="22243"/>
          <a:stretch/>
        </p:blipFill>
        <p:spPr>
          <a:xfrm>
            <a:off x="1374619" y="1557338"/>
            <a:ext cx="6024527" cy="2229620"/>
          </a:xfrm>
          <a:prstGeom prst="roundRect">
            <a:avLst>
              <a:gd name="adj" fmla="val 12746"/>
            </a:avLst>
          </a:prstGeom>
          <a:ln w="19050">
            <a:solidFill>
              <a:srgbClr val="404040"/>
            </a:solidFill>
          </a:ln>
        </p:spPr>
      </p:pic>
      <p:sp>
        <p:nvSpPr>
          <p:cNvPr id="5" name="모서리가 둥근 직사각형 9">
            <a:extLst>
              <a:ext uri="{FF2B5EF4-FFF2-40B4-BE49-F238E27FC236}">
                <a16:creationId xmlns:a16="http://schemas.microsoft.com/office/drawing/2014/main" id="{2436EC6C-576D-6237-080E-6A7BA48BCFD2}"/>
              </a:ext>
            </a:extLst>
          </p:cNvPr>
          <p:cNvSpPr/>
          <p:nvPr/>
        </p:nvSpPr>
        <p:spPr>
          <a:xfrm>
            <a:off x="1374619" y="3920266"/>
            <a:ext cx="6024527" cy="561600"/>
          </a:xfrm>
          <a:prstGeom prst="roundRect">
            <a:avLst>
              <a:gd name="adj" fmla="val 23077"/>
            </a:avLst>
          </a:prstGeom>
          <a:solidFill>
            <a:srgbClr val="EFB88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ko-KR" altLang="en-US" sz="2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나의 글로벌 </a:t>
            </a:r>
            <a:r>
              <a:rPr lang="en-US" altLang="ko-KR" sz="2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28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커머스 아이템 찾기</a:t>
            </a:r>
            <a:endParaRPr lang="ko-KR" altLang="en-US" sz="18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0404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6170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1CA415AD-E7F3-2263-AC5C-13CAABC9D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5" b="24375"/>
          <a:stretch/>
        </p:blipFill>
        <p:spPr bwMode="auto">
          <a:xfrm>
            <a:off x="0" y="2692401"/>
            <a:ext cx="12192000" cy="416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E7FF807-492B-BFA2-E5BF-1CEFC1838A82}"/>
              </a:ext>
            </a:extLst>
          </p:cNvPr>
          <p:cNvSpPr/>
          <p:nvPr/>
        </p:nvSpPr>
        <p:spPr>
          <a:xfrm>
            <a:off x="0" y="2692401"/>
            <a:ext cx="12192000" cy="4165599"/>
          </a:xfrm>
          <a:prstGeom prst="rect">
            <a:avLst/>
          </a:prstGeom>
          <a:gradFill flip="none" rotWithShape="1">
            <a:gsLst>
              <a:gs pos="9000">
                <a:schemeClr val="bg1"/>
              </a:gs>
              <a:gs pos="68000">
                <a:schemeClr val="bg1">
                  <a:alpha val="60000"/>
                </a:schemeClr>
              </a:gs>
              <a:gs pos="100000">
                <a:schemeClr val="bg1">
                  <a:shade val="100000"/>
                  <a:satMod val="115000"/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나의 글로벌 </a:t>
            </a:r>
            <a:r>
              <a:rPr lang="en-US" altLang="ko-KR" dirty="0"/>
              <a:t>AI </a:t>
            </a:r>
            <a:r>
              <a:rPr lang="ko-KR" altLang="en-US" dirty="0"/>
              <a:t>커머스 아이템 찾기</a:t>
            </a:r>
          </a:p>
        </p:txBody>
      </p:sp>
      <p:sp>
        <p:nvSpPr>
          <p:cNvPr id="6" name="사각형: 둥근 모서리 34">
            <a:extLst>
              <a:ext uri="{FF2B5EF4-FFF2-40B4-BE49-F238E27FC236}">
                <a16:creationId xmlns:a16="http://schemas.microsoft.com/office/drawing/2014/main" id="{3D4C6172-682A-1D54-DCEF-4AA999E8FDA4}"/>
              </a:ext>
            </a:extLst>
          </p:cNvPr>
          <p:cNvSpPr/>
          <p:nvPr/>
        </p:nvSpPr>
        <p:spPr>
          <a:xfrm>
            <a:off x="623888" y="1425575"/>
            <a:ext cx="7812087" cy="560613"/>
          </a:xfrm>
          <a:prstGeom prst="roundRect">
            <a:avLst/>
          </a:prstGeom>
          <a:solidFill>
            <a:srgbClr val="EEA796"/>
          </a:solidFill>
          <a:ln w="12700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앞으로 </a:t>
            </a:r>
            <a:r>
              <a:rPr lang="en-US" altLang="ko-KR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15</a:t>
            </a: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 동안 분석할 상품 또는 서비스를 하나 선정함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10DC45-B51F-B276-BF99-0623B0E18C55}"/>
              </a:ext>
            </a:extLst>
          </p:cNvPr>
          <p:cNvSpPr/>
          <p:nvPr/>
        </p:nvSpPr>
        <p:spPr>
          <a:xfrm>
            <a:off x="2859821" y="2219118"/>
            <a:ext cx="3236179" cy="395427"/>
          </a:xfrm>
          <a:prstGeom prst="roundRect">
            <a:avLst/>
          </a:prstGeom>
          <a:solidFill>
            <a:srgbClr val="4C4434"/>
          </a:solidFill>
          <a:ln w="12700">
            <a:solidFill>
              <a:srgbClr val="404040"/>
            </a:solidFill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4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310063" algn="l"/>
              </a:tabLst>
              <a:defRPr/>
            </a:pPr>
            <a:r>
              <a:rPr kumimoji="0" lang="ko-KR" altLang="en-US" sz="2200" b="0" i="0" u="none" strike="noStrike" kern="1200" cap="none" spc="-10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다음 중 하나를 선택</a:t>
            </a:r>
            <a:endParaRPr kumimoji="0" lang="en-US" altLang="ko-KR" sz="2200" b="0" i="0" u="none" strike="noStrike" kern="1200" cap="none" spc="-10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4" name="사각형: 둥근 모서리 34">
            <a:extLst>
              <a:ext uri="{FF2B5EF4-FFF2-40B4-BE49-F238E27FC236}">
                <a16:creationId xmlns:a16="http://schemas.microsoft.com/office/drawing/2014/main" id="{8E1C6B9A-06E7-2B2A-EF08-3A614039A811}"/>
              </a:ext>
            </a:extLst>
          </p:cNvPr>
          <p:cNvSpPr/>
          <p:nvPr/>
        </p:nvSpPr>
        <p:spPr>
          <a:xfrm>
            <a:off x="630937" y="2858537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실제 판매하고 싶은 상품</a:t>
            </a:r>
          </a:p>
        </p:txBody>
      </p:sp>
      <p:sp>
        <p:nvSpPr>
          <p:cNvPr id="5" name="사각형: 둥근 모서리 34">
            <a:extLst>
              <a:ext uri="{FF2B5EF4-FFF2-40B4-BE49-F238E27FC236}">
                <a16:creationId xmlns:a16="http://schemas.microsoft.com/office/drawing/2014/main" id="{889C4260-AD68-B539-6D1D-501E5167CA8A}"/>
              </a:ext>
            </a:extLst>
          </p:cNvPr>
          <p:cNvSpPr/>
          <p:nvPr/>
        </p:nvSpPr>
        <p:spPr>
          <a:xfrm>
            <a:off x="4652393" y="2858537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현재 관심 있는 상품</a:t>
            </a:r>
          </a:p>
        </p:txBody>
      </p:sp>
      <p:sp>
        <p:nvSpPr>
          <p:cNvPr id="10" name="사각형: 둥근 모서리 34">
            <a:extLst>
              <a:ext uri="{FF2B5EF4-FFF2-40B4-BE49-F238E27FC236}">
                <a16:creationId xmlns:a16="http://schemas.microsoft.com/office/drawing/2014/main" id="{A16CE1F7-DB57-97A5-1D1E-F0FE3507BA07}"/>
              </a:ext>
            </a:extLst>
          </p:cNvPr>
          <p:cNvSpPr/>
          <p:nvPr/>
        </p:nvSpPr>
        <p:spPr>
          <a:xfrm>
            <a:off x="630937" y="3609160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내가 잘 아는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상품군</a:t>
            </a: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1" name="사각형: 둥근 모서리 34">
            <a:extLst>
              <a:ext uri="{FF2B5EF4-FFF2-40B4-BE49-F238E27FC236}">
                <a16:creationId xmlns:a16="http://schemas.microsoft.com/office/drawing/2014/main" id="{59D91B14-BCB2-AF91-F779-D271E5AF7E8B}"/>
              </a:ext>
            </a:extLst>
          </p:cNvPr>
          <p:cNvSpPr/>
          <p:nvPr/>
        </p:nvSpPr>
        <p:spPr>
          <a:xfrm>
            <a:off x="4652393" y="3609160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한국적 특성이 있는 상품</a:t>
            </a:r>
          </a:p>
        </p:txBody>
      </p:sp>
      <p:sp>
        <p:nvSpPr>
          <p:cNvPr id="17" name="사각형: 둥근 모서리 34">
            <a:extLst>
              <a:ext uri="{FF2B5EF4-FFF2-40B4-BE49-F238E27FC236}">
                <a16:creationId xmlns:a16="http://schemas.microsoft.com/office/drawing/2014/main" id="{2C981D76-C498-BD2D-2E5F-81A6C5B7E60E}"/>
              </a:ext>
            </a:extLst>
          </p:cNvPr>
          <p:cNvSpPr/>
          <p:nvPr/>
        </p:nvSpPr>
        <p:spPr>
          <a:xfrm>
            <a:off x="630937" y="4358650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온라인으로 판매 가능한 서비스</a:t>
            </a:r>
          </a:p>
        </p:txBody>
      </p:sp>
      <p:sp>
        <p:nvSpPr>
          <p:cNvPr id="21" name="사각형: 둥근 모서리 34">
            <a:extLst>
              <a:ext uri="{FF2B5EF4-FFF2-40B4-BE49-F238E27FC236}">
                <a16:creationId xmlns:a16="http://schemas.microsoft.com/office/drawing/2014/main" id="{39612A18-1B9A-294C-A304-44B0A60A6C29}"/>
              </a:ext>
            </a:extLst>
          </p:cNvPr>
          <p:cNvSpPr/>
          <p:nvPr/>
        </p:nvSpPr>
        <p:spPr>
          <a:xfrm>
            <a:off x="4652393" y="4358650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디지털 콘텐츠 또는 템플릿</a:t>
            </a:r>
          </a:p>
        </p:txBody>
      </p:sp>
      <p:sp>
        <p:nvSpPr>
          <p:cNvPr id="22" name="사각형: 둥근 모서리 34">
            <a:extLst>
              <a:ext uri="{FF2B5EF4-FFF2-40B4-BE49-F238E27FC236}">
                <a16:creationId xmlns:a16="http://schemas.microsoft.com/office/drawing/2014/main" id="{5B486757-1444-717A-6251-98FB6074F35A}"/>
              </a:ext>
            </a:extLst>
          </p:cNvPr>
          <p:cNvSpPr/>
          <p:nvPr/>
        </p:nvSpPr>
        <p:spPr>
          <a:xfrm>
            <a:off x="630937" y="5108140"/>
            <a:ext cx="3754119" cy="56061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9C266"/>
            </a:solidFill>
          </a:ln>
          <a:effectLst>
            <a:outerShdw dist="38100" dir="2700000" algn="tl" rotWithShape="0">
              <a:srgbClr val="B9C266"/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algn="ctr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창업 아이디어 수준의 상품</a:t>
            </a:r>
          </a:p>
        </p:txBody>
      </p:sp>
    </p:spTree>
    <p:extLst>
      <p:ext uri="{BB962C8B-B14F-4D97-AF65-F5344CB8AC3E}">
        <p14:creationId xmlns:p14="http://schemas.microsoft.com/office/powerpoint/2010/main" val="33932664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예시 상품</a:t>
            </a:r>
            <a:endParaRPr lang="ko-KR" altLang="en-US" dirty="0"/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165FCD85-9A9F-97DF-F345-CB0AF4E3F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6448"/>
              </p:ext>
            </p:extLst>
          </p:nvPr>
        </p:nvGraphicFramePr>
        <p:xfrm>
          <a:off x="634999" y="1425575"/>
          <a:ext cx="7804150" cy="3439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1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5632449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분야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7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예시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7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K-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뷰티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마스크팩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선크림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저자극 스킨케어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식품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김부각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전통차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건강 간식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55082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생활용품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텀블러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주방용품</a:t>
                      </a: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수납용품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8726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반려동물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강아지 의류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펫케어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용품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5138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캠핑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캠핑 소품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차량용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정리용품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600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패션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기능성 의류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액세서리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7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764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676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 워크시트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5667E39-2E8A-B2E7-4D2C-5728B4BA8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554101"/>
              </p:ext>
            </p:extLst>
          </p:nvPr>
        </p:nvGraphicFramePr>
        <p:xfrm>
          <a:off x="634999" y="1425575"/>
          <a:ext cx="7804150" cy="483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705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3949445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3688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항목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kern="120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작성 내용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내가 선택한 상품 또는 서비스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 상품을 선택한 이유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20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8034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해외에서 관심을 가질 만한 고객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2354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판매해보고 싶은 국가 또는 지역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4203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5.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이 상품의 장점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9876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6.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해외 판매 시 걱정되는 점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7050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7. AI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를 활용해보고 싶은 부분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BD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시장조사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번역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상품페이지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 </a:t>
                      </a:r>
                      <a:b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</a:b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/ CS /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리뷰분석 등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8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330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088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 예시</a:t>
            </a:r>
            <a:endParaRPr lang="ko-KR" altLang="en-US" dirty="0"/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AC9F1E02-695F-4501-CD30-D276D7820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39828"/>
              </p:ext>
            </p:extLst>
          </p:nvPr>
        </p:nvGraphicFramePr>
        <p:xfrm>
          <a:off x="634999" y="1425575"/>
          <a:ext cx="7800976" cy="4662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1">
                  <a:extLst>
                    <a:ext uri="{9D8B030D-6E8A-4147-A177-3AD203B41FA5}">
                      <a16:colId xmlns:a16="http://schemas.microsoft.com/office/drawing/2014/main" val="2361944424"/>
                    </a:ext>
                  </a:extLst>
                </a:gridCol>
                <a:gridCol w="6086475">
                  <a:extLst>
                    <a:ext uri="{9D8B030D-6E8A-4147-A177-3AD203B41FA5}">
                      <a16:colId xmlns:a16="http://schemas.microsoft.com/office/drawing/2014/main" val="1781955990"/>
                    </a:ext>
                  </a:extLst>
                </a:gridCol>
              </a:tblGrid>
              <a:tr h="41075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구분</a:t>
                      </a:r>
                    </a:p>
                  </a:txBody>
                  <a:tcPr marL="90000" marT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ko-KR" altLang="en-US" sz="2000" b="0" kern="1200" dirty="0">
                          <a:ln>
                            <a:solidFill>
                              <a:srgbClr val="E3574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itchFamily="34" charset="0"/>
                        </a:rPr>
                        <a:t>키워드</a:t>
                      </a:r>
                    </a:p>
                  </a:txBody>
                  <a:tcPr marL="90000" marT="468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1724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한국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저자극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마스크팩</a:t>
                      </a:r>
                      <a:endParaRPr lang="ko-KR" altLang="en-US" sz="2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2D2D2D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3056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선택 이유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K-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뷰티에 대한 해외 관심이 높고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비교적 소형 상품이라 배송이 가능함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4012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예상 고객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민감성 피부를 가진 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20~40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대 여성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3651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타깃 국가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미국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847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장점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한국 화장품 이미지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사용 편의성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선물 가능성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957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걱정되는 점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인증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성분표기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리뷰 부족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경쟁 심화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5115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2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활용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8B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3801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시장조사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상품명 작성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영문 상세페이지</a:t>
                      </a:r>
                      <a:r>
                        <a:rPr lang="en-US" altLang="ko-KR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2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2D2D2D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광고문구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B8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559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066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94F93-6FDF-9352-6AEC-94523B04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03" b="24403"/>
          <a:stretch/>
        </p:blipFill>
        <p:spPr bwMode="auto">
          <a:xfrm>
            <a:off x="0" y="2692401"/>
            <a:ext cx="12192000" cy="4165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2FA07A7-26D1-B6CB-1B3E-21CDDADD1EBD}"/>
              </a:ext>
            </a:extLst>
          </p:cNvPr>
          <p:cNvSpPr/>
          <p:nvPr/>
        </p:nvSpPr>
        <p:spPr>
          <a:xfrm>
            <a:off x="0" y="2692401"/>
            <a:ext cx="12192000" cy="4165599"/>
          </a:xfrm>
          <a:prstGeom prst="rect">
            <a:avLst/>
          </a:prstGeom>
          <a:gradFill flip="none" rotWithShape="1">
            <a:gsLst>
              <a:gs pos="9000">
                <a:schemeClr val="bg1"/>
              </a:gs>
              <a:gs pos="68000">
                <a:schemeClr val="bg1">
                  <a:alpha val="60000"/>
                </a:schemeClr>
              </a:gs>
              <a:gs pos="100000">
                <a:schemeClr val="bg1">
                  <a:shade val="100000"/>
                  <a:satMod val="115000"/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7E4792-4FB5-6B6A-8439-CEBD8BC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05_01_01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2BF7280-86BE-AB10-48C5-67D6C0FB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해외에 팔고 싶은 상품 또는 서비스 선정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A26D1-E747-EFAF-F16D-87590081A7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결언</a:t>
            </a:r>
            <a:endParaRPr lang="ko-KR" altLang="en-US" dirty="0"/>
          </a:p>
        </p:txBody>
      </p:sp>
      <p:sp>
        <p:nvSpPr>
          <p:cNvPr id="22" name="사각형: 둥근 모서리 35">
            <a:extLst>
              <a:ext uri="{FF2B5EF4-FFF2-40B4-BE49-F238E27FC236}">
                <a16:creationId xmlns:a16="http://schemas.microsoft.com/office/drawing/2014/main" id="{B37EFBB9-4C6C-FD96-DA59-60861760CFC5}"/>
              </a:ext>
            </a:extLst>
          </p:cNvPr>
          <p:cNvSpPr/>
          <p:nvPr/>
        </p:nvSpPr>
        <p:spPr>
          <a:xfrm>
            <a:off x="628051" y="1426123"/>
            <a:ext cx="7799067" cy="1006368"/>
          </a:xfrm>
          <a:prstGeom prst="roundRect">
            <a:avLst/>
          </a:prstGeom>
          <a:solidFill>
            <a:srgbClr val="EEEDEA"/>
          </a:solidFill>
          <a:ln w="12700">
            <a:solidFill>
              <a:srgbClr val="4C443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87312" marR="0" lvl="0" indent="0" algn="l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3F3F3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3" name="사각형: 둥근 모서리 34">
            <a:extLst>
              <a:ext uri="{FF2B5EF4-FFF2-40B4-BE49-F238E27FC236}">
                <a16:creationId xmlns:a16="http://schemas.microsoft.com/office/drawing/2014/main" id="{C3F972C3-588D-2143-B35B-5A5F1341C595}"/>
              </a:ext>
            </a:extLst>
          </p:cNvPr>
          <p:cNvSpPr/>
          <p:nvPr/>
        </p:nvSpPr>
        <p:spPr>
          <a:xfrm>
            <a:off x="628051" y="1426123"/>
            <a:ext cx="1562100" cy="1006368"/>
          </a:xfrm>
          <a:prstGeom prst="roundRect">
            <a:avLst/>
          </a:prstGeom>
          <a:solidFill>
            <a:srgbClr val="EFB881"/>
          </a:solidFill>
          <a:ln w="12700">
            <a:solidFill>
              <a:srgbClr val="4C4434"/>
            </a:solidFill>
          </a:ln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0000"/>
              </a:lnSpc>
              <a:spcBef>
                <a:spcPts val="700"/>
              </a:spcBef>
              <a:buClr>
                <a:prstClr val="white">
                  <a:lumMod val="65000"/>
                </a:prstClr>
              </a:buClr>
              <a:buSzPct val="110000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핵심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39B93C-9CE2-76A8-52DA-080F2D842CFE}"/>
              </a:ext>
            </a:extLst>
          </p:cNvPr>
          <p:cNvSpPr txBox="1"/>
          <p:nvPr/>
        </p:nvSpPr>
        <p:spPr>
          <a:xfrm>
            <a:off x="2202853" y="1497782"/>
            <a:ext cx="5989318" cy="84561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en-US" altLang="ko-KR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고객 이해 및 판매 구조 설계</a:t>
            </a:r>
          </a:p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신뢰 기반의 글로벌 커머스 구축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사각형: 둥근 모서리 35">
            <a:extLst>
              <a:ext uri="{FF2B5EF4-FFF2-40B4-BE49-F238E27FC236}">
                <a16:creationId xmlns:a16="http://schemas.microsoft.com/office/drawing/2014/main" id="{03516015-6034-5182-C757-2283F733F78C}"/>
              </a:ext>
            </a:extLst>
          </p:cNvPr>
          <p:cNvSpPr/>
          <p:nvPr/>
        </p:nvSpPr>
        <p:spPr>
          <a:xfrm>
            <a:off x="628051" y="2628453"/>
            <a:ext cx="7799067" cy="1006368"/>
          </a:xfrm>
          <a:prstGeom prst="roundRect">
            <a:avLst/>
          </a:prstGeom>
          <a:solidFill>
            <a:srgbClr val="EEEDEA"/>
          </a:solidFill>
          <a:ln w="12700">
            <a:solidFill>
              <a:srgbClr val="4C443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87312" marR="0" lvl="0" indent="0" algn="l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3F3F3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2" name="사각형: 둥근 모서리 34">
            <a:extLst>
              <a:ext uri="{FF2B5EF4-FFF2-40B4-BE49-F238E27FC236}">
                <a16:creationId xmlns:a16="http://schemas.microsoft.com/office/drawing/2014/main" id="{3B586899-C09E-9915-FEF0-6AA119E89683}"/>
              </a:ext>
            </a:extLst>
          </p:cNvPr>
          <p:cNvSpPr/>
          <p:nvPr/>
        </p:nvSpPr>
        <p:spPr>
          <a:xfrm>
            <a:off x="628051" y="2628453"/>
            <a:ext cx="1562100" cy="1006368"/>
          </a:xfrm>
          <a:prstGeom prst="roundRect">
            <a:avLst/>
          </a:prstGeom>
          <a:solidFill>
            <a:srgbClr val="EEA796"/>
          </a:solidFill>
          <a:ln w="12700">
            <a:solidFill>
              <a:srgbClr val="4C44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>
              <a:lnSpc>
                <a:spcPct val="110000"/>
              </a:lnSpc>
              <a:defRPr/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이번 주 학습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9574C-4A4B-17B1-4CDC-C9896580E3D9}"/>
              </a:ext>
            </a:extLst>
          </p:cNvPr>
          <p:cNvSpPr txBox="1"/>
          <p:nvPr/>
        </p:nvSpPr>
        <p:spPr>
          <a:xfrm>
            <a:off x="2202853" y="2700112"/>
            <a:ext cx="5989318" cy="84561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해외에 판매할 상품 선정</a:t>
            </a:r>
          </a:p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 아이디어 구체화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사각형: 둥근 모서리 35">
            <a:extLst>
              <a:ext uri="{FF2B5EF4-FFF2-40B4-BE49-F238E27FC236}">
                <a16:creationId xmlns:a16="http://schemas.microsoft.com/office/drawing/2014/main" id="{F9F5F7BC-B9BA-570B-D928-F2C8ECCDD466}"/>
              </a:ext>
            </a:extLst>
          </p:cNvPr>
          <p:cNvSpPr/>
          <p:nvPr/>
        </p:nvSpPr>
        <p:spPr>
          <a:xfrm>
            <a:off x="628051" y="3833696"/>
            <a:ext cx="7799067" cy="1006368"/>
          </a:xfrm>
          <a:prstGeom prst="roundRect">
            <a:avLst/>
          </a:prstGeom>
          <a:solidFill>
            <a:srgbClr val="EEEDEA"/>
          </a:solidFill>
          <a:ln w="12700">
            <a:solidFill>
              <a:srgbClr val="4C443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87312" marR="0" lvl="0" indent="0" algn="l" defTabSz="609467" rtl="0" eaLnBrk="1" fontAlgn="base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110000"/>
              <a:buFontTx/>
              <a:buNone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3F3F3F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32DB9CD-113D-0E3B-11B9-D595FCF2117F}"/>
              </a:ext>
            </a:extLst>
          </p:cNvPr>
          <p:cNvSpPr/>
          <p:nvPr/>
        </p:nvSpPr>
        <p:spPr>
          <a:xfrm>
            <a:off x="628051" y="3833696"/>
            <a:ext cx="1562100" cy="1006368"/>
          </a:xfrm>
          <a:prstGeom prst="roundRect">
            <a:avLst/>
          </a:prstGeom>
          <a:solidFill>
            <a:srgbClr val="B9C266"/>
          </a:solidFill>
          <a:ln w="12700">
            <a:solidFill>
              <a:srgbClr val="4C4434"/>
            </a:solidFill>
          </a:ln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0000"/>
              </a:lnSpc>
              <a:defRPr/>
            </a:pP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다음 주 학습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7CD954-E4B9-A9C5-26BF-475C9687ED2A}"/>
              </a:ext>
            </a:extLst>
          </p:cNvPr>
          <p:cNvSpPr txBox="1"/>
          <p:nvPr/>
        </p:nvSpPr>
        <p:spPr>
          <a:xfrm>
            <a:off x="2202853" y="3905355"/>
            <a:ext cx="5989318" cy="84561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국가별 목표 고객 분석</a:t>
            </a:r>
          </a:p>
          <a:p>
            <a:pPr marL="261938" marR="76200" lvl="3" indent="-215900" fontAlgn="base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  <a:tabLst>
                <a:tab pos="1016000" algn="l"/>
                <a:tab pos="1524000" algn="l"/>
                <a:tab pos="1995488" algn="l"/>
                <a:tab pos="2032000" algn="l"/>
                <a:tab pos="2540000" algn="l"/>
                <a:tab pos="3019425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  <a:tab pos="15748000" algn="l"/>
              </a:tabLst>
              <a:defRPr/>
            </a:pPr>
            <a:r>
              <a:rPr lang="ko-KR" altLang="en-US" sz="20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2D2D2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글로벌 소비자 특성 이해</a:t>
            </a:r>
            <a:endParaRPr lang="en-US" altLang="ko-KR" sz="200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2D2D2D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7" name="그래픽 36">
            <a:extLst>
              <a:ext uri="{FF2B5EF4-FFF2-40B4-BE49-F238E27FC236}">
                <a16:creationId xmlns:a16="http://schemas.microsoft.com/office/drawing/2014/main" id="{2F434A47-D86E-D867-5AE4-7B13F71E3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85069" y="6139883"/>
            <a:ext cx="571098" cy="51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65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7">
            <a:extLst>
              <a:ext uri="{FF2B5EF4-FFF2-40B4-BE49-F238E27FC236}">
                <a16:creationId xmlns:a16="http://schemas.microsoft.com/office/drawing/2014/main" id="{2BC1D590-AC62-7154-99B9-92490EF9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06_01_01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" name="직사각형 12">
            <a:extLst>
              <a:ext uri="{FF2B5EF4-FFF2-40B4-BE49-F238E27FC236}">
                <a16:creationId xmlns:a16="http://schemas.microsoft.com/office/drawing/2014/main" id="{C361C464-C491-3DC6-3209-0351C94AF462}"/>
              </a:ext>
            </a:extLst>
          </p:cNvPr>
          <p:cNvSpPr/>
          <p:nvPr/>
        </p:nvSpPr>
        <p:spPr>
          <a:xfrm>
            <a:off x="2237009" y="815934"/>
            <a:ext cx="8053620" cy="316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anchor="t"/>
          <a:lstStyle/>
          <a:p>
            <a:pPr marL="0" marR="0" lvl="0" indent="0" algn="l" defTabSz="609467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Lead Body Copy">
            <a:extLst>
              <a:ext uri="{FF2B5EF4-FFF2-40B4-BE49-F238E27FC236}">
                <a16:creationId xmlns:a16="http://schemas.microsoft.com/office/drawing/2014/main" id="{62C9A822-48D6-D08A-3BFC-7EEC87CFD36F}"/>
              </a:ext>
            </a:extLst>
          </p:cNvPr>
          <p:cNvSpPr txBox="1"/>
          <p:nvPr/>
        </p:nvSpPr>
        <p:spPr>
          <a:xfrm>
            <a:off x="2357168" y="886964"/>
            <a:ext cx="7343789" cy="170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학습한 내용을 바탕으로 다음 문제를 풀어보세요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AE341-90E5-EADC-77E7-AA9A19B9D64B}"/>
              </a:ext>
            </a:extLst>
          </p:cNvPr>
          <p:cNvSpPr txBox="1"/>
          <p:nvPr/>
        </p:nvSpPr>
        <p:spPr>
          <a:xfrm>
            <a:off x="10343049" y="972179"/>
            <a:ext cx="17496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 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 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2</a:t>
            </a:r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3</a:t>
            </a:r>
          </a:p>
          <a:p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</a:p>
          <a:p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E9F542-DB40-7C74-3925-E6B5018D983A}"/>
              </a:ext>
            </a:extLst>
          </p:cNvPr>
          <p:cNvSpPr/>
          <p:nvPr/>
        </p:nvSpPr>
        <p:spPr>
          <a:xfrm>
            <a:off x="2237009" y="427476"/>
            <a:ext cx="8076438" cy="371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918" rtlCol="0" anchor="ctr"/>
          <a:lstStyle/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학습평가</a:t>
            </a:r>
          </a:p>
        </p:txBody>
      </p:sp>
      <p:sp>
        <p:nvSpPr>
          <p:cNvPr id="2" name="Rectangle 53">
            <a:extLst>
              <a:ext uri="{FF2B5EF4-FFF2-40B4-BE49-F238E27FC236}">
                <a16:creationId xmlns:a16="http://schemas.microsoft.com/office/drawing/2014/main" id="{45D97C18-6689-6C1C-536E-ED3CF0488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3" y="1047870"/>
            <a:ext cx="2167847" cy="194354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7163F0-C82A-680B-1A3D-B2DD2F875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56273"/>
              </p:ext>
            </p:extLst>
          </p:nvPr>
        </p:nvGraphicFramePr>
        <p:xfrm>
          <a:off x="2419578" y="1337499"/>
          <a:ext cx="7724547" cy="397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726">
                  <a:extLst>
                    <a:ext uri="{9D8B030D-6E8A-4147-A177-3AD203B41FA5}">
                      <a16:colId xmlns:a16="http://schemas.microsoft.com/office/drawing/2014/main" val="2451851358"/>
                    </a:ext>
                  </a:extLst>
                </a:gridCol>
                <a:gridCol w="1473670">
                  <a:extLst>
                    <a:ext uri="{9D8B030D-6E8A-4147-A177-3AD203B41FA5}">
                      <a16:colId xmlns:a16="http://schemas.microsoft.com/office/drawing/2014/main" val="2717626995"/>
                    </a:ext>
                  </a:extLst>
                </a:gridCol>
                <a:gridCol w="2800626">
                  <a:extLst>
                    <a:ext uri="{9D8B030D-6E8A-4147-A177-3AD203B41FA5}">
                      <a16:colId xmlns:a16="http://schemas.microsoft.com/office/drawing/2014/main" val="339559132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379620606"/>
                    </a:ext>
                  </a:extLst>
                </a:gridCol>
                <a:gridCol w="2460625">
                  <a:extLst>
                    <a:ext uri="{9D8B030D-6E8A-4147-A177-3AD203B41FA5}">
                      <a16:colId xmlns:a16="http://schemas.microsoft.com/office/drawing/2014/main" val="2730859229"/>
                    </a:ext>
                  </a:extLst>
                </a:gridCol>
              </a:tblGrid>
              <a:tr h="1763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 dirty="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문제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보기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정답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해설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593432"/>
                  </a:ext>
                </a:extLst>
              </a:tr>
              <a:tr h="6618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글로벌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커머스에 대한 설명으로 가장 적절한 것은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해외 플랫폼에 상품을 등록하는 활동만을 의미한다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를 활용해 글로벌 시장조사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상품기획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마케팅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고객관리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물류 등을 연결하는 커머스 방식이다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 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국내 온라인 쇼핑몰 운영과 동일한 개념이다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가 모든 판매 의사결정을 대신하는 완전 자동 판매 방식이다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②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7091" marR="107091" marT="108000" marB="108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31679"/>
                  </a:ext>
                </a:extLst>
              </a:tr>
              <a:tr h="6618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콘텐츠형 커머스의 대표적인 특징은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고객이 반드시 검색창에 키워드를 입력해야 한다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오프라인 매장에서만 구매가 이루어진다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숏폼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라이브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인플루언서 콘텐츠를 통해 상품이 발견된다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 </a:t>
                      </a: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상품 설명이 없어도 판매가 자동으로 이루어진다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③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7091" marR="107091" marT="108000" marB="108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3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715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7">
            <a:extLst>
              <a:ext uri="{FF2B5EF4-FFF2-40B4-BE49-F238E27FC236}">
                <a16:creationId xmlns:a16="http://schemas.microsoft.com/office/drawing/2014/main" id="{2BC1D590-AC62-7154-99B9-92490EF9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06_01_01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" name="직사각형 12">
            <a:extLst>
              <a:ext uri="{FF2B5EF4-FFF2-40B4-BE49-F238E27FC236}">
                <a16:creationId xmlns:a16="http://schemas.microsoft.com/office/drawing/2014/main" id="{C361C464-C491-3DC6-3209-0351C94AF462}"/>
              </a:ext>
            </a:extLst>
          </p:cNvPr>
          <p:cNvSpPr/>
          <p:nvPr/>
        </p:nvSpPr>
        <p:spPr>
          <a:xfrm>
            <a:off x="2237009" y="815934"/>
            <a:ext cx="8053620" cy="316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anchor="t"/>
          <a:lstStyle/>
          <a:p>
            <a:pPr marL="0" marR="0" lvl="0" indent="0" algn="l" defTabSz="609467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Lead Body Copy">
            <a:extLst>
              <a:ext uri="{FF2B5EF4-FFF2-40B4-BE49-F238E27FC236}">
                <a16:creationId xmlns:a16="http://schemas.microsoft.com/office/drawing/2014/main" id="{62C9A822-48D6-D08A-3BFC-7EEC87CFD36F}"/>
              </a:ext>
            </a:extLst>
          </p:cNvPr>
          <p:cNvSpPr txBox="1"/>
          <p:nvPr/>
        </p:nvSpPr>
        <p:spPr>
          <a:xfrm>
            <a:off x="2357168" y="886964"/>
            <a:ext cx="7343789" cy="170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학습한 내용을 바탕으로 다음 문제를 풀어보세요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E9F542-DB40-7C74-3925-E6B5018D983A}"/>
              </a:ext>
            </a:extLst>
          </p:cNvPr>
          <p:cNvSpPr/>
          <p:nvPr/>
        </p:nvSpPr>
        <p:spPr>
          <a:xfrm>
            <a:off x="2237009" y="427476"/>
            <a:ext cx="8076438" cy="371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918" rtlCol="0" anchor="ctr"/>
          <a:lstStyle/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학습평가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7163F0-C82A-680B-1A3D-B2DD2F875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32601"/>
              </p:ext>
            </p:extLst>
          </p:nvPr>
        </p:nvGraphicFramePr>
        <p:xfrm>
          <a:off x="2419578" y="1337499"/>
          <a:ext cx="7724547" cy="290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726">
                  <a:extLst>
                    <a:ext uri="{9D8B030D-6E8A-4147-A177-3AD203B41FA5}">
                      <a16:colId xmlns:a16="http://schemas.microsoft.com/office/drawing/2014/main" val="2451851358"/>
                    </a:ext>
                  </a:extLst>
                </a:gridCol>
                <a:gridCol w="1473670">
                  <a:extLst>
                    <a:ext uri="{9D8B030D-6E8A-4147-A177-3AD203B41FA5}">
                      <a16:colId xmlns:a16="http://schemas.microsoft.com/office/drawing/2014/main" val="2717626995"/>
                    </a:ext>
                  </a:extLst>
                </a:gridCol>
                <a:gridCol w="2800626">
                  <a:extLst>
                    <a:ext uri="{9D8B030D-6E8A-4147-A177-3AD203B41FA5}">
                      <a16:colId xmlns:a16="http://schemas.microsoft.com/office/drawing/2014/main" val="339559132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379620606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730859229"/>
                    </a:ext>
                  </a:extLst>
                </a:gridCol>
              </a:tblGrid>
              <a:tr h="1763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 dirty="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문제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보기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정답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300" kern="1200">
                          <a:solidFill>
                            <a:srgbClr val="5F5F5F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해설</a:t>
                      </a:r>
                      <a:endParaRPr lang="ko-KR" altLang="en-US" sz="1300" kern="1200" dirty="0">
                        <a:solidFill>
                          <a:srgbClr val="5F5F5F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593432"/>
                  </a:ext>
                </a:extLst>
              </a:tr>
              <a:tr h="6618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쇼핑 에이전트 시대에 판매자가 준비해야 할 요소로 적절하지 </a:t>
                      </a:r>
                      <a:r>
                        <a:rPr lang="ko-KR" altLang="en-US" sz="1300" b="1" u="sng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않은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 것은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?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상품정보의 명확성</a:t>
                      </a:r>
                      <a:endParaRPr lang="en-US" altLang="ko-KR" sz="1300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사용 상황에 대한 구체적 설명 </a:t>
                      </a:r>
                      <a:endParaRPr lang="en-US" altLang="ko-KR" sz="1300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리뷰와 신뢰 요소</a:t>
                      </a:r>
                      <a:endParaRPr lang="en-US" altLang="ko-KR" sz="1300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실제 상품과 무관한 과장된 표현</a:t>
                      </a:r>
                      <a:endParaRPr lang="en-US" altLang="ko-KR" sz="1300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④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7091" marR="107091" marT="108000" marB="108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31679"/>
                  </a:ext>
                </a:extLst>
              </a:tr>
              <a:tr h="6618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600"/>
                        </a:spcBef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글로벌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커머스에서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AI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가 활용될 수 있는 영역을 세 가지 쓰시오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-20320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1300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시장조사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상품페이지 작성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광고문구 제작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고객응대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리뷰분석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수요예측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번역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Segoe UI" panose="020B0502040204020203" pitchFamily="34" charset="0"/>
                        </a:rPr>
                        <a:t>물류관리 등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33729" marR="33729" marT="33729" marB="33729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07091" marR="107091" marT="108000" marB="108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351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5209FE-E35F-F35C-FC94-EB4A04F55308}"/>
              </a:ext>
            </a:extLst>
          </p:cNvPr>
          <p:cNvSpPr txBox="1"/>
          <p:nvPr/>
        </p:nvSpPr>
        <p:spPr>
          <a:xfrm>
            <a:off x="10343049" y="972179"/>
            <a:ext cx="17496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]</a:t>
            </a: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 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1</a:t>
            </a:r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 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2</a:t>
            </a:r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3</a:t>
            </a:r>
          </a:p>
          <a:p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100">
                <a:solidFill>
                  <a:prstClr val="black"/>
                </a:solidFill>
                <a:latin typeface="맑은 고딕" panose="020B0503020000020004" pitchFamily="50" charset="-127"/>
              </a:rPr>
              <a:t>학습목표</a:t>
            </a:r>
            <a:r>
              <a:rPr lang="en-US" altLang="ko-KR" sz="1100">
                <a:solidFill>
                  <a:prstClr val="black"/>
                </a:solidFill>
                <a:latin typeface="맑은 고딕" panose="020B0503020000020004" pitchFamily="50" charset="-127"/>
              </a:rPr>
              <a:t>4</a:t>
            </a:r>
          </a:p>
          <a:p>
            <a:endParaRPr lang="en-US" altLang="ko-KR" sz="1100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Rectangle 53">
            <a:extLst>
              <a:ext uri="{FF2B5EF4-FFF2-40B4-BE49-F238E27FC236}">
                <a16:creationId xmlns:a16="http://schemas.microsoft.com/office/drawing/2014/main" id="{11662B8A-AA58-5C89-EEE7-CAD89C17C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3" y="1047870"/>
            <a:ext cx="2167847" cy="194354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8906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DD32FD24-9643-5704-3784-9CFACA3F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07_01_01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4DAD21-C858-445E-736F-6AC1B70B4E14}"/>
              </a:ext>
            </a:extLst>
          </p:cNvPr>
          <p:cNvSpPr/>
          <p:nvPr/>
        </p:nvSpPr>
        <p:spPr>
          <a:xfrm>
            <a:off x="2237009" y="427476"/>
            <a:ext cx="8076438" cy="371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918" rtlCol="0" anchor="ctr"/>
          <a:lstStyle/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학습정리</a:t>
            </a:r>
          </a:p>
        </p:txBody>
      </p:sp>
      <p:sp>
        <p:nvSpPr>
          <p:cNvPr id="7" name="직사각형 12">
            <a:extLst>
              <a:ext uri="{FF2B5EF4-FFF2-40B4-BE49-F238E27FC236}">
                <a16:creationId xmlns:a16="http://schemas.microsoft.com/office/drawing/2014/main" id="{32319339-5BBB-B959-336B-0FF7A9176B4E}"/>
              </a:ext>
            </a:extLst>
          </p:cNvPr>
          <p:cNvSpPr/>
          <p:nvPr/>
        </p:nvSpPr>
        <p:spPr>
          <a:xfrm>
            <a:off x="2237009" y="815934"/>
            <a:ext cx="8053620" cy="316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anchor="t"/>
          <a:lstStyle/>
          <a:p>
            <a:pPr marL="0" marR="0" lvl="0" indent="0" algn="l" defTabSz="609467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" name="Lead Body Copy">
            <a:extLst>
              <a:ext uri="{FF2B5EF4-FFF2-40B4-BE49-F238E27FC236}">
                <a16:creationId xmlns:a16="http://schemas.microsoft.com/office/drawing/2014/main" id="{A2257660-A366-9CDB-B3F5-B3002DC3ECC8}"/>
              </a:ext>
            </a:extLst>
          </p:cNvPr>
          <p:cNvSpPr txBox="1"/>
          <p:nvPr/>
        </p:nvSpPr>
        <p:spPr>
          <a:xfrm>
            <a:off x="2357168" y="886964"/>
            <a:ext cx="7343789" cy="170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이번 시간에 학습한 주요 내용을 다시 한번 확인해보세요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28DEFB-8C57-0761-4B70-B78197B48482}"/>
              </a:ext>
            </a:extLst>
          </p:cNvPr>
          <p:cNvSpPr/>
          <p:nvPr/>
        </p:nvSpPr>
        <p:spPr>
          <a:xfrm>
            <a:off x="2487613" y="1588445"/>
            <a:ext cx="7656512" cy="1125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EB634A-29C5-ED6D-B7BA-3D43B855C2A2}"/>
              </a:ext>
            </a:extLst>
          </p:cNvPr>
          <p:cNvSpPr/>
          <p:nvPr/>
        </p:nvSpPr>
        <p:spPr>
          <a:xfrm>
            <a:off x="2531363" y="1636978"/>
            <a:ext cx="7612761" cy="88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글로벌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커머스는 단순한 해외판매가 아니라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기반 커머스 전략</a:t>
            </a:r>
            <a:r>
              <a:rPr lang="ko-KR" altLang="en-US" sz="1100">
                <a:solidFill>
                  <a:srgbClr val="2D2D2D"/>
                </a:solidFill>
                <a:latin typeface="Calibri" panose="020F0502020204030204"/>
                <a:ea typeface="맑은 고딕" panose="020B0503020000020004" pitchFamily="50" charset="-127"/>
              </a:rPr>
              <a:t>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고객은 검색뿐 아니라 추천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콘텐츠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대화형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를 통해 상품을 발견함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판매자는 상품을 등록하는 수준을 넘어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와 고객이 이해할 수 있는 정보를 설계해야 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글로벌 시장에서는 소비자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문화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플랫폼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결제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배송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신뢰가 모두 다름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17ED10-3529-82FA-EC39-F18983C71232}"/>
              </a:ext>
            </a:extLst>
          </p:cNvPr>
          <p:cNvSpPr txBox="1"/>
          <p:nvPr/>
        </p:nvSpPr>
        <p:spPr>
          <a:xfrm>
            <a:off x="2368922" y="1269391"/>
            <a:ext cx="49462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467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49700" algn="l"/>
              </a:tabLst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글로벌 이커머스에서 글로벌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커머스로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46AF8E-53AA-853D-D41B-3F8F973BD888}"/>
              </a:ext>
            </a:extLst>
          </p:cNvPr>
          <p:cNvSpPr/>
          <p:nvPr/>
        </p:nvSpPr>
        <p:spPr>
          <a:xfrm>
            <a:off x="2487613" y="3437090"/>
            <a:ext cx="7656512" cy="1125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3602F-F194-2B9C-A763-1B443D2931B9}"/>
              </a:ext>
            </a:extLst>
          </p:cNvPr>
          <p:cNvSpPr txBox="1"/>
          <p:nvPr/>
        </p:nvSpPr>
        <p:spPr>
          <a:xfrm>
            <a:off x="2368922" y="3118036"/>
            <a:ext cx="49462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467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49700" algn="l"/>
              </a:tabLst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AI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는 커머스 가치사슬을 어떻게 바꾸는가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?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" name="Rectangle 53">
            <a:extLst>
              <a:ext uri="{FF2B5EF4-FFF2-40B4-BE49-F238E27FC236}">
                <a16:creationId xmlns:a16="http://schemas.microsoft.com/office/drawing/2014/main" id="{C40EDB4C-FD70-D215-DB5F-C485793B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3" y="1628444"/>
            <a:ext cx="2167847" cy="194354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A8548-A9E4-484F-9B0F-1997092C3CA1}"/>
              </a:ext>
            </a:extLst>
          </p:cNvPr>
          <p:cNvSpPr txBox="1"/>
          <p:nvPr/>
        </p:nvSpPr>
        <p:spPr>
          <a:xfrm>
            <a:off x="10343049" y="3482118"/>
            <a:ext cx="1749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옆의 이미지 넣어 주세요</a:t>
            </a:r>
            <a:r>
              <a:rPr lang="en-US" altLang="ko-KR" sz="1100" dirty="0"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378E4AE-8644-497E-BD72-D24972A2A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1614" y="-24732"/>
            <a:ext cx="4898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176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DD32FD24-9643-5704-3784-9CFACA3F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049" y="86873"/>
            <a:ext cx="8258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07_01_01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4DAD21-C858-445E-736F-6AC1B70B4E14}"/>
              </a:ext>
            </a:extLst>
          </p:cNvPr>
          <p:cNvSpPr/>
          <p:nvPr/>
        </p:nvSpPr>
        <p:spPr>
          <a:xfrm>
            <a:off x="2237009" y="427476"/>
            <a:ext cx="8076438" cy="371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918" rtlCol="0" anchor="ctr"/>
          <a:lstStyle/>
          <a:p>
            <a:pPr marL="0" marR="0" lvl="0" indent="0" algn="l" defTabSz="609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학습정리</a:t>
            </a:r>
          </a:p>
        </p:txBody>
      </p:sp>
      <p:sp>
        <p:nvSpPr>
          <p:cNvPr id="7" name="직사각형 12">
            <a:extLst>
              <a:ext uri="{FF2B5EF4-FFF2-40B4-BE49-F238E27FC236}">
                <a16:creationId xmlns:a16="http://schemas.microsoft.com/office/drawing/2014/main" id="{32319339-5BBB-B959-336B-0FF7A9176B4E}"/>
              </a:ext>
            </a:extLst>
          </p:cNvPr>
          <p:cNvSpPr/>
          <p:nvPr/>
        </p:nvSpPr>
        <p:spPr>
          <a:xfrm>
            <a:off x="2237009" y="815934"/>
            <a:ext cx="8053620" cy="316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anchor="t"/>
          <a:lstStyle/>
          <a:p>
            <a:pPr marL="0" marR="0" lvl="0" indent="0" algn="l" defTabSz="609467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" name="Lead Body Copy">
            <a:extLst>
              <a:ext uri="{FF2B5EF4-FFF2-40B4-BE49-F238E27FC236}">
                <a16:creationId xmlns:a16="http://schemas.microsoft.com/office/drawing/2014/main" id="{A2257660-A366-9CDB-B3F5-B3002DC3ECC8}"/>
              </a:ext>
            </a:extLst>
          </p:cNvPr>
          <p:cNvSpPr txBox="1"/>
          <p:nvPr/>
        </p:nvSpPr>
        <p:spPr>
          <a:xfrm>
            <a:off x="2357168" y="886964"/>
            <a:ext cx="7343789" cy="170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46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이번 시간에 학습한 주요 내용을 다시 한번 확인해보세요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28DEFB-8C57-0761-4B70-B78197B48482}"/>
              </a:ext>
            </a:extLst>
          </p:cNvPr>
          <p:cNvSpPr/>
          <p:nvPr/>
        </p:nvSpPr>
        <p:spPr>
          <a:xfrm>
            <a:off x="2487613" y="1588444"/>
            <a:ext cx="7656512" cy="12187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71450" marR="0" lvl="1" indent="-171450" algn="l" defTabSz="609467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EB634A-29C5-ED6D-B7BA-3D43B855C2A2}"/>
              </a:ext>
            </a:extLst>
          </p:cNvPr>
          <p:cNvSpPr/>
          <p:nvPr/>
        </p:nvSpPr>
        <p:spPr>
          <a:xfrm>
            <a:off x="2531363" y="1636978"/>
            <a:ext cx="7380733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1" indent="-171450" fontAlgn="base">
              <a:spcBef>
                <a:spcPts val="300"/>
              </a:spcBef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ko-KR" altLang="en-US" sz="1100" dirty="0">
                <a:solidFill>
                  <a:srgbClr val="2D2D2D"/>
                </a:solidFill>
              </a:rPr>
              <a:t>사례 </a:t>
            </a:r>
            <a:r>
              <a:rPr lang="en-US" altLang="ko-KR" sz="1100" dirty="0">
                <a:solidFill>
                  <a:srgbClr val="2D2D2D"/>
                </a:solidFill>
              </a:rPr>
              <a:t>1. Amazon: </a:t>
            </a:r>
            <a:r>
              <a:rPr lang="ko-KR" altLang="en-US" sz="1100" dirty="0">
                <a:solidFill>
                  <a:srgbClr val="2D2D2D"/>
                </a:solidFill>
              </a:rPr>
              <a:t>검색과 추천의 결합</a:t>
            </a:r>
            <a:endParaRPr lang="en-US" altLang="ko-KR" sz="1100" dirty="0">
              <a:solidFill>
                <a:srgbClr val="2D2D2D"/>
              </a:solidFill>
            </a:endParaRPr>
          </a:p>
          <a:p>
            <a:pPr marL="171450" lvl="1" indent="-171450" fontAlgn="base">
              <a:spcBef>
                <a:spcPts val="300"/>
              </a:spcBef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ko-KR" altLang="en-US" sz="1100" dirty="0">
                <a:solidFill>
                  <a:srgbClr val="2D2D2D"/>
                </a:solidFill>
              </a:rPr>
              <a:t>사례 </a:t>
            </a:r>
            <a:r>
              <a:rPr lang="en-US" altLang="ko-KR" sz="1100" dirty="0">
                <a:solidFill>
                  <a:srgbClr val="2D2D2D"/>
                </a:solidFill>
              </a:rPr>
              <a:t>2. Shopify: </a:t>
            </a:r>
            <a:r>
              <a:rPr lang="ko-KR" altLang="en-US" sz="1100" dirty="0">
                <a:solidFill>
                  <a:srgbClr val="2D2D2D"/>
                </a:solidFill>
              </a:rPr>
              <a:t>독립몰과 </a:t>
            </a:r>
            <a:r>
              <a:rPr lang="en-US" altLang="ko-KR" sz="1100" dirty="0">
                <a:solidFill>
                  <a:srgbClr val="2D2D2D"/>
                </a:solidFill>
              </a:rPr>
              <a:t>AI </a:t>
            </a:r>
            <a:r>
              <a:rPr lang="ko-KR" altLang="en-US" sz="1100" dirty="0">
                <a:solidFill>
                  <a:srgbClr val="2D2D2D"/>
                </a:solidFill>
              </a:rPr>
              <a:t>운영</a:t>
            </a:r>
            <a:endParaRPr lang="en-US" altLang="ko-KR" sz="1100" dirty="0">
              <a:solidFill>
                <a:srgbClr val="2D2D2D"/>
              </a:solidFill>
            </a:endParaRPr>
          </a:p>
          <a:p>
            <a:pPr marL="171450" lvl="1" indent="-171450" fontAlgn="base">
              <a:spcBef>
                <a:spcPts val="300"/>
              </a:spcBef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ko-KR" altLang="en-US" sz="1100" dirty="0">
                <a:solidFill>
                  <a:srgbClr val="2D2D2D"/>
                </a:solidFill>
              </a:rPr>
              <a:t>사례 </a:t>
            </a:r>
            <a:r>
              <a:rPr lang="en-US" altLang="ko-KR" sz="1100" dirty="0">
                <a:solidFill>
                  <a:srgbClr val="2D2D2D"/>
                </a:solidFill>
              </a:rPr>
              <a:t>3. </a:t>
            </a:r>
            <a:r>
              <a:rPr lang="en-US" altLang="ko-KR" sz="1100" dirty="0" err="1">
                <a:solidFill>
                  <a:srgbClr val="2D2D2D"/>
                </a:solidFill>
              </a:rPr>
              <a:t>TikTok</a:t>
            </a:r>
            <a:r>
              <a:rPr lang="en-US" altLang="ko-KR" sz="1100" dirty="0">
                <a:solidFill>
                  <a:srgbClr val="2D2D2D"/>
                </a:solidFill>
              </a:rPr>
              <a:t> Shop: </a:t>
            </a:r>
            <a:r>
              <a:rPr lang="ko-KR" altLang="en-US" sz="1100" dirty="0">
                <a:solidFill>
                  <a:srgbClr val="2D2D2D"/>
                </a:solidFill>
              </a:rPr>
              <a:t>콘텐츠가 매장이 되는 구조</a:t>
            </a:r>
            <a:endParaRPr lang="en-US" altLang="ko-KR" sz="1100" dirty="0">
              <a:solidFill>
                <a:srgbClr val="2D2D2D"/>
              </a:solidFill>
            </a:endParaRPr>
          </a:p>
          <a:p>
            <a:pPr marL="171450" lvl="1" indent="-171450" fontAlgn="base">
              <a:spcBef>
                <a:spcPts val="300"/>
              </a:spcBef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ko-KR" altLang="en-US" sz="1100" dirty="0">
                <a:solidFill>
                  <a:srgbClr val="2D2D2D"/>
                </a:solidFill>
              </a:rPr>
              <a:t>사례 </a:t>
            </a:r>
            <a:r>
              <a:rPr lang="en-US" altLang="ko-KR" sz="1100" dirty="0">
                <a:solidFill>
                  <a:srgbClr val="2D2D2D"/>
                </a:solidFill>
              </a:rPr>
              <a:t>4. </a:t>
            </a:r>
            <a:r>
              <a:rPr lang="en-US" altLang="ko-KR" sz="1100" dirty="0" err="1">
                <a:solidFill>
                  <a:srgbClr val="2D2D2D"/>
                </a:solidFill>
              </a:rPr>
              <a:t>ChatGPT</a:t>
            </a:r>
            <a:r>
              <a:rPr lang="ko-KR" altLang="en-US" sz="1100" dirty="0">
                <a:solidFill>
                  <a:srgbClr val="2D2D2D"/>
                </a:solidFill>
              </a:rPr>
              <a:t>형 쇼핑</a:t>
            </a:r>
            <a:r>
              <a:rPr lang="en-US" altLang="ko-KR" sz="1100" dirty="0">
                <a:solidFill>
                  <a:srgbClr val="2D2D2D"/>
                </a:solidFill>
              </a:rPr>
              <a:t>: </a:t>
            </a:r>
            <a:r>
              <a:rPr lang="ko-KR" altLang="en-US" sz="1100" dirty="0">
                <a:solidFill>
                  <a:srgbClr val="2D2D2D"/>
                </a:solidFill>
              </a:rPr>
              <a:t>대화형 상품 탐색</a:t>
            </a:r>
            <a:endParaRPr lang="en-US" altLang="ko-KR" sz="1100" dirty="0">
              <a:solidFill>
                <a:srgbClr val="2D2D2D"/>
              </a:solidFill>
            </a:endParaRPr>
          </a:p>
          <a:p>
            <a:pPr marL="171450" lvl="1" indent="-171450" fontAlgn="base">
              <a:spcBef>
                <a:spcPts val="300"/>
              </a:spcBef>
              <a:buClr>
                <a:prstClr val="black">
                  <a:lumMod val="75000"/>
                  <a:lumOff val="25000"/>
                </a:prstClr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ko-KR" altLang="en-US" sz="1100" dirty="0">
                <a:solidFill>
                  <a:srgbClr val="2D2D2D"/>
                </a:solidFill>
              </a:rPr>
              <a:t>사례 </a:t>
            </a:r>
            <a:r>
              <a:rPr lang="en-US" altLang="ko-KR" sz="1100" dirty="0">
                <a:solidFill>
                  <a:srgbClr val="2D2D2D"/>
                </a:solidFill>
              </a:rPr>
              <a:t>5. </a:t>
            </a:r>
            <a:r>
              <a:rPr lang="en-US" altLang="ko-KR" sz="1100" dirty="0" err="1">
                <a:solidFill>
                  <a:srgbClr val="2D2D2D"/>
                </a:solidFill>
              </a:rPr>
              <a:t>Shopee</a:t>
            </a:r>
            <a:r>
              <a:rPr lang="en-US" altLang="ko-KR" sz="1100" dirty="0">
                <a:solidFill>
                  <a:srgbClr val="2D2D2D"/>
                </a:solidFill>
              </a:rPr>
              <a:t>: </a:t>
            </a:r>
            <a:r>
              <a:rPr lang="ko-KR" altLang="en-US" sz="1100" dirty="0">
                <a:solidFill>
                  <a:srgbClr val="2D2D2D"/>
                </a:solidFill>
              </a:rPr>
              <a:t>동남아 모바일 커머스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17ED10-3529-82FA-EC39-F18983C71232}"/>
              </a:ext>
            </a:extLst>
          </p:cNvPr>
          <p:cNvSpPr txBox="1"/>
          <p:nvPr/>
        </p:nvSpPr>
        <p:spPr>
          <a:xfrm>
            <a:off x="2368922" y="1269391"/>
            <a:ext cx="49462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467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949700" algn="l"/>
              </a:tabLst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사례 분석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글로벌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커머스의 주요 사례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" name="Lead Body Copy">
            <a:extLst>
              <a:ext uri="{FF2B5EF4-FFF2-40B4-BE49-F238E27FC236}">
                <a16:creationId xmlns:a16="http://schemas.microsoft.com/office/drawing/2014/main" id="{55BBDE43-F24B-98E9-F67A-F1E3E23AB444}"/>
              </a:ext>
            </a:extLst>
          </p:cNvPr>
          <p:cNvSpPr txBox="1"/>
          <p:nvPr/>
        </p:nvSpPr>
        <p:spPr>
          <a:xfrm>
            <a:off x="2538413" y="6201944"/>
            <a:ext cx="7654787" cy="3566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468"/>
              </a:spcAft>
              <a:defRPr/>
            </a:pPr>
            <a:r>
              <a:rPr lang="ko-KR" altLang="en-US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본 콘텐츠에서는 네이버에서 제공한 </a:t>
            </a:r>
            <a:r>
              <a:rPr lang="en-US" altLang="ko-KR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'</a:t>
            </a:r>
            <a:r>
              <a:rPr lang="ko-KR" altLang="en-US" sz="1100" dirty="0" err="1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나눔스퀘어</a:t>
            </a:r>
            <a:r>
              <a:rPr lang="ko-KR" altLang="en-US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 폰트</a:t>
            </a:r>
            <a:r>
              <a:rPr lang="en-US" altLang="ko-KR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'</a:t>
            </a:r>
            <a:r>
              <a:rPr lang="ko-KR" altLang="en-US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와 구글</a:t>
            </a:r>
            <a:r>
              <a:rPr lang="en-US" altLang="ko-KR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·</a:t>
            </a:r>
            <a:r>
              <a:rPr lang="ko-KR" altLang="en-US" sz="1100" dirty="0" err="1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어도비가</a:t>
            </a:r>
            <a:r>
              <a:rPr lang="ko-KR" altLang="en-US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 공동 개발한 </a:t>
            </a:r>
            <a:r>
              <a:rPr lang="en-US" altLang="ko-KR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'Noto Sans CJK KR’ </a:t>
            </a:r>
            <a:r>
              <a:rPr lang="ko-KR" altLang="en-US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폰트가 적용되어 있습니다</a:t>
            </a:r>
            <a:r>
              <a:rPr lang="en-US" altLang="ko-KR" sz="1100" dirty="0">
                <a:solidFill>
                  <a:srgbClr val="5F5F5F"/>
                </a:solidFill>
                <a:latin typeface="맑은 고딕" panose="020B0503020000020004" pitchFamily="50" charset="-127"/>
                <a:cs typeface="Segoe UI Semibold" panose="020B0702040204020203" pitchFamily="34" charset="0"/>
              </a:rPr>
              <a:t>.</a:t>
            </a:r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30153207-AC6D-D893-F1A5-FBD56956C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3" y="1628444"/>
            <a:ext cx="2167847" cy="194354"/>
          </a:xfrm>
          <a:prstGeom prst="rect">
            <a:avLst/>
          </a:prstGeom>
          <a:solidFill>
            <a:srgbClr val="800080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7438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967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71706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cUURK4L+Q4Khs3A9VPZvN74q/eJv0lprmBtWi2669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woG/R0tGHO4GsiB5xmb45pcjv/TNdTxV7bM3zLny91Q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Thg0O+dJSRfQjtfbw/IzDZWahZ0BzS4i1/XP2hcJ/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vDQdCLjBzuNDMcjREtDKQ+AoKO0QGBD/nb6CP3H9hyU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G0I0j5xrtSkVBWWUP++Om3nvW3p1EZx9xOpLHBAI+pU="/>
</p:tagLst>
</file>

<file path=ppt/theme/theme1.xml><?xml version="1.0" encoding="utf-8"?>
<a:theme xmlns:a="http://schemas.openxmlformats.org/drawingml/2006/main" name="1.SB표지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.학습목차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3.학습목차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검수체크리스트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출처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-1.개발용화면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4-1.개발용화면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5-1.교수우측위치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-2.교수좌측위치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5567</TotalTime>
  <Words>3002</Words>
  <Application>Microsoft Office PowerPoint</Application>
  <PresentationFormat>와이드스크린</PresentationFormat>
  <Paragraphs>663</Paragraphs>
  <Slides>56</Slides>
  <Notes>56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9</vt:i4>
      </vt:variant>
      <vt:variant>
        <vt:lpstr>슬라이드 제목</vt:lpstr>
      </vt:variant>
      <vt:variant>
        <vt:i4>56</vt:i4>
      </vt:variant>
    </vt:vector>
  </HeadingPairs>
  <TitlesOfParts>
    <vt:vector size="80" baseType="lpstr">
      <vt:lpstr>Gidole</vt:lpstr>
      <vt:lpstr>HY헤드라인M</vt:lpstr>
      <vt:lpstr>Montserrat SemiBold</vt:lpstr>
      <vt:lpstr>나눔고딕</vt:lpstr>
      <vt:lpstr>나눔스퀘어</vt:lpstr>
      <vt:lpstr>나눔스퀘어 Bold</vt:lpstr>
      <vt:lpstr>나눔스퀘어 ExtraBold</vt:lpstr>
      <vt:lpstr>맑은 고딕</vt:lpstr>
      <vt:lpstr>Arial</vt:lpstr>
      <vt:lpstr>Calibri</vt:lpstr>
      <vt:lpstr>Calibri Light</vt:lpstr>
      <vt:lpstr>Segoe UI</vt:lpstr>
      <vt:lpstr>Segoe UI Semibold</vt:lpstr>
      <vt:lpstr>Tahoma</vt:lpstr>
      <vt:lpstr>Wingdings</vt:lpstr>
      <vt:lpstr>1.SB표지</vt:lpstr>
      <vt:lpstr>3.학습목차</vt:lpstr>
      <vt:lpstr>1_3.학습목차</vt:lpstr>
      <vt:lpstr>4.검수체크리스트</vt:lpstr>
      <vt:lpstr>5.출처</vt:lpstr>
      <vt:lpstr>4-1.개발용화면</vt:lpstr>
      <vt:lpstr>1_4-1.개발용화면</vt:lpstr>
      <vt:lpstr>1_5-1.교수우측위치</vt:lpstr>
      <vt:lpstr>5-2.교수좌측위치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01_02_01</vt:lpstr>
      <vt:lpstr>PowerPoint 프레젠테이션</vt:lpstr>
      <vt:lpstr>01_03_01</vt:lpstr>
      <vt:lpstr>01_03_01</vt:lpstr>
      <vt:lpstr>01_03_01</vt:lpstr>
      <vt:lpstr>01_03_01</vt:lpstr>
      <vt:lpstr>01_03_01</vt:lpstr>
      <vt:lpstr>01_03_01</vt:lpstr>
      <vt:lpstr>01_03_01</vt:lpstr>
      <vt:lpstr>PowerPoint 프레젠테이션</vt:lpstr>
      <vt:lpstr>02_01_01</vt:lpstr>
      <vt:lpstr>02_01_01</vt:lpstr>
      <vt:lpstr>02_01_01</vt:lpstr>
      <vt:lpstr>02_01_01</vt:lpstr>
      <vt:lpstr>02_01_01</vt:lpstr>
      <vt:lpstr>02_01_01</vt:lpstr>
      <vt:lpstr>02_01_01</vt:lpstr>
      <vt:lpstr>02_01_01</vt:lpstr>
      <vt:lpstr>PowerPoint 프레젠테이션</vt:lpstr>
      <vt:lpstr>03_01_01</vt:lpstr>
      <vt:lpstr>03_01_01</vt:lpstr>
      <vt:lpstr>03_01_01</vt:lpstr>
      <vt:lpstr>03_01_01</vt:lpstr>
      <vt:lpstr>03_01_01</vt:lpstr>
      <vt:lpstr>03_01_01</vt:lpstr>
      <vt:lpstr>03_01_01</vt:lpstr>
      <vt:lpstr>03_01_01</vt:lpstr>
      <vt:lpstr>PowerPoint 프레젠테이션</vt:lpstr>
      <vt:lpstr>04_01_01</vt:lpstr>
      <vt:lpstr>04_01_01</vt:lpstr>
      <vt:lpstr>04_01_01</vt:lpstr>
      <vt:lpstr>04_01_01</vt:lpstr>
      <vt:lpstr>04_01_01</vt:lpstr>
      <vt:lpstr>04_01_01</vt:lpstr>
      <vt:lpstr>04_01_01</vt:lpstr>
      <vt:lpstr>04_01_01</vt:lpstr>
      <vt:lpstr>04_01_01</vt:lpstr>
      <vt:lpstr>04_01_01</vt:lpstr>
      <vt:lpstr>04_01_01</vt:lpstr>
      <vt:lpstr>PowerPoint 프레젠테이션</vt:lpstr>
      <vt:lpstr>05_01_01</vt:lpstr>
      <vt:lpstr>05_01_01</vt:lpstr>
      <vt:lpstr>05_01_01</vt:lpstr>
      <vt:lpstr>05_01_01</vt:lpstr>
      <vt:lpstr>05_01_01</vt:lpstr>
      <vt:lpstr>05_01_01</vt:lpstr>
      <vt:lpstr>05_01_01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</dc:creator>
  <cp:lastModifiedBy>user</cp:lastModifiedBy>
  <cp:revision>417</cp:revision>
  <cp:lastPrinted>2019-01-04T05:24:56Z</cp:lastPrinted>
  <dcterms:created xsi:type="dcterms:W3CDTF">2018-12-11T05:40:37Z</dcterms:created>
  <dcterms:modified xsi:type="dcterms:W3CDTF">2026-07-21T10:58:43Z</dcterms:modified>
</cp:coreProperties>
</file>