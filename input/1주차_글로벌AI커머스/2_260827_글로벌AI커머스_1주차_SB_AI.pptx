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global-ai-commerce-w01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global-ai-commerce-w01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190500" y="190500"/>
            <a:ext cx="10287000" cy="7429500"/>
            <a:chOff x="190500" y="190500"/>
            <a:chExt cx="10287000" cy="7429500"/>
          </a:xfrm>
        </p:grpSpPr>
        <p:sp>
          <p:nvSpPr>
            <p:cNvPr id="2" name="Ellipse 2"/>
            <p:cNvSpPr/>
            <p:nvPr/>
          </p:nvSpPr>
          <p:spPr>
            <a:xfrm>
              <a:off x="7048500" y="190500"/>
              <a:ext cx="2667000" cy="2667000"/>
            </a:xfrm>
            <a:prstGeom prst="ellipse">
              <a:avLst/>
            </a:prstGeom>
            <a:solidFill>
              <a:srgbClr val="FEF7E6">
                <a:alpha val="80000"/>
              </a:srgbClr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7048500" y="4191000"/>
              <a:ext cx="3429000" cy="3429000"/>
            </a:xfrm>
            <a:prstGeom prst="ellipse">
              <a:avLst/>
            </a:prstGeom>
            <a:solidFill>
              <a:srgbClr val="FBEEEC">
                <a:alpha val="70000"/>
              </a:srgbClr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190500" y="5334000"/>
              <a:ext cx="1905000" cy="1905000"/>
            </a:xfrm>
            <a:prstGeom prst="ellipse">
              <a:avLst/>
            </a:prstGeom>
            <a:solidFill>
              <a:srgbClr val="FEF7E6">
                <a:alpha val="60000"/>
              </a:srgbClr>
            </a:solidFill>
            <a:ln>
              <a:noFill/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666750" y="1047750"/>
            <a:ext cx="8420100" cy="5219700"/>
            <a:chOff x="666750" y="1047750"/>
            <a:chExt cx="8420100" cy="5219700"/>
          </a:xfrm>
        </p:grpSpPr>
        <p:sp>
          <p:nvSpPr>
            <p:cNvPr id="6" name="Rectangle 6"/>
            <p:cNvSpPr/>
            <p:nvPr/>
          </p:nvSpPr>
          <p:spPr>
            <a:xfrm>
              <a:off x="666750" y="1047750"/>
              <a:ext cx="8420100" cy="5219700"/>
            </a:xfrm>
            <a:prstGeom prst="roundRect">
              <a:avLst>
                <a:gd name="adj" fmla="val 4380"/>
              </a:avLst>
            </a:prstGeom>
            <a:solidFill>
              <a:srgbClr val="FFFFFF"/>
            </a:solidFill>
            <a:ln w="19050">
              <a:solidFill>
                <a:srgbClr val="E8DDD7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666750" y="1047750"/>
              <a:ext cx="8420100" cy="114300"/>
            </a:xfrm>
            <a:prstGeom prst="roundRect">
              <a:avLst>
                <a:gd name="adj" fmla="val 50000"/>
              </a:avLst>
            </a:prstGeom>
            <a:solidFill>
              <a:srgbClr val="F8DA92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1238250" y="1714500"/>
              <a:ext cx="1714500" cy="381000"/>
            </a:xfrm>
            <a:prstGeom prst="roundRect">
              <a:avLst>
                <a:gd name="adj" fmla="val 50000"/>
              </a:avLst>
            </a:prstGeom>
            <a:solidFill>
              <a:srgbClr val="FEF7E6"/>
            </a:solidFill>
            <a:ln w="14288">
              <a:solidFill>
                <a:srgbClr val="F8DA92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360175" y="1809750"/>
              <a:ext cx="14706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50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1주차 강의 자료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19200" y="2436495"/>
              <a:ext cx="6050051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90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글로벌 AI 커머스의 등장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238250" y="3238500"/>
              <a:ext cx="7277100" cy="1047750"/>
            </a:xfrm>
            <a:prstGeom prst="roundRect">
              <a:avLst>
                <a:gd name="adj" fmla="val 14545"/>
              </a:avLst>
            </a:prstGeom>
            <a:solidFill>
              <a:srgbClr val="FDF6F4"/>
            </a:solidFill>
            <a:ln w="14288">
              <a:solidFill>
                <a:srgbClr val="E8DDD7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514856" y="3472815"/>
              <a:ext cx="489441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756E5F"/>
                  </a:solidFill>
                  <a:latin typeface="Arial"/>
                  <a:ea typeface="Malgun Gothic"/>
                  <a:cs typeface="Arial"/>
                </a:rPr>
                <a:t>AI 시대에 글로벌 고객이 상품을 발견하고,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514856" y="3834765"/>
              <a:ext cx="50039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756E5F"/>
                  </a:solidFill>
                  <a:latin typeface="Arial"/>
                  <a:ea typeface="Malgun Gothic"/>
                  <a:cs typeface="Arial"/>
                </a:rPr>
                <a:t>판매자가 신뢰를 구축하는 새로운 커머스 전략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1238250" y="4953000"/>
              <a:ext cx="7277100" cy="9525"/>
            </a:xfrm>
            <a:custGeom>
              <a:avLst/>
              <a:gdLst/>
              <a:ahLst/>
              <a:cxnLst/>
              <a:rect l="l" t="t" r="r" b="b"/>
              <a:pathLst>
                <a:path w="7277100" h="9525">
                  <a:moveTo>
                    <a:pt x="0" y="0"/>
                  </a:moveTo>
                  <a:lnTo>
                    <a:pt x="7277100" y="0"/>
                  </a:lnTo>
                </a:path>
              </a:pathLst>
            </a:custGeom>
            <a:noFill/>
            <a:ln w="14288">
              <a:solidFill>
                <a:srgbClr val="E8DDD7"/>
              </a:solidFill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1238250" y="5334000"/>
              <a:ext cx="4015835" cy="401765"/>
              <a:chOff x="1238250" y="5334000"/>
              <a:chExt cx="4015835" cy="401765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1238250" y="5334000"/>
                <a:ext cx="381000" cy="381000"/>
              </a:xfrm>
              <a:prstGeom prst="roundRect">
                <a:avLst>
                  <a:gd name="adj" fmla="val 50000"/>
                </a:avLst>
              </a:prstGeom>
              <a:solidFill>
                <a:srgbClr val="4B4535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1275512" y="5419725"/>
                <a:ext cx="30647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b="1" dirty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rPr>
                  <a:t>W1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763268" y="5413058"/>
                <a:ext cx="178226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b="1" dirty="0">
                    <a:solidFill>
                      <a:srgbClr val="4B4535"/>
                    </a:solidFill>
                    <a:latin typeface="Arial"/>
                    <a:ea typeface="Malgun Gothic"/>
                    <a:cs typeface="Arial"/>
                  </a:rPr>
                  <a:t>글로벌 AI 커머스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3515868" y="5413058"/>
                <a:ext cx="1738217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dirty="0">
                    <a:solidFill>
                      <a:srgbClr val="756E5F"/>
                    </a:solidFill>
                    <a:latin typeface="Arial"/>
                    <a:ea typeface="Malgun Gothic"/>
                    <a:cs typeface="Arial"/>
                  </a:rPr>
                  <a:t>| 1주차 정규 강의</a:t>
                </a:r>
              </a:p>
            </p:txBody>
          </p:sp>
        </p:grp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58546" y="372428"/>
            <a:ext cx="2253223" cy="784860"/>
            <a:chOff x="558546" y="372428"/>
            <a:chExt cx="2253223" cy="784860"/>
          </a:xfrm>
        </p:grpSpPr>
        <p:sp>
          <p:nvSpPr>
            <p:cNvPr id="2" name="TextBox 2"/>
            <p:cNvSpPr txBox="1"/>
            <p:nvPr/>
          </p:nvSpPr>
          <p:spPr>
            <a:xfrm>
              <a:off x="558546" y="372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55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들어가기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62356" y="796290"/>
              <a:ext cx="224941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756E5F"/>
                  </a:solidFill>
                  <a:latin typeface="Arial"/>
                  <a:ea typeface="Malgun Gothic"/>
                  <a:cs typeface="Arial"/>
                </a:rPr>
                <a:t>학습목표 &amp; 학습내용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1123950"/>
              <a:ext cx="571500" cy="33338"/>
            </a:xfrm>
            <a:prstGeom prst="roundRect">
              <a:avLst>
                <a:gd name="adj" fmla="val 50000"/>
              </a:avLst>
            </a:prstGeom>
            <a:solidFill>
              <a:srgbClr val="F8DA92"/>
            </a:solidFill>
            <a:ln>
              <a:noFill/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571500" y="1381125"/>
            <a:ext cx="4152900" cy="5429250"/>
            <a:chOff x="571500" y="1381125"/>
            <a:chExt cx="4152900" cy="5429250"/>
          </a:xfrm>
        </p:grpSpPr>
        <p:sp>
          <p:nvSpPr>
            <p:cNvPr id="6" name="Rectangle 6"/>
            <p:cNvSpPr/>
            <p:nvPr/>
          </p:nvSpPr>
          <p:spPr>
            <a:xfrm>
              <a:off x="571500" y="1381125"/>
              <a:ext cx="4152900" cy="5429250"/>
            </a:xfrm>
            <a:prstGeom prst="roundRect">
              <a:avLst>
                <a:gd name="adj" fmla="val 4128"/>
              </a:avLst>
            </a:prstGeom>
            <a:solidFill>
              <a:srgbClr val="FFFFFF"/>
            </a:solidFill>
            <a:ln w="14288">
              <a:solidFill>
                <a:srgbClr val="E8DDD7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571500" y="1381125"/>
              <a:ext cx="4152900" cy="523875"/>
            </a:xfrm>
            <a:prstGeom prst="roundRect">
              <a:avLst>
                <a:gd name="adj" fmla="val 32727"/>
              </a:avLst>
            </a:prstGeom>
            <a:solidFill>
              <a:srgbClr val="4B4535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714500"/>
              <a:ext cx="4152900" cy="190500"/>
            </a:xfrm>
            <a:prstGeom prst="rect">
              <a:avLst/>
            </a:prstGeom>
            <a:solidFill>
              <a:srgbClr val="4B4535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48106" y="1539240"/>
              <a:ext cx="131831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FFFFFF"/>
                  </a:solidFill>
                  <a:latin typeface="Arial"/>
                  <a:ea typeface="Malgun Gothic"/>
                  <a:cs typeface="Arial"/>
                </a:rPr>
                <a:t>🎯 학습목표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762000" y="2095500"/>
              <a:ext cx="3771900" cy="1000125"/>
            </a:xfrm>
            <a:prstGeom prst="roundRect">
              <a:avLst>
                <a:gd name="adj" fmla="val 11429"/>
              </a:avLst>
            </a:prstGeom>
            <a:solidFill>
              <a:srgbClr val="FDF6F4"/>
            </a:solidFill>
            <a:ln w="9525">
              <a:solidFill>
                <a:srgbClr val="E8DDD7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876300" y="2276475"/>
              <a:ext cx="304800" cy="304800"/>
            </a:xfrm>
            <a:prstGeom prst="ellipse">
              <a:avLst/>
            </a:prstGeom>
            <a:solidFill>
              <a:srgbClr val="F8DA9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69365" y="2340292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4B4535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287780" y="2238375"/>
              <a:ext cx="25408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b="1" dirty="0">
                  <a:solidFill>
                    <a:srgbClr val="33332F"/>
                  </a:solidFill>
                  <a:latin typeface="Arial"/>
                  <a:ea typeface="Malgun Gothic"/>
                  <a:cs typeface="Arial"/>
                </a:rPr>
                <a:t>글로벌 AI 커머스의 개념과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287780" y="2505075"/>
              <a:ext cx="25656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b="1" dirty="0">
                  <a:solidFill>
                    <a:srgbClr val="33332F"/>
                  </a:solidFill>
                  <a:latin typeface="Arial"/>
                  <a:ea typeface="Malgun Gothic"/>
                  <a:cs typeface="Arial"/>
                </a:rPr>
                <a:t>글로벌 이커머스와의 차이를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287780" y="2771775"/>
              <a:ext cx="14706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b="1" dirty="0">
                  <a:solidFill>
                    <a:srgbClr val="33332F"/>
                  </a:solidFill>
                  <a:latin typeface="Arial"/>
                  <a:ea typeface="Malgun Gothic"/>
                  <a:cs typeface="Arial"/>
                </a:rPr>
                <a:t>설명할 수 있다.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62000" y="3238500"/>
              <a:ext cx="3771900" cy="952500"/>
            </a:xfrm>
            <a:prstGeom prst="roundRect">
              <a:avLst>
                <a:gd name="adj" fmla="val 12000"/>
              </a:avLst>
            </a:prstGeom>
            <a:solidFill>
              <a:srgbClr val="FDF6F4"/>
            </a:solidFill>
            <a:ln w="9525">
              <a:solidFill>
                <a:srgbClr val="E8DDD7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876300" y="3419475"/>
              <a:ext cx="304800" cy="304800"/>
            </a:xfrm>
            <a:prstGeom prst="ellipse">
              <a:avLst/>
            </a:prstGeom>
            <a:solidFill>
              <a:srgbClr val="F8DA9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69365" y="3483292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4B4535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287780" y="3438525"/>
              <a:ext cx="29676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b="1" dirty="0">
                  <a:solidFill>
                    <a:srgbClr val="33332F"/>
                  </a:solidFill>
                  <a:latin typeface="Arial"/>
                  <a:ea typeface="Malgun Gothic"/>
                  <a:cs typeface="Arial"/>
                </a:rPr>
                <a:t>AI가 커머스 가치사슬에 미치는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287780" y="3743325"/>
              <a:ext cx="21400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b="1" dirty="0">
                  <a:solidFill>
                    <a:srgbClr val="33332F"/>
                  </a:solidFill>
                  <a:latin typeface="Arial"/>
                  <a:ea typeface="Malgun Gothic"/>
                  <a:cs typeface="Arial"/>
                </a:rPr>
                <a:t>영향을 설명할 수 있다.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62000" y="4333875"/>
              <a:ext cx="3771900" cy="1000125"/>
            </a:xfrm>
            <a:prstGeom prst="roundRect">
              <a:avLst>
                <a:gd name="adj" fmla="val 11429"/>
              </a:avLst>
            </a:prstGeom>
            <a:solidFill>
              <a:srgbClr val="FDF6F4"/>
            </a:solidFill>
            <a:ln w="9525">
              <a:solidFill>
                <a:srgbClr val="E8DDD7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876300" y="4514850"/>
              <a:ext cx="304800" cy="304800"/>
            </a:xfrm>
            <a:prstGeom prst="ellipse">
              <a:avLst/>
            </a:prstGeom>
            <a:solidFill>
              <a:srgbClr val="F8DA9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69365" y="4578668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4B4535"/>
                  </a:solidFill>
                  <a:latin typeface="Arial"/>
                  <a:ea typeface="Arial"/>
                  <a:cs typeface="Arial"/>
                </a:rPr>
                <a:t>3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287780" y="4486275"/>
              <a:ext cx="303481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b="1" dirty="0">
                  <a:solidFill>
                    <a:srgbClr val="33332F"/>
                  </a:solidFill>
                  <a:latin typeface="Arial"/>
                  <a:ea typeface="Malgun Gothic"/>
                  <a:cs typeface="Arial"/>
                </a:rPr>
                <a:t>글로벌 AI 커머스의 주요 사례를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287780" y="4752975"/>
              <a:ext cx="232752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b="1" dirty="0">
                  <a:solidFill>
                    <a:srgbClr val="33332F"/>
                  </a:solidFill>
                  <a:latin typeface="Arial"/>
                  <a:ea typeface="Malgun Gothic"/>
                  <a:cs typeface="Arial"/>
                </a:rPr>
                <a:t>분석하여 AI 활용 방식을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287780" y="5019675"/>
              <a:ext cx="14706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b="1" dirty="0">
                  <a:solidFill>
                    <a:srgbClr val="33332F"/>
                  </a:solidFill>
                  <a:latin typeface="Arial"/>
                  <a:ea typeface="Malgun Gothic"/>
                  <a:cs typeface="Arial"/>
                </a:rPr>
                <a:t>설명할 수 있다.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62000" y="5476875"/>
              <a:ext cx="3771900" cy="1190625"/>
            </a:xfrm>
            <a:prstGeom prst="roundRect">
              <a:avLst>
                <a:gd name="adj" fmla="val 9600"/>
              </a:avLst>
            </a:prstGeom>
            <a:solidFill>
              <a:srgbClr val="FDF6F4"/>
            </a:solidFill>
            <a:ln w="9525">
              <a:solidFill>
                <a:srgbClr val="E8DDD7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876300" y="5705475"/>
              <a:ext cx="304800" cy="304800"/>
            </a:xfrm>
            <a:prstGeom prst="ellipse">
              <a:avLst/>
            </a:prstGeom>
            <a:solidFill>
              <a:srgbClr val="F8DA92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69365" y="5769292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4B4535"/>
                  </a:solidFill>
                  <a:latin typeface="Arial"/>
                  <a:ea typeface="Arial"/>
                  <a:cs typeface="Arial"/>
                </a:rPr>
                <a:t>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287780" y="5648325"/>
              <a:ext cx="28947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b="1" dirty="0">
                  <a:solidFill>
                    <a:srgbClr val="33332F"/>
                  </a:solidFill>
                  <a:latin typeface="Arial"/>
                  <a:ea typeface="Malgun Gothic"/>
                  <a:cs typeface="Arial"/>
                </a:rPr>
                <a:t>해외 시장에서 판매할 상품 또는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287780" y="5953125"/>
              <a:ext cx="26292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b="1" dirty="0">
                  <a:solidFill>
                    <a:srgbClr val="33332F"/>
                  </a:solidFill>
                  <a:latin typeface="Arial"/>
                  <a:ea typeface="Malgun Gothic"/>
                  <a:cs typeface="Arial"/>
                </a:rPr>
                <a:t>서비스를 선정하고 향후 분석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287780" y="6257925"/>
              <a:ext cx="21400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b="1" dirty="0">
                  <a:solidFill>
                    <a:srgbClr val="33332F"/>
                  </a:solidFill>
                  <a:latin typeface="Arial"/>
                  <a:ea typeface="Malgun Gothic"/>
                  <a:cs typeface="Arial"/>
                </a:rPr>
                <a:t>계획을 수립할 수 있다.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5029200" y="1381125"/>
            <a:ext cx="4160009" cy="5429250"/>
            <a:chOff x="5029200" y="1381125"/>
            <a:chExt cx="4160009" cy="5429250"/>
          </a:xfrm>
        </p:grpSpPr>
        <p:sp>
          <p:nvSpPr>
            <p:cNvPr id="34" name="Rectangle 34"/>
            <p:cNvSpPr/>
            <p:nvPr/>
          </p:nvSpPr>
          <p:spPr>
            <a:xfrm>
              <a:off x="5029200" y="1381125"/>
              <a:ext cx="4152900" cy="5429250"/>
            </a:xfrm>
            <a:prstGeom prst="roundRect">
              <a:avLst>
                <a:gd name="adj" fmla="val 4128"/>
              </a:avLst>
            </a:prstGeom>
            <a:solidFill>
              <a:srgbClr val="FFFFFF"/>
            </a:solidFill>
            <a:ln w="14288">
              <a:solidFill>
                <a:srgbClr val="E8DDD7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5029200" y="1381125"/>
              <a:ext cx="4152900" cy="523875"/>
            </a:xfrm>
            <a:prstGeom prst="roundRect">
              <a:avLst>
                <a:gd name="adj" fmla="val 32727"/>
              </a:avLst>
            </a:prstGeom>
            <a:solidFill>
              <a:srgbClr val="EDA796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029200" y="1714500"/>
              <a:ext cx="4152900" cy="190500"/>
            </a:xfrm>
            <a:prstGeom prst="rect">
              <a:avLst/>
            </a:prstGeom>
            <a:solidFill>
              <a:srgbClr val="EDA796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305806" y="1539240"/>
              <a:ext cx="131831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FFFFFF"/>
                  </a:solidFill>
                  <a:latin typeface="Arial"/>
                  <a:ea typeface="Malgun Gothic"/>
                  <a:cs typeface="Arial"/>
                </a:rPr>
                <a:t>📚 학습내용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219700" y="2095500"/>
              <a:ext cx="3771900" cy="1000125"/>
            </a:xfrm>
            <a:prstGeom prst="roundRect">
              <a:avLst>
                <a:gd name="adj" fmla="val 11429"/>
              </a:avLst>
            </a:prstGeom>
            <a:solidFill>
              <a:srgbClr val="FBEEEC"/>
            </a:solidFill>
            <a:ln w="9525">
              <a:solidFill>
                <a:srgbClr val="EDA796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5410200" y="2333625"/>
              <a:ext cx="419100" cy="419100"/>
            </a:xfrm>
            <a:prstGeom prst="roundRect">
              <a:avLst>
                <a:gd name="adj" fmla="val 22727"/>
              </a:avLst>
            </a:prstGeom>
            <a:solidFill>
              <a:srgbClr val="EDA796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547230" y="2441258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953887" y="2337911"/>
              <a:ext cx="2174381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720" b="1" dirty="0">
                  <a:solidFill>
                    <a:srgbClr val="33332F"/>
                  </a:solidFill>
                  <a:latin typeface="Arial"/>
                  <a:ea typeface="Malgun Gothic"/>
                  <a:cs typeface="Arial"/>
                </a:rPr>
                <a:t>글로벌 이커머스에서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953887" y="2642711"/>
              <a:ext cx="210257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72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글로벌 AI 커머스로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219700" y="3238500"/>
              <a:ext cx="3771900" cy="1000125"/>
            </a:xfrm>
            <a:prstGeom prst="roundRect">
              <a:avLst>
                <a:gd name="adj" fmla="val 11429"/>
              </a:avLst>
            </a:prstGeom>
            <a:solidFill>
              <a:srgbClr val="FBEEEC"/>
            </a:solidFill>
            <a:ln w="9525">
              <a:solidFill>
                <a:srgbClr val="EDA796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5410200" y="3476625"/>
              <a:ext cx="419100" cy="419100"/>
            </a:xfrm>
            <a:prstGeom prst="roundRect">
              <a:avLst>
                <a:gd name="adj" fmla="val 22727"/>
              </a:avLst>
            </a:prstGeom>
            <a:solidFill>
              <a:srgbClr val="EDA796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547230" y="3584258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953887" y="3480911"/>
              <a:ext cx="2591885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720" b="1" dirty="0">
                  <a:solidFill>
                    <a:srgbClr val="33332F"/>
                  </a:solidFill>
                  <a:latin typeface="Arial"/>
                  <a:ea typeface="Malgun Gothic"/>
                  <a:cs typeface="Arial"/>
                </a:rPr>
                <a:t>AI는 커머스 가치사슬을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953887" y="3785711"/>
              <a:ext cx="1845006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72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어떻게 바꾸는가?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219700" y="4381500"/>
              <a:ext cx="3771900" cy="1000125"/>
            </a:xfrm>
            <a:prstGeom prst="roundRect">
              <a:avLst>
                <a:gd name="adj" fmla="val 11429"/>
              </a:avLst>
            </a:prstGeom>
            <a:solidFill>
              <a:srgbClr val="FBEEEC"/>
            </a:solidFill>
            <a:ln w="9525">
              <a:solidFill>
                <a:srgbClr val="EDA796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5410200" y="4619625"/>
              <a:ext cx="419100" cy="419100"/>
            </a:xfrm>
            <a:prstGeom prst="roundRect">
              <a:avLst>
                <a:gd name="adj" fmla="val 22727"/>
              </a:avLst>
            </a:prstGeom>
            <a:solidFill>
              <a:srgbClr val="EDA796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547230" y="4727258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3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953887" y="4623911"/>
              <a:ext cx="1150367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720" b="1" dirty="0">
                  <a:solidFill>
                    <a:srgbClr val="33332F"/>
                  </a:solidFill>
                  <a:latin typeface="Arial"/>
                  <a:ea typeface="Malgun Gothic"/>
                  <a:cs typeface="Arial"/>
                </a:rPr>
                <a:t>사례 분석: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953887" y="4928711"/>
              <a:ext cx="323532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72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글로벌 AI 커머스의 주요 사례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5219700" y="5524500"/>
              <a:ext cx="3771900" cy="1143000"/>
            </a:xfrm>
            <a:prstGeom prst="roundRect">
              <a:avLst>
                <a:gd name="adj" fmla="val 10000"/>
              </a:avLst>
            </a:prstGeom>
            <a:solidFill>
              <a:srgbClr val="FBEEEC"/>
            </a:solidFill>
            <a:ln w="9525">
              <a:solidFill>
                <a:srgbClr val="EDA796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5410200" y="5810250"/>
              <a:ext cx="419100" cy="419100"/>
            </a:xfrm>
            <a:prstGeom prst="roundRect">
              <a:avLst>
                <a:gd name="adj" fmla="val 22727"/>
              </a:avLst>
            </a:prstGeom>
            <a:solidFill>
              <a:srgbClr val="EDA796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5547230" y="591788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4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5953887" y="5814536"/>
              <a:ext cx="2453973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720" b="1" dirty="0">
                  <a:solidFill>
                    <a:srgbClr val="33332F"/>
                  </a:solidFill>
                  <a:latin typeface="Arial"/>
                  <a:ea typeface="Malgun Gothic"/>
                  <a:cs typeface="Arial"/>
                </a:rPr>
                <a:t>실습: 해외에 팔고 싶은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5953887" y="6119336"/>
              <a:ext cx="2320255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72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상품 또는 서비스 선정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58546" y="448628"/>
            <a:ext cx="3956799" cy="498729"/>
            <a:chOff x="558546" y="448628"/>
            <a:chExt cx="3956799" cy="498729"/>
          </a:xfrm>
        </p:grpSpPr>
        <p:sp>
          <p:nvSpPr>
            <p:cNvPr id="2" name="TextBox 2"/>
            <p:cNvSpPr txBox="1"/>
            <p:nvPr/>
          </p:nvSpPr>
          <p:spPr>
            <a:xfrm>
              <a:off x="558546" y="448628"/>
              <a:ext cx="39567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55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글로벌 AI 커머스의 등장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571500" y="895350"/>
              <a:ext cx="762000" cy="38100"/>
            </a:xfrm>
            <a:prstGeom prst="roundRect">
              <a:avLst>
                <a:gd name="adj" fmla="val 50000"/>
              </a:avLst>
            </a:prstGeom>
            <a:solidFill>
              <a:srgbClr val="F8DA92"/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571500" y="1333500"/>
            <a:ext cx="9909925" cy="2095500"/>
            <a:chOff x="571500" y="1333500"/>
            <a:chExt cx="9909925" cy="2095500"/>
          </a:xfrm>
        </p:grpSpPr>
        <p:sp>
          <p:nvSpPr>
            <p:cNvPr id="5" name="Rectangle 5"/>
            <p:cNvSpPr/>
            <p:nvPr/>
          </p:nvSpPr>
          <p:spPr>
            <a:xfrm>
              <a:off x="571500" y="1333500"/>
              <a:ext cx="8610600" cy="209550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9050">
              <a:solidFill>
                <a:srgbClr val="E8DDD7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857250" y="1619250"/>
              <a:ext cx="1333500" cy="342900"/>
            </a:xfrm>
            <a:prstGeom prst="roundRect">
              <a:avLst>
                <a:gd name="adj" fmla="val 50000"/>
              </a:avLst>
            </a:prstGeom>
            <a:solidFill>
              <a:srgbClr val="4B4535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25044" y="1711642"/>
              <a:ext cx="7979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350" b="1" dirty="0">
                  <a:solidFill>
                    <a:srgbClr val="FFFFFF"/>
                  </a:solidFill>
                  <a:latin typeface="Arial"/>
                  <a:ea typeface="Malgun Gothic"/>
                  <a:cs typeface="Arial"/>
                </a:rPr>
                <a:t>핵심 정의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47725" y="2131219"/>
              <a:ext cx="5705251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80" b="1" dirty="0">
                  <a:solidFill>
                    <a:srgbClr val="756E5F"/>
                  </a:solidFill>
                  <a:latin typeface="Arial"/>
                  <a:ea typeface="Malgun Gothic"/>
                  <a:cs typeface="Arial"/>
                </a:rPr>
                <a:t>단순히 해외 플랫폼에 상품을 올리는 것이 아니라,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46963" y="2524601"/>
              <a:ext cx="9634462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02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AI를 활용해 해외 고객을 이해하고, 상품을 발견되게 하며, 신뢰를 만들고,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46963" y="2924651"/>
              <a:ext cx="6085334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02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 xml:space="preserve">결제·배송·CS까지 연결하는 </a:t>
              </a:r>
              <a:r>
                <a:rPr lang="ko-KR" sz="2020" b="1" dirty="0">
                  <a:solidFill>
                    <a:srgbClr val="EDA796"/>
                  </a:solidFill>
                  <a:latin typeface="Arial"/>
                  <a:ea typeface="Malgun Gothic"/>
                  <a:cs typeface="Arial"/>
                </a:rPr>
                <a:t>새로운 커머스 방식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563118" y="3679508"/>
            <a:ext cx="8618982" cy="2797492"/>
            <a:chOff x="563118" y="3679508"/>
            <a:chExt cx="8618982" cy="2797492"/>
          </a:xfrm>
        </p:grpSpPr>
        <p:sp>
          <p:nvSpPr>
            <p:cNvPr id="12" name="TextBox 12"/>
            <p:cNvSpPr txBox="1"/>
            <p:nvPr/>
          </p:nvSpPr>
          <p:spPr>
            <a:xfrm>
              <a:off x="563118" y="3679508"/>
              <a:ext cx="284367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AI 기반 5대 핵심 연결 영역</a:t>
              </a:r>
            </a:p>
          </p:txBody>
        </p:sp>
        <p:grpSp>
          <p:nvGrpSpPr>
            <p:cNvPr id="52" name="Group 52"/>
            <p:cNvGrpSpPr/>
            <p:nvPr/>
          </p:nvGrpSpPr>
          <p:grpSpPr>
            <a:xfrm>
              <a:off x="571500" y="4095750"/>
              <a:ext cx="8610600" cy="2381250"/>
              <a:chOff x="571500" y="4095750"/>
              <a:chExt cx="8610600" cy="238125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571500" y="4095750"/>
                <a:ext cx="1600200" cy="2381250"/>
              </a:xfrm>
              <a:prstGeom prst="roundRect">
                <a:avLst>
                  <a:gd name="adj" fmla="val 9524"/>
                </a:avLst>
              </a:prstGeom>
              <a:solidFill>
                <a:srgbClr val="FFFFFF"/>
              </a:solidFill>
              <a:ln w="14288">
                <a:solidFill>
                  <a:srgbClr val="E8DDD7"/>
                </a:solidFill>
              </a:ln>
            </p:spPr>
          </p:sp>
          <p:sp>
            <p:nvSpPr>
              <p:cNvPr id="14" name="Rectangle 14"/>
              <p:cNvSpPr/>
              <p:nvPr/>
            </p:nvSpPr>
            <p:spPr>
              <a:xfrm>
                <a:off x="571500" y="4095750"/>
                <a:ext cx="1600200" cy="76200"/>
              </a:xfrm>
              <a:prstGeom prst="roundRect">
                <a:avLst>
                  <a:gd name="adj" fmla="val 50000"/>
                </a:avLst>
              </a:prstGeom>
              <a:solidFill>
                <a:srgbClr val="F8DA92"/>
              </a:solidFill>
              <a:ln>
                <a:noFill/>
              </a:ln>
            </p:spPr>
          </p:sp>
          <p:sp>
            <p:nvSpPr>
              <p:cNvPr id="15" name="Ellipse 15"/>
              <p:cNvSpPr/>
              <p:nvPr/>
            </p:nvSpPr>
            <p:spPr>
              <a:xfrm>
                <a:off x="1104900" y="4352925"/>
                <a:ext cx="533400" cy="533400"/>
              </a:xfrm>
              <a:prstGeom prst="ellipse">
                <a:avLst/>
              </a:prstGeom>
              <a:solidFill>
                <a:srgbClr val="FEF7E6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1241298" y="4501515"/>
                <a:ext cx="26060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🔍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626880" y="5013008"/>
                <a:ext cx="148943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650" b="1" dirty="0">
                    <a:solidFill>
                      <a:srgbClr val="4B4535"/>
                    </a:solidFill>
                    <a:latin typeface="Arial"/>
                    <a:ea typeface="Malgun Gothic"/>
                    <a:cs typeface="Arial"/>
                  </a:rPr>
                  <a:t>해외 고객 이해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799945" y="5449729"/>
                <a:ext cx="1143310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80" dirty="0">
                    <a:solidFill>
                      <a:srgbClr val="33332F"/>
                    </a:solidFill>
                    <a:latin typeface="Arial"/>
                    <a:ea typeface="Malgun Gothic"/>
                    <a:cs typeface="Arial"/>
                  </a:rPr>
                  <a:t>데이터 기반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906295" y="5783104"/>
                <a:ext cx="930610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80" dirty="0">
                    <a:solidFill>
                      <a:srgbClr val="33332F"/>
                    </a:solidFill>
                    <a:latin typeface="Arial"/>
                    <a:ea typeface="Malgun Gothic"/>
                    <a:cs typeface="Arial"/>
                  </a:rPr>
                  <a:t>니즈 파악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2239518" y="5155882"/>
                <a:ext cx="13893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50" dirty="0">
                    <a:solidFill>
                      <a:srgbClr val="756E5F"/>
                    </a:solidFill>
                    <a:latin typeface="Arial"/>
                    <a:ea typeface="Arial"/>
                    <a:cs typeface="Arial"/>
                  </a:rPr>
                  <a:t>→</a:t>
                </a:r>
              </a:p>
            </p:txBody>
          </p:sp>
          <p:sp>
            <p:nvSpPr>
              <p:cNvPr id="21" name="Rectangle 21"/>
              <p:cNvSpPr/>
              <p:nvPr/>
            </p:nvSpPr>
            <p:spPr>
              <a:xfrm>
                <a:off x="2324100" y="4095750"/>
                <a:ext cx="1600200" cy="2381250"/>
              </a:xfrm>
              <a:prstGeom prst="roundRect">
                <a:avLst>
                  <a:gd name="adj" fmla="val 9524"/>
                </a:avLst>
              </a:prstGeom>
              <a:solidFill>
                <a:srgbClr val="FFFFFF"/>
              </a:solidFill>
              <a:ln w="14288">
                <a:solidFill>
                  <a:srgbClr val="E8DDD7"/>
                </a:solidFill>
              </a:ln>
            </p:spPr>
          </p:sp>
          <p:sp>
            <p:nvSpPr>
              <p:cNvPr id="22" name="Rectangle 22"/>
              <p:cNvSpPr/>
              <p:nvPr/>
            </p:nvSpPr>
            <p:spPr>
              <a:xfrm>
                <a:off x="2324100" y="4095750"/>
                <a:ext cx="1600200" cy="76200"/>
              </a:xfrm>
              <a:prstGeom prst="roundRect">
                <a:avLst>
                  <a:gd name="adj" fmla="val 50000"/>
                </a:avLst>
              </a:prstGeom>
              <a:solidFill>
                <a:srgbClr val="F8DA92"/>
              </a:solidFill>
              <a:ln>
                <a:noFill/>
              </a:ln>
            </p:spPr>
          </p:sp>
          <p:sp>
            <p:nvSpPr>
              <p:cNvPr id="23" name="Ellipse 23"/>
              <p:cNvSpPr/>
              <p:nvPr/>
            </p:nvSpPr>
            <p:spPr>
              <a:xfrm>
                <a:off x="2857500" y="4352925"/>
                <a:ext cx="533400" cy="533400"/>
              </a:xfrm>
              <a:prstGeom prst="ellipse">
                <a:avLst/>
              </a:prstGeom>
              <a:solidFill>
                <a:srgbClr val="FEF7E6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2993898" y="4501515"/>
                <a:ext cx="26060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💡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2636588" y="5013008"/>
                <a:ext cx="97522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650" b="1" dirty="0">
                    <a:solidFill>
                      <a:srgbClr val="4B4535"/>
                    </a:solidFill>
                    <a:latin typeface="Arial"/>
                    <a:ea typeface="Malgun Gothic"/>
                    <a:cs typeface="Arial"/>
                  </a:rPr>
                  <a:t>상품 발견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2616154" y="5449729"/>
                <a:ext cx="1016091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80" dirty="0">
                    <a:solidFill>
                      <a:srgbClr val="33332F"/>
                    </a:solidFill>
                    <a:latin typeface="Arial"/>
                    <a:ea typeface="Malgun Gothic"/>
                    <a:cs typeface="Arial"/>
                  </a:rPr>
                  <a:t>AI 검색 및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2658895" y="5783104"/>
                <a:ext cx="930610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80" dirty="0">
                    <a:solidFill>
                      <a:srgbClr val="33332F"/>
                    </a:solidFill>
                    <a:latin typeface="Arial"/>
                    <a:ea typeface="Malgun Gothic"/>
                    <a:cs typeface="Arial"/>
                  </a:rPr>
                  <a:t>추천 노출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3992118" y="5155882"/>
                <a:ext cx="13893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50" dirty="0">
                    <a:solidFill>
                      <a:srgbClr val="756E5F"/>
                    </a:solidFill>
                    <a:latin typeface="Arial"/>
                    <a:ea typeface="Arial"/>
                    <a:cs typeface="Arial"/>
                  </a:rPr>
                  <a:t>→</a:t>
                </a:r>
              </a:p>
            </p:txBody>
          </p:sp>
          <p:sp>
            <p:nvSpPr>
              <p:cNvPr id="29" name="Rectangle 29"/>
              <p:cNvSpPr/>
              <p:nvPr/>
            </p:nvSpPr>
            <p:spPr>
              <a:xfrm>
                <a:off x="4076700" y="4095750"/>
                <a:ext cx="1600200" cy="2381250"/>
              </a:xfrm>
              <a:prstGeom prst="roundRect">
                <a:avLst>
                  <a:gd name="adj" fmla="val 9524"/>
                </a:avLst>
              </a:prstGeom>
              <a:solidFill>
                <a:srgbClr val="FFFFFF"/>
              </a:solidFill>
              <a:ln w="14288">
                <a:solidFill>
                  <a:srgbClr val="E8DDD7"/>
                </a:solidFill>
              </a:ln>
            </p:spPr>
          </p:sp>
          <p:sp>
            <p:nvSpPr>
              <p:cNvPr id="30" name="Rectangle 30"/>
              <p:cNvSpPr/>
              <p:nvPr/>
            </p:nvSpPr>
            <p:spPr>
              <a:xfrm>
                <a:off x="4076700" y="4095750"/>
                <a:ext cx="1600200" cy="76200"/>
              </a:xfrm>
              <a:prstGeom prst="roundRect">
                <a:avLst>
                  <a:gd name="adj" fmla="val 50000"/>
                </a:avLst>
              </a:prstGeom>
              <a:solidFill>
                <a:srgbClr val="F8DA92"/>
              </a:solidFill>
              <a:ln>
                <a:noFill/>
              </a:ln>
            </p:spPr>
          </p:sp>
          <p:sp>
            <p:nvSpPr>
              <p:cNvPr id="31" name="Ellipse 31"/>
              <p:cNvSpPr/>
              <p:nvPr/>
            </p:nvSpPr>
            <p:spPr>
              <a:xfrm>
                <a:off x="4610100" y="4352925"/>
                <a:ext cx="533400" cy="533400"/>
              </a:xfrm>
              <a:prstGeom prst="ellipse">
                <a:avLst/>
              </a:prstGeom>
              <a:solidFill>
                <a:srgbClr val="FEF7E6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4746498" y="4501515"/>
                <a:ext cx="26060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🤝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4389188" y="5013008"/>
                <a:ext cx="97522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650" b="1" dirty="0">
                    <a:solidFill>
                      <a:srgbClr val="4B4535"/>
                    </a:solidFill>
                    <a:latin typeface="Arial"/>
                    <a:ea typeface="Malgun Gothic"/>
                    <a:cs typeface="Arial"/>
                  </a:rPr>
                  <a:t>신뢰 구축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273240" y="5449729"/>
                <a:ext cx="1207120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80" dirty="0">
                    <a:solidFill>
                      <a:srgbClr val="33332F"/>
                    </a:solidFill>
                    <a:latin typeface="Arial"/>
                    <a:ea typeface="Malgun Gothic"/>
                    <a:cs typeface="Arial"/>
                  </a:rPr>
                  <a:t>리뷰 요약 및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4411495" y="5783104"/>
                <a:ext cx="930610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80" dirty="0">
                    <a:solidFill>
                      <a:srgbClr val="33332F"/>
                    </a:solidFill>
                    <a:latin typeface="Arial"/>
                    <a:ea typeface="Malgun Gothic"/>
                    <a:cs typeface="Arial"/>
                  </a:rPr>
                  <a:t>신뢰 정보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5744718" y="5155882"/>
                <a:ext cx="13893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50" dirty="0">
                    <a:solidFill>
                      <a:srgbClr val="756E5F"/>
                    </a:solidFill>
                    <a:latin typeface="Arial"/>
                    <a:ea typeface="Arial"/>
                    <a:cs typeface="Arial"/>
                  </a:rPr>
                  <a:t>→</a:t>
                </a:r>
              </a:p>
            </p:txBody>
          </p:sp>
          <p:sp>
            <p:nvSpPr>
              <p:cNvPr id="37" name="Rectangle 37"/>
              <p:cNvSpPr/>
              <p:nvPr/>
            </p:nvSpPr>
            <p:spPr>
              <a:xfrm>
                <a:off x="5829300" y="4095750"/>
                <a:ext cx="1600200" cy="2381250"/>
              </a:xfrm>
              <a:prstGeom prst="roundRect">
                <a:avLst>
                  <a:gd name="adj" fmla="val 9524"/>
                </a:avLst>
              </a:prstGeom>
              <a:solidFill>
                <a:srgbClr val="FFFFFF"/>
              </a:solidFill>
              <a:ln w="14288">
                <a:solidFill>
                  <a:srgbClr val="E8DDD7"/>
                </a:solidFill>
              </a:ln>
            </p:spPr>
          </p:sp>
          <p:sp>
            <p:nvSpPr>
              <p:cNvPr id="38" name="Rectangle 38"/>
              <p:cNvSpPr/>
              <p:nvPr/>
            </p:nvSpPr>
            <p:spPr>
              <a:xfrm>
                <a:off x="5829300" y="4095750"/>
                <a:ext cx="1600200" cy="76200"/>
              </a:xfrm>
              <a:prstGeom prst="roundRect">
                <a:avLst>
                  <a:gd name="adj" fmla="val 50000"/>
                </a:avLst>
              </a:prstGeom>
              <a:solidFill>
                <a:srgbClr val="F8DA92"/>
              </a:solidFill>
              <a:ln>
                <a:noFill/>
              </a:ln>
            </p:spPr>
          </p:sp>
          <p:sp>
            <p:nvSpPr>
              <p:cNvPr id="39" name="Ellipse 39"/>
              <p:cNvSpPr/>
              <p:nvPr/>
            </p:nvSpPr>
            <p:spPr>
              <a:xfrm>
                <a:off x="6362700" y="4352925"/>
                <a:ext cx="533400" cy="533400"/>
              </a:xfrm>
              <a:prstGeom prst="ellipse">
                <a:avLst/>
              </a:prstGeom>
              <a:solidFill>
                <a:srgbClr val="FEF7E6"/>
              </a:solidFill>
              <a:ln>
                <a:noFill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6499098" y="4501515"/>
                <a:ext cx="26060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💳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6112634" y="5013008"/>
                <a:ext cx="103353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650" b="1" dirty="0">
                    <a:solidFill>
                      <a:srgbClr val="4B4535"/>
                    </a:solidFill>
                    <a:latin typeface="Arial"/>
                    <a:ea typeface="Malgun Gothic"/>
                    <a:cs typeface="Arial"/>
                  </a:rPr>
                  <a:t>결제·배송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5967348" y="5449729"/>
                <a:ext cx="1324105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80" dirty="0">
                    <a:solidFill>
                      <a:srgbClr val="33332F"/>
                    </a:solidFill>
                    <a:latin typeface="Arial"/>
                    <a:ea typeface="Malgun Gothic"/>
                    <a:cs typeface="Arial"/>
                  </a:rPr>
                  <a:t>글로벌 물류 &amp;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6057745" y="5783104"/>
                <a:ext cx="1143310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80" dirty="0">
                    <a:solidFill>
                      <a:srgbClr val="33332F"/>
                    </a:solidFill>
                    <a:latin typeface="Arial"/>
                    <a:ea typeface="Malgun Gothic"/>
                    <a:cs typeface="Arial"/>
                  </a:rPr>
                  <a:t>결제 자동화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7497318" y="5155882"/>
                <a:ext cx="13893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50" dirty="0">
                    <a:solidFill>
                      <a:srgbClr val="756E5F"/>
                    </a:solidFill>
                    <a:latin typeface="Arial"/>
                    <a:ea typeface="Arial"/>
                    <a:cs typeface="Arial"/>
                  </a:rPr>
                  <a:t>→</a:t>
                </a:r>
              </a:p>
            </p:txBody>
          </p:sp>
          <p:sp>
            <p:nvSpPr>
              <p:cNvPr id="45" name="Rectangle 45"/>
              <p:cNvSpPr/>
              <p:nvPr/>
            </p:nvSpPr>
            <p:spPr>
              <a:xfrm>
                <a:off x="7581900" y="4095750"/>
                <a:ext cx="1600200" cy="2381250"/>
              </a:xfrm>
              <a:prstGeom prst="roundRect">
                <a:avLst>
                  <a:gd name="adj" fmla="val 9524"/>
                </a:avLst>
              </a:prstGeom>
              <a:solidFill>
                <a:srgbClr val="FFFFFF"/>
              </a:solidFill>
              <a:ln w="14288">
                <a:solidFill>
                  <a:srgbClr val="EDA796"/>
                </a:solidFill>
              </a:ln>
            </p:spPr>
          </p:sp>
          <p:sp>
            <p:nvSpPr>
              <p:cNvPr id="46" name="Rectangle 46"/>
              <p:cNvSpPr/>
              <p:nvPr/>
            </p:nvSpPr>
            <p:spPr>
              <a:xfrm>
                <a:off x="7581900" y="4095750"/>
                <a:ext cx="1600200" cy="76200"/>
              </a:xfrm>
              <a:prstGeom prst="roundRect">
                <a:avLst>
                  <a:gd name="adj" fmla="val 50000"/>
                </a:avLst>
              </a:prstGeom>
              <a:solidFill>
                <a:srgbClr val="EDA796"/>
              </a:solidFill>
              <a:ln>
                <a:noFill/>
              </a:ln>
            </p:spPr>
          </p:sp>
          <p:sp>
            <p:nvSpPr>
              <p:cNvPr id="47" name="Ellipse 47"/>
              <p:cNvSpPr/>
              <p:nvPr/>
            </p:nvSpPr>
            <p:spPr>
              <a:xfrm>
                <a:off x="8115300" y="4352925"/>
                <a:ext cx="533400" cy="533400"/>
              </a:xfrm>
              <a:prstGeom prst="ellipse">
                <a:avLst/>
              </a:prstGeom>
              <a:solidFill>
                <a:srgbClr val="FBEEEC"/>
              </a:solidFill>
              <a:ln>
                <a:noFill/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8251698" y="4501515"/>
                <a:ext cx="26060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💬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7966420" y="5013008"/>
                <a:ext cx="83115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650" b="1" dirty="0">
                    <a:solidFill>
                      <a:srgbClr val="4B4535"/>
                    </a:solidFill>
                    <a:latin typeface="Arial"/>
                    <a:ea typeface="Malgun Gothic"/>
                    <a:cs typeface="Arial"/>
                  </a:rPr>
                  <a:t>CS 연결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7719948" y="5449729"/>
                <a:ext cx="1324105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80" dirty="0">
                    <a:solidFill>
                      <a:srgbClr val="33332F"/>
                    </a:solidFill>
                    <a:latin typeface="Arial"/>
                    <a:ea typeface="Malgun Gothic"/>
                    <a:cs typeface="Arial"/>
                  </a:rPr>
                  <a:t>다국어 챗봇 &amp;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7703995" y="5783104"/>
                <a:ext cx="1356009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80" dirty="0">
                    <a:solidFill>
                      <a:srgbClr val="33332F"/>
                    </a:solidFill>
                    <a:latin typeface="Arial"/>
                    <a:ea typeface="Malgun Gothic"/>
                    <a:cs typeface="Arial"/>
                  </a:rPr>
                  <a:t>고객경험 관리</a:t>
                </a:r>
              </a:p>
            </p:txBody>
          </p:sp>
        </p:grp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58546" y="372428"/>
            <a:ext cx="4561545" cy="784860"/>
            <a:chOff x="558546" y="372428"/>
            <a:chExt cx="4561545" cy="784860"/>
          </a:xfrm>
        </p:grpSpPr>
        <p:sp>
          <p:nvSpPr>
            <p:cNvPr id="2" name="TextBox 2"/>
            <p:cNvSpPr txBox="1"/>
            <p:nvPr/>
          </p:nvSpPr>
          <p:spPr>
            <a:xfrm>
              <a:off x="558546" y="372428"/>
              <a:ext cx="39567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55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글로벌 AI 커머스의 등장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62356" y="796290"/>
              <a:ext cx="455773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756E5F"/>
                  </a:solidFill>
                  <a:latin typeface="Arial"/>
                  <a:ea typeface="Malgun Gothic"/>
                  <a:cs typeface="Arial"/>
                </a:rPr>
                <a:t>AI는 해외판매를 어떻게 바꾸고 있는가?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1123950"/>
              <a:ext cx="571500" cy="33338"/>
            </a:xfrm>
            <a:prstGeom prst="roundRect">
              <a:avLst>
                <a:gd name="adj" fmla="val 50000"/>
              </a:avLst>
            </a:prstGeom>
            <a:solidFill>
              <a:srgbClr val="F8DA92"/>
            </a:solidFill>
            <a:ln>
              <a:noFill/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571500" y="1524000"/>
            <a:ext cx="8761394" cy="5048250"/>
            <a:chOff x="571500" y="1524000"/>
            <a:chExt cx="8761394" cy="5048250"/>
          </a:xfrm>
        </p:grpSpPr>
        <p:sp>
          <p:nvSpPr>
            <p:cNvPr id="6" name="Rectangle 6"/>
            <p:cNvSpPr/>
            <p:nvPr/>
          </p:nvSpPr>
          <p:spPr>
            <a:xfrm>
              <a:off x="571500" y="1524000"/>
              <a:ext cx="4152900" cy="5048250"/>
            </a:xfrm>
            <a:prstGeom prst="roundRect">
              <a:avLst>
                <a:gd name="adj" fmla="val 4587"/>
              </a:avLst>
            </a:prstGeom>
            <a:solidFill>
              <a:srgbClr val="FFFFFF"/>
            </a:solidFill>
            <a:ln w="14288">
              <a:solidFill>
                <a:srgbClr val="E8DDD7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571500" y="1524000"/>
              <a:ext cx="4152900" cy="571500"/>
            </a:xfrm>
            <a:prstGeom prst="roundRect">
              <a:avLst>
                <a:gd name="adj" fmla="val 33333"/>
              </a:avLst>
            </a:prstGeom>
            <a:solidFill>
              <a:srgbClr val="756E5F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809750"/>
              <a:ext cx="4152900" cy="285750"/>
            </a:xfrm>
            <a:prstGeom prst="rect">
              <a:avLst/>
            </a:prstGeom>
            <a:solidFill>
              <a:srgbClr val="756E5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43356" y="1710690"/>
              <a:ext cx="179083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FFFFFF"/>
                  </a:solidFill>
                  <a:latin typeface="Arial"/>
                  <a:ea typeface="Malgun Gothic"/>
                  <a:cs typeface="Arial"/>
                </a:rPr>
                <a:t>과거의 패러다임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2219325" y="2428875"/>
              <a:ext cx="857250" cy="857250"/>
            </a:xfrm>
            <a:prstGeom prst="ellipse">
              <a:avLst/>
            </a:prstGeom>
            <a:solidFill>
              <a:srgbClr val="FDF6F4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430780" y="2647950"/>
              <a:ext cx="43434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00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📍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952500" y="3524250"/>
              <a:ext cx="3390900" cy="1143000"/>
            </a:xfrm>
            <a:prstGeom prst="roundRect">
              <a:avLst>
                <a:gd name="adj" fmla="val 11667"/>
              </a:avLst>
            </a:prstGeom>
            <a:solidFill>
              <a:srgbClr val="FDF6F4"/>
            </a:solidFill>
            <a:ln w="9525">
              <a:solidFill>
                <a:srgbClr val="E8DDD7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160338" y="3822382"/>
              <a:ext cx="9752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650" b="1" dirty="0">
                  <a:solidFill>
                    <a:srgbClr val="756E5F"/>
                  </a:solidFill>
                  <a:latin typeface="Arial"/>
                  <a:ea typeface="Malgun Gothic"/>
                  <a:cs typeface="Arial"/>
                </a:rPr>
                <a:t>핵심 질문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409174" y="4170998"/>
              <a:ext cx="247755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95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"어디에 팔 것인가?"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39368" y="4965382"/>
              <a:ext cx="292701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87023" indent="-187023">
                <a:buClr>
                  <a:srgbClr val="33332F"/>
                </a:buClr>
                <a:buSzTx/>
                <a:buFontTx/>
                <a:buChar char="•"/>
              </a:pPr>
              <a:r>
                <a:rPr lang="ko-KR" sz="1650" b="1" dirty="0">
                  <a:solidFill>
                    <a:srgbClr val="33332F"/>
                  </a:solidFill>
                  <a:latin typeface="Arial"/>
                  <a:ea typeface="Malgun Gothic"/>
                  <a:cs typeface="Arial"/>
                </a:rPr>
                <a:t>단순 해외 플랫폼 입점 중심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39368" y="5346382"/>
              <a:ext cx="363778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78118" indent="-178118">
                <a:buClr>
                  <a:srgbClr val="33332F"/>
                </a:buClr>
                <a:buSzTx/>
                <a:buFontTx/>
                <a:buChar char="•"/>
              </a:pPr>
              <a:r>
                <a:rPr lang="ko-KR" sz="1650" dirty="0">
                  <a:solidFill>
                    <a:srgbClr val="33332F"/>
                  </a:solidFill>
                  <a:latin typeface="Arial"/>
                  <a:ea typeface="Malgun Gothic"/>
                  <a:cs typeface="Arial"/>
                </a:rPr>
                <a:t>판매 채널 확보와 물류 처리에 집중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39368" y="5727382"/>
              <a:ext cx="341566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78118" indent="-178118">
                <a:buClr>
                  <a:srgbClr val="33332F"/>
                </a:buClr>
                <a:buSzTx/>
                <a:buFontTx/>
                <a:buChar char="•"/>
              </a:pPr>
              <a:r>
                <a:rPr lang="ko-KR" sz="1650" dirty="0">
                  <a:solidFill>
                    <a:srgbClr val="33332F"/>
                  </a:solidFill>
                  <a:latin typeface="Arial"/>
                  <a:ea typeface="Malgun Gothic"/>
                  <a:cs typeface="Arial"/>
                </a:rPr>
                <a:t>검색 키워드 기반 단순 노출 경쟁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029200" y="1524000"/>
              <a:ext cx="4152900" cy="5048250"/>
            </a:xfrm>
            <a:prstGeom prst="roundRect">
              <a:avLst>
                <a:gd name="adj" fmla="val 4587"/>
              </a:avLst>
            </a:prstGeom>
            <a:solidFill>
              <a:srgbClr val="FFFFFF"/>
            </a:solidFill>
            <a:ln w="23812">
              <a:solidFill>
                <a:srgbClr val="F8DA92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029200" y="1524000"/>
              <a:ext cx="4152900" cy="571500"/>
            </a:xfrm>
            <a:prstGeom prst="roundRect">
              <a:avLst>
                <a:gd name="adj" fmla="val 33333"/>
              </a:avLst>
            </a:prstGeom>
            <a:solidFill>
              <a:srgbClr val="4B4535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029200" y="1809750"/>
              <a:ext cx="4152900" cy="285750"/>
            </a:xfrm>
            <a:prstGeom prst="rect">
              <a:avLst/>
            </a:prstGeom>
            <a:solidFill>
              <a:srgbClr val="4B4535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401056" y="1710690"/>
              <a:ext cx="294089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FFFFFF"/>
                  </a:solidFill>
                  <a:latin typeface="Arial"/>
                  <a:ea typeface="Malgun Gothic"/>
                  <a:cs typeface="Arial"/>
                </a:rPr>
                <a:t>현재: AI 커머스 패러다임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6677025" y="2428875"/>
              <a:ext cx="857250" cy="857250"/>
            </a:xfrm>
            <a:prstGeom prst="ellipse">
              <a:avLst/>
            </a:prstGeom>
            <a:solidFill>
              <a:srgbClr val="FEF7E6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888480" y="2647950"/>
              <a:ext cx="43434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00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🤖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410200" y="3524250"/>
              <a:ext cx="3390900" cy="1428750"/>
            </a:xfrm>
            <a:prstGeom prst="roundRect">
              <a:avLst>
                <a:gd name="adj" fmla="val 9333"/>
              </a:avLst>
            </a:prstGeom>
            <a:solidFill>
              <a:srgbClr val="FEF7E6"/>
            </a:solidFill>
            <a:ln w="14288">
              <a:solidFill>
                <a:srgbClr val="F8DA92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618038" y="3708082"/>
              <a:ext cx="9752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65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핵심 질문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338846" y="4072890"/>
              <a:ext cx="353360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80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"AI와 고객이 내 상품을 어떻게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878406" y="4415790"/>
              <a:ext cx="445448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80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발견하고, 왜 믿고 구매하게 할 것인가?"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497068" y="5251132"/>
              <a:ext cx="35992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87023" indent="-187023">
                <a:buClr>
                  <a:srgbClr val="4B4535"/>
                </a:buClr>
                <a:buSzTx/>
                <a:buFontTx/>
                <a:buChar char="•"/>
              </a:pPr>
              <a:r>
                <a:rPr lang="ko-KR" sz="165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AI 기반 상품 발견 메커니즘 구축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497068" y="5632132"/>
              <a:ext cx="35711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78118" indent="-178118">
                <a:buClr>
                  <a:srgbClr val="33332F"/>
                </a:buClr>
                <a:buSzTx/>
                <a:buFontTx/>
                <a:buChar char="•"/>
              </a:pPr>
              <a:r>
                <a:rPr lang="ko-KR" sz="1650" dirty="0">
                  <a:solidFill>
                    <a:srgbClr val="33332F"/>
                  </a:solidFill>
                  <a:latin typeface="Arial"/>
                  <a:ea typeface="Malgun Gothic"/>
                  <a:cs typeface="Arial"/>
                </a:rPr>
                <a:t>글로벌 고객과의 디지털 신뢰 형성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497068" y="6013132"/>
              <a:ext cx="37270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78118" indent="-178118">
                <a:buClr>
                  <a:srgbClr val="33332F"/>
                </a:buClr>
                <a:buSzTx/>
                <a:buFontTx/>
                <a:buChar char="•"/>
              </a:pPr>
              <a:r>
                <a:rPr lang="ko-KR" sz="1650" dirty="0">
                  <a:solidFill>
                    <a:srgbClr val="33332F"/>
                  </a:solidFill>
                  <a:latin typeface="Arial"/>
                  <a:ea typeface="Malgun Gothic"/>
                  <a:cs typeface="Arial"/>
                </a:rPr>
                <a:t>데이터와 AI를 활용한 운영 최적화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58546" y="372428"/>
            <a:ext cx="3956799" cy="784860"/>
            <a:chOff x="558546" y="372428"/>
            <a:chExt cx="3956799" cy="784860"/>
          </a:xfrm>
        </p:grpSpPr>
        <p:sp>
          <p:nvSpPr>
            <p:cNvPr id="2" name="TextBox 2"/>
            <p:cNvSpPr txBox="1"/>
            <p:nvPr/>
          </p:nvSpPr>
          <p:spPr>
            <a:xfrm>
              <a:off x="558546" y="372428"/>
              <a:ext cx="39567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55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글로벌 AI 커머스의 등장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62356" y="796290"/>
              <a:ext cx="106388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756E5F"/>
                  </a:solidFill>
                  <a:latin typeface="Arial"/>
                  <a:ea typeface="Malgun Gothic"/>
                  <a:cs typeface="Arial"/>
                </a:rPr>
                <a:t>강의 핵심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1123950"/>
              <a:ext cx="571500" cy="33338"/>
            </a:xfrm>
            <a:prstGeom prst="roundRect">
              <a:avLst>
                <a:gd name="adj" fmla="val 50000"/>
              </a:avLst>
            </a:prstGeom>
            <a:solidFill>
              <a:srgbClr val="F8DA92"/>
            </a:solidFill>
            <a:ln>
              <a:noFill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571500" y="1524000"/>
            <a:ext cx="8610600" cy="5143500"/>
            <a:chOff x="571500" y="1524000"/>
            <a:chExt cx="8610600" cy="5143500"/>
          </a:xfrm>
        </p:grpSpPr>
        <p:sp>
          <p:nvSpPr>
            <p:cNvPr id="6" name="Rectangle 6"/>
            <p:cNvSpPr/>
            <p:nvPr/>
          </p:nvSpPr>
          <p:spPr>
            <a:xfrm>
              <a:off x="571500" y="1524000"/>
              <a:ext cx="8610600" cy="2190750"/>
            </a:xfrm>
            <a:prstGeom prst="roundRect">
              <a:avLst>
                <a:gd name="adj" fmla="val 8696"/>
              </a:avLst>
            </a:prstGeom>
            <a:solidFill>
              <a:srgbClr val="FFFFFF"/>
            </a:solidFill>
            <a:ln w="14288">
              <a:solidFill>
                <a:srgbClr val="E8DDD7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952500" y="1857375"/>
              <a:ext cx="1524000" cy="342900"/>
            </a:xfrm>
            <a:prstGeom prst="roundRect">
              <a:avLst>
                <a:gd name="adj" fmla="val 50000"/>
              </a:avLst>
            </a:prstGeom>
            <a:solidFill>
              <a:srgbClr val="756E5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05184" y="1949768"/>
              <a:ext cx="12186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350" b="1" dirty="0">
                  <a:solidFill>
                    <a:srgbClr val="FFFFFF"/>
                  </a:solidFill>
                  <a:latin typeface="Arial"/>
                  <a:ea typeface="Malgun Gothic"/>
                  <a:cs typeface="Arial"/>
                </a:rPr>
                <a:t>배우지 않는 것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41832" y="2440305"/>
              <a:ext cx="484615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b="1" dirty="0">
                  <a:solidFill>
                    <a:srgbClr val="756E5F"/>
                  </a:solidFill>
                  <a:latin typeface="Arial"/>
                  <a:ea typeface="Malgun Gothic"/>
                  <a:cs typeface="Arial"/>
                </a:rPr>
                <a:t>글로벌 AI 커머스는 단순한 입점이나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41832" y="2868930"/>
              <a:ext cx="531735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b="1" dirty="0">
                  <a:solidFill>
                    <a:srgbClr val="756E5F"/>
                  </a:solidFill>
                  <a:latin typeface="Arial"/>
                  <a:ea typeface="Malgun Gothic"/>
                  <a:cs typeface="Arial"/>
                </a:rPr>
                <a:t>AI 활용법만을 배우는 과목이 아닙니다.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71500" y="4000500"/>
              <a:ext cx="8610600" cy="2667000"/>
            </a:xfrm>
            <a:prstGeom prst="roundRect">
              <a:avLst>
                <a:gd name="adj" fmla="val 7143"/>
              </a:avLst>
            </a:prstGeom>
            <a:solidFill>
              <a:srgbClr val="FEF7E6"/>
            </a:solidFill>
            <a:ln w="23812">
              <a:solidFill>
                <a:srgbClr val="F8DA92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952500" y="4333875"/>
              <a:ext cx="1524000" cy="342900"/>
            </a:xfrm>
            <a:prstGeom prst="roundRect">
              <a:avLst>
                <a:gd name="adj" fmla="val 50000"/>
              </a:avLst>
            </a:prstGeom>
            <a:solidFill>
              <a:srgbClr val="4B4535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105184" y="4426268"/>
              <a:ext cx="12186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350" b="1" dirty="0">
                  <a:solidFill>
                    <a:srgbClr val="FFFFFF"/>
                  </a:solidFill>
                  <a:latin typeface="Arial"/>
                  <a:ea typeface="Malgun Gothic"/>
                  <a:cs typeface="Arial"/>
                </a:rPr>
                <a:t>본 강의의 핵심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41070" y="4900612"/>
              <a:ext cx="611802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25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AI 시대에 글로벌 고객이 상품을 발견하고,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41070" y="5329238"/>
              <a:ext cx="454962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25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판매자가 신뢰를 구축하는 방법을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1070" y="5757862"/>
              <a:ext cx="372045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250" b="1" dirty="0">
                  <a:solidFill>
                    <a:srgbClr val="EDA796"/>
                  </a:solidFill>
                  <a:latin typeface="Arial"/>
                  <a:ea typeface="Malgun Gothic"/>
                  <a:cs typeface="Arial"/>
                </a:rPr>
                <a:t>이해하는 것이 핵심입니다.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58546" y="372428"/>
            <a:ext cx="3956799" cy="784860"/>
            <a:chOff x="558546" y="372428"/>
            <a:chExt cx="3956799" cy="784860"/>
          </a:xfrm>
        </p:grpSpPr>
        <p:sp>
          <p:nvSpPr>
            <p:cNvPr id="2" name="TextBox 2"/>
            <p:cNvSpPr txBox="1"/>
            <p:nvPr/>
          </p:nvSpPr>
          <p:spPr>
            <a:xfrm>
              <a:off x="558546" y="372428"/>
              <a:ext cx="39567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55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글로벌 AI 커머스의 등장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62356" y="796290"/>
              <a:ext cx="154851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756E5F"/>
                  </a:solidFill>
                  <a:latin typeface="Arial"/>
                  <a:ea typeface="Malgun Gothic"/>
                  <a:cs typeface="Arial"/>
                </a:rPr>
                <a:t>생각해 봅시다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1123950"/>
              <a:ext cx="571500" cy="33338"/>
            </a:xfrm>
            <a:prstGeom prst="roundRect">
              <a:avLst>
                <a:gd name="adj" fmla="val 50000"/>
              </a:avLst>
            </a:prstGeom>
            <a:solidFill>
              <a:srgbClr val="F8DA92"/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563118" y="1333500"/>
            <a:ext cx="8618982" cy="2001965"/>
            <a:chOff x="563118" y="1333500"/>
            <a:chExt cx="8618982" cy="2001965"/>
          </a:xfrm>
        </p:grpSpPr>
        <p:sp>
          <p:nvSpPr>
            <p:cNvPr id="6" name="Rectangle 6"/>
            <p:cNvSpPr/>
            <p:nvPr/>
          </p:nvSpPr>
          <p:spPr>
            <a:xfrm>
              <a:off x="571500" y="1333500"/>
              <a:ext cx="8610600" cy="142875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9050">
              <a:solidFill>
                <a:srgbClr val="E8DDD7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571500" y="1333500"/>
              <a:ext cx="95250" cy="1428750"/>
            </a:xfrm>
            <a:prstGeom prst="roundRect">
              <a:avLst>
                <a:gd name="adj" fmla="val 50000"/>
              </a:avLst>
            </a:prstGeom>
            <a:solidFill>
              <a:srgbClr val="F8DA9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42594" y="1646872"/>
              <a:ext cx="678795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여러분이 한국 상품 하나를 해외에 판다고 생각해 봅시다.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41832" y="2059305"/>
              <a:ext cx="393322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b="1" dirty="0">
                  <a:solidFill>
                    <a:srgbClr val="EDA796"/>
                  </a:solidFill>
                  <a:latin typeface="Arial"/>
                  <a:ea typeface="Malgun Gothic"/>
                  <a:cs typeface="Arial"/>
                </a:rPr>
                <a:t>가장 먼저 무엇을 해야 할까요?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63118" y="3012758"/>
              <a:ext cx="456306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756E5F"/>
                  </a:solidFill>
                  <a:latin typeface="Arial"/>
                  <a:ea typeface="Malgun Gothic"/>
                  <a:cs typeface="Arial"/>
                </a:rPr>
                <a:t>아마 많은 분들이 이렇게 생각할 수 있습니다.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571500" y="3429000"/>
            <a:ext cx="8610600" cy="3048000"/>
            <a:chOff x="571500" y="3429000"/>
            <a:chExt cx="8610600" cy="3048000"/>
          </a:xfrm>
        </p:grpSpPr>
        <p:sp>
          <p:nvSpPr>
            <p:cNvPr id="12" name="Rectangle 12"/>
            <p:cNvSpPr/>
            <p:nvPr/>
          </p:nvSpPr>
          <p:spPr>
            <a:xfrm>
              <a:off x="571500" y="3429000"/>
              <a:ext cx="1600200" cy="3048000"/>
            </a:xfrm>
            <a:prstGeom prst="roundRect">
              <a:avLst>
                <a:gd name="adj" fmla="val 9524"/>
              </a:avLst>
            </a:prstGeom>
            <a:solidFill>
              <a:srgbClr val="FFFFFF"/>
            </a:solidFill>
            <a:ln w="14288">
              <a:solidFill>
                <a:srgbClr val="E8DDD7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1104900" y="3638550"/>
              <a:ext cx="533400" cy="533400"/>
            </a:xfrm>
            <a:prstGeom prst="ellipse">
              <a:avLst/>
            </a:prstGeom>
            <a:solidFill>
              <a:srgbClr val="FDF6F4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241298" y="3787140"/>
              <a:ext cx="26060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🌐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30034" y="4346258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65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영어로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41095" y="4632008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65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번역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28866" y="5172075"/>
              <a:ext cx="1085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500" dirty="0">
                  <a:solidFill>
                    <a:srgbClr val="33332F"/>
                  </a:solidFill>
                  <a:latin typeface="Arial"/>
                  <a:ea typeface="Malgun Gothic"/>
                  <a:cs typeface="Arial"/>
                </a:rPr>
                <a:t>영문 상품명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27900" y="5457825"/>
              <a:ext cx="12873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500" dirty="0">
                  <a:solidFill>
                    <a:srgbClr val="33332F"/>
                  </a:solidFill>
                  <a:latin typeface="Arial"/>
                  <a:ea typeface="Malgun Gothic"/>
                  <a:cs typeface="Arial"/>
                </a:rPr>
                <a:t>및 상세페이지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29830" y="5743575"/>
              <a:ext cx="88353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500" dirty="0">
                  <a:solidFill>
                    <a:srgbClr val="33332F"/>
                  </a:solidFill>
                  <a:latin typeface="Arial"/>
                  <a:ea typeface="Malgun Gothic"/>
                  <a:cs typeface="Arial"/>
                </a:rPr>
                <a:t>번역 필요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2324100" y="3429000"/>
              <a:ext cx="1600200" cy="3048000"/>
            </a:xfrm>
            <a:prstGeom prst="roundRect">
              <a:avLst>
                <a:gd name="adj" fmla="val 9524"/>
              </a:avLst>
            </a:prstGeom>
            <a:solidFill>
              <a:srgbClr val="FFFFFF"/>
            </a:solidFill>
            <a:ln w="14288">
              <a:solidFill>
                <a:srgbClr val="E8DDD7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2857500" y="3638550"/>
              <a:ext cx="533400" cy="533400"/>
            </a:xfrm>
            <a:prstGeom prst="ellipse">
              <a:avLst/>
            </a:prstGeom>
            <a:solidFill>
              <a:srgbClr val="FDF6F4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993898" y="3787140"/>
              <a:ext cx="26060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🛒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782634" y="4346258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65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플랫폼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893695" y="4632008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65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입점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611755" y="51720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500" dirty="0">
                  <a:solidFill>
                    <a:srgbClr val="33332F"/>
                  </a:solidFill>
                  <a:latin typeface="Arial"/>
                  <a:ea typeface="Malgun Gothic"/>
                  <a:cs typeface="Arial"/>
                </a:rPr>
                <a:t>아마존이나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362390" y="5457825"/>
              <a:ext cx="152361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500" dirty="0">
                  <a:solidFill>
                    <a:srgbClr val="33332F"/>
                  </a:solidFill>
                  <a:latin typeface="Arial"/>
                  <a:ea typeface="Malgun Gothic"/>
                  <a:cs typeface="Arial"/>
                </a:rPr>
                <a:t>쇼피(Shopee)에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682430" y="5743575"/>
              <a:ext cx="88353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500" dirty="0">
                  <a:solidFill>
                    <a:srgbClr val="33332F"/>
                  </a:solidFill>
                  <a:latin typeface="Arial"/>
                  <a:ea typeface="Malgun Gothic"/>
                  <a:cs typeface="Arial"/>
                </a:rPr>
                <a:t>입점 등록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4076700" y="3429000"/>
              <a:ext cx="1600200" cy="3048000"/>
            </a:xfrm>
            <a:prstGeom prst="roundRect">
              <a:avLst>
                <a:gd name="adj" fmla="val 9524"/>
              </a:avLst>
            </a:prstGeom>
            <a:solidFill>
              <a:srgbClr val="FFFFFF"/>
            </a:solidFill>
            <a:ln w="14288">
              <a:solidFill>
                <a:srgbClr val="E8DDD7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4610100" y="3638550"/>
              <a:ext cx="533400" cy="533400"/>
            </a:xfrm>
            <a:prstGeom prst="ellipse">
              <a:avLst/>
            </a:prstGeom>
            <a:solidFill>
              <a:srgbClr val="FDF6F4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746498" y="3787140"/>
              <a:ext cx="26060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📦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389188" y="4346258"/>
              <a:ext cx="9752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65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배송 방법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646295" y="4632008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65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확인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303776" y="5172075"/>
              <a:ext cx="11460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500" dirty="0">
                  <a:solidFill>
                    <a:srgbClr val="33332F"/>
                  </a:solidFill>
                  <a:latin typeface="Arial"/>
                  <a:ea typeface="Malgun Gothic"/>
                  <a:cs typeface="Arial"/>
                </a:rPr>
                <a:t>국제 특송 및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435030" y="5457825"/>
              <a:ext cx="88353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500" dirty="0">
                  <a:solidFill>
                    <a:srgbClr val="33332F"/>
                  </a:solidFill>
                  <a:latin typeface="Arial"/>
                  <a:ea typeface="Malgun Gothic"/>
                  <a:cs typeface="Arial"/>
                </a:rPr>
                <a:t>현지 배송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435030" y="5743575"/>
              <a:ext cx="88353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500" dirty="0">
                  <a:solidFill>
                    <a:srgbClr val="33332F"/>
                  </a:solidFill>
                  <a:latin typeface="Arial"/>
                  <a:ea typeface="Malgun Gothic"/>
                  <a:cs typeface="Arial"/>
                </a:rPr>
                <a:t>방법 탐색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829300" y="3429000"/>
              <a:ext cx="1600200" cy="3048000"/>
            </a:xfrm>
            <a:prstGeom prst="roundRect">
              <a:avLst>
                <a:gd name="adj" fmla="val 9524"/>
              </a:avLst>
            </a:prstGeom>
            <a:solidFill>
              <a:srgbClr val="FFFFFF"/>
            </a:solidFill>
            <a:ln w="14288">
              <a:solidFill>
                <a:srgbClr val="E8DDD7"/>
              </a:solidFill>
            </a:ln>
          </p:spPr>
        </p:sp>
        <p:sp>
          <p:nvSpPr>
            <p:cNvPr id="37" name="Ellipse 37"/>
            <p:cNvSpPr/>
            <p:nvPr/>
          </p:nvSpPr>
          <p:spPr>
            <a:xfrm>
              <a:off x="6362700" y="3638550"/>
              <a:ext cx="533400" cy="533400"/>
            </a:xfrm>
            <a:prstGeom prst="ellipse">
              <a:avLst/>
            </a:prstGeom>
            <a:solidFill>
              <a:srgbClr val="FDF6F4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499098" y="3787140"/>
              <a:ext cx="26060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📢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398895" y="4346258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65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광고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398895" y="4632008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65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집행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000845" y="5172075"/>
              <a:ext cx="12571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500" dirty="0">
                  <a:solidFill>
                    <a:srgbClr val="33332F"/>
                  </a:solidFill>
                  <a:latin typeface="Arial"/>
                  <a:ea typeface="Malgun Gothic"/>
                  <a:cs typeface="Arial"/>
                </a:rPr>
                <a:t>소셜 미디어 &amp;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086666" y="5457825"/>
              <a:ext cx="1085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500" dirty="0">
                  <a:solidFill>
                    <a:srgbClr val="33332F"/>
                  </a:solidFill>
                  <a:latin typeface="Arial"/>
                  <a:ea typeface="Malgun Gothic"/>
                  <a:cs typeface="Arial"/>
                </a:rPr>
                <a:t>플랫폼 광고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187630" y="5743575"/>
              <a:ext cx="88353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500" dirty="0">
                  <a:solidFill>
                    <a:srgbClr val="33332F"/>
                  </a:solidFill>
                  <a:latin typeface="Arial"/>
                  <a:ea typeface="Malgun Gothic"/>
                  <a:cs typeface="Arial"/>
                </a:rPr>
                <a:t>운영 준비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7581900" y="3429000"/>
              <a:ext cx="1600200" cy="3048000"/>
            </a:xfrm>
            <a:prstGeom prst="roundRect">
              <a:avLst>
                <a:gd name="adj" fmla="val 9524"/>
              </a:avLst>
            </a:prstGeom>
            <a:solidFill>
              <a:srgbClr val="FFFFFF"/>
            </a:solidFill>
            <a:ln w="14288">
              <a:solidFill>
                <a:srgbClr val="E8DDD7"/>
              </a:solidFill>
            </a:ln>
          </p:spPr>
        </p:sp>
        <p:sp>
          <p:nvSpPr>
            <p:cNvPr id="45" name="Ellipse 45"/>
            <p:cNvSpPr/>
            <p:nvPr/>
          </p:nvSpPr>
          <p:spPr>
            <a:xfrm>
              <a:off x="8115300" y="3638550"/>
              <a:ext cx="533400" cy="533400"/>
            </a:xfrm>
            <a:prstGeom prst="ellipse">
              <a:avLst/>
            </a:prstGeom>
            <a:solidFill>
              <a:srgbClr val="FDF6F4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251698" y="3787140"/>
              <a:ext cx="26060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💳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151495" y="4346258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65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결제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151495" y="4632008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65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연동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766304" y="5172075"/>
              <a:ext cx="12313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500" dirty="0">
                  <a:solidFill>
                    <a:srgbClr val="33332F"/>
                  </a:solidFill>
                  <a:latin typeface="Arial"/>
                  <a:ea typeface="Malgun Gothic"/>
                  <a:cs typeface="Arial"/>
                </a:rPr>
                <a:t>해외 결제 PG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808976" y="5457825"/>
              <a:ext cx="11460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500" dirty="0">
                  <a:solidFill>
                    <a:srgbClr val="33332F"/>
                  </a:solidFill>
                  <a:latin typeface="Arial"/>
                  <a:ea typeface="Malgun Gothic"/>
                  <a:cs typeface="Arial"/>
                </a:rPr>
                <a:t>및 정산 계좌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172450" y="574357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500" dirty="0">
                  <a:solidFill>
                    <a:srgbClr val="33332F"/>
                  </a:solidFill>
                  <a:latin typeface="Arial"/>
                  <a:ea typeface="Malgun Gothic"/>
                  <a:cs typeface="Arial"/>
                </a:rPr>
                <a:t>연결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58546" y="372428"/>
            <a:ext cx="3956799" cy="784860"/>
            <a:chOff x="558546" y="372428"/>
            <a:chExt cx="3956799" cy="784860"/>
          </a:xfrm>
        </p:grpSpPr>
        <p:sp>
          <p:nvSpPr>
            <p:cNvPr id="2" name="TextBox 2"/>
            <p:cNvSpPr txBox="1"/>
            <p:nvPr/>
          </p:nvSpPr>
          <p:spPr>
            <a:xfrm>
              <a:off x="558546" y="372428"/>
              <a:ext cx="39567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55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글로벌 AI 커머스의 등장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62356" y="796290"/>
              <a:ext cx="154851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756E5F"/>
                  </a:solidFill>
                  <a:latin typeface="Arial"/>
                  <a:ea typeface="Malgun Gothic"/>
                  <a:cs typeface="Arial"/>
                </a:rPr>
                <a:t>생각해 봅시다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1123950"/>
              <a:ext cx="571500" cy="33338"/>
            </a:xfrm>
            <a:prstGeom prst="roundRect">
              <a:avLst>
                <a:gd name="adj" fmla="val 50000"/>
              </a:avLst>
            </a:prstGeom>
            <a:solidFill>
              <a:srgbClr val="F8DA92"/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71500" y="1285875"/>
            <a:ext cx="8610600" cy="857250"/>
            <a:chOff x="571500" y="1285875"/>
            <a:chExt cx="8610600" cy="857250"/>
          </a:xfrm>
        </p:grpSpPr>
        <p:sp>
          <p:nvSpPr>
            <p:cNvPr id="6" name="Rectangle 6"/>
            <p:cNvSpPr/>
            <p:nvPr/>
          </p:nvSpPr>
          <p:spPr>
            <a:xfrm>
              <a:off x="571500" y="1285875"/>
              <a:ext cx="8610600" cy="857250"/>
            </a:xfrm>
            <a:prstGeom prst="roundRect">
              <a:avLst>
                <a:gd name="adj" fmla="val 17778"/>
              </a:avLst>
            </a:prstGeom>
            <a:solidFill>
              <a:srgbClr val="4B4535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43737" y="1452086"/>
              <a:ext cx="1917943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720" b="1" dirty="0">
                  <a:solidFill>
                    <a:srgbClr val="F8DA92"/>
                  </a:solidFill>
                  <a:latin typeface="Arial"/>
                  <a:ea typeface="Malgun Gothic"/>
                  <a:cs typeface="Arial"/>
                </a:rPr>
                <a:t>물론 다 맞습니다.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42975" y="1740694"/>
              <a:ext cx="6544229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80" b="1" dirty="0">
                  <a:solidFill>
                    <a:srgbClr val="FFFFFF"/>
                  </a:solidFill>
                  <a:latin typeface="Arial"/>
                  <a:ea typeface="Malgun Gothic"/>
                  <a:cs typeface="Arial"/>
                </a:rPr>
                <a:t>그런데 실제로는 그보다 먼저 물어야 할 질문이 있습니다.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571500" y="2333625"/>
            <a:ext cx="8610600" cy="4429125"/>
            <a:chOff x="571500" y="2333625"/>
            <a:chExt cx="8610600" cy="4429125"/>
          </a:xfrm>
        </p:grpSpPr>
        <p:sp>
          <p:nvSpPr>
            <p:cNvPr id="10" name="Rectangle 10"/>
            <p:cNvSpPr/>
            <p:nvPr/>
          </p:nvSpPr>
          <p:spPr>
            <a:xfrm>
              <a:off x="571500" y="2333625"/>
              <a:ext cx="4152900" cy="1333500"/>
            </a:xfrm>
            <a:prstGeom prst="roundRect">
              <a:avLst>
                <a:gd name="adj" fmla="val 11429"/>
              </a:avLst>
            </a:prstGeom>
            <a:solidFill>
              <a:srgbClr val="FFFFFF"/>
            </a:solidFill>
            <a:ln w="14288">
              <a:solidFill>
                <a:srgbClr val="E8DDD7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809625" y="2571750"/>
              <a:ext cx="381000" cy="381000"/>
            </a:xfrm>
            <a:prstGeom prst="roundRect">
              <a:avLst>
                <a:gd name="adj" fmla="val 50000"/>
              </a:avLst>
            </a:prstGeom>
            <a:solidFill>
              <a:srgbClr val="FEF7E6"/>
            </a:solidFill>
            <a:ln w="9525">
              <a:solidFill>
                <a:srgbClr val="F8DA92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46887" y="2667000"/>
              <a:ext cx="3064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4B4535"/>
                  </a:solidFill>
                  <a:latin typeface="Arial"/>
                  <a:ea typeface="Arial"/>
                  <a:cs typeface="Arial"/>
                </a:rPr>
                <a:t>Q1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25118" y="2631758"/>
              <a:ext cx="14894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고객 수요 검증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325118" y="3012758"/>
              <a:ext cx="222577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해외 고객이 이 상품을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325118" y="3298508"/>
              <a:ext cx="15477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정말 원하는가?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029200" y="2333625"/>
              <a:ext cx="4152900" cy="1333500"/>
            </a:xfrm>
            <a:prstGeom prst="roundRect">
              <a:avLst>
                <a:gd name="adj" fmla="val 11429"/>
              </a:avLst>
            </a:prstGeom>
            <a:solidFill>
              <a:srgbClr val="FFFFFF"/>
            </a:solidFill>
            <a:ln w="14288">
              <a:solidFill>
                <a:srgbClr val="E8DDD7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267325" y="2571750"/>
              <a:ext cx="381000" cy="381000"/>
            </a:xfrm>
            <a:prstGeom prst="roundRect">
              <a:avLst>
                <a:gd name="adj" fmla="val 50000"/>
              </a:avLst>
            </a:prstGeom>
            <a:solidFill>
              <a:srgbClr val="FEF7E6"/>
            </a:solidFill>
            <a:ln w="9525">
              <a:solidFill>
                <a:srgbClr val="F8DA92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304587" y="2667000"/>
              <a:ext cx="3064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4B4535"/>
                  </a:solidFill>
                  <a:latin typeface="Arial"/>
                  <a:ea typeface="Arial"/>
                  <a:cs typeface="Arial"/>
                </a:rPr>
                <a:t>Q2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782818" y="2631758"/>
              <a:ext cx="14894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경쟁 강도 파악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782818" y="3012758"/>
              <a:ext cx="14194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비슷한 상품은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782818" y="3298508"/>
              <a:ext cx="206196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이미 얼마나 많은가?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71500" y="3857625"/>
              <a:ext cx="4152900" cy="1333500"/>
            </a:xfrm>
            <a:prstGeom prst="roundRect">
              <a:avLst>
                <a:gd name="adj" fmla="val 11429"/>
              </a:avLst>
            </a:prstGeom>
            <a:solidFill>
              <a:srgbClr val="FFFFFF"/>
            </a:solidFill>
            <a:ln w="14288">
              <a:solidFill>
                <a:srgbClr val="E8DDD7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809625" y="4095750"/>
              <a:ext cx="381000" cy="381000"/>
            </a:xfrm>
            <a:prstGeom prst="roundRect">
              <a:avLst>
                <a:gd name="adj" fmla="val 50000"/>
              </a:avLst>
            </a:prstGeom>
            <a:solidFill>
              <a:srgbClr val="FEF7E6"/>
            </a:solidFill>
            <a:ln w="9525">
              <a:solidFill>
                <a:srgbClr val="F8DA92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46887" y="4191000"/>
              <a:ext cx="3064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4B4535"/>
                  </a:solidFill>
                  <a:latin typeface="Arial"/>
                  <a:ea typeface="Arial"/>
                  <a:cs typeface="Arial"/>
                </a:rPr>
                <a:t>Q3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325118" y="4155758"/>
              <a:ext cx="11973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차별화 요소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325118" y="4536758"/>
              <a:ext cx="9752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내 상품은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325118" y="4822508"/>
              <a:ext cx="15477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무엇이 다른가?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029200" y="3857625"/>
              <a:ext cx="4152900" cy="1333500"/>
            </a:xfrm>
            <a:prstGeom prst="roundRect">
              <a:avLst>
                <a:gd name="adj" fmla="val 11429"/>
              </a:avLst>
            </a:prstGeom>
            <a:solidFill>
              <a:srgbClr val="FFFFFF"/>
            </a:solidFill>
            <a:ln w="14288">
              <a:solidFill>
                <a:srgbClr val="E8DDD7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5267325" y="4095750"/>
              <a:ext cx="381000" cy="381000"/>
            </a:xfrm>
            <a:prstGeom prst="roundRect">
              <a:avLst>
                <a:gd name="adj" fmla="val 50000"/>
              </a:avLst>
            </a:prstGeom>
            <a:solidFill>
              <a:srgbClr val="FEF7E6"/>
            </a:solidFill>
            <a:ln w="9525">
              <a:solidFill>
                <a:srgbClr val="F8DA92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304587" y="4191000"/>
              <a:ext cx="3064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4B4535"/>
                  </a:solidFill>
                  <a:latin typeface="Arial"/>
                  <a:ea typeface="Arial"/>
                  <a:cs typeface="Arial"/>
                </a:rPr>
                <a:t>Q4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782818" y="4155758"/>
              <a:ext cx="222577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가격 및 배송비 타당성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782818" y="4536758"/>
              <a:ext cx="18637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배송비를 포함해도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782818" y="4822508"/>
              <a:ext cx="18398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살 만한 가격인가?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71500" y="5381625"/>
              <a:ext cx="4152900" cy="1381125"/>
            </a:xfrm>
            <a:prstGeom prst="roundRect">
              <a:avLst>
                <a:gd name="adj" fmla="val 11034"/>
              </a:avLst>
            </a:prstGeom>
            <a:solidFill>
              <a:srgbClr val="FFFFFF"/>
            </a:solidFill>
            <a:ln w="14288">
              <a:solidFill>
                <a:srgbClr val="E8DDD7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809625" y="5619750"/>
              <a:ext cx="381000" cy="381000"/>
            </a:xfrm>
            <a:prstGeom prst="roundRect">
              <a:avLst>
                <a:gd name="adj" fmla="val 50000"/>
              </a:avLst>
            </a:prstGeom>
            <a:solidFill>
              <a:srgbClr val="FBEEEC"/>
            </a:solidFill>
            <a:ln w="9525">
              <a:solidFill>
                <a:srgbClr val="EDA796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46887" y="5715000"/>
              <a:ext cx="3064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EDA796"/>
                  </a:solidFill>
                  <a:latin typeface="Arial"/>
                  <a:ea typeface="Arial"/>
                  <a:cs typeface="Arial"/>
                </a:rPr>
                <a:t>Q5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325118" y="5679758"/>
              <a:ext cx="11973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초기 신뢰도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325118" y="6060758"/>
              <a:ext cx="267002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리뷰가 없는 신규 판매자를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325118" y="6346508"/>
              <a:ext cx="235405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고객이 믿을 수 있는가?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029200" y="5381625"/>
              <a:ext cx="4152900" cy="1381125"/>
            </a:xfrm>
            <a:prstGeom prst="roundRect">
              <a:avLst>
                <a:gd name="adj" fmla="val 11034"/>
              </a:avLst>
            </a:prstGeom>
            <a:solidFill>
              <a:srgbClr val="FFFFFF"/>
            </a:solidFill>
            <a:ln w="14288">
              <a:solidFill>
                <a:srgbClr val="E8DDD7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5267325" y="5619750"/>
              <a:ext cx="381000" cy="381000"/>
            </a:xfrm>
            <a:prstGeom prst="roundRect">
              <a:avLst>
                <a:gd name="adj" fmla="val 50000"/>
              </a:avLst>
            </a:prstGeom>
            <a:solidFill>
              <a:srgbClr val="FBEEEC"/>
            </a:solidFill>
            <a:ln w="9525">
              <a:solidFill>
                <a:srgbClr val="EDA796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304587" y="5715000"/>
              <a:ext cx="3064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EDA796"/>
                  </a:solidFill>
                  <a:latin typeface="Arial"/>
                  <a:ea typeface="Arial"/>
                  <a:cs typeface="Arial"/>
                </a:rPr>
                <a:t>Q6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782818" y="5679758"/>
              <a:ext cx="215249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AI 검색·추천 최적화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782818" y="6060758"/>
              <a:ext cx="225165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AI 검색이나 추천에서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782818" y="6346508"/>
              <a:ext cx="316036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내 상품이 잘 설명될 수 있는가?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58546" y="372428"/>
            <a:ext cx="3956799" cy="784860"/>
            <a:chOff x="558546" y="372428"/>
            <a:chExt cx="3956799" cy="784860"/>
          </a:xfrm>
        </p:grpSpPr>
        <p:sp>
          <p:nvSpPr>
            <p:cNvPr id="2" name="TextBox 2"/>
            <p:cNvSpPr txBox="1"/>
            <p:nvPr/>
          </p:nvSpPr>
          <p:spPr>
            <a:xfrm>
              <a:off x="558546" y="372428"/>
              <a:ext cx="39567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55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글로벌 AI 커머스의 등장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62356" y="796290"/>
              <a:ext cx="154851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756E5F"/>
                  </a:solidFill>
                  <a:latin typeface="Arial"/>
                  <a:ea typeface="Malgun Gothic"/>
                  <a:cs typeface="Arial"/>
                </a:rPr>
                <a:t>생각해 봅시다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1123950"/>
              <a:ext cx="571500" cy="33338"/>
            </a:xfrm>
            <a:prstGeom prst="roundRect">
              <a:avLst>
                <a:gd name="adj" fmla="val 50000"/>
              </a:avLst>
            </a:prstGeom>
            <a:solidFill>
              <a:srgbClr val="F8DA92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71500" y="1333500"/>
            <a:ext cx="8610600" cy="1047750"/>
            <a:chOff x="571500" y="1333500"/>
            <a:chExt cx="8610600" cy="1047750"/>
          </a:xfrm>
        </p:grpSpPr>
        <p:sp>
          <p:nvSpPr>
            <p:cNvPr id="6" name="Rectangle 6"/>
            <p:cNvSpPr/>
            <p:nvPr/>
          </p:nvSpPr>
          <p:spPr>
            <a:xfrm>
              <a:off x="571500" y="1333500"/>
              <a:ext cx="8610600" cy="1047750"/>
            </a:xfrm>
            <a:prstGeom prst="roundRect">
              <a:avLst>
                <a:gd name="adj" fmla="val 16364"/>
              </a:avLst>
            </a:prstGeom>
            <a:solidFill>
              <a:srgbClr val="FBEEEC"/>
            </a:solidFill>
            <a:ln w="19050">
              <a:solidFill>
                <a:srgbClr val="EDA796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41832" y="1725930"/>
              <a:ext cx="67446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이 질문을 하지 않고 상품부터 올리면 어떻게 될까요?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571500" y="2667000"/>
            <a:ext cx="8610600" cy="3714750"/>
            <a:chOff x="571500" y="2667000"/>
            <a:chExt cx="8610600" cy="3714750"/>
          </a:xfrm>
        </p:grpSpPr>
        <p:sp>
          <p:nvSpPr>
            <p:cNvPr id="9" name="Rectangle 9"/>
            <p:cNvSpPr/>
            <p:nvPr/>
          </p:nvSpPr>
          <p:spPr>
            <a:xfrm>
              <a:off x="571500" y="2667000"/>
              <a:ext cx="1962150" cy="3714750"/>
            </a:xfrm>
            <a:prstGeom prst="roundRect">
              <a:avLst>
                <a:gd name="adj" fmla="val 8738"/>
              </a:avLst>
            </a:prstGeom>
            <a:solidFill>
              <a:srgbClr val="FFFFFF"/>
            </a:solidFill>
            <a:ln w="14288">
              <a:solidFill>
                <a:srgbClr val="E8DDD7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1285875" y="2876550"/>
              <a:ext cx="533400" cy="533400"/>
            </a:xfrm>
            <a:prstGeom prst="ellipse">
              <a:avLst/>
            </a:prstGeom>
            <a:solidFill>
              <a:srgbClr val="FDF6F4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422273" y="3025140"/>
              <a:ext cx="26060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❌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809625" y="3571875"/>
              <a:ext cx="1485900" cy="342900"/>
            </a:xfrm>
            <a:prstGeom prst="roundRect">
              <a:avLst>
                <a:gd name="adj" fmla="val 50000"/>
              </a:avLst>
            </a:prstGeom>
            <a:solidFill>
              <a:srgbClr val="756E5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101143" y="3664268"/>
              <a:ext cx="9028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350" b="1" dirty="0">
                  <a:solidFill>
                    <a:srgbClr val="FFFFFF"/>
                  </a:solidFill>
                  <a:latin typeface="Arial"/>
                  <a:ea typeface="Malgun Gothic"/>
                  <a:cs typeface="Arial"/>
                </a:rPr>
                <a:t>1단계 실패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211008" y="42986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65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미노출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211008" y="48701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65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상품은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88885" y="5203508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65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올라갔는데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96794" y="5584508"/>
              <a:ext cx="171156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650" b="1" dirty="0">
                  <a:solidFill>
                    <a:srgbClr val="EDA796"/>
                  </a:solidFill>
                  <a:latin typeface="Arial"/>
                  <a:ea typeface="Malgun Gothic"/>
                  <a:cs typeface="Arial"/>
                </a:rPr>
                <a:t>아무도 보지 않음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599944" y="4313872"/>
              <a:ext cx="1641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dirty="0">
                  <a:solidFill>
                    <a:srgbClr val="756E5F"/>
                  </a:solidFill>
                  <a:latin typeface="Arial"/>
                  <a:ea typeface="Arial"/>
                  <a:cs typeface="Arial"/>
                </a:rPr>
                <a:t>→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2781300" y="2667000"/>
              <a:ext cx="1962150" cy="3714750"/>
            </a:xfrm>
            <a:prstGeom prst="roundRect">
              <a:avLst>
                <a:gd name="adj" fmla="val 8738"/>
              </a:avLst>
            </a:prstGeom>
            <a:solidFill>
              <a:srgbClr val="FFFFFF"/>
            </a:solidFill>
            <a:ln w="14288">
              <a:solidFill>
                <a:srgbClr val="E8DDD7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3495675" y="2876550"/>
              <a:ext cx="533400" cy="533400"/>
            </a:xfrm>
            <a:prstGeom prst="ellipse">
              <a:avLst/>
            </a:prstGeom>
            <a:solidFill>
              <a:srgbClr val="FDF6F4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632073" y="3025140"/>
              <a:ext cx="26060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❓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3019425" y="3571875"/>
              <a:ext cx="1485900" cy="342900"/>
            </a:xfrm>
            <a:prstGeom prst="roundRect">
              <a:avLst>
                <a:gd name="adj" fmla="val 50000"/>
              </a:avLst>
            </a:prstGeom>
            <a:solidFill>
              <a:srgbClr val="756E5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310943" y="3664268"/>
              <a:ext cx="9028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350" b="1" dirty="0">
                  <a:solidFill>
                    <a:srgbClr val="FFFFFF"/>
                  </a:solidFill>
                  <a:latin typeface="Arial"/>
                  <a:ea typeface="Malgun Gothic"/>
                  <a:cs typeface="Arial"/>
                </a:rPr>
                <a:t>2단계 실패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531870" y="429863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65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불신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309747" y="50606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65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보더라도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274763" y="5441632"/>
              <a:ext cx="9752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650" b="1" dirty="0">
                  <a:solidFill>
                    <a:srgbClr val="EDA796"/>
                  </a:solidFill>
                  <a:latin typeface="Arial"/>
                  <a:ea typeface="Malgun Gothic"/>
                  <a:cs typeface="Arial"/>
                </a:rPr>
                <a:t>믿지 않음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809744" y="4313872"/>
              <a:ext cx="1641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dirty="0">
                  <a:solidFill>
                    <a:srgbClr val="756E5F"/>
                  </a:solidFill>
                  <a:latin typeface="Arial"/>
                  <a:ea typeface="Arial"/>
                  <a:cs typeface="Arial"/>
                </a:rPr>
                <a:t>→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4991100" y="2667000"/>
              <a:ext cx="1962150" cy="3714750"/>
            </a:xfrm>
            <a:prstGeom prst="roundRect">
              <a:avLst>
                <a:gd name="adj" fmla="val 8738"/>
              </a:avLst>
            </a:prstGeom>
            <a:solidFill>
              <a:srgbClr val="FFFFFF"/>
            </a:solidFill>
            <a:ln w="14288">
              <a:solidFill>
                <a:srgbClr val="E8DDD7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5705475" y="2876550"/>
              <a:ext cx="533400" cy="533400"/>
            </a:xfrm>
            <a:prstGeom prst="ellipse">
              <a:avLst/>
            </a:prstGeom>
            <a:solidFill>
              <a:srgbClr val="FDF6F4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841873" y="3025140"/>
              <a:ext cx="26060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💸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229225" y="3571875"/>
              <a:ext cx="1485900" cy="342900"/>
            </a:xfrm>
            <a:prstGeom prst="roundRect">
              <a:avLst>
                <a:gd name="adj" fmla="val 50000"/>
              </a:avLst>
            </a:prstGeom>
            <a:solidFill>
              <a:srgbClr val="756E5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520743" y="3664268"/>
              <a:ext cx="9028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350" b="1" dirty="0">
                  <a:solidFill>
                    <a:srgbClr val="FFFFFF"/>
                  </a:solidFill>
                  <a:latin typeface="Arial"/>
                  <a:ea typeface="Malgun Gothic"/>
                  <a:cs typeface="Arial"/>
                </a:rPr>
                <a:t>3단계 실패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484563" y="4298632"/>
              <a:ext cx="9752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65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비용 이탈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630608" y="48701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65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믿어도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262440" y="5203508"/>
              <a:ext cx="14194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65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배송비 때문에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630608" y="5584508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650" b="1" dirty="0">
                  <a:solidFill>
                    <a:srgbClr val="EDA796"/>
                  </a:solidFill>
                  <a:latin typeface="Arial"/>
                  <a:ea typeface="Malgun Gothic"/>
                  <a:cs typeface="Arial"/>
                </a:rPr>
                <a:t>이탈함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019544" y="4313872"/>
              <a:ext cx="1641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dirty="0">
                  <a:solidFill>
                    <a:srgbClr val="756E5F"/>
                  </a:solidFill>
                  <a:latin typeface="Arial"/>
                  <a:ea typeface="Arial"/>
                  <a:cs typeface="Arial"/>
                </a:rPr>
                <a:t>→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7200900" y="2667000"/>
              <a:ext cx="1981200" cy="3714750"/>
            </a:xfrm>
            <a:prstGeom prst="roundRect">
              <a:avLst>
                <a:gd name="adj" fmla="val 8654"/>
              </a:avLst>
            </a:prstGeom>
            <a:solidFill>
              <a:srgbClr val="FFFFFF"/>
            </a:solidFill>
            <a:ln w="14288">
              <a:solidFill>
                <a:srgbClr val="E8DDD7"/>
              </a:solidFill>
            </a:ln>
          </p:spPr>
        </p:sp>
        <p:sp>
          <p:nvSpPr>
            <p:cNvPr id="39" name="Ellipse 39"/>
            <p:cNvSpPr/>
            <p:nvPr/>
          </p:nvSpPr>
          <p:spPr>
            <a:xfrm>
              <a:off x="7924800" y="2876550"/>
              <a:ext cx="533400" cy="533400"/>
            </a:xfrm>
            <a:prstGeom prst="ellipse">
              <a:avLst/>
            </a:prstGeom>
            <a:solidFill>
              <a:srgbClr val="FBEEEC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061198" y="3025140"/>
              <a:ext cx="26060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⚠️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7448550" y="3571875"/>
              <a:ext cx="1485900" cy="342900"/>
            </a:xfrm>
            <a:prstGeom prst="roundRect">
              <a:avLst>
                <a:gd name="adj" fmla="val 50000"/>
              </a:avLst>
            </a:prstGeom>
            <a:solidFill>
              <a:srgbClr val="EDA796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740068" y="3664268"/>
              <a:ext cx="9028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350" b="1" dirty="0">
                  <a:solidFill>
                    <a:srgbClr val="FFFFFF"/>
                  </a:solidFill>
                  <a:latin typeface="Arial"/>
                  <a:ea typeface="Malgun Gothic"/>
                  <a:cs typeface="Arial"/>
                </a:rPr>
                <a:t>4단계 실패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703888" y="4298632"/>
              <a:ext cx="9752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65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구매 포기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259642" y="4870132"/>
              <a:ext cx="18637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65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배송비를 넘어서도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481765" y="5203508"/>
              <a:ext cx="14194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65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리뷰가 없어서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849934" y="5584508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650" b="1" dirty="0">
                  <a:solidFill>
                    <a:srgbClr val="EDA796"/>
                  </a:solidFill>
                  <a:latin typeface="Arial"/>
                  <a:ea typeface="Malgun Gothic"/>
                  <a:cs typeface="Arial"/>
                </a:rPr>
                <a:t>망설임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58546" y="372428"/>
            <a:ext cx="3956799" cy="784860"/>
            <a:chOff x="558546" y="372428"/>
            <a:chExt cx="3956799" cy="784860"/>
          </a:xfrm>
        </p:grpSpPr>
        <p:sp>
          <p:nvSpPr>
            <p:cNvPr id="2" name="TextBox 2"/>
            <p:cNvSpPr txBox="1"/>
            <p:nvPr/>
          </p:nvSpPr>
          <p:spPr>
            <a:xfrm>
              <a:off x="558546" y="372428"/>
              <a:ext cx="39567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55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글로벌 AI 커머스의 등장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62356" y="796290"/>
              <a:ext cx="154851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756E5F"/>
                  </a:solidFill>
                  <a:latin typeface="Arial"/>
                  <a:ea typeface="Malgun Gothic"/>
                  <a:cs typeface="Arial"/>
                </a:rPr>
                <a:t>생각해 봅시다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1123950"/>
              <a:ext cx="571500" cy="33338"/>
            </a:xfrm>
            <a:prstGeom prst="roundRect">
              <a:avLst>
                <a:gd name="adj" fmla="val 50000"/>
              </a:avLst>
            </a:prstGeom>
            <a:solidFill>
              <a:srgbClr val="F8DA92"/>
            </a:solidFill>
            <a:ln>
              <a:noFill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571500" y="1285875"/>
            <a:ext cx="8610600" cy="1428750"/>
            <a:chOff x="571500" y="1285875"/>
            <a:chExt cx="8610600" cy="1428750"/>
          </a:xfrm>
        </p:grpSpPr>
        <p:sp>
          <p:nvSpPr>
            <p:cNvPr id="6" name="Rectangle 6"/>
            <p:cNvSpPr/>
            <p:nvPr/>
          </p:nvSpPr>
          <p:spPr>
            <a:xfrm>
              <a:off x="571500" y="1285875"/>
              <a:ext cx="8610600" cy="142875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19050">
              <a:solidFill>
                <a:srgbClr val="E8DDD7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857250" y="1571625"/>
              <a:ext cx="1524000" cy="342900"/>
            </a:xfrm>
            <a:prstGeom prst="roundRect">
              <a:avLst>
                <a:gd name="adj" fmla="val 50000"/>
              </a:avLst>
            </a:prstGeom>
            <a:solidFill>
              <a:srgbClr val="4B4535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09934" y="1664018"/>
              <a:ext cx="12186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350" b="1" dirty="0">
                  <a:solidFill>
                    <a:srgbClr val="FFFFFF"/>
                  </a:solidFill>
                  <a:latin typeface="Arial"/>
                  <a:ea typeface="Malgun Gothic"/>
                  <a:cs typeface="Arial"/>
                </a:rPr>
                <a:t>결론 및 방향성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45820" y="2043112"/>
              <a:ext cx="607098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25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 xml:space="preserve">글로벌 AI 커머스는 </a:t>
              </a:r>
              <a:r>
                <a:rPr lang="ko-KR" sz="2250" b="1" dirty="0">
                  <a:solidFill>
                    <a:srgbClr val="756E5F"/>
                  </a:solidFill>
                  <a:latin typeface="Arial"/>
                  <a:ea typeface="Malgun Gothic"/>
                  <a:cs typeface="Arial"/>
                </a:rPr>
                <a:t>단순한 판매기술이 아님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571500" y="2905125"/>
            <a:ext cx="8610600" cy="3905250"/>
            <a:chOff x="571500" y="2905125"/>
            <a:chExt cx="8610600" cy="3905250"/>
          </a:xfrm>
        </p:grpSpPr>
        <p:sp>
          <p:nvSpPr>
            <p:cNvPr id="11" name="Rectangle 11"/>
            <p:cNvSpPr/>
            <p:nvPr/>
          </p:nvSpPr>
          <p:spPr>
            <a:xfrm>
              <a:off x="571500" y="2905125"/>
              <a:ext cx="8610600" cy="3905250"/>
            </a:xfrm>
            <a:prstGeom prst="roundRect">
              <a:avLst>
                <a:gd name="adj" fmla="val 4878"/>
              </a:avLst>
            </a:prstGeom>
            <a:solidFill>
              <a:srgbClr val="FEF7E6"/>
            </a:solidFill>
            <a:ln w="19050">
              <a:solidFill>
                <a:srgbClr val="F8DA92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42975" y="3178969"/>
              <a:ext cx="4866272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8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5대 요소를 유기적으로 연결하는 종합 전략</a:t>
              </a:r>
            </a:p>
          </p:txBody>
        </p:sp>
        <p:grpSp>
          <p:nvGrpSpPr>
            <p:cNvPr id="48" name="Group 48"/>
            <p:cNvGrpSpPr/>
            <p:nvPr/>
          </p:nvGrpSpPr>
          <p:grpSpPr>
            <a:xfrm>
              <a:off x="857250" y="3714750"/>
              <a:ext cx="8029575" cy="2667000"/>
              <a:chOff x="857250" y="3714750"/>
              <a:chExt cx="8029575" cy="266700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857250" y="3714750"/>
                <a:ext cx="1476375" cy="2667000"/>
              </a:xfrm>
              <a:prstGeom prst="roundRect">
                <a:avLst>
                  <a:gd name="adj" fmla="val 10323"/>
                </a:avLst>
              </a:prstGeom>
              <a:solidFill>
                <a:srgbClr val="FFFFFF"/>
              </a:solidFill>
              <a:ln w="14288">
                <a:solidFill>
                  <a:srgbClr val="E8DDD7"/>
                </a:solidFill>
              </a:ln>
            </p:spPr>
          </p:sp>
          <p:sp>
            <p:nvSpPr>
              <p:cNvPr id="14" name="Ellipse 14"/>
              <p:cNvSpPr/>
              <p:nvPr/>
            </p:nvSpPr>
            <p:spPr>
              <a:xfrm>
                <a:off x="1323975" y="3924300"/>
                <a:ext cx="533400" cy="533400"/>
              </a:xfrm>
              <a:prstGeom prst="ellipse">
                <a:avLst/>
              </a:prstGeom>
              <a:solidFill>
                <a:srgbClr val="FDF6F4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460373" y="4072890"/>
                <a:ext cx="26060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🎯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118819" y="4671536"/>
                <a:ext cx="943712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720" b="1" dirty="0">
                    <a:solidFill>
                      <a:srgbClr val="4B4535"/>
                    </a:solidFill>
                    <a:latin typeface="Arial"/>
                    <a:ea typeface="Malgun Gothic"/>
                    <a:cs typeface="Arial"/>
                  </a:rPr>
                  <a:t>고객발견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047940" y="5172075"/>
                <a:ext cx="108546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00" dirty="0">
                    <a:solidFill>
                      <a:srgbClr val="33332F"/>
                    </a:solidFill>
                    <a:latin typeface="Arial"/>
                    <a:ea typeface="Malgun Gothic"/>
                    <a:cs typeface="Arial"/>
                  </a:rPr>
                  <a:t>글로벌 타깃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148906" y="5505450"/>
                <a:ext cx="88353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00" dirty="0">
                    <a:solidFill>
                      <a:srgbClr val="33332F"/>
                    </a:solidFill>
                    <a:latin typeface="Arial"/>
                    <a:ea typeface="Malgun Gothic"/>
                    <a:cs typeface="Arial"/>
                  </a:rPr>
                  <a:t>고객 니즈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148906" y="5838825"/>
                <a:ext cx="88353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00" dirty="0">
                    <a:solidFill>
                      <a:srgbClr val="33332F"/>
                    </a:solidFill>
                    <a:latin typeface="Arial"/>
                    <a:ea typeface="Malgun Gothic"/>
                    <a:cs typeface="Arial"/>
                  </a:rPr>
                  <a:t>정밀 발굴</a:t>
                </a:r>
              </a:p>
            </p:txBody>
          </p:sp>
          <p:sp>
            <p:nvSpPr>
              <p:cNvPr id="20" name="Rectangle 20"/>
              <p:cNvSpPr/>
              <p:nvPr/>
            </p:nvSpPr>
            <p:spPr>
              <a:xfrm>
                <a:off x="2495550" y="3714750"/>
                <a:ext cx="1476375" cy="2667000"/>
              </a:xfrm>
              <a:prstGeom prst="roundRect">
                <a:avLst>
                  <a:gd name="adj" fmla="val 10323"/>
                </a:avLst>
              </a:prstGeom>
              <a:solidFill>
                <a:srgbClr val="FFFFFF"/>
              </a:solidFill>
              <a:ln w="14288">
                <a:solidFill>
                  <a:srgbClr val="E8DDD7"/>
                </a:solidFill>
              </a:ln>
            </p:spPr>
          </p:sp>
          <p:sp>
            <p:nvSpPr>
              <p:cNvPr id="21" name="Ellipse 21"/>
              <p:cNvSpPr/>
              <p:nvPr/>
            </p:nvSpPr>
            <p:spPr>
              <a:xfrm>
                <a:off x="2962275" y="3924300"/>
                <a:ext cx="533400" cy="533400"/>
              </a:xfrm>
              <a:prstGeom prst="ellipse">
                <a:avLst/>
              </a:prstGeom>
              <a:solidFill>
                <a:srgbClr val="FDF6F4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3098673" y="4072890"/>
                <a:ext cx="26060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🛡️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2720651" y="4671536"/>
                <a:ext cx="1016649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720" b="1" dirty="0">
                    <a:solidFill>
                      <a:srgbClr val="4B4535"/>
                    </a:solidFill>
                    <a:latin typeface="Arial"/>
                    <a:ea typeface="Malgun Gothic"/>
                    <a:cs typeface="Arial"/>
                  </a:rPr>
                  <a:t>신뢰 설계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2630710" y="5172075"/>
                <a:ext cx="119653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00" dirty="0">
                    <a:solidFill>
                      <a:srgbClr val="33332F"/>
                    </a:solidFill>
                    <a:latin typeface="Arial"/>
                    <a:ea typeface="Malgun Gothic"/>
                    <a:cs typeface="Arial"/>
                  </a:rPr>
                  <a:t>투명한 정보,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2731675" y="5505450"/>
                <a:ext cx="99460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00" dirty="0">
                    <a:solidFill>
                      <a:srgbClr val="33332F"/>
                    </a:solidFill>
                    <a:latin typeface="Arial"/>
                    <a:ea typeface="Malgun Gothic"/>
                    <a:cs typeface="Arial"/>
                  </a:rPr>
                  <a:t>리뷰 요약,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2787206" y="5838825"/>
                <a:ext cx="88353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00" dirty="0">
                    <a:solidFill>
                      <a:srgbClr val="33332F"/>
                    </a:solidFill>
                    <a:latin typeface="Arial"/>
                    <a:ea typeface="Malgun Gothic"/>
                    <a:cs typeface="Arial"/>
                  </a:rPr>
                  <a:t>인증 확보</a:t>
                </a:r>
              </a:p>
            </p:txBody>
          </p:sp>
          <p:sp>
            <p:nvSpPr>
              <p:cNvPr id="27" name="Rectangle 27"/>
              <p:cNvSpPr/>
              <p:nvPr/>
            </p:nvSpPr>
            <p:spPr>
              <a:xfrm>
                <a:off x="4133850" y="3714750"/>
                <a:ext cx="1476375" cy="2667000"/>
              </a:xfrm>
              <a:prstGeom prst="roundRect">
                <a:avLst>
                  <a:gd name="adj" fmla="val 10323"/>
                </a:avLst>
              </a:prstGeom>
              <a:solidFill>
                <a:srgbClr val="FFFFFF"/>
              </a:solidFill>
              <a:ln w="14288">
                <a:solidFill>
                  <a:srgbClr val="E8DDD7"/>
                </a:solidFill>
              </a:ln>
            </p:spPr>
          </p:sp>
          <p:sp>
            <p:nvSpPr>
              <p:cNvPr id="28" name="Ellipse 28"/>
              <p:cNvSpPr/>
              <p:nvPr/>
            </p:nvSpPr>
            <p:spPr>
              <a:xfrm>
                <a:off x="4600575" y="3924300"/>
                <a:ext cx="533400" cy="533400"/>
              </a:xfrm>
              <a:prstGeom prst="ellipse">
                <a:avLst/>
              </a:prstGeom>
              <a:solidFill>
                <a:srgbClr val="FDF6F4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4736973" y="4072890"/>
                <a:ext cx="26060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🏢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4243177" y="4671536"/>
                <a:ext cx="1248195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720" b="1" dirty="0">
                    <a:solidFill>
                      <a:srgbClr val="4B4535"/>
                    </a:solidFill>
                    <a:latin typeface="Arial"/>
                    <a:ea typeface="Malgun Gothic"/>
                    <a:cs typeface="Arial"/>
                  </a:rPr>
                  <a:t>플랫폼 이해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213479" y="5172075"/>
                <a:ext cx="130759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00" dirty="0">
                    <a:solidFill>
                      <a:srgbClr val="33332F"/>
                    </a:solidFill>
                    <a:latin typeface="Arial"/>
                    <a:ea typeface="Malgun Gothic"/>
                    <a:cs typeface="Arial"/>
                  </a:rPr>
                  <a:t>아마존, 쇼피,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4324540" y="5505450"/>
                <a:ext cx="108546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00" dirty="0">
                    <a:solidFill>
                      <a:srgbClr val="33332F"/>
                    </a:solidFill>
                    <a:latin typeface="Arial"/>
                    <a:ea typeface="Malgun Gothic"/>
                    <a:cs typeface="Arial"/>
                  </a:rPr>
                  <a:t>쇼피파이 등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4324540" y="5838825"/>
                <a:ext cx="108546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00" dirty="0">
                    <a:solidFill>
                      <a:srgbClr val="33332F"/>
                    </a:solidFill>
                    <a:latin typeface="Arial"/>
                    <a:ea typeface="Malgun Gothic"/>
                    <a:cs typeface="Arial"/>
                  </a:rPr>
                  <a:t>생태계 분석</a:t>
                </a:r>
              </a:p>
            </p:txBody>
          </p:sp>
          <p:sp>
            <p:nvSpPr>
              <p:cNvPr id="34" name="Rectangle 34"/>
              <p:cNvSpPr/>
              <p:nvPr/>
            </p:nvSpPr>
            <p:spPr>
              <a:xfrm>
                <a:off x="5772150" y="3714750"/>
                <a:ext cx="1476375" cy="2667000"/>
              </a:xfrm>
              <a:prstGeom prst="roundRect">
                <a:avLst>
                  <a:gd name="adj" fmla="val 10323"/>
                </a:avLst>
              </a:prstGeom>
              <a:solidFill>
                <a:srgbClr val="FFFFFF"/>
              </a:solidFill>
              <a:ln w="14288">
                <a:solidFill>
                  <a:srgbClr val="E8DDD7"/>
                </a:solidFill>
              </a:ln>
            </p:spPr>
          </p:sp>
          <p:sp>
            <p:nvSpPr>
              <p:cNvPr id="35" name="Ellipse 35"/>
              <p:cNvSpPr/>
              <p:nvPr/>
            </p:nvSpPr>
            <p:spPr>
              <a:xfrm>
                <a:off x="6238875" y="3924300"/>
                <a:ext cx="533400" cy="533400"/>
              </a:xfrm>
              <a:prstGeom prst="ellipse">
                <a:avLst/>
              </a:prstGeom>
              <a:solidFill>
                <a:srgbClr val="FDF6F4"/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6375273" y="4072890"/>
                <a:ext cx="26060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🤖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6104450" y="4671536"/>
                <a:ext cx="802250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720" b="1" dirty="0">
                    <a:solidFill>
                      <a:srgbClr val="4B4535"/>
                    </a:solidFill>
                    <a:latin typeface="Arial"/>
                    <a:ea typeface="Malgun Gothic"/>
                    <a:cs typeface="Arial"/>
                  </a:rPr>
                  <a:t>AI 활용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5937599" y="5172075"/>
                <a:ext cx="113595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00" dirty="0">
                    <a:solidFill>
                      <a:srgbClr val="33332F"/>
                    </a:solidFill>
                    <a:latin typeface="Arial"/>
                    <a:ea typeface="Malgun Gothic"/>
                    <a:cs typeface="Arial"/>
                  </a:rPr>
                  <a:t>상세페이지,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5851779" y="5505450"/>
                <a:ext cx="130759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00" dirty="0">
                    <a:solidFill>
                      <a:srgbClr val="33332F"/>
                    </a:solidFill>
                    <a:latin typeface="Arial"/>
                    <a:ea typeface="Malgun Gothic"/>
                    <a:cs typeface="Arial"/>
                  </a:rPr>
                  <a:t>번역, 콘텐츠,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5962841" y="5838825"/>
                <a:ext cx="108546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00" dirty="0">
                    <a:solidFill>
                      <a:srgbClr val="33332F"/>
                    </a:solidFill>
                    <a:latin typeface="Arial"/>
                    <a:ea typeface="Malgun Gothic"/>
                    <a:cs typeface="Arial"/>
                  </a:rPr>
                  <a:t>데이터 분석</a:t>
                </a:r>
              </a:p>
            </p:txBody>
          </p:sp>
          <p:sp>
            <p:nvSpPr>
              <p:cNvPr id="41" name="Rectangle 41"/>
              <p:cNvSpPr/>
              <p:nvPr/>
            </p:nvSpPr>
            <p:spPr>
              <a:xfrm>
                <a:off x="7410450" y="3714750"/>
                <a:ext cx="1476375" cy="2667000"/>
              </a:xfrm>
              <a:prstGeom prst="roundRect">
                <a:avLst>
                  <a:gd name="adj" fmla="val 10323"/>
                </a:avLst>
              </a:prstGeom>
              <a:solidFill>
                <a:srgbClr val="FFFFFF"/>
              </a:solidFill>
              <a:ln w="14288">
                <a:solidFill>
                  <a:srgbClr val="E8DDD7"/>
                </a:solidFill>
              </a:ln>
            </p:spPr>
          </p:sp>
          <p:sp>
            <p:nvSpPr>
              <p:cNvPr id="42" name="Ellipse 42"/>
              <p:cNvSpPr/>
              <p:nvPr/>
            </p:nvSpPr>
            <p:spPr>
              <a:xfrm>
                <a:off x="7877175" y="3924300"/>
                <a:ext cx="533400" cy="533400"/>
              </a:xfrm>
              <a:prstGeom prst="ellipse">
                <a:avLst/>
              </a:prstGeom>
              <a:solidFill>
                <a:srgbClr val="FDF6F4"/>
              </a:soli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8013573" y="4072890"/>
                <a:ext cx="26060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⚙️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7635551" y="4671536"/>
                <a:ext cx="1016649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720" b="1" dirty="0">
                    <a:solidFill>
                      <a:srgbClr val="4B4535"/>
                    </a:solidFill>
                    <a:latin typeface="Arial"/>
                    <a:ea typeface="Malgun Gothic"/>
                    <a:cs typeface="Arial"/>
                  </a:rPr>
                  <a:t>운영 관리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7656195" y="5172075"/>
                <a:ext cx="97536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00" dirty="0">
                    <a:solidFill>
                      <a:srgbClr val="33332F"/>
                    </a:solidFill>
                    <a:latin typeface="Arial"/>
                    <a:ea typeface="Malgun Gothic"/>
                    <a:cs typeface="Arial"/>
                  </a:rPr>
                  <a:t>물류, CS,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7646575" y="5505450"/>
                <a:ext cx="99460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00" dirty="0">
                    <a:solidFill>
                      <a:srgbClr val="33332F"/>
                    </a:solidFill>
                    <a:latin typeface="Arial"/>
                    <a:ea typeface="Malgun Gothic"/>
                    <a:cs typeface="Arial"/>
                  </a:rPr>
                  <a:t>재고 예측,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7601141" y="5838825"/>
                <a:ext cx="108546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00" dirty="0">
                    <a:solidFill>
                      <a:srgbClr val="33332F"/>
                    </a:solidFill>
                    <a:latin typeface="Arial"/>
                    <a:ea typeface="Malgun Gothic"/>
                    <a:cs typeface="Arial"/>
                  </a:rPr>
                  <a:t>리스크 관리</a:t>
                </a:r>
              </a:p>
            </p:txBody>
          </p:sp>
        </p:grp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0668000" cy="7810500"/>
            <a:chOff x="0" y="0"/>
            <a:chExt cx="10668000" cy="7810500"/>
          </a:xfrm>
        </p:grpSpPr>
        <p:sp>
          <p:nvSpPr>
            <p:cNvPr id="2" name="Ellipse 2"/>
            <p:cNvSpPr/>
            <p:nvPr/>
          </p:nvSpPr>
          <p:spPr>
            <a:xfrm>
              <a:off x="6858000" y="0"/>
              <a:ext cx="3048000" cy="3048000"/>
            </a:xfrm>
            <a:prstGeom prst="ellipse">
              <a:avLst/>
            </a:prstGeom>
            <a:solidFill>
              <a:srgbClr val="FEF7E6">
                <a:alpha val="80000"/>
              </a:srgbClr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6858000" y="4000500"/>
              <a:ext cx="3810000" cy="3810000"/>
            </a:xfrm>
            <a:prstGeom prst="ellipse">
              <a:avLst/>
            </a:prstGeom>
            <a:solidFill>
              <a:srgbClr val="FBEEEC">
                <a:alpha val="70000"/>
              </a:srgbClr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0" y="5143500"/>
              <a:ext cx="2286000" cy="2286000"/>
            </a:xfrm>
            <a:prstGeom prst="ellipse">
              <a:avLst/>
            </a:prstGeom>
            <a:solidFill>
              <a:srgbClr val="FEF7E6">
                <a:alpha val="60000"/>
              </a:srgbClr>
            </a:solidFill>
            <a:ln>
              <a:noFill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762000" y="1333500"/>
            <a:ext cx="8229600" cy="4648200"/>
            <a:chOff x="762000" y="1333500"/>
            <a:chExt cx="8229600" cy="4648200"/>
          </a:xfrm>
        </p:grpSpPr>
        <p:sp>
          <p:nvSpPr>
            <p:cNvPr id="6" name="Rectangle 6"/>
            <p:cNvSpPr/>
            <p:nvPr/>
          </p:nvSpPr>
          <p:spPr>
            <a:xfrm>
              <a:off x="762000" y="1333500"/>
              <a:ext cx="8229600" cy="4648200"/>
            </a:xfrm>
            <a:prstGeom prst="roundRect">
              <a:avLst>
                <a:gd name="adj" fmla="val 4918"/>
              </a:avLst>
            </a:prstGeom>
            <a:solidFill>
              <a:srgbClr val="FFFFFF"/>
            </a:solidFill>
            <a:ln w="19050">
              <a:solidFill>
                <a:srgbClr val="E8DDD7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762000" y="1333500"/>
              <a:ext cx="8229600" cy="114300"/>
            </a:xfrm>
            <a:prstGeom prst="roundRect">
              <a:avLst>
                <a:gd name="adj" fmla="val 50000"/>
              </a:avLst>
            </a:prstGeom>
            <a:solidFill>
              <a:srgbClr val="F8DA92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1333500" y="2000250"/>
              <a:ext cx="1714500" cy="419100"/>
            </a:xfrm>
            <a:prstGeom prst="roundRect">
              <a:avLst>
                <a:gd name="adj" fmla="val 50000"/>
              </a:avLst>
            </a:prstGeom>
            <a:solidFill>
              <a:srgbClr val="4B4535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595056" y="2114550"/>
              <a:ext cx="119138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CHAPTER 01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20546" y="2820352"/>
              <a:ext cx="661003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55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글로벌 이커머스에서 글로벌 AI 커머스로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333500" y="3619500"/>
              <a:ext cx="7086600" cy="952500"/>
            </a:xfrm>
            <a:prstGeom prst="roundRect">
              <a:avLst>
                <a:gd name="adj" fmla="val 16000"/>
              </a:avLst>
            </a:prstGeom>
            <a:solidFill>
              <a:srgbClr val="FDF6F4"/>
            </a:solidFill>
            <a:ln w="14288">
              <a:solidFill>
                <a:srgbClr val="E8DDD7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610487" y="4004786"/>
              <a:ext cx="6724071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720" b="1" dirty="0">
                  <a:solidFill>
                    <a:srgbClr val="756E5F"/>
                  </a:solidFill>
                  <a:latin typeface="Arial"/>
                  <a:ea typeface="Malgun Gothic"/>
                  <a:cs typeface="Arial"/>
                </a:rPr>
                <a:t>기존 글로벌 이커머스의 한계를 넘어 AI 중심 커머스로의 전환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1333500" y="5143500"/>
              <a:ext cx="7086600" cy="9525"/>
            </a:xfrm>
            <a:custGeom>
              <a:avLst/>
              <a:gdLst/>
              <a:ahLst/>
              <a:cxnLst/>
              <a:rect l="l" t="t" r="r" b="b"/>
              <a:pathLst>
                <a:path w="7086600" h="9525">
                  <a:moveTo>
                    <a:pt x="0" y="0"/>
                  </a:moveTo>
                  <a:lnTo>
                    <a:pt x="7086600" y="0"/>
                  </a:lnTo>
                </a:path>
              </a:pathLst>
            </a:custGeom>
            <a:noFill/>
            <a:ln w="14288">
              <a:solidFill>
                <a:srgbClr val="E8DDD7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325118" y="5346382"/>
              <a:ext cx="26089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EDA796"/>
                  </a:solidFill>
                  <a:latin typeface="Arial"/>
                  <a:ea typeface="Malgun Gothic"/>
                  <a:cs typeface="Arial"/>
                </a:rPr>
                <a:t>글로벌 AI 커머스 | 1주차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58546" y="372428"/>
            <a:ext cx="6610038" cy="784860"/>
            <a:chOff x="558546" y="372428"/>
            <a:chExt cx="6610038" cy="784860"/>
          </a:xfrm>
        </p:grpSpPr>
        <p:sp>
          <p:nvSpPr>
            <p:cNvPr id="2" name="TextBox 2"/>
            <p:cNvSpPr txBox="1"/>
            <p:nvPr/>
          </p:nvSpPr>
          <p:spPr>
            <a:xfrm>
              <a:off x="558546" y="372428"/>
              <a:ext cx="661003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55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글로벌 이커머스에서 글로벌 AI 커머스로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62356" y="796290"/>
              <a:ext cx="315506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756E5F"/>
                  </a:solidFill>
                  <a:latin typeface="Arial"/>
                  <a:ea typeface="Malgun Gothic"/>
                  <a:cs typeface="Arial"/>
                </a:rPr>
                <a:t>기존 글로벌 이커머스의 특징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1123950"/>
              <a:ext cx="571500" cy="33338"/>
            </a:xfrm>
            <a:prstGeom prst="roundRect">
              <a:avLst>
                <a:gd name="adj" fmla="val 50000"/>
              </a:avLst>
            </a:prstGeom>
            <a:solidFill>
              <a:srgbClr val="F8DA92"/>
            </a:solidFill>
            <a:ln>
              <a:noFill/>
            </a:ln>
          </p:spPr>
        </p:sp>
      </p:grpSp>
      <p:grpSp>
        <p:nvGrpSpPr>
          <p:cNvPr id="41" name="Group 41"/>
          <p:cNvGrpSpPr/>
          <p:nvPr/>
        </p:nvGrpSpPr>
        <p:grpSpPr>
          <a:xfrm>
            <a:off x="571500" y="1381125"/>
            <a:ext cx="8610600" cy="5429250"/>
            <a:chOff x="571500" y="1381125"/>
            <a:chExt cx="8610600" cy="5429250"/>
          </a:xfrm>
        </p:grpSpPr>
        <p:sp>
          <p:nvSpPr>
            <p:cNvPr id="6" name="Rectangle 6"/>
            <p:cNvSpPr/>
            <p:nvPr/>
          </p:nvSpPr>
          <p:spPr>
            <a:xfrm>
              <a:off x="571500" y="1381125"/>
              <a:ext cx="8610600" cy="5429250"/>
            </a:xfrm>
            <a:prstGeom prst="roundRect">
              <a:avLst>
                <a:gd name="adj" fmla="val 3509"/>
              </a:avLst>
            </a:prstGeom>
            <a:solidFill>
              <a:srgbClr val="FFFFFF"/>
            </a:solidFill>
            <a:ln w="19050">
              <a:solidFill>
                <a:srgbClr val="E8DDD7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571500" y="1381125"/>
              <a:ext cx="8610600" cy="571500"/>
            </a:xfrm>
            <a:prstGeom prst="roundRect">
              <a:avLst>
                <a:gd name="adj" fmla="val 33333"/>
              </a:avLst>
            </a:prstGeom>
            <a:solidFill>
              <a:srgbClr val="4B4535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714500"/>
              <a:ext cx="8610600" cy="238125"/>
            </a:xfrm>
            <a:prstGeom prst="rect">
              <a:avLst/>
            </a:prstGeom>
            <a:solidFill>
              <a:srgbClr val="4B4535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324737" y="1547336"/>
              <a:ext cx="48061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720" b="1" dirty="0">
                  <a:solidFill>
                    <a:srgbClr val="FFFFFF"/>
                  </a:solidFill>
                  <a:latin typeface="Arial"/>
                  <a:ea typeface="Malgun Gothic"/>
                  <a:cs typeface="Arial"/>
                </a:rPr>
                <a:t>구분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991737" y="1547336"/>
              <a:ext cx="2247318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720" b="1" dirty="0">
                  <a:solidFill>
                    <a:srgbClr val="FFFFFF"/>
                  </a:solidFill>
                  <a:latin typeface="Arial"/>
                  <a:ea typeface="Malgun Gothic"/>
                  <a:cs typeface="Arial"/>
                </a:rPr>
                <a:t>기존 글로벌 이커머스</a:t>
              </a:r>
            </a:p>
          </p:txBody>
        </p:sp>
        <p:grpSp>
          <p:nvGrpSpPr>
            <p:cNvPr id="16" name="Group 16"/>
            <p:cNvGrpSpPr/>
            <p:nvPr/>
          </p:nvGrpSpPr>
          <p:grpSpPr>
            <a:xfrm>
              <a:off x="571500" y="1952625"/>
              <a:ext cx="8610600" cy="962025"/>
              <a:chOff x="571500" y="1952625"/>
              <a:chExt cx="8610600" cy="962025"/>
            </a:xfrm>
          </p:grpSpPr>
          <p:sp>
            <p:nvSpPr>
              <p:cNvPr id="11" name="Rectangle 11"/>
              <p:cNvSpPr/>
              <p:nvPr/>
            </p:nvSpPr>
            <p:spPr>
              <a:xfrm>
                <a:off x="571500" y="1952625"/>
                <a:ext cx="8610600" cy="952500"/>
              </a:xfrm>
              <a:prstGeom prst="rect">
                <a:avLst/>
              </a:prstGeom>
              <a:solidFill>
                <a:srgbClr val="FDF6F4"/>
              </a:solidFill>
              <a:ln>
                <a:noFill/>
              </a:ln>
            </p:spPr>
          </p:sp>
          <p:sp>
            <p:nvSpPr>
              <p:cNvPr id="12" name="Rectangle 12"/>
              <p:cNvSpPr/>
              <p:nvPr/>
            </p:nvSpPr>
            <p:spPr>
              <a:xfrm>
                <a:off x="952500" y="2219325"/>
                <a:ext cx="1238250" cy="419100"/>
              </a:xfrm>
              <a:prstGeom prst="roundRect">
                <a:avLst>
                  <a:gd name="adj" fmla="val 50000"/>
                </a:avLst>
              </a:prstGeom>
              <a:solidFill>
                <a:srgbClr val="F2ECE9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1084013" y="2317432"/>
                <a:ext cx="97522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650" b="1" dirty="0">
                    <a:solidFill>
                      <a:srgbClr val="4B4535"/>
                    </a:solidFill>
                    <a:latin typeface="Arial"/>
                    <a:ea typeface="Malgun Gothic"/>
                    <a:cs typeface="Arial"/>
                  </a:rPr>
                  <a:t>핵심 활동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2848356" y="2310765"/>
                <a:ext cx="453081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800" b="1" dirty="0">
                    <a:solidFill>
                      <a:srgbClr val="33332F"/>
                    </a:solidFill>
                    <a:latin typeface="Arial"/>
                    <a:ea typeface="Malgun Gothic"/>
                    <a:cs typeface="Arial"/>
                  </a:rPr>
                  <a:t>해외 플랫폼 입점, 상품 등록, 배송, 결제</a:t>
                </a:r>
              </a:p>
            </p:txBody>
          </p:sp>
          <p:sp>
            <p:nvSpPr>
              <p:cNvPr id="15" name="Line 15"/>
              <p:cNvSpPr/>
              <p:nvPr/>
            </p:nvSpPr>
            <p:spPr>
              <a:xfrm>
                <a:off x="571500" y="2905125"/>
                <a:ext cx="8610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610600" h="9525">
                    <a:moveTo>
                      <a:pt x="0" y="0"/>
                    </a:moveTo>
                    <a:lnTo>
                      <a:pt x="8610600" y="0"/>
                    </a:lnTo>
                  </a:path>
                </a:pathLst>
              </a:custGeom>
              <a:noFill/>
              <a:ln w="9525">
                <a:solidFill>
                  <a:srgbClr val="E8DDD7"/>
                </a:solidFill>
              </a:ln>
            </p:spPr>
          </p:sp>
        </p:grpSp>
        <p:grpSp>
          <p:nvGrpSpPr>
            <p:cNvPr id="22" name="Group 22"/>
            <p:cNvGrpSpPr/>
            <p:nvPr/>
          </p:nvGrpSpPr>
          <p:grpSpPr>
            <a:xfrm>
              <a:off x="571500" y="2905125"/>
              <a:ext cx="8610600" cy="962025"/>
              <a:chOff x="571500" y="2905125"/>
              <a:chExt cx="8610600" cy="962025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571500" y="2905125"/>
                <a:ext cx="8610600" cy="9525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8" name="Rectangle 18"/>
              <p:cNvSpPr/>
              <p:nvPr/>
            </p:nvSpPr>
            <p:spPr>
              <a:xfrm>
                <a:off x="952500" y="3171825"/>
                <a:ext cx="1238250" cy="419100"/>
              </a:xfrm>
              <a:prstGeom prst="roundRect">
                <a:avLst>
                  <a:gd name="adj" fmla="val 50000"/>
                </a:avLst>
              </a:prstGeom>
              <a:solidFill>
                <a:srgbClr val="F2ECE9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1084013" y="3269932"/>
                <a:ext cx="97522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650" b="1" dirty="0">
                    <a:solidFill>
                      <a:srgbClr val="4B4535"/>
                    </a:solidFill>
                    <a:latin typeface="Arial"/>
                    <a:ea typeface="Malgun Gothic"/>
                    <a:cs typeface="Arial"/>
                  </a:rPr>
                  <a:t>판매 방식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2848356" y="3263265"/>
                <a:ext cx="162484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800" b="1" dirty="0">
                    <a:solidFill>
                      <a:srgbClr val="33332F"/>
                    </a:solidFill>
                    <a:latin typeface="Arial"/>
                    <a:ea typeface="Malgun Gothic"/>
                    <a:cs typeface="Arial"/>
                  </a:rPr>
                  <a:t>검색 기반 판매</a:t>
                </a:r>
              </a:p>
            </p:txBody>
          </p:sp>
          <p:sp>
            <p:nvSpPr>
              <p:cNvPr id="21" name="Line 21"/>
              <p:cNvSpPr/>
              <p:nvPr/>
            </p:nvSpPr>
            <p:spPr>
              <a:xfrm>
                <a:off x="571500" y="3857625"/>
                <a:ext cx="8610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610600" h="9525">
                    <a:moveTo>
                      <a:pt x="0" y="0"/>
                    </a:moveTo>
                    <a:lnTo>
                      <a:pt x="8610600" y="0"/>
                    </a:lnTo>
                  </a:path>
                </a:pathLst>
              </a:custGeom>
              <a:noFill/>
              <a:ln w="9525">
                <a:solidFill>
                  <a:srgbClr val="E8DDD7"/>
                </a:solidFill>
              </a:ln>
            </p:spPr>
          </p:sp>
        </p:grpSp>
        <p:grpSp>
          <p:nvGrpSpPr>
            <p:cNvPr id="28" name="Group 28"/>
            <p:cNvGrpSpPr/>
            <p:nvPr/>
          </p:nvGrpSpPr>
          <p:grpSpPr>
            <a:xfrm>
              <a:off x="571500" y="3857625"/>
              <a:ext cx="8610600" cy="962025"/>
              <a:chOff x="571500" y="3857625"/>
              <a:chExt cx="8610600" cy="962025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571500" y="3857625"/>
                <a:ext cx="8610600" cy="952500"/>
              </a:xfrm>
              <a:prstGeom prst="rect">
                <a:avLst/>
              </a:prstGeom>
              <a:solidFill>
                <a:srgbClr val="FDF6F4"/>
              </a:solidFill>
              <a:ln>
                <a:noFill/>
              </a:ln>
            </p:spPr>
          </p:sp>
          <p:sp>
            <p:nvSpPr>
              <p:cNvPr id="24" name="Rectangle 24"/>
              <p:cNvSpPr/>
              <p:nvPr/>
            </p:nvSpPr>
            <p:spPr>
              <a:xfrm>
                <a:off x="952500" y="4124325"/>
                <a:ext cx="1238250" cy="419100"/>
              </a:xfrm>
              <a:prstGeom prst="roundRect">
                <a:avLst>
                  <a:gd name="adj" fmla="val 50000"/>
                </a:avLst>
              </a:prstGeom>
              <a:solidFill>
                <a:srgbClr val="F2ECE9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1084013" y="4222432"/>
                <a:ext cx="97522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650" b="1" dirty="0">
                    <a:solidFill>
                      <a:srgbClr val="4B4535"/>
                    </a:solidFill>
                    <a:latin typeface="Arial"/>
                    <a:ea typeface="Malgun Gothic"/>
                    <a:cs typeface="Arial"/>
                  </a:rPr>
                  <a:t>고객 접점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2848356" y="4215765"/>
                <a:ext cx="263166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800" b="1" dirty="0">
                    <a:solidFill>
                      <a:srgbClr val="33332F"/>
                    </a:solidFill>
                    <a:latin typeface="Arial"/>
                    <a:ea typeface="Malgun Gothic"/>
                    <a:cs typeface="Arial"/>
                  </a:rPr>
                  <a:t>상품페이지, 리뷰, 광고</a:t>
                </a:r>
              </a:p>
            </p:txBody>
          </p:sp>
          <p:sp>
            <p:nvSpPr>
              <p:cNvPr id="27" name="Line 27"/>
              <p:cNvSpPr/>
              <p:nvPr/>
            </p:nvSpPr>
            <p:spPr>
              <a:xfrm>
                <a:off x="571500" y="4810125"/>
                <a:ext cx="8610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610600" h="9525">
                    <a:moveTo>
                      <a:pt x="0" y="0"/>
                    </a:moveTo>
                    <a:lnTo>
                      <a:pt x="8610600" y="0"/>
                    </a:lnTo>
                  </a:path>
                </a:pathLst>
              </a:custGeom>
              <a:noFill/>
              <a:ln w="9525">
                <a:solidFill>
                  <a:srgbClr val="E8DDD7"/>
                </a:solidFill>
              </a:ln>
            </p:spPr>
          </p:sp>
        </p:grpSp>
        <p:grpSp>
          <p:nvGrpSpPr>
            <p:cNvPr id="34" name="Group 34"/>
            <p:cNvGrpSpPr/>
            <p:nvPr/>
          </p:nvGrpSpPr>
          <p:grpSpPr>
            <a:xfrm>
              <a:off x="571500" y="4810125"/>
              <a:ext cx="8610600" cy="962025"/>
              <a:chOff x="571500" y="4810125"/>
              <a:chExt cx="8610600" cy="962025"/>
            </a:xfrm>
          </p:grpSpPr>
          <p:sp>
            <p:nvSpPr>
              <p:cNvPr id="29" name="Rectangle 29"/>
              <p:cNvSpPr/>
              <p:nvPr/>
            </p:nvSpPr>
            <p:spPr>
              <a:xfrm>
                <a:off x="571500" y="4810125"/>
                <a:ext cx="8610600" cy="9525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0" name="Rectangle 30"/>
              <p:cNvSpPr/>
              <p:nvPr/>
            </p:nvSpPr>
            <p:spPr>
              <a:xfrm>
                <a:off x="952500" y="5076825"/>
                <a:ext cx="1238250" cy="419100"/>
              </a:xfrm>
              <a:prstGeom prst="roundRect">
                <a:avLst>
                  <a:gd name="adj" fmla="val 50000"/>
                </a:avLst>
              </a:prstGeom>
              <a:solidFill>
                <a:srgbClr val="F2ECE9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1084013" y="5174932"/>
                <a:ext cx="97522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650" b="1" dirty="0">
                    <a:solidFill>
                      <a:srgbClr val="4B4535"/>
                    </a:solidFill>
                    <a:latin typeface="Arial"/>
                    <a:ea typeface="Malgun Gothic"/>
                    <a:cs typeface="Arial"/>
                  </a:rPr>
                  <a:t>주요 역량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2848356" y="5168265"/>
                <a:ext cx="399590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800" b="1" dirty="0">
                    <a:solidFill>
                      <a:srgbClr val="33332F"/>
                    </a:solidFill>
                    <a:latin typeface="Arial"/>
                    <a:ea typeface="Malgun Gothic"/>
                    <a:cs typeface="Arial"/>
                  </a:rPr>
                  <a:t>플랫폼 이해, 가격경쟁력, 물류 처리</a:t>
                </a:r>
              </a:p>
            </p:txBody>
          </p:sp>
          <p:sp>
            <p:nvSpPr>
              <p:cNvPr id="33" name="Line 33"/>
              <p:cNvSpPr/>
              <p:nvPr/>
            </p:nvSpPr>
            <p:spPr>
              <a:xfrm>
                <a:off x="571500" y="5762625"/>
                <a:ext cx="8610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610600" h="9525">
                    <a:moveTo>
                      <a:pt x="0" y="0"/>
                    </a:moveTo>
                    <a:lnTo>
                      <a:pt x="8610600" y="0"/>
                    </a:lnTo>
                  </a:path>
                </a:pathLst>
              </a:custGeom>
              <a:noFill/>
              <a:ln w="9525">
                <a:solidFill>
                  <a:srgbClr val="E8DDD7"/>
                </a:solidFill>
              </a:ln>
            </p:spPr>
          </p:sp>
        </p:grpSp>
        <p:grpSp>
          <p:nvGrpSpPr>
            <p:cNvPr id="40" name="Group 40"/>
            <p:cNvGrpSpPr/>
            <p:nvPr/>
          </p:nvGrpSpPr>
          <p:grpSpPr>
            <a:xfrm>
              <a:off x="571500" y="5762625"/>
              <a:ext cx="8610600" cy="1047750"/>
              <a:chOff x="571500" y="5762625"/>
              <a:chExt cx="8610600" cy="1047750"/>
            </a:xfrm>
          </p:grpSpPr>
          <p:sp>
            <p:nvSpPr>
              <p:cNvPr id="35" name="Rectangle 35"/>
              <p:cNvSpPr/>
              <p:nvPr/>
            </p:nvSpPr>
            <p:spPr>
              <a:xfrm>
                <a:off x="571500" y="5762625"/>
                <a:ext cx="8610600" cy="1047750"/>
              </a:xfrm>
              <a:prstGeom prst="roundRect">
                <a:avLst>
                  <a:gd name="adj" fmla="val 18182"/>
                </a:avLst>
              </a:prstGeom>
              <a:solidFill>
                <a:srgbClr val="FDF6F4"/>
              </a:solidFill>
              <a:ln>
                <a:noFill/>
              </a:ln>
            </p:spPr>
          </p:sp>
          <p:sp>
            <p:nvSpPr>
              <p:cNvPr id="36" name="Rectangle 36"/>
              <p:cNvSpPr/>
              <p:nvPr/>
            </p:nvSpPr>
            <p:spPr>
              <a:xfrm>
                <a:off x="571500" y="5762625"/>
                <a:ext cx="8610600" cy="285750"/>
              </a:xfrm>
              <a:prstGeom prst="rect">
                <a:avLst/>
              </a:prstGeom>
              <a:solidFill>
                <a:srgbClr val="FDF6F4"/>
              </a:solidFill>
              <a:ln>
                <a:noFill/>
              </a:ln>
            </p:spPr>
          </p:sp>
          <p:sp>
            <p:nvSpPr>
              <p:cNvPr id="37" name="Rectangle 37"/>
              <p:cNvSpPr/>
              <p:nvPr/>
            </p:nvSpPr>
            <p:spPr>
              <a:xfrm>
                <a:off x="952500" y="6067425"/>
                <a:ext cx="1238250" cy="419100"/>
              </a:xfrm>
              <a:prstGeom prst="roundRect">
                <a:avLst>
                  <a:gd name="adj" fmla="val 50000"/>
                </a:avLst>
              </a:prstGeom>
              <a:solidFill>
                <a:srgbClr val="F2ECE9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972951" y="6165532"/>
                <a:ext cx="119734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650" b="1" dirty="0">
                    <a:solidFill>
                      <a:srgbClr val="4B4535"/>
                    </a:solidFill>
                    <a:latin typeface="Arial"/>
                    <a:ea typeface="Malgun Gothic"/>
                    <a:cs typeface="Arial"/>
                  </a:rPr>
                  <a:t>판매자 고민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2848356" y="6158865"/>
                <a:ext cx="490156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800" b="1" dirty="0">
                    <a:solidFill>
                      <a:srgbClr val="EDA796"/>
                    </a:solidFill>
                    <a:latin typeface="Arial"/>
                    <a:ea typeface="Malgun Gothic"/>
                    <a:cs typeface="Arial"/>
                  </a:rPr>
                  <a:t>어디에 입점할 것인가, 어떻게 배송할 것인가</a:t>
                </a:r>
              </a:p>
            </p:txBody>
          </p:sp>
        </p:grp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58546" y="372428"/>
            <a:ext cx="6610038" cy="784860"/>
            <a:chOff x="558546" y="372428"/>
            <a:chExt cx="6610038" cy="784860"/>
          </a:xfrm>
        </p:grpSpPr>
        <p:sp>
          <p:nvSpPr>
            <p:cNvPr id="2" name="TextBox 2"/>
            <p:cNvSpPr txBox="1"/>
            <p:nvPr/>
          </p:nvSpPr>
          <p:spPr>
            <a:xfrm>
              <a:off x="558546" y="372428"/>
              <a:ext cx="661003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55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글로벌 이커머스에서 글로벌 AI 커머스로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62356" y="796290"/>
              <a:ext cx="315506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756E5F"/>
                  </a:solidFill>
                  <a:latin typeface="Arial"/>
                  <a:ea typeface="Malgun Gothic"/>
                  <a:cs typeface="Arial"/>
                </a:rPr>
                <a:t>기존 글로벌 이커머스의 특징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1123950"/>
              <a:ext cx="571500" cy="33338"/>
            </a:xfrm>
            <a:prstGeom prst="roundRect">
              <a:avLst>
                <a:gd name="adj" fmla="val 50000"/>
              </a:avLst>
            </a:prstGeom>
            <a:solidFill>
              <a:srgbClr val="F8DA92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71500" y="1333500"/>
            <a:ext cx="8610600" cy="1777651"/>
            <a:chOff x="571500" y="1333500"/>
            <a:chExt cx="8610600" cy="1777651"/>
          </a:xfrm>
        </p:grpSpPr>
        <p:sp>
          <p:nvSpPr>
            <p:cNvPr id="6" name="Rectangle 6"/>
            <p:cNvSpPr/>
            <p:nvPr/>
          </p:nvSpPr>
          <p:spPr>
            <a:xfrm>
              <a:off x="571500" y="1333500"/>
              <a:ext cx="8610600" cy="1714500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 w="19050">
              <a:solidFill>
                <a:srgbClr val="E8DDD7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857250" y="1571625"/>
              <a:ext cx="1333500" cy="342900"/>
            </a:xfrm>
            <a:prstGeom prst="roundRect">
              <a:avLst>
                <a:gd name="adj" fmla="val 50000"/>
              </a:avLst>
            </a:prstGeom>
            <a:solidFill>
              <a:srgbClr val="4B4535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14684" y="1664018"/>
              <a:ext cx="12186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350" b="1" dirty="0">
                  <a:solidFill>
                    <a:srgbClr val="FFFFFF"/>
                  </a:solidFill>
                  <a:latin typeface="Arial"/>
                  <a:ea typeface="Malgun Gothic"/>
                  <a:cs typeface="Arial"/>
                </a:rPr>
                <a:t>기존 핵심 구조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47725" y="2035969"/>
              <a:ext cx="1031392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80" b="1" dirty="0">
                  <a:solidFill>
                    <a:srgbClr val="756E5F"/>
                  </a:solidFill>
                  <a:latin typeface="Arial"/>
                  <a:ea typeface="Malgun Gothic"/>
                  <a:cs typeface="Arial"/>
                </a:rPr>
                <a:t>기존에는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46963" y="2400776"/>
              <a:ext cx="3697780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02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“해외 플랫폼에 상품을 올리고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46963" y="2715101"/>
              <a:ext cx="6588421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02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고객이 검색해서 들어오게 만드는 구조”</a:t>
              </a:r>
              <a:r>
                <a:rPr lang="ko-KR" sz="2020" b="1" dirty="0">
                  <a:solidFill>
                    <a:srgbClr val="756E5F"/>
                  </a:solidFill>
                  <a:latin typeface="Arial"/>
                  <a:ea typeface="Malgun Gothic"/>
                  <a:cs typeface="Arial"/>
                </a:rPr>
                <a:t>가 중심이었음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71500" y="3238500"/>
            <a:ext cx="9460160" cy="3571875"/>
            <a:chOff x="571500" y="3238500"/>
            <a:chExt cx="9460160" cy="3571875"/>
          </a:xfrm>
        </p:grpSpPr>
        <p:sp>
          <p:nvSpPr>
            <p:cNvPr id="13" name="Rectangle 13"/>
            <p:cNvSpPr/>
            <p:nvPr/>
          </p:nvSpPr>
          <p:spPr>
            <a:xfrm>
              <a:off x="571500" y="3238500"/>
              <a:ext cx="8610600" cy="3571875"/>
            </a:xfrm>
            <a:prstGeom prst="roundRect">
              <a:avLst>
                <a:gd name="adj" fmla="val 5333"/>
              </a:avLst>
            </a:prstGeom>
            <a:solidFill>
              <a:srgbClr val="FEF7E6"/>
            </a:solidFill>
            <a:ln w="19050">
              <a:solidFill>
                <a:srgbClr val="F8DA92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3356" y="3425190"/>
              <a:ext cx="551143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대표 사례: Amazon 검색 기반 노출 경쟁 메커니즘</a:t>
              </a:r>
            </a:p>
          </p:txBody>
        </p:sp>
        <p:grpSp>
          <p:nvGrpSpPr>
            <p:cNvPr id="31" name="Group 31"/>
            <p:cNvGrpSpPr/>
            <p:nvPr/>
          </p:nvGrpSpPr>
          <p:grpSpPr>
            <a:xfrm>
              <a:off x="952500" y="3952875"/>
              <a:ext cx="9079160" cy="2428875"/>
              <a:chOff x="952500" y="3952875"/>
              <a:chExt cx="9079160" cy="2428875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952500" y="3952875"/>
                <a:ext cx="3524250" cy="2428875"/>
              </a:xfrm>
              <a:prstGeom prst="roundRect">
                <a:avLst>
                  <a:gd name="adj" fmla="val 6275"/>
                </a:avLst>
              </a:prstGeom>
              <a:solidFill>
                <a:srgbClr val="FFFFFF"/>
              </a:solidFill>
              <a:ln w="14288">
                <a:solidFill>
                  <a:srgbClr val="E8DDD7"/>
                </a:solidFill>
              </a:ln>
            </p:spPr>
          </p:sp>
          <p:sp>
            <p:nvSpPr>
              <p:cNvPr id="16" name="Ellipse 16"/>
              <p:cNvSpPr/>
              <p:nvPr/>
            </p:nvSpPr>
            <p:spPr>
              <a:xfrm>
                <a:off x="1285875" y="4191000"/>
                <a:ext cx="476250" cy="476250"/>
              </a:xfrm>
              <a:prstGeom prst="ellipse">
                <a:avLst/>
              </a:prstGeom>
              <a:solidFill>
                <a:srgbClr val="FDF6F4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404556" y="4327208"/>
                <a:ext cx="238887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👤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896237" y="4319111"/>
                <a:ext cx="1248195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720" b="1" dirty="0">
                    <a:solidFill>
                      <a:srgbClr val="4B4535"/>
                    </a:solidFill>
                    <a:latin typeface="Arial"/>
                    <a:ea typeface="Malgun Gothic"/>
                    <a:cs typeface="Arial"/>
                  </a:rPr>
                  <a:t>고객의 행동</a:t>
                </a:r>
              </a:p>
            </p:txBody>
          </p:sp>
          <p:sp>
            <p:nvSpPr>
              <p:cNvPr id="19" name="Rectangle 19"/>
              <p:cNvSpPr/>
              <p:nvPr/>
            </p:nvSpPr>
            <p:spPr>
              <a:xfrm>
                <a:off x="1238250" y="4857750"/>
                <a:ext cx="2952750" cy="666750"/>
              </a:xfrm>
              <a:prstGeom prst="roundRect">
                <a:avLst>
                  <a:gd name="adj" fmla="val 17143"/>
                </a:avLst>
              </a:prstGeom>
              <a:solidFill>
                <a:srgbClr val="FDF6F4"/>
              </a:solidFill>
              <a:ln w="9525">
                <a:solidFill>
                  <a:srgbClr val="E8DDD7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1421130" y="5105400"/>
                <a:ext cx="393993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b="1" dirty="0">
                    <a:solidFill>
                      <a:srgbClr val="4B4535"/>
                    </a:solidFill>
                    <a:latin typeface="Arial"/>
                    <a:ea typeface="Malgun Gothic"/>
                    <a:cs typeface="Arial"/>
                  </a:rPr>
                  <a:t>검색어 입력: “Stainless Steel Tumbler”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230249" y="5735479"/>
                <a:ext cx="3908806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70561" indent="-170561">
                  <a:buClr>
                    <a:srgbClr val="33332F"/>
                  </a:buClr>
                  <a:buSzTx/>
                  <a:buFontTx/>
                  <a:buChar char="•"/>
                </a:pPr>
                <a:r>
                  <a:rPr lang="ko-KR" sz="1580" dirty="0">
                    <a:solidFill>
                      <a:srgbClr val="33332F"/>
                    </a:solidFill>
                    <a:latin typeface="Arial"/>
                    <a:ea typeface="Malgun Gothic"/>
                    <a:cs typeface="Arial"/>
                  </a:rPr>
                  <a:t>명확한 목적을 가지고 직접 키워드 검색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4702683" y="4979670"/>
                <a:ext cx="202082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400" dirty="0">
                    <a:solidFill>
                      <a:srgbClr val="756E5F"/>
                    </a:solidFill>
                    <a:latin typeface="Arial"/>
                    <a:ea typeface="Arial"/>
                    <a:cs typeface="Arial"/>
                  </a:rPr>
                  <a:t>→</a:t>
                </a:r>
              </a:p>
            </p:txBody>
          </p:sp>
          <p:sp>
            <p:nvSpPr>
              <p:cNvPr id="23" name="Rectangle 23"/>
              <p:cNvSpPr/>
              <p:nvPr/>
            </p:nvSpPr>
            <p:spPr>
              <a:xfrm>
                <a:off x="5143500" y="3952875"/>
                <a:ext cx="3657600" cy="2428875"/>
              </a:xfrm>
              <a:prstGeom prst="roundRect">
                <a:avLst>
                  <a:gd name="adj" fmla="val 6275"/>
                </a:avLst>
              </a:prstGeom>
              <a:solidFill>
                <a:srgbClr val="FFFFFF"/>
              </a:solidFill>
              <a:ln w="14288">
                <a:solidFill>
                  <a:srgbClr val="E8DDD7"/>
                </a:solidFill>
              </a:ln>
            </p:spPr>
          </p:sp>
          <p:sp>
            <p:nvSpPr>
              <p:cNvPr id="24" name="Ellipse 24"/>
              <p:cNvSpPr/>
              <p:nvPr/>
            </p:nvSpPr>
            <p:spPr>
              <a:xfrm>
                <a:off x="5476875" y="4191000"/>
                <a:ext cx="476250" cy="476250"/>
              </a:xfrm>
              <a:prstGeom prst="ellipse">
                <a:avLst/>
              </a:prstGeom>
              <a:solidFill>
                <a:srgbClr val="FBEEEC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5595556" y="4327208"/>
                <a:ext cx="238887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🏪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6087237" y="4319111"/>
                <a:ext cx="2320255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720" b="1" dirty="0">
                    <a:solidFill>
                      <a:srgbClr val="4B4535"/>
                    </a:solidFill>
                    <a:latin typeface="Arial"/>
                    <a:ea typeface="Malgun Gothic"/>
                    <a:cs typeface="Arial"/>
                  </a:rPr>
                  <a:t>판매자의 대응 및 경쟁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5420868" y="4822508"/>
                <a:ext cx="3030114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87023" indent="-187023">
                  <a:buClr>
                    <a:srgbClr val="33332F"/>
                  </a:buClr>
                  <a:buSzTx/>
                  <a:buFontTx/>
                  <a:buChar char="•"/>
                </a:pPr>
                <a:r>
                  <a:rPr lang="ko-KR" sz="1650" b="1" dirty="0">
                    <a:solidFill>
                      <a:srgbClr val="33332F"/>
                    </a:solidFill>
                    <a:latin typeface="Arial"/>
                    <a:ea typeface="Malgun Gothic"/>
                    <a:cs typeface="Arial"/>
                  </a:rPr>
                  <a:t>검색 키워드 최적화 (SEO)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5420868" y="5184458"/>
                <a:ext cx="226064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87023" indent="-187023">
                  <a:buClr>
                    <a:srgbClr val="33332F"/>
                  </a:buClr>
                  <a:buSzTx/>
                  <a:buFontTx/>
                  <a:buChar char="•"/>
                </a:pPr>
                <a:r>
                  <a:rPr lang="ko-KR" sz="1650" b="1" dirty="0">
                    <a:solidFill>
                      <a:srgbClr val="33332F"/>
                    </a:solidFill>
                    <a:latin typeface="Arial"/>
                    <a:ea typeface="Malgun Gothic"/>
                    <a:cs typeface="Arial"/>
                  </a:rPr>
                  <a:t>리뷰 수 및 평점 확보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5420868" y="5546408"/>
                <a:ext cx="189858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87023" indent="-187023">
                  <a:buClr>
                    <a:srgbClr val="33332F"/>
                  </a:buClr>
                  <a:buSzTx/>
                  <a:buFontTx/>
                  <a:buChar char="•"/>
                </a:pPr>
                <a:r>
                  <a:rPr lang="ko-KR" sz="1650" b="1" dirty="0">
                    <a:solidFill>
                      <a:srgbClr val="33332F"/>
                    </a:solidFill>
                    <a:latin typeface="Arial"/>
                    <a:ea typeface="Malgun Gothic"/>
                    <a:cs typeface="Arial"/>
                  </a:rPr>
                  <a:t>가격 경쟁력 설정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5420868" y="5908358"/>
                <a:ext cx="461079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87023" indent="-187023">
                  <a:buClr>
                    <a:srgbClr val="33332F"/>
                  </a:buClr>
                  <a:buSzTx/>
                  <a:buFontTx/>
                  <a:buChar char="•"/>
                </a:pPr>
                <a:r>
                  <a:rPr lang="ko-KR" sz="1650" b="1" dirty="0">
                    <a:solidFill>
                      <a:srgbClr val="33332F"/>
                    </a:solidFill>
                    <a:latin typeface="Arial"/>
                    <a:ea typeface="Malgun Gothic"/>
                    <a:cs typeface="Arial"/>
                  </a:rPr>
                  <a:t>배송 조건(FBA 등)을 통한 상위 노출 경쟁</a:t>
                </a:r>
              </a:p>
            </p:txBody>
          </p:sp>
        </p:grp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58546" y="372428"/>
            <a:ext cx="6610038" cy="784860"/>
            <a:chOff x="558546" y="372428"/>
            <a:chExt cx="6610038" cy="784860"/>
          </a:xfrm>
        </p:grpSpPr>
        <p:sp>
          <p:nvSpPr>
            <p:cNvPr id="2" name="TextBox 2"/>
            <p:cNvSpPr txBox="1"/>
            <p:nvPr/>
          </p:nvSpPr>
          <p:spPr>
            <a:xfrm>
              <a:off x="558546" y="372428"/>
              <a:ext cx="661003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55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글로벌 이커머스에서 글로벌 AI 커머스로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62356" y="796290"/>
              <a:ext cx="279303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756E5F"/>
                  </a:solidFill>
                  <a:latin typeface="Arial"/>
                  <a:ea typeface="Malgun Gothic"/>
                  <a:cs typeface="Arial"/>
                </a:rPr>
                <a:t>글로벌 AI 커머스의 등장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1123950"/>
              <a:ext cx="571500" cy="33338"/>
            </a:xfrm>
            <a:prstGeom prst="roundRect">
              <a:avLst>
                <a:gd name="adj" fmla="val 50000"/>
              </a:avLst>
            </a:prstGeom>
            <a:solidFill>
              <a:srgbClr val="F8DA92"/>
            </a:solidFill>
            <a:ln>
              <a:noFill/>
            </a:ln>
          </p:spPr>
        </p:sp>
      </p:grpSp>
      <p:grpSp>
        <p:nvGrpSpPr>
          <p:cNvPr id="55" name="Group 55"/>
          <p:cNvGrpSpPr/>
          <p:nvPr/>
        </p:nvGrpSpPr>
        <p:grpSpPr>
          <a:xfrm>
            <a:off x="563118" y="1203008"/>
            <a:ext cx="8647857" cy="5654992"/>
            <a:chOff x="563118" y="1203008"/>
            <a:chExt cx="8647857" cy="5654992"/>
          </a:xfrm>
        </p:grpSpPr>
        <p:sp>
          <p:nvSpPr>
            <p:cNvPr id="6" name="TextBox 6"/>
            <p:cNvSpPr txBox="1"/>
            <p:nvPr/>
          </p:nvSpPr>
          <p:spPr>
            <a:xfrm>
              <a:off x="563118" y="1203008"/>
              <a:ext cx="40423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756E5F"/>
                  </a:solidFill>
                  <a:latin typeface="Arial"/>
                  <a:ea typeface="Malgun Gothic"/>
                  <a:cs typeface="Arial"/>
                </a:rPr>
                <a:t>AI가 들어오면서 구조가 달라지고 있음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571500" y="1571625"/>
              <a:ext cx="8610600" cy="5286375"/>
            </a:xfrm>
            <a:prstGeom prst="roundRect">
              <a:avLst>
                <a:gd name="adj" fmla="val 3243"/>
              </a:avLst>
            </a:prstGeom>
            <a:solidFill>
              <a:srgbClr val="FFFFFF"/>
            </a:solidFill>
            <a:ln w="19050">
              <a:solidFill>
                <a:srgbClr val="E8DDD7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571625"/>
              <a:ext cx="8610600" cy="523875"/>
            </a:xfrm>
            <a:prstGeom prst="roundRect">
              <a:avLst>
                <a:gd name="adj" fmla="val 32727"/>
              </a:avLst>
            </a:prstGeom>
            <a:solidFill>
              <a:srgbClr val="4B4535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571500" y="1857375"/>
              <a:ext cx="8610600" cy="238125"/>
            </a:xfrm>
            <a:prstGeom prst="rect">
              <a:avLst/>
            </a:prstGeom>
            <a:solidFill>
              <a:srgbClr val="4B4535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134618" y="172688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FFFFFF"/>
                  </a:solidFill>
                  <a:latin typeface="Arial"/>
                  <a:ea typeface="Malgun Gothic"/>
                  <a:cs typeface="Arial"/>
                </a:rPr>
                <a:t>구분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944368" y="1726882"/>
              <a:ext cx="215580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FFFFFF"/>
                  </a:solidFill>
                  <a:latin typeface="Arial"/>
                  <a:ea typeface="Malgun Gothic"/>
                  <a:cs typeface="Arial"/>
                </a:rPr>
                <a:t>기존 글로벌 이커머스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278118" y="1726882"/>
              <a:ext cx="256028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F8DA92"/>
                  </a:solidFill>
                  <a:latin typeface="Arial"/>
                  <a:ea typeface="Malgun Gothic"/>
                  <a:cs typeface="Arial"/>
                </a:rPr>
                <a:t>글로벌 AI 커머스의 등장</a:t>
              </a:r>
            </a:p>
          </p:txBody>
        </p:sp>
        <p:grpSp>
          <p:nvGrpSpPr>
            <p:cNvPr id="21" name="Group 21"/>
            <p:cNvGrpSpPr/>
            <p:nvPr/>
          </p:nvGrpSpPr>
          <p:grpSpPr>
            <a:xfrm>
              <a:off x="571500" y="2095500"/>
              <a:ext cx="8610600" cy="962025"/>
              <a:chOff x="571500" y="2095500"/>
              <a:chExt cx="8610600" cy="962025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571500" y="2095500"/>
                <a:ext cx="8610600" cy="952500"/>
              </a:xfrm>
              <a:prstGeom prst="rect">
                <a:avLst/>
              </a:prstGeom>
              <a:solidFill>
                <a:srgbClr val="FDF6F4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944499" y="2449354"/>
                <a:ext cx="933801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b="1" dirty="0">
                    <a:solidFill>
                      <a:srgbClr val="4B4535"/>
                    </a:solidFill>
                    <a:latin typeface="Arial"/>
                    <a:ea typeface="Malgun Gothic"/>
                    <a:cs typeface="Arial"/>
                  </a:rPr>
                  <a:t>핵심 활동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2468499" y="2344579"/>
                <a:ext cx="2844907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dirty="0">
                    <a:solidFill>
                      <a:srgbClr val="33332F"/>
                    </a:solidFill>
                    <a:latin typeface="Arial"/>
                    <a:ea typeface="Malgun Gothic"/>
                    <a:cs typeface="Arial"/>
                  </a:rPr>
                  <a:t>해외 플랫폼 입점, 상품 등록,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2468499" y="2630329"/>
                <a:ext cx="1047595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dirty="0">
                    <a:solidFill>
                      <a:srgbClr val="33332F"/>
                    </a:solidFill>
                    <a:latin typeface="Arial"/>
                    <a:ea typeface="Malgun Gothic"/>
                    <a:cs typeface="Arial"/>
                  </a:rPr>
                  <a:t>배송, 결제</a:t>
                </a:r>
              </a:p>
            </p:txBody>
          </p:sp>
          <p:sp>
            <p:nvSpPr>
              <p:cNvPr id="17" name="Rectangle 17"/>
              <p:cNvSpPr/>
              <p:nvPr/>
            </p:nvSpPr>
            <p:spPr>
              <a:xfrm>
                <a:off x="5524500" y="2190750"/>
                <a:ext cx="3524250" cy="762000"/>
              </a:xfrm>
              <a:prstGeom prst="roundRect">
                <a:avLst>
                  <a:gd name="adj" fmla="val 12500"/>
                </a:avLst>
              </a:prstGeom>
              <a:solidFill>
                <a:srgbClr val="FEF7E6"/>
              </a:solidFill>
              <a:ln w="9525">
                <a:solidFill>
                  <a:srgbClr val="F8DA92"/>
                </a:solidFill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5659374" y="2344579"/>
                <a:ext cx="3006719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b="1" dirty="0">
                    <a:solidFill>
                      <a:srgbClr val="4B4535"/>
                    </a:solidFill>
                    <a:latin typeface="Arial"/>
                    <a:ea typeface="Malgun Gothic"/>
                    <a:cs typeface="Arial"/>
                  </a:rPr>
                  <a:t>AI 기반 시장조사, 상품 기획,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5659374" y="2630329"/>
                <a:ext cx="2097268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b="1" dirty="0">
                    <a:solidFill>
                      <a:srgbClr val="4B4535"/>
                    </a:solidFill>
                    <a:latin typeface="Arial"/>
                    <a:ea typeface="Malgun Gothic"/>
                    <a:cs typeface="Arial"/>
                  </a:rPr>
                  <a:t>현지화, 추천, 자동화</a:t>
                </a:r>
              </a:p>
            </p:txBody>
          </p:sp>
          <p:sp>
            <p:nvSpPr>
              <p:cNvPr id="20" name="Line 20"/>
              <p:cNvSpPr/>
              <p:nvPr/>
            </p:nvSpPr>
            <p:spPr>
              <a:xfrm>
                <a:off x="571500" y="3048000"/>
                <a:ext cx="8610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610600" h="9525">
                    <a:moveTo>
                      <a:pt x="0" y="0"/>
                    </a:moveTo>
                    <a:lnTo>
                      <a:pt x="8610600" y="0"/>
                    </a:lnTo>
                  </a:path>
                </a:pathLst>
              </a:custGeom>
              <a:noFill/>
              <a:ln w="9525">
                <a:solidFill>
                  <a:srgbClr val="E8DDD7"/>
                </a:solidFill>
              </a:ln>
            </p:spPr>
          </p:sp>
        </p:grpSp>
        <p:grpSp>
          <p:nvGrpSpPr>
            <p:cNvPr id="28" name="Group 28"/>
            <p:cNvGrpSpPr/>
            <p:nvPr/>
          </p:nvGrpSpPr>
          <p:grpSpPr>
            <a:xfrm>
              <a:off x="571500" y="3048000"/>
              <a:ext cx="8639475" cy="914400"/>
              <a:chOff x="571500" y="3048000"/>
              <a:chExt cx="8639475" cy="91440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571500" y="3048000"/>
                <a:ext cx="8610600" cy="90487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944499" y="3401854"/>
                <a:ext cx="933801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b="1" dirty="0">
                    <a:solidFill>
                      <a:srgbClr val="4B4535"/>
                    </a:solidFill>
                    <a:latin typeface="Arial"/>
                    <a:ea typeface="Malgun Gothic"/>
                    <a:cs typeface="Arial"/>
                  </a:rPr>
                  <a:t>판매 방식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2468499" y="3401854"/>
                <a:ext cx="1419819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dirty="0">
                    <a:solidFill>
                      <a:srgbClr val="33332F"/>
                    </a:solidFill>
                    <a:latin typeface="Arial"/>
                    <a:ea typeface="Malgun Gothic"/>
                    <a:cs typeface="Arial"/>
                  </a:rPr>
                  <a:t>검색 기반 판매</a:t>
                </a:r>
              </a:p>
            </p:txBody>
          </p:sp>
          <p:sp>
            <p:nvSpPr>
              <p:cNvPr id="25" name="Rectangle 25"/>
              <p:cNvSpPr/>
              <p:nvPr/>
            </p:nvSpPr>
            <p:spPr>
              <a:xfrm>
                <a:off x="5524500" y="3143250"/>
                <a:ext cx="3524250" cy="714375"/>
              </a:xfrm>
              <a:prstGeom prst="roundRect">
                <a:avLst>
                  <a:gd name="adj" fmla="val 13333"/>
                </a:avLst>
              </a:prstGeom>
              <a:solidFill>
                <a:srgbClr val="FEF7E6"/>
              </a:solidFill>
              <a:ln w="9525">
                <a:solidFill>
                  <a:srgbClr val="F8DA92"/>
                </a:solidFill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5659374" y="3401854"/>
                <a:ext cx="3551601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b="1" dirty="0">
                    <a:solidFill>
                      <a:srgbClr val="4B4535"/>
                    </a:solidFill>
                    <a:latin typeface="Arial"/>
                    <a:ea typeface="Malgun Gothic"/>
                    <a:cs typeface="Arial"/>
                  </a:rPr>
                  <a:t>검색형 + 추천형 + 대화형 + 콘텐츠형</a:t>
                </a:r>
              </a:p>
            </p:txBody>
          </p:sp>
          <p:sp>
            <p:nvSpPr>
              <p:cNvPr id="27" name="Line 27"/>
              <p:cNvSpPr/>
              <p:nvPr/>
            </p:nvSpPr>
            <p:spPr>
              <a:xfrm>
                <a:off x="571500" y="3952875"/>
                <a:ext cx="8610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610600" h="9525">
                    <a:moveTo>
                      <a:pt x="0" y="0"/>
                    </a:moveTo>
                    <a:lnTo>
                      <a:pt x="8610600" y="0"/>
                    </a:lnTo>
                  </a:path>
                </a:pathLst>
              </a:custGeom>
              <a:noFill/>
              <a:ln w="9525">
                <a:solidFill>
                  <a:srgbClr val="E8DDD7"/>
                </a:solidFill>
              </a:ln>
            </p:spPr>
          </p:sp>
        </p:grpSp>
        <p:grpSp>
          <p:nvGrpSpPr>
            <p:cNvPr id="36" name="Group 36"/>
            <p:cNvGrpSpPr/>
            <p:nvPr/>
          </p:nvGrpSpPr>
          <p:grpSpPr>
            <a:xfrm>
              <a:off x="571500" y="3952875"/>
              <a:ext cx="8610600" cy="962025"/>
              <a:chOff x="571500" y="3952875"/>
              <a:chExt cx="8610600" cy="962025"/>
            </a:xfrm>
          </p:grpSpPr>
          <p:sp>
            <p:nvSpPr>
              <p:cNvPr id="29" name="Rectangle 29"/>
              <p:cNvSpPr/>
              <p:nvPr/>
            </p:nvSpPr>
            <p:spPr>
              <a:xfrm>
                <a:off x="571500" y="3952875"/>
                <a:ext cx="8610600" cy="952500"/>
              </a:xfrm>
              <a:prstGeom prst="rect">
                <a:avLst/>
              </a:prstGeom>
              <a:solidFill>
                <a:srgbClr val="FDF6F4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944499" y="4306729"/>
                <a:ext cx="933801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b="1" dirty="0">
                    <a:solidFill>
                      <a:srgbClr val="4B4535"/>
                    </a:solidFill>
                    <a:latin typeface="Arial"/>
                    <a:ea typeface="Malgun Gothic"/>
                    <a:cs typeface="Arial"/>
                  </a:rPr>
                  <a:t>고객 접점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2468499" y="4306729"/>
                <a:ext cx="2291888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dirty="0">
                    <a:solidFill>
                      <a:srgbClr val="33332F"/>
                    </a:solidFill>
                    <a:latin typeface="Arial"/>
                    <a:ea typeface="Malgun Gothic"/>
                    <a:cs typeface="Arial"/>
                  </a:rPr>
                  <a:t>상품페이지, 리뷰, 광고</a:t>
                </a:r>
              </a:p>
            </p:txBody>
          </p:sp>
          <p:sp>
            <p:nvSpPr>
              <p:cNvPr id="32" name="Rectangle 32"/>
              <p:cNvSpPr/>
              <p:nvPr/>
            </p:nvSpPr>
            <p:spPr>
              <a:xfrm>
                <a:off x="5524500" y="4048125"/>
                <a:ext cx="3524250" cy="762000"/>
              </a:xfrm>
              <a:prstGeom prst="roundRect">
                <a:avLst>
                  <a:gd name="adj" fmla="val 12500"/>
                </a:avLst>
              </a:prstGeom>
              <a:solidFill>
                <a:srgbClr val="FEF7E6"/>
              </a:solidFill>
              <a:ln w="9525">
                <a:solidFill>
                  <a:srgbClr val="F8DA92"/>
                </a:solidFill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5659374" y="4201954"/>
                <a:ext cx="2616235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b="1" dirty="0">
                    <a:solidFill>
                      <a:srgbClr val="4B4535"/>
                    </a:solidFill>
                    <a:latin typeface="Arial"/>
                    <a:ea typeface="Malgun Gothic"/>
                    <a:cs typeface="Arial"/>
                  </a:rPr>
                  <a:t>AI 쇼핑비서, 숏폼, 챗봇,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5659374" y="4487704"/>
                <a:ext cx="2254134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b="1" dirty="0">
                    <a:solidFill>
                      <a:srgbClr val="4B4535"/>
                    </a:solidFill>
                    <a:latin typeface="Arial"/>
                    <a:ea typeface="Malgun Gothic"/>
                    <a:cs typeface="Arial"/>
                  </a:rPr>
                  <a:t>개인화 추천, 리뷰 요약</a:t>
                </a:r>
              </a:p>
            </p:txBody>
          </p:sp>
          <p:sp>
            <p:nvSpPr>
              <p:cNvPr id="35" name="Line 35"/>
              <p:cNvSpPr/>
              <p:nvPr/>
            </p:nvSpPr>
            <p:spPr>
              <a:xfrm>
                <a:off x="571500" y="4905375"/>
                <a:ext cx="8610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610600" h="9525">
                    <a:moveTo>
                      <a:pt x="0" y="0"/>
                    </a:moveTo>
                    <a:lnTo>
                      <a:pt x="8610600" y="0"/>
                    </a:lnTo>
                  </a:path>
                </a:pathLst>
              </a:custGeom>
              <a:noFill/>
              <a:ln w="9525">
                <a:solidFill>
                  <a:srgbClr val="E8DDD7"/>
                </a:solidFill>
              </a:ln>
            </p:spPr>
          </p:sp>
        </p:grpSp>
        <p:grpSp>
          <p:nvGrpSpPr>
            <p:cNvPr id="45" name="Group 45"/>
            <p:cNvGrpSpPr/>
            <p:nvPr/>
          </p:nvGrpSpPr>
          <p:grpSpPr>
            <a:xfrm>
              <a:off x="571500" y="4905375"/>
              <a:ext cx="8610600" cy="962025"/>
              <a:chOff x="571500" y="4905375"/>
              <a:chExt cx="8610600" cy="962025"/>
            </a:xfrm>
          </p:grpSpPr>
          <p:sp>
            <p:nvSpPr>
              <p:cNvPr id="37" name="Rectangle 37"/>
              <p:cNvSpPr/>
              <p:nvPr/>
            </p:nvSpPr>
            <p:spPr>
              <a:xfrm>
                <a:off x="571500" y="4905375"/>
                <a:ext cx="8610600" cy="9525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944499" y="5259229"/>
                <a:ext cx="933801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b="1" dirty="0">
                    <a:solidFill>
                      <a:srgbClr val="4B4535"/>
                    </a:solidFill>
                    <a:latin typeface="Arial"/>
                    <a:ea typeface="Malgun Gothic"/>
                    <a:cs typeface="Arial"/>
                  </a:rPr>
                  <a:t>주요 역량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2468499" y="5154454"/>
                <a:ext cx="2504587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dirty="0">
                    <a:solidFill>
                      <a:srgbClr val="33332F"/>
                    </a:solidFill>
                    <a:latin typeface="Arial"/>
                    <a:ea typeface="Malgun Gothic"/>
                    <a:cs typeface="Arial"/>
                  </a:rPr>
                  <a:t>플랫폼 이해, 가격경쟁력,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2468499" y="5440204"/>
                <a:ext cx="930610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dirty="0">
                    <a:solidFill>
                      <a:srgbClr val="33332F"/>
                    </a:solidFill>
                    <a:latin typeface="Arial"/>
                    <a:ea typeface="Malgun Gothic"/>
                    <a:cs typeface="Arial"/>
                  </a:rPr>
                  <a:t>물류 처리</a:t>
                </a:r>
              </a:p>
            </p:txBody>
          </p:sp>
          <p:sp>
            <p:nvSpPr>
              <p:cNvPr id="41" name="Rectangle 41"/>
              <p:cNvSpPr/>
              <p:nvPr/>
            </p:nvSpPr>
            <p:spPr>
              <a:xfrm>
                <a:off x="5524500" y="5000625"/>
                <a:ext cx="3524250" cy="762000"/>
              </a:xfrm>
              <a:prstGeom prst="roundRect">
                <a:avLst>
                  <a:gd name="adj" fmla="val 12500"/>
                </a:avLst>
              </a:prstGeom>
              <a:solidFill>
                <a:srgbClr val="FEF7E6"/>
              </a:solidFill>
              <a:ln w="9525">
                <a:solidFill>
                  <a:srgbClr val="F8DA92"/>
                </a:solidFill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5659374" y="5154454"/>
                <a:ext cx="2261708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b="1" dirty="0">
                    <a:solidFill>
                      <a:srgbClr val="4B4535"/>
                    </a:solidFill>
                    <a:latin typeface="Arial"/>
                    <a:ea typeface="Malgun Gothic"/>
                    <a:cs typeface="Arial"/>
                  </a:rPr>
                  <a:t>데이터 이해, AI 활용,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5659374" y="5440204"/>
                <a:ext cx="2466833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b="1" dirty="0">
                    <a:solidFill>
                      <a:srgbClr val="4B4535"/>
                    </a:solidFill>
                    <a:latin typeface="Arial"/>
                    <a:ea typeface="Malgun Gothic"/>
                    <a:cs typeface="Arial"/>
                  </a:rPr>
                  <a:t>고객경험 설계, 신뢰 관리</a:t>
                </a:r>
              </a:p>
            </p:txBody>
          </p:sp>
          <p:sp>
            <p:nvSpPr>
              <p:cNvPr id="44" name="Line 44"/>
              <p:cNvSpPr/>
              <p:nvPr/>
            </p:nvSpPr>
            <p:spPr>
              <a:xfrm>
                <a:off x="571500" y="5857875"/>
                <a:ext cx="8610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610600" h="9525">
                    <a:moveTo>
                      <a:pt x="0" y="0"/>
                    </a:moveTo>
                    <a:lnTo>
                      <a:pt x="8610600" y="0"/>
                    </a:lnTo>
                  </a:path>
                </a:pathLst>
              </a:custGeom>
              <a:noFill/>
              <a:ln w="9525">
                <a:solidFill>
                  <a:srgbClr val="E8DDD7"/>
                </a:solidFill>
              </a:ln>
            </p:spPr>
          </p:sp>
        </p:grpSp>
        <p:grpSp>
          <p:nvGrpSpPr>
            <p:cNvPr id="54" name="Group 54"/>
            <p:cNvGrpSpPr/>
            <p:nvPr/>
          </p:nvGrpSpPr>
          <p:grpSpPr>
            <a:xfrm>
              <a:off x="571500" y="5857875"/>
              <a:ext cx="8610600" cy="1000125"/>
              <a:chOff x="571500" y="5857875"/>
              <a:chExt cx="8610600" cy="1000125"/>
            </a:xfrm>
          </p:grpSpPr>
          <p:sp>
            <p:nvSpPr>
              <p:cNvPr id="46" name="Rectangle 46"/>
              <p:cNvSpPr/>
              <p:nvPr/>
            </p:nvSpPr>
            <p:spPr>
              <a:xfrm>
                <a:off x="571500" y="5857875"/>
                <a:ext cx="8610600" cy="1000125"/>
              </a:xfrm>
              <a:prstGeom prst="roundRect">
                <a:avLst>
                  <a:gd name="adj" fmla="val 17143"/>
                </a:avLst>
              </a:prstGeom>
              <a:solidFill>
                <a:srgbClr val="FDF6F4"/>
              </a:solidFill>
              <a:ln>
                <a:noFill/>
              </a:ln>
            </p:spPr>
          </p:sp>
          <p:sp>
            <p:nvSpPr>
              <p:cNvPr id="47" name="Rectangle 47"/>
              <p:cNvSpPr/>
              <p:nvPr/>
            </p:nvSpPr>
            <p:spPr>
              <a:xfrm>
                <a:off x="571500" y="5857875"/>
                <a:ext cx="8610600" cy="285750"/>
              </a:xfrm>
              <a:prstGeom prst="rect">
                <a:avLst/>
              </a:prstGeom>
              <a:solidFill>
                <a:srgbClr val="FDF6F4"/>
              </a:solidFill>
              <a:ln>
                <a:noFill/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944499" y="6211729"/>
                <a:ext cx="1146500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b="1" dirty="0">
                    <a:solidFill>
                      <a:srgbClr val="4B4535"/>
                    </a:solidFill>
                    <a:latin typeface="Arial"/>
                    <a:ea typeface="Malgun Gothic"/>
                    <a:cs typeface="Arial"/>
                  </a:rPr>
                  <a:t>판매자 고민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2468499" y="6106954"/>
                <a:ext cx="2174903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dirty="0">
                    <a:solidFill>
                      <a:srgbClr val="33332F"/>
                    </a:solidFill>
                    <a:latin typeface="Arial"/>
                    <a:ea typeface="Malgun Gothic"/>
                    <a:cs typeface="Arial"/>
                  </a:rPr>
                  <a:t>어디에 입점할 것인가,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2468499" y="6392704"/>
                <a:ext cx="2057918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dirty="0">
                    <a:solidFill>
                      <a:srgbClr val="33332F"/>
                    </a:solidFill>
                    <a:latin typeface="Arial"/>
                    <a:ea typeface="Malgun Gothic"/>
                    <a:cs typeface="Arial"/>
                  </a:rPr>
                  <a:t>어떻게 배송할 것인가</a:t>
                </a:r>
              </a:p>
            </p:txBody>
          </p:sp>
          <p:sp>
            <p:nvSpPr>
              <p:cNvPr id="51" name="Rectangle 51"/>
              <p:cNvSpPr/>
              <p:nvPr/>
            </p:nvSpPr>
            <p:spPr>
              <a:xfrm>
                <a:off x="5524500" y="5953125"/>
                <a:ext cx="3524250" cy="809625"/>
              </a:xfrm>
              <a:prstGeom prst="roundRect">
                <a:avLst>
                  <a:gd name="adj" fmla="val 11765"/>
                </a:avLst>
              </a:prstGeom>
              <a:solidFill>
                <a:srgbClr val="FEF7E6"/>
              </a:solidFill>
              <a:ln w="14288">
                <a:solidFill>
                  <a:srgbClr val="F8DA92"/>
                </a:solidFill>
              </a:ln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5659374" y="6106954"/>
                <a:ext cx="2226874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b="1" dirty="0">
                    <a:solidFill>
                      <a:srgbClr val="EDA796"/>
                    </a:solidFill>
                    <a:latin typeface="Arial"/>
                    <a:ea typeface="Malgun Gothic"/>
                    <a:cs typeface="Arial"/>
                  </a:rPr>
                  <a:t>AI와 고객이 내 상품을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5659374" y="6392704"/>
                <a:ext cx="2556699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b="1" dirty="0">
                    <a:solidFill>
                      <a:srgbClr val="EDA796"/>
                    </a:solidFill>
                    <a:latin typeface="Arial"/>
                    <a:ea typeface="Malgun Gothic"/>
                    <a:cs typeface="Arial"/>
                  </a:rPr>
                  <a:t>어떻게 이해하게 할 것인가</a:t>
                </a:r>
              </a:p>
            </p:txBody>
          </p:sp>
        </p:grp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58546" y="372428"/>
            <a:ext cx="6610038" cy="784860"/>
            <a:chOff x="558546" y="372428"/>
            <a:chExt cx="6610038" cy="784860"/>
          </a:xfrm>
        </p:grpSpPr>
        <p:sp>
          <p:nvSpPr>
            <p:cNvPr id="2" name="TextBox 2"/>
            <p:cNvSpPr txBox="1"/>
            <p:nvPr/>
          </p:nvSpPr>
          <p:spPr>
            <a:xfrm>
              <a:off x="558546" y="372428"/>
              <a:ext cx="661003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55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글로벌 이커머스에서 글로벌 AI 커머스로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62356" y="796290"/>
              <a:ext cx="279303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756E5F"/>
                  </a:solidFill>
                  <a:latin typeface="Arial"/>
                  <a:ea typeface="Malgun Gothic"/>
                  <a:cs typeface="Arial"/>
                </a:rPr>
                <a:t>글로벌 AI 커머스의 등장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1123950"/>
              <a:ext cx="571500" cy="33338"/>
            </a:xfrm>
            <a:prstGeom prst="roundRect">
              <a:avLst>
                <a:gd name="adj" fmla="val 50000"/>
              </a:avLst>
            </a:prstGeom>
            <a:solidFill>
              <a:srgbClr val="F8DA92"/>
            </a:solidFill>
            <a:ln>
              <a:noFill/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563118" y="1203008"/>
            <a:ext cx="8618982" cy="1935385"/>
            <a:chOff x="563118" y="1203008"/>
            <a:chExt cx="8618982" cy="1935385"/>
          </a:xfrm>
        </p:grpSpPr>
        <p:sp>
          <p:nvSpPr>
            <p:cNvPr id="6" name="TextBox 6"/>
            <p:cNvSpPr txBox="1"/>
            <p:nvPr/>
          </p:nvSpPr>
          <p:spPr>
            <a:xfrm>
              <a:off x="563118" y="1203008"/>
              <a:ext cx="40832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756E5F"/>
                  </a:solidFill>
                  <a:latin typeface="Arial"/>
                  <a:ea typeface="Malgun Gothic"/>
                  <a:cs typeface="Arial"/>
                </a:rPr>
                <a:t>고객 질문 예시 (대화형·상황 기반 검색)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571500" y="1571625"/>
              <a:ext cx="8610600" cy="1566768"/>
              <a:chOff x="571500" y="1571625"/>
              <a:chExt cx="8610600" cy="1566768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571500" y="1571625"/>
                <a:ext cx="2743200" cy="1524000"/>
              </a:xfrm>
              <a:prstGeom prst="roundRect">
                <a:avLst>
                  <a:gd name="adj" fmla="val 10000"/>
                </a:avLst>
              </a:prstGeom>
              <a:solidFill>
                <a:srgbClr val="FFFFFF"/>
              </a:solidFill>
              <a:ln w="14288">
                <a:solidFill>
                  <a:srgbClr val="E8DDD7"/>
                </a:solidFill>
              </a:ln>
            </p:spPr>
          </p:sp>
          <p:sp>
            <p:nvSpPr>
              <p:cNvPr id="8" name="Ellipse 8"/>
              <p:cNvSpPr/>
              <p:nvPr/>
            </p:nvSpPr>
            <p:spPr>
              <a:xfrm>
                <a:off x="809625" y="1762125"/>
                <a:ext cx="381000" cy="381000"/>
              </a:xfrm>
              <a:prstGeom prst="ellipse">
                <a:avLst/>
              </a:prstGeom>
              <a:solidFill>
                <a:srgbClr val="FEF7E6"/>
              </a:solidFill>
              <a:ln>
                <a:noFill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902398" y="1873568"/>
                <a:ext cx="19545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💬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277874" y="1849279"/>
                <a:ext cx="1146500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b="1" dirty="0">
                    <a:solidFill>
                      <a:srgbClr val="4B4535"/>
                    </a:solidFill>
                    <a:latin typeface="Arial"/>
                    <a:ea typeface="Malgun Gothic"/>
                    <a:cs typeface="Arial"/>
                  </a:rPr>
                  <a:t>텀블러 검색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801624" y="2258854"/>
                <a:ext cx="1403335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b="1" dirty="0">
                    <a:solidFill>
                      <a:srgbClr val="33332F"/>
                    </a:solidFill>
                    <a:latin typeface="Arial"/>
                    <a:ea typeface="Malgun Gothic"/>
                    <a:cs typeface="Arial"/>
                  </a:rPr>
                  <a:t>"여행 갈 때 쓸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801624" y="2544604"/>
                <a:ext cx="2064299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b="1" dirty="0">
                    <a:solidFill>
                      <a:srgbClr val="33332F"/>
                    </a:solidFill>
                    <a:latin typeface="Arial"/>
                    <a:ea typeface="Malgun Gothic"/>
                    <a:cs typeface="Arial"/>
                  </a:rPr>
                  <a:t>가볍고 튼튼한 텀블러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801624" y="2830354"/>
                <a:ext cx="1112468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b="1" dirty="0">
                    <a:solidFill>
                      <a:srgbClr val="4B4535"/>
                    </a:solidFill>
                    <a:latin typeface="Arial"/>
                    <a:ea typeface="Malgun Gothic"/>
                    <a:cs typeface="Arial"/>
                  </a:rPr>
                  <a:t>추천해줘."</a:t>
                </a:r>
              </a:p>
            </p:txBody>
          </p:sp>
          <p:sp>
            <p:nvSpPr>
              <p:cNvPr id="14" name="Rectangle 14"/>
              <p:cNvSpPr/>
              <p:nvPr/>
            </p:nvSpPr>
            <p:spPr>
              <a:xfrm>
                <a:off x="3505200" y="1571625"/>
                <a:ext cx="2743200" cy="1524000"/>
              </a:xfrm>
              <a:prstGeom prst="roundRect">
                <a:avLst>
                  <a:gd name="adj" fmla="val 10000"/>
                </a:avLst>
              </a:prstGeom>
              <a:solidFill>
                <a:srgbClr val="FFFFFF"/>
              </a:solidFill>
              <a:ln w="14288">
                <a:solidFill>
                  <a:srgbClr val="E8DDD7"/>
                </a:solidFill>
              </a:ln>
            </p:spPr>
          </p:sp>
          <p:sp>
            <p:nvSpPr>
              <p:cNvPr id="15" name="Ellipse 15"/>
              <p:cNvSpPr/>
              <p:nvPr/>
            </p:nvSpPr>
            <p:spPr>
              <a:xfrm>
                <a:off x="3743325" y="1762125"/>
                <a:ext cx="381000" cy="381000"/>
              </a:xfrm>
              <a:prstGeom prst="ellipse">
                <a:avLst/>
              </a:prstGeom>
              <a:solidFill>
                <a:srgbClr val="FEF7E6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3836098" y="1873568"/>
                <a:ext cx="19545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💬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4211574" y="1849279"/>
                <a:ext cx="933801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b="1" dirty="0">
                    <a:solidFill>
                      <a:srgbClr val="4B4535"/>
                    </a:solidFill>
                    <a:latin typeface="Arial"/>
                    <a:ea typeface="Malgun Gothic"/>
                    <a:cs typeface="Arial"/>
                  </a:rPr>
                  <a:t>백팩 검색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3735324" y="2258854"/>
                <a:ext cx="1637836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b="1" dirty="0">
                    <a:solidFill>
                      <a:srgbClr val="33332F"/>
                    </a:solidFill>
                    <a:latin typeface="Arial"/>
                    <a:ea typeface="Malgun Gothic"/>
                    <a:cs typeface="Arial"/>
                  </a:rPr>
                  <a:t>"100달러 이하의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3735324" y="2544604"/>
                <a:ext cx="2198300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b="1" dirty="0">
                    <a:solidFill>
                      <a:srgbClr val="33332F"/>
                    </a:solidFill>
                    <a:latin typeface="Arial"/>
                    <a:ea typeface="Malgun Gothic"/>
                    <a:cs typeface="Arial"/>
                  </a:rPr>
                  <a:t>방수 백팩 중 리뷰 좋은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3735324" y="2830354"/>
                <a:ext cx="1392168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b="1" dirty="0">
                    <a:solidFill>
                      <a:srgbClr val="4B4535"/>
                    </a:solidFill>
                    <a:latin typeface="Arial"/>
                    <a:ea typeface="Malgun Gothic"/>
                    <a:cs typeface="Arial"/>
                  </a:rPr>
                  <a:t>제품 알려줘."</a:t>
                </a:r>
              </a:p>
            </p:txBody>
          </p:sp>
          <p:sp>
            <p:nvSpPr>
              <p:cNvPr id="21" name="Rectangle 21"/>
              <p:cNvSpPr/>
              <p:nvPr/>
            </p:nvSpPr>
            <p:spPr>
              <a:xfrm>
                <a:off x="6438900" y="1571625"/>
                <a:ext cx="2743200" cy="1524000"/>
              </a:xfrm>
              <a:prstGeom prst="roundRect">
                <a:avLst>
                  <a:gd name="adj" fmla="val 10000"/>
                </a:avLst>
              </a:prstGeom>
              <a:solidFill>
                <a:srgbClr val="FFFFFF"/>
              </a:solidFill>
              <a:ln w="14288">
                <a:solidFill>
                  <a:srgbClr val="EDA796"/>
                </a:solidFill>
              </a:ln>
            </p:spPr>
          </p:sp>
          <p:sp>
            <p:nvSpPr>
              <p:cNvPr id="22" name="Ellipse 22"/>
              <p:cNvSpPr/>
              <p:nvPr/>
            </p:nvSpPr>
            <p:spPr>
              <a:xfrm>
                <a:off x="6677025" y="1762125"/>
                <a:ext cx="381000" cy="381000"/>
              </a:xfrm>
              <a:prstGeom prst="ellipse">
                <a:avLst/>
              </a:prstGeom>
              <a:solidFill>
                <a:srgbClr val="FBEEEC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6769798" y="1873568"/>
                <a:ext cx="19545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💬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7145274" y="1849279"/>
                <a:ext cx="1359200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b="1" dirty="0">
                    <a:solidFill>
                      <a:srgbClr val="4B4535"/>
                    </a:solidFill>
                    <a:latin typeface="Arial"/>
                    <a:ea typeface="Malgun Gothic"/>
                    <a:cs typeface="Arial"/>
                  </a:rPr>
                  <a:t>스킨케어 검색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6669024" y="2258854"/>
                <a:ext cx="1974434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b="1" dirty="0">
                    <a:solidFill>
                      <a:srgbClr val="33332F"/>
                    </a:solidFill>
                    <a:latin typeface="Arial"/>
                    <a:ea typeface="Malgun Gothic"/>
                    <a:cs typeface="Arial"/>
                  </a:rPr>
                  <a:t>"민감성 피부에 맞는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6669024" y="2544604"/>
                <a:ext cx="1851600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b="1" dirty="0">
                    <a:solidFill>
                      <a:srgbClr val="33332F"/>
                    </a:solidFill>
                    <a:latin typeface="Arial"/>
                    <a:ea typeface="Malgun Gothic"/>
                    <a:cs typeface="Arial"/>
                  </a:rPr>
                  <a:t>한국 스킨케어 제품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6669024" y="2830354"/>
                <a:ext cx="1112468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b="1" dirty="0">
                    <a:solidFill>
                      <a:srgbClr val="4B4535"/>
                    </a:solidFill>
                    <a:latin typeface="Arial"/>
                    <a:ea typeface="Malgun Gothic"/>
                    <a:cs typeface="Arial"/>
                  </a:rPr>
                  <a:t>추천해줘."</a:t>
                </a:r>
              </a:p>
            </p:txBody>
          </p:sp>
        </p:grpSp>
      </p:grpSp>
      <p:grpSp>
        <p:nvGrpSpPr>
          <p:cNvPr id="36" name="Group 36"/>
          <p:cNvGrpSpPr/>
          <p:nvPr/>
        </p:nvGrpSpPr>
        <p:grpSpPr>
          <a:xfrm>
            <a:off x="571500" y="3286125"/>
            <a:ext cx="8610600" cy="2000250"/>
            <a:chOff x="571500" y="3286125"/>
            <a:chExt cx="8610600" cy="2000250"/>
          </a:xfrm>
        </p:grpSpPr>
        <p:sp>
          <p:nvSpPr>
            <p:cNvPr id="30" name="Rectangle 30"/>
            <p:cNvSpPr/>
            <p:nvPr/>
          </p:nvSpPr>
          <p:spPr>
            <a:xfrm>
              <a:off x="571500" y="3286125"/>
              <a:ext cx="8610600" cy="2000250"/>
            </a:xfrm>
            <a:prstGeom prst="roundRect">
              <a:avLst>
                <a:gd name="adj" fmla="val 8571"/>
              </a:avLst>
            </a:prstGeom>
            <a:solidFill>
              <a:srgbClr val="FEF7E6"/>
            </a:solidFill>
            <a:ln w="19050">
              <a:solidFill>
                <a:srgbClr val="F8DA92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857250" y="3571875"/>
              <a:ext cx="1714500" cy="342900"/>
            </a:xfrm>
            <a:prstGeom prst="roundRect">
              <a:avLst>
                <a:gd name="adj" fmla="val 50000"/>
              </a:avLst>
            </a:prstGeom>
            <a:solidFill>
              <a:srgbClr val="4B4535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23447" y="3664268"/>
              <a:ext cx="15821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350" b="1" dirty="0">
                  <a:solidFill>
                    <a:srgbClr val="FFFFFF"/>
                  </a:solidFill>
                  <a:latin typeface="Arial"/>
                  <a:ea typeface="Malgun Gothic"/>
                  <a:cs typeface="Arial"/>
                </a:rPr>
                <a:t>판매자의 핵심 과제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48106" y="4044315"/>
              <a:ext cx="38559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756E5F"/>
                  </a:solidFill>
                  <a:latin typeface="Arial"/>
                  <a:ea typeface="Malgun Gothic"/>
                  <a:cs typeface="Arial"/>
                </a:rPr>
                <a:t>중요한 것은 단순히 키워드가 아닌,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47344" y="4409122"/>
              <a:ext cx="659967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AI가 내 상품의 용도, 장점, 가격, 리뷰, 신뢰 요소를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47344" y="4790122"/>
              <a:ext cx="323817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제대로 이해할 수 있어야 함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71500" y="5476875"/>
            <a:ext cx="8610600" cy="1381125"/>
            <a:chOff x="571500" y="5476875"/>
            <a:chExt cx="8610600" cy="1381125"/>
          </a:xfrm>
        </p:grpSpPr>
        <p:sp>
          <p:nvSpPr>
            <p:cNvPr id="37" name="Rectangle 37"/>
            <p:cNvSpPr/>
            <p:nvPr/>
          </p:nvSpPr>
          <p:spPr>
            <a:xfrm>
              <a:off x="571500" y="5476875"/>
              <a:ext cx="4152900" cy="1381125"/>
            </a:xfrm>
            <a:prstGeom prst="roundRect">
              <a:avLst>
                <a:gd name="adj" fmla="val 11034"/>
              </a:avLst>
            </a:prstGeom>
            <a:solidFill>
              <a:srgbClr val="FFFFFF"/>
            </a:solidFill>
            <a:ln w="14288">
              <a:solidFill>
                <a:srgbClr val="E8DDD7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48868" y="5727382"/>
              <a:ext cx="11973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756E5F"/>
                  </a:solidFill>
                  <a:latin typeface="Arial"/>
                  <a:ea typeface="Malgun Gothic"/>
                  <a:cs typeface="Arial"/>
                </a:rPr>
                <a:t>과거의 검색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48106" y="6187440"/>
              <a:ext cx="39583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33332F"/>
                  </a:solidFill>
                  <a:latin typeface="Arial"/>
                  <a:ea typeface="Malgun Gothic"/>
                  <a:cs typeface="Arial"/>
                </a:rPr>
                <a:t>고객이 직접 검색어를 입력하여 탐색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029200" y="5476875"/>
              <a:ext cx="4152900" cy="1381125"/>
            </a:xfrm>
            <a:prstGeom prst="roundRect">
              <a:avLst>
                <a:gd name="adj" fmla="val 11034"/>
              </a:avLst>
            </a:prstGeom>
            <a:solidFill>
              <a:srgbClr val="FFFFFF"/>
            </a:solidFill>
            <a:ln w="19050">
              <a:solidFill>
                <a:srgbClr val="EDA796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306568" y="5727382"/>
              <a:ext cx="11973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EDA796"/>
                  </a:solidFill>
                  <a:latin typeface="Arial"/>
                  <a:ea typeface="Malgun Gothic"/>
                  <a:cs typeface="Arial"/>
                </a:rPr>
                <a:t>현재의 검색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305806" y="6187440"/>
              <a:ext cx="3817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고객이 AI에게 물어보고 추천받음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58546" y="372428"/>
            <a:ext cx="6610038" cy="784860"/>
            <a:chOff x="558546" y="372428"/>
            <a:chExt cx="6610038" cy="784860"/>
          </a:xfrm>
        </p:grpSpPr>
        <p:sp>
          <p:nvSpPr>
            <p:cNvPr id="2" name="TextBox 2"/>
            <p:cNvSpPr txBox="1"/>
            <p:nvPr/>
          </p:nvSpPr>
          <p:spPr>
            <a:xfrm>
              <a:off x="558546" y="372428"/>
              <a:ext cx="661003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55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글로벌 이커머스에서 글로벌 AI 커머스로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62356" y="796290"/>
              <a:ext cx="48494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756E5F"/>
                  </a:solidFill>
                  <a:latin typeface="Arial"/>
                  <a:ea typeface="Malgun Gothic"/>
                  <a:cs typeface="Arial"/>
                </a:rPr>
                <a:t>검색형 · 추천형 · 대화형 · 콘텐츠형 커머스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1123950"/>
              <a:ext cx="571500" cy="33338"/>
            </a:xfrm>
            <a:prstGeom prst="roundRect">
              <a:avLst>
                <a:gd name="adj" fmla="val 50000"/>
              </a:avLst>
            </a:prstGeom>
            <a:solidFill>
              <a:srgbClr val="F8DA92"/>
            </a:solidFill>
            <a:ln>
              <a:noFill/>
            </a:ln>
          </p:spPr>
        </p:sp>
      </p:grpSp>
      <p:grpSp>
        <p:nvGrpSpPr>
          <p:cNvPr id="67" name="Group 67"/>
          <p:cNvGrpSpPr/>
          <p:nvPr/>
        </p:nvGrpSpPr>
        <p:grpSpPr>
          <a:xfrm>
            <a:off x="571500" y="1428750"/>
            <a:ext cx="8610600" cy="5381625"/>
            <a:chOff x="571500" y="1428750"/>
            <a:chExt cx="8610600" cy="5381625"/>
          </a:xfrm>
        </p:grpSpPr>
        <p:sp>
          <p:nvSpPr>
            <p:cNvPr id="6" name="Rectangle 6"/>
            <p:cNvSpPr/>
            <p:nvPr/>
          </p:nvSpPr>
          <p:spPr>
            <a:xfrm>
              <a:off x="571500" y="1428750"/>
              <a:ext cx="2000250" cy="5381625"/>
            </a:xfrm>
            <a:prstGeom prst="roundRect">
              <a:avLst>
                <a:gd name="adj" fmla="val 8571"/>
              </a:avLst>
            </a:prstGeom>
            <a:solidFill>
              <a:srgbClr val="FFFFFF"/>
            </a:solidFill>
            <a:ln w="14288">
              <a:solidFill>
                <a:srgbClr val="E8DDD7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571500" y="1428750"/>
              <a:ext cx="2000250" cy="571500"/>
            </a:xfrm>
            <a:prstGeom prst="roundRect">
              <a:avLst>
                <a:gd name="adj" fmla="val 30000"/>
              </a:avLst>
            </a:prstGeom>
            <a:solidFill>
              <a:srgbClr val="4B4535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714500"/>
              <a:ext cx="2000250" cy="285750"/>
            </a:xfrm>
            <a:prstGeom prst="rect">
              <a:avLst/>
            </a:prstGeom>
            <a:solidFill>
              <a:srgbClr val="4B4535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61890" y="1631632"/>
              <a:ext cx="14194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650" b="1" dirty="0">
                  <a:solidFill>
                    <a:srgbClr val="FFFFFF"/>
                  </a:solidFill>
                  <a:latin typeface="Arial"/>
                  <a:ea typeface="Malgun Gothic"/>
                  <a:cs typeface="Arial"/>
                </a:rPr>
                <a:t>검색형 커머스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1266825" y="2219325"/>
              <a:ext cx="609600" cy="609600"/>
            </a:xfrm>
            <a:prstGeom prst="ellipse">
              <a:avLst/>
            </a:prstGeom>
            <a:solidFill>
              <a:srgbClr val="FDF6F4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419606" y="2392680"/>
              <a:ext cx="30403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🔍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762000" y="3048000"/>
              <a:ext cx="1619250" cy="1619250"/>
            </a:xfrm>
            <a:prstGeom prst="roundRect">
              <a:avLst>
                <a:gd name="adj" fmla="val 7059"/>
              </a:avLst>
            </a:prstGeom>
            <a:solidFill>
              <a:srgbClr val="FDF6F4"/>
            </a:solidFill>
            <a:ln w="9525">
              <a:solidFill>
                <a:srgbClr val="E8DDD7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128341" y="3219450"/>
              <a:ext cx="8865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50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유형 설명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28890" y="3648075"/>
              <a:ext cx="1085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500" dirty="0">
                  <a:solidFill>
                    <a:srgbClr val="33332F"/>
                  </a:solidFill>
                  <a:latin typeface="Arial"/>
                  <a:ea typeface="Malgun Gothic"/>
                  <a:cs typeface="Arial"/>
                </a:rPr>
                <a:t>고객이 직접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26960" y="3981450"/>
              <a:ext cx="148932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500" dirty="0">
                  <a:solidFill>
                    <a:srgbClr val="33332F"/>
                  </a:solidFill>
                  <a:latin typeface="Arial"/>
                  <a:ea typeface="Malgun Gothic"/>
                  <a:cs typeface="Arial"/>
                </a:rPr>
                <a:t>검색어를 입력해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28890" y="4314825"/>
              <a:ext cx="1085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500" dirty="0">
                  <a:solidFill>
                    <a:srgbClr val="33332F"/>
                  </a:solidFill>
                  <a:latin typeface="Arial"/>
                  <a:ea typeface="Malgun Gothic"/>
                  <a:cs typeface="Arial"/>
                </a:rPr>
                <a:t>상품을 찾음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62000" y="4857750"/>
              <a:ext cx="1619250" cy="1619250"/>
            </a:xfrm>
            <a:prstGeom prst="roundRect">
              <a:avLst>
                <a:gd name="adj" fmla="val 7059"/>
              </a:avLst>
            </a:prstGeom>
            <a:solidFill>
              <a:srgbClr val="FFFFFF"/>
            </a:solidFill>
            <a:ln w="9525">
              <a:solidFill>
                <a:srgbClr val="E8DDD7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128341" y="5076825"/>
              <a:ext cx="8865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50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대표 예시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51242" y="5536882"/>
              <a:ext cx="84076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4B4535"/>
                  </a:solidFill>
                  <a:latin typeface="Arial"/>
                  <a:ea typeface="Arial"/>
                  <a:cs typeface="Arial"/>
                </a:rPr>
                <a:t>Amazon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07935" y="5965508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65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네이버쇼핑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2771775" y="1428750"/>
              <a:ext cx="2000250" cy="5381625"/>
            </a:xfrm>
            <a:prstGeom prst="roundRect">
              <a:avLst>
                <a:gd name="adj" fmla="val 8571"/>
              </a:avLst>
            </a:prstGeom>
            <a:solidFill>
              <a:srgbClr val="FFFFFF"/>
            </a:solidFill>
            <a:ln w="14288">
              <a:solidFill>
                <a:srgbClr val="E8DDD7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2771775" y="1428750"/>
              <a:ext cx="2000250" cy="571500"/>
            </a:xfrm>
            <a:prstGeom prst="roundRect">
              <a:avLst>
                <a:gd name="adj" fmla="val 30000"/>
              </a:avLst>
            </a:prstGeom>
            <a:solidFill>
              <a:srgbClr val="4B4535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2771775" y="1714500"/>
              <a:ext cx="2000250" cy="285750"/>
            </a:xfrm>
            <a:prstGeom prst="rect">
              <a:avLst/>
            </a:prstGeom>
            <a:solidFill>
              <a:srgbClr val="4B4535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062165" y="1631632"/>
              <a:ext cx="14194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650" b="1" dirty="0">
                  <a:solidFill>
                    <a:srgbClr val="FFFFFF"/>
                  </a:solidFill>
                  <a:latin typeface="Arial"/>
                  <a:ea typeface="Malgun Gothic"/>
                  <a:cs typeface="Arial"/>
                </a:rPr>
                <a:t>추천형 커머스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3467100" y="2219325"/>
              <a:ext cx="609600" cy="609600"/>
            </a:xfrm>
            <a:prstGeom prst="ellipse">
              <a:avLst/>
            </a:prstGeom>
            <a:solidFill>
              <a:srgbClr val="FDF6F4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619881" y="2392680"/>
              <a:ext cx="30403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🎯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2962275" y="3048000"/>
              <a:ext cx="1619250" cy="1619250"/>
            </a:xfrm>
            <a:prstGeom prst="roundRect">
              <a:avLst>
                <a:gd name="adj" fmla="val 7059"/>
              </a:avLst>
            </a:prstGeom>
            <a:solidFill>
              <a:srgbClr val="FDF6F4"/>
            </a:solidFill>
            <a:ln w="9525">
              <a:solidFill>
                <a:srgbClr val="E8DDD7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328616" y="3219450"/>
              <a:ext cx="8865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50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유형 설명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360420" y="36480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500" dirty="0">
                  <a:solidFill>
                    <a:srgbClr val="33332F"/>
                  </a:solidFill>
                  <a:latin typeface="Arial"/>
                  <a:ea typeface="Malgun Gothic"/>
                  <a:cs typeface="Arial"/>
                </a:rPr>
                <a:t>플랫폼이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996946" y="3981450"/>
              <a:ext cx="15499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500" dirty="0">
                  <a:solidFill>
                    <a:srgbClr val="33332F"/>
                  </a:solidFill>
                  <a:latin typeface="Arial"/>
                  <a:ea typeface="Malgun Gothic"/>
                  <a:cs typeface="Arial"/>
                </a:rPr>
                <a:t>고객 데이터 기반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229166" y="4314825"/>
              <a:ext cx="1085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500" dirty="0">
                  <a:solidFill>
                    <a:srgbClr val="33332F"/>
                  </a:solidFill>
                  <a:latin typeface="Arial"/>
                  <a:ea typeface="Malgun Gothic"/>
                  <a:cs typeface="Arial"/>
                </a:rPr>
                <a:t>상품을 추천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2962275" y="4857750"/>
              <a:ext cx="1619250" cy="1619250"/>
            </a:xfrm>
            <a:prstGeom prst="roundRect">
              <a:avLst>
                <a:gd name="adj" fmla="val 7059"/>
              </a:avLst>
            </a:prstGeom>
            <a:solidFill>
              <a:srgbClr val="FFFFFF"/>
            </a:solidFill>
            <a:ln w="9525">
              <a:solidFill>
                <a:srgbClr val="E8DDD7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3328616" y="5076825"/>
              <a:ext cx="8865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50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대표 예시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284288" y="5536882"/>
              <a:ext cx="9752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65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쿠팡 추천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091984" y="5965508"/>
              <a:ext cx="13598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65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Amazon 추천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4972050" y="1428750"/>
              <a:ext cx="2000250" cy="5381625"/>
            </a:xfrm>
            <a:prstGeom prst="roundRect">
              <a:avLst>
                <a:gd name="adj" fmla="val 8571"/>
              </a:avLst>
            </a:prstGeom>
            <a:solidFill>
              <a:srgbClr val="FFFFFF"/>
            </a:solidFill>
            <a:ln w="19050">
              <a:solidFill>
                <a:srgbClr val="F8DA92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72050" y="1428750"/>
              <a:ext cx="2000250" cy="571500"/>
            </a:xfrm>
            <a:prstGeom prst="roundRect">
              <a:avLst>
                <a:gd name="adj" fmla="val 30000"/>
              </a:avLst>
            </a:prstGeom>
            <a:solidFill>
              <a:srgbClr val="4B4535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4972050" y="1714500"/>
              <a:ext cx="2000250" cy="285750"/>
            </a:xfrm>
            <a:prstGeom prst="rect">
              <a:avLst/>
            </a:prstGeom>
            <a:solidFill>
              <a:srgbClr val="4B4535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262440" y="1631632"/>
              <a:ext cx="14194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650" b="1" dirty="0">
                  <a:solidFill>
                    <a:srgbClr val="F8DA92"/>
                  </a:solidFill>
                  <a:latin typeface="Arial"/>
                  <a:ea typeface="Malgun Gothic"/>
                  <a:cs typeface="Arial"/>
                </a:rPr>
                <a:t>대화형 커머스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5667375" y="2219325"/>
              <a:ext cx="609600" cy="609600"/>
            </a:xfrm>
            <a:prstGeom prst="ellipse">
              <a:avLst/>
            </a:prstGeom>
            <a:solidFill>
              <a:srgbClr val="FEF7E6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820156" y="2392680"/>
              <a:ext cx="30403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🤖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162550" y="3048000"/>
              <a:ext cx="1619250" cy="1619250"/>
            </a:xfrm>
            <a:prstGeom prst="roundRect">
              <a:avLst>
                <a:gd name="adj" fmla="val 7059"/>
              </a:avLst>
            </a:prstGeom>
            <a:solidFill>
              <a:srgbClr val="FEF7E6"/>
            </a:solidFill>
            <a:ln w="9525">
              <a:solidFill>
                <a:srgbClr val="F8DA92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528891" y="3219450"/>
              <a:ext cx="8865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50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유형 설명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415153" y="3648075"/>
              <a:ext cx="11140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500" dirty="0">
                  <a:solidFill>
                    <a:srgbClr val="33332F"/>
                  </a:solidFill>
                  <a:latin typeface="Arial"/>
                  <a:ea typeface="Malgun Gothic"/>
                  <a:cs typeface="Arial"/>
                </a:rPr>
                <a:t>고객이 AI나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227511" y="3981450"/>
              <a:ext cx="148932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500" dirty="0">
                  <a:solidFill>
                    <a:srgbClr val="33332F"/>
                  </a:solidFill>
                  <a:latin typeface="Arial"/>
                  <a:ea typeface="Malgun Gothic"/>
                  <a:cs typeface="Arial"/>
                </a:rPr>
                <a:t>챗봇과 대화하며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429441" y="4314825"/>
              <a:ext cx="1085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500" dirty="0">
                  <a:solidFill>
                    <a:srgbClr val="33332F"/>
                  </a:solidFill>
                  <a:latin typeface="Arial"/>
                  <a:ea typeface="Malgun Gothic"/>
                  <a:cs typeface="Arial"/>
                </a:rPr>
                <a:t>상품을 탐색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162550" y="4857750"/>
              <a:ext cx="1619250" cy="1619250"/>
            </a:xfrm>
            <a:prstGeom prst="roundRect">
              <a:avLst>
                <a:gd name="adj" fmla="val 7059"/>
              </a:avLst>
            </a:prstGeom>
            <a:solidFill>
              <a:srgbClr val="FFFFFF"/>
            </a:solidFill>
            <a:ln w="9525">
              <a:solidFill>
                <a:srgbClr val="E8DDD7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528891" y="5076825"/>
              <a:ext cx="8865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50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대표 예시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234882" y="5536882"/>
              <a:ext cx="14745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65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ChatGPT 쇼핑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352703" y="5965508"/>
              <a:ext cx="12389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65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AI 쇼핑비서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7181850" y="1428750"/>
              <a:ext cx="2000250" cy="5381625"/>
            </a:xfrm>
            <a:prstGeom prst="roundRect">
              <a:avLst>
                <a:gd name="adj" fmla="val 8571"/>
              </a:avLst>
            </a:prstGeom>
            <a:solidFill>
              <a:srgbClr val="FFFFFF"/>
            </a:solidFill>
            <a:ln w="19050">
              <a:solidFill>
                <a:srgbClr val="EDA796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7181850" y="1428750"/>
              <a:ext cx="2000250" cy="571500"/>
            </a:xfrm>
            <a:prstGeom prst="roundRect">
              <a:avLst>
                <a:gd name="adj" fmla="val 30000"/>
              </a:avLst>
            </a:prstGeom>
            <a:solidFill>
              <a:srgbClr val="EDA796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7181850" y="1714500"/>
              <a:ext cx="2000250" cy="285750"/>
            </a:xfrm>
            <a:prstGeom prst="rect">
              <a:avLst/>
            </a:prstGeom>
            <a:solidFill>
              <a:srgbClr val="EDA796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361178" y="1631632"/>
              <a:ext cx="16415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650" b="1" dirty="0">
                  <a:solidFill>
                    <a:srgbClr val="FFFFFF"/>
                  </a:solidFill>
                  <a:latin typeface="Arial"/>
                  <a:ea typeface="Malgun Gothic"/>
                  <a:cs typeface="Arial"/>
                </a:rPr>
                <a:t>콘텐츠형 커머스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7877175" y="2219325"/>
              <a:ext cx="609600" cy="609600"/>
            </a:xfrm>
            <a:prstGeom prst="ellipse">
              <a:avLst/>
            </a:prstGeom>
            <a:solidFill>
              <a:srgbClr val="FBEEEC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8029956" y="2392680"/>
              <a:ext cx="30403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📱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7372350" y="3048000"/>
              <a:ext cx="1619250" cy="1619250"/>
            </a:xfrm>
            <a:prstGeom prst="roundRect">
              <a:avLst>
                <a:gd name="adj" fmla="val 7059"/>
              </a:avLst>
            </a:prstGeom>
            <a:solidFill>
              <a:srgbClr val="FBEEEC"/>
            </a:solidFill>
            <a:ln w="9525">
              <a:solidFill>
                <a:srgbClr val="EDA796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738691" y="3219450"/>
              <a:ext cx="8865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50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유형 설명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528179" y="3648075"/>
              <a:ext cx="13075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500" dirty="0">
                  <a:solidFill>
                    <a:srgbClr val="33332F"/>
                  </a:solidFill>
                  <a:latin typeface="Arial"/>
                  <a:ea typeface="Malgun Gothic"/>
                  <a:cs typeface="Arial"/>
                </a:rPr>
                <a:t>숏폼, 라이브,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336346" y="3981450"/>
              <a:ext cx="169125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500" dirty="0">
                  <a:solidFill>
                    <a:srgbClr val="33332F"/>
                  </a:solidFill>
                  <a:latin typeface="Arial"/>
                  <a:ea typeface="Malgun Gothic"/>
                  <a:cs typeface="Arial"/>
                </a:rPr>
                <a:t>인플루언서 콘텐츠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740206" y="4314825"/>
              <a:ext cx="88353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500" dirty="0">
                  <a:solidFill>
                    <a:srgbClr val="33332F"/>
                  </a:solidFill>
                  <a:latin typeface="Arial"/>
                  <a:ea typeface="Malgun Gothic"/>
                  <a:cs typeface="Arial"/>
                </a:rPr>
                <a:t>보고 구매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7372350" y="4857750"/>
              <a:ext cx="1619250" cy="1619250"/>
            </a:xfrm>
            <a:prstGeom prst="roundRect">
              <a:avLst>
                <a:gd name="adj" fmla="val 7059"/>
              </a:avLst>
            </a:prstGeom>
            <a:solidFill>
              <a:srgbClr val="FFFFFF"/>
            </a:solidFill>
            <a:ln w="9525">
              <a:solidFill>
                <a:srgbClr val="E8DDD7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738691" y="5076825"/>
              <a:ext cx="8865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50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대표 예시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543696" y="5497354"/>
              <a:ext cx="127655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80" b="1" dirty="0">
                  <a:solidFill>
                    <a:srgbClr val="4B4535"/>
                  </a:solidFill>
                  <a:latin typeface="Arial"/>
                  <a:ea typeface="Arial"/>
                  <a:cs typeface="Arial"/>
                </a:rPr>
                <a:t>TikTok Shop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623363" y="5830729"/>
              <a:ext cx="111722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80" b="1" dirty="0">
                  <a:solidFill>
                    <a:srgbClr val="4B4535"/>
                  </a:solidFill>
                  <a:latin typeface="Arial"/>
                  <a:ea typeface="Arial"/>
                  <a:cs typeface="Arial"/>
                </a:rPr>
                <a:t>Instagram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707276" y="6116479"/>
              <a:ext cx="94939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80" b="1" dirty="0">
                  <a:solidFill>
                    <a:srgbClr val="4B4535"/>
                  </a:solidFill>
                  <a:latin typeface="Arial"/>
                  <a:ea typeface="Arial"/>
                  <a:cs typeface="Arial"/>
                </a:rPr>
                <a:t>Shopping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58546" y="372428"/>
            <a:ext cx="6610038" cy="784860"/>
            <a:chOff x="558546" y="372428"/>
            <a:chExt cx="6610038" cy="784860"/>
          </a:xfrm>
        </p:grpSpPr>
        <p:sp>
          <p:nvSpPr>
            <p:cNvPr id="2" name="TextBox 2"/>
            <p:cNvSpPr txBox="1"/>
            <p:nvPr/>
          </p:nvSpPr>
          <p:spPr>
            <a:xfrm>
              <a:off x="558546" y="372428"/>
              <a:ext cx="661003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55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글로벌 이커머스에서 글로벌 AI 커머스로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62356" y="796290"/>
              <a:ext cx="48494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756E5F"/>
                  </a:solidFill>
                  <a:latin typeface="Arial"/>
                  <a:ea typeface="Malgun Gothic"/>
                  <a:cs typeface="Arial"/>
                </a:rPr>
                <a:t>검색형 · 추천형 · 대화형 · 콘텐츠형 커머스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1123950"/>
              <a:ext cx="571500" cy="33338"/>
            </a:xfrm>
            <a:prstGeom prst="roundRect">
              <a:avLst>
                <a:gd name="adj" fmla="val 50000"/>
              </a:avLst>
            </a:prstGeom>
            <a:solidFill>
              <a:srgbClr val="F8DA92"/>
            </a:solidFill>
            <a:ln>
              <a:noFill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571500" y="1428750"/>
            <a:ext cx="8610600" cy="5429250"/>
            <a:chOff x="571500" y="1428750"/>
            <a:chExt cx="8610600" cy="5429250"/>
          </a:xfrm>
        </p:grpSpPr>
        <p:sp>
          <p:nvSpPr>
            <p:cNvPr id="6" name="Rectangle 6"/>
            <p:cNvSpPr/>
            <p:nvPr/>
          </p:nvSpPr>
          <p:spPr>
            <a:xfrm>
              <a:off x="571500" y="1428750"/>
              <a:ext cx="8610600" cy="17145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4288">
              <a:solidFill>
                <a:srgbClr val="E8DDD7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904875" y="1714500"/>
              <a:ext cx="1524000" cy="342900"/>
            </a:xfrm>
            <a:prstGeom prst="roundRect">
              <a:avLst>
                <a:gd name="adj" fmla="val 50000"/>
              </a:avLst>
            </a:prstGeom>
            <a:solidFill>
              <a:srgbClr val="756E5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77051" y="1806892"/>
              <a:ext cx="9796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350" b="1" dirty="0">
                  <a:solidFill>
                    <a:srgbClr val="FFFFFF"/>
                  </a:solidFill>
                  <a:latin typeface="Arial"/>
                  <a:ea typeface="Malgun Gothic"/>
                  <a:cs typeface="Arial"/>
                </a:rPr>
                <a:t>과거 커머스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94207" y="2297430"/>
              <a:ext cx="550999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b="1" dirty="0">
                  <a:solidFill>
                    <a:srgbClr val="756E5F"/>
                  </a:solidFill>
                  <a:latin typeface="Arial"/>
                  <a:ea typeface="Malgun Gothic"/>
                  <a:cs typeface="Arial"/>
                </a:rPr>
                <a:t>고객이 “필요해서 검색하는 방식”이 강했음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571500" y="3333750"/>
              <a:ext cx="8610600" cy="2190750"/>
            </a:xfrm>
            <a:prstGeom prst="roundRect">
              <a:avLst>
                <a:gd name="adj" fmla="val 7826"/>
              </a:avLst>
            </a:prstGeom>
            <a:solidFill>
              <a:srgbClr val="FEF7E6"/>
            </a:solidFill>
            <a:ln w="19050">
              <a:solidFill>
                <a:srgbClr val="F8DA92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904875" y="3619500"/>
              <a:ext cx="1524000" cy="342900"/>
            </a:xfrm>
            <a:prstGeom prst="roundRect">
              <a:avLst>
                <a:gd name="adj" fmla="val 50000"/>
              </a:avLst>
            </a:prstGeom>
            <a:solidFill>
              <a:srgbClr val="4B4535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177051" y="3711892"/>
              <a:ext cx="9796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350" b="1" dirty="0">
                  <a:solidFill>
                    <a:srgbClr val="FFFFFF"/>
                  </a:solidFill>
                  <a:latin typeface="Arial"/>
                  <a:ea typeface="Malgun Gothic"/>
                  <a:cs typeface="Arial"/>
                </a:rPr>
                <a:t>현재 커머스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94969" y="4218622"/>
              <a:ext cx="356959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고객이 콘텐츠를 보다가 사고,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94969" y="4599622"/>
              <a:ext cx="482035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AI의 추천을 받고, 챗봇에게 질문하고,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94969" y="4980622"/>
              <a:ext cx="289297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b="1" dirty="0">
                  <a:solidFill>
                    <a:srgbClr val="EDA796"/>
                  </a:solidFill>
                  <a:latin typeface="Arial"/>
                  <a:ea typeface="Malgun Gothic"/>
                  <a:cs typeface="Arial"/>
                </a:rPr>
                <a:t>리뷰 요약을 보고 결정함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71500" y="5715000"/>
              <a:ext cx="8610600" cy="1143000"/>
            </a:xfrm>
            <a:prstGeom prst="roundRect">
              <a:avLst>
                <a:gd name="adj" fmla="val 15000"/>
              </a:avLst>
            </a:prstGeom>
            <a:solidFill>
              <a:srgbClr val="4B4535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132500" y="6138862"/>
              <a:ext cx="548860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2250" b="1" dirty="0">
                  <a:solidFill>
                    <a:srgbClr val="F8DA92"/>
                  </a:solidFill>
                  <a:latin typeface="Arial"/>
                  <a:ea typeface="Malgun Gothic"/>
                  <a:cs typeface="Arial"/>
                </a:rPr>
                <a:t>“판매자는 이제 상품만 잘 올리면 안 됨”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58546" y="372428"/>
            <a:ext cx="6610038" cy="784860"/>
            <a:chOff x="558546" y="372428"/>
            <a:chExt cx="6610038" cy="784860"/>
          </a:xfrm>
        </p:grpSpPr>
        <p:sp>
          <p:nvSpPr>
            <p:cNvPr id="2" name="TextBox 2"/>
            <p:cNvSpPr txBox="1"/>
            <p:nvPr/>
          </p:nvSpPr>
          <p:spPr>
            <a:xfrm>
              <a:off x="558546" y="372428"/>
              <a:ext cx="661003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55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글로벌 이커머스에서 글로벌 AI 커머스로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62356" y="796290"/>
              <a:ext cx="48494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756E5F"/>
                  </a:solidFill>
                  <a:latin typeface="Arial"/>
                  <a:ea typeface="Malgun Gothic"/>
                  <a:cs typeface="Arial"/>
                </a:rPr>
                <a:t>검색형 · 추천형 · 대화형 · 콘텐츠형 커머스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1123950"/>
              <a:ext cx="571500" cy="33338"/>
            </a:xfrm>
            <a:prstGeom prst="roundRect">
              <a:avLst>
                <a:gd name="adj" fmla="val 50000"/>
              </a:avLst>
            </a:prstGeom>
            <a:solidFill>
              <a:srgbClr val="F8DA92"/>
            </a:solidFill>
            <a:ln>
              <a:noFill/>
            </a:ln>
          </p:spPr>
        </p:sp>
      </p:grpSp>
      <p:grpSp>
        <p:nvGrpSpPr>
          <p:cNvPr id="44" name="Group 44"/>
          <p:cNvGrpSpPr/>
          <p:nvPr/>
        </p:nvGrpSpPr>
        <p:grpSpPr>
          <a:xfrm>
            <a:off x="563118" y="1203008"/>
            <a:ext cx="8718309" cy="5654992"/>
            <a:chOff x="563118" y="1203008"/>
            <a:chExt cx="8718309" cy="5654992"/>
          </a:xfrm>
        </p:grpSpPr>
        <p:sp>
          <p:nvSpPr>
            <p:cNvPr id="6" name="TextBox 6"/>
            <p:cNvSpPr txBox="1"/>
            <p:nvPr/>
          </p:nvSpPr>
          <p:spPr>
            <a:xfrm>
              <a:off x="563118" y="1203008"/>
              <a:ext cx="45968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756E5F"/>
                  </a:solidFill>
                  <a:latin typeface="Arial"/>
                  <a:ea typeface="Malgun Gothic"/>
                  <a:cs typeface="Arial"/>
                </a:rPr>
                <a:t>글로벌 AI 커머스의 출발점 (4대 필수 요건)</a:t>
              </a:r>
            </a:p>
          </p:txBody>
        </p:sp>
        <p:grpSp>
          <p:nvGrpSpPr>
            <p:cNvPr id="43" name="Group 43"/>
            <p:cNvGrpSpPr/>
            <p:nvPr/>
          </p:nvGrpSpPr>
          <p:grpSpPr>
            <a:xfrm>
              <a:off x="571500" y="1571625"/>
              <a:ext cx="8709927" cy="5286375"/>
              <a:chOff x="571500" y="1571625"/>
              <a:chExt cx="8709927" cy="5286375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571500" y="1571625"/>
                <a:ext cx="4152900" cy="2476500"/>
              </a:xfrm>
              <a:prstGeom prst="roundRect">
                <a:avLst>
                  <a:gd name="adj" fmla="val 6923"/>
                </a:avLst>
              </a:prstGeom>
              <a:solidFill>
                <a:srgbClr val="FFFFFF"/>
              </a:solidFill>
              <a:ln w="14288">
                <a:solidFill>
                  <a:srgbClr val="E8DDD7"/>
                </a:solidFill>
              </a:ln>
            </p:spPr>
          </p:sp>
          <p:sp>
            <p:nvSpPr>
              <p:cNvPr id="8" name="Ellipse 8"/>
              <p:cNvSpPr/>
              <p:nvPr/>
            </p:nvSpPr>
            <p:spPr>
              <a:xfrm>
                <a:off x="828675" y="1828800"/>
                <a:ext cx="533400" cy="533400"/>
              </a:xfrm>
              <a:prstGeom prst="ellipse">
                <a:avLst/>
              </a:prstGeom>
              <a:solidFill>
                <a:srgbClr val="FEF7E6"/>
              </a:solidFill>
              <a:ln>
                <a:noFill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965073" y="1977390"/>
                <a:ext cx="26060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🔍</a:t>
                </a:r>
              </a:p>
            </p:txBody>
          </p:sp>
          <p:sp>
            <p:nvSpPr>
              <p:cNvPr id="10" name="Rectangle 10"/>
              <p:cNvSpPr/>
              <p:nvPr/>
            </p:nvSpPr>
            <p:spPr>
              <a:xfrm>
                <a:off x="1476375" y="1905000"/>
                <a:ext cx="381000" cy="381000"/>
              </a:xfrm>
              <a:prstGeom prst="roundRect">
                <a:avLst>
                  <a:gd name="adj" fmla="val 50000"/>
                </a:avLst>
              </a:prstGeom>
              <a:solidFill>
                <a:srgbClr val="4B4535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1542640" y="2000250"/>
                <a:ext cx="24846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b="1" dirty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rPr>
                  <a:t>01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991106" y="1967865"/>
                <a:ext cx="130619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800" b="1" dirty="0">
                    <a:solidFill>
                      <a:srgbClr val="4B4535"/>
                    </a:solidFill>
                    <a:latin typeface="Arial"/>
                    <a:ea typeface="Malgun Gothic"/>
                    <a:cs typeface="Arial"/>
                  </a:rPr>
                  <a:t>검색 최적화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942594" y="2694622"/>
                <a:ext cx="2975663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950" b="1" dirty="0">
                    <a:solidFill>
                      <a:srgbClr val="4B4535"/>
                    </a:solidFill>
                    <a:latin typeface="Arial"/>
                    <a:ea typeface="Malgun Gothic"/>
                    <a:cs typeface="Arial"/>
                  </a:rPr>
                  <a:t>검색에 잘 걸리게 해야 함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944118" y="3155632"/>
                <a:ext cx="334902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78118" indent="-178118">
                  <a:buClr>
                    <a:srgbClr val="33332F"/>
                  </a:buClr>
                  <a:buSzTx/>
                  <a:buFontTx/>
                  <a:buChar char="•"/>
                </a:pPr>
                <a:r>
                  <a:rPr lang="ko-KR" sz="1650" dirty="0">
                    <a:solidFill>
                      <a:srgbClr val="33332F"/>
                    </a:solidFill>
                    <a:latin typeface="Arial"/>
                    <a:ea typeface="Malgun Gothic"/>
                    <a:cs typeface="Arial"/>
                  </a:rPr>
                  <a:t>글로벌 플랫폼 및 검색 엔진에서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944118" y="3489008"/>
                <a:ext cx="334902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78118" indent="-178118">
                  <a:buClr>
                    <a:srgbClr val="33332F"/>
                  </a:buClr>
                  <a:buSzTx/>
                  <a:buFontTx/>
                  <a:buChar char="•"/>
                </a:pPr>
                <a:r>
                  <a:rPr lang="ko-KR" sz="1650" dirty="0">
                    <a:solidFill>
                      <a:srgbClr val="33332F"/>
                    </a:solidFill>
                    <a:latin typeface="Arial"/>
                    <a:ea typeface="Malgun Gothic"/>
                    <a:cs typeface="Arial"/>
                  </a:rPr>
                  <a:t>타깃 고객 검색어에 정확히 노출</a:t>
                </a:r>
              </a:p>
            </p:txBody>
          </p:sp>
          <p:sp>
            <p:nvSpPr>
              <p:cNvPr id="16" name="Rectangle 16"/>
              <p:cNvSpPr/>
              <p:nvPr/>
            </p:nvSpPr>
            <p:spPr>
              <a:xfrm>
                <a:off x="5029200" y="1571625"/>
                <a:ext cx="4152900" cy="2476500"/>
              </a:xfrm>
              <a:prstGeom prst="roundRect">
                <a:avLst>
                  <a:gd name="adj" fmla="val 6923"/>
                </a:avLst>
              </a:prstGeom>
              <a:solidFill>
                <a:srgbClr val="FFFFFF"/>
              </a:solidFill>
              <a:ln w="14288">
                <a:solidFill>
                  <a:srgbClr val="E8DDD7"/>
                </a:solidFill>
              </a:ln>
            </p:spPr>
          </p:sp>
          <p:sp>
            <p:nvSpPr>
              <p:cNvPr id="17" name="Ellipse 17"/>
              <p:cNvSpPr/>
              <p:nvPr/>
            </p:nvSpPr>
            <p:spPr>
              <a:xfrm>
                <a:off x="5286375" y="1828800"/>
                <a:ext cx="533400" cy="533400"/>
              </a:xfrm>
              <a:prstGeom prst="ellipse">
                <a:avLst/>
              </a:prstGeom>
              <a:solidFill>
                <a:srgbClr val="FEF7E6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5422773" y="1977390"/>
                <a:ext cx="26060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🎯</a:t>
                </a:r>
              </a:p>
            </p:txBody>
          </p:sp>
          <p:sp>
            <p:nvSpPr>
              <p:cNvPr id="19" name="Rectangle 19"/>
              <p:cNvSpPr/>
              <p:nvPr/>
            </p:nvSpPr>
            <p:spPr>
              <a:xfrm>
                <a:off x="5934075" y="1905000"/>
                <a:ext cx="381000" cy="381000"/>
              </a:xfrm>
              <a:prstGeom prst="roundRect">
                <a:avLst>
                  <a:gd name="adj" fmla="val 50000"/>
                </a:avLst>
              </a:prstGeom>
              <a:solidFill>
                <a:srgbClr val="4B4535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6000340" y="2000250"/>
                <a:ext cx="24846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b="1" dirty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rPr>
                  <a:t>02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6448806" y="1967865"/>
                <a:ext cx="186715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800" b="1" dirty="0">
                    <a:solidFill>
                      <a:srgbClr val="4B4535"/>
                    </a:solidFill>
                    <a:latin typeface="Arial"/>
                    <a:ea typeface="Malgun Gothic"/>
                    <a:cs typeface="Arial"/>
                  </a:rPr>
                  <a:t>추천 데이터 설계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5400294" y="2694622"/>
                <a:ext cx="3500681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950" b="1" dirty="0">
                    <a:solidFill>
                      <a:srgbClr val="4B4535"/>
                    </a:solidFill>
                    <a:latin typeface="Arial"/>
                    <a:ea typeface="Malgun Gothic"/>
                    <a:cs typeface="Arial"/>
                  </a:rPr>
                  <a:t>추천될 만한 정보가 있어야 함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5401818" y="3155632"/>
                <a:ext cx="3504514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78118" indent="-178118">
                  <a:buClr>
                    <a:srgbClr val="33332F"/>
                  </a:buClr>
                  <a:buSzTx/>
                  <a:buFontTx/>
                  <a:buChar char="•"/>
                </a:pPr>
                <a:r>
                  <a:rPr lang="ko-KR" sz="1650" dirty="0">
                    <a:solidFill>
                      <a:srgbClr val="33332F"/>
                    </a:solidFill>
                    <a:latin typeface="Arial"/>
                    <a:ea typeface="Malgun Gothic"/>
                    <a:cs typeface="Arial"/>
                  </a:rPr>
                  <a:t>알고리즘이 상품의 속성과 강점을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5401818" y="3489008"/>
                <a:ext cx="3793274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78118" indent="-178118">
                  <a:buClr>
                    <a:srgbClr val="33332F"/>
                  </a:buClr>
                  <a:buSzTx/>
                  <a:buFontTx/>
                  <a:buChar char="•"/>
                </a:pPr>
                <a:r>
                  <a:rPr lang="ko-KR" sz="1650" dirty="0">
                    <a:solidFill>
                      <a:srgbClr val="33332F"/>
                    </a:solidFill>
                    <a:latin typeface="Arial"/>
                    <a:ea typeface="Malgun Gothic"/>
                    <a:cs typeface="Arial"/>
                  </a:rPr>
                  <a:t>인식할 수 있는 구조화된 메타데이터</a:t>
                </a:r>
              </a:p>
            </p:txBody>
          </p:sp>
          <p:sp>
            <p:nvSpPr>
              <p:cNvPr id="25" name="Rectangle 25"/>
              <p:cNvSpPr/>
              <p:nvPr/>
            </p:nvSpPr>
            <p:spPr>
              <a:xfrm>
                <a:off x="571500" y="4333875"/>
                <a:ext cx="4152900" cy="2524125"/>
              </a:xfrm>
              <a:prstGeom prst="roundRect">
                <a:avLst>
                  <a:gd name="adj" fmla="val 6792"/>
                </a:avLst>
              </a:prstGeom>
              <a:solidFill>
                <a:srgbClr val="FFFFFF"/>
              </a:solidFill>
              <a:ln w="14288">
                <a:solidFill>
                  <a:srgbClr val="E8DDD7"/>
                </a:solidFill>
              </a:ln>
            </p:spPr>
          </p:sp>
          <p:sp>
            <p:nvSpPr>
              <p:cNvPr id="26" name="Ellipse 26"/>
              <p:cNvSpPr/>
              <p:nvPr/>
            </p:nvSpPr>
            <p:spPr>
              <a:xfrm>
                <a:off x="828675" y="4591050"/>
                <a:ext cx="533400" cy="533400"/>
              </a:xfrm>
              <a:prstGeom prst="ellipse">
                <a:avLst/>
              </a:prstGeom>
              <a:solidFill>
                <a:srgbClr val="FBEEEC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965073" y="4739640"/>
                <a:ext cx="26060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📱</a:t>
                </a:r>
              </a:p>
            </p:txBody>
          </p:sp>
          <p:sp>
            <p:nvSpPr>
              <p:cNvPr id="28" name="Rectangle 28"/>
              <p:cNvSpPr/>
              <p:nvPr/>
            </p:nvSpPr>
            <p:spPr>
              <a:xfrm>
                <a:off x="1476375" y="4667250"/>
                <a:ext cx="381000" cy="381000"/>
              </a:xfrm>
              <a:prstGeom prst="roundRect">
                <a:avLst>
                  <a:gd name="adj" fmla="val 50000"/>
                </a:avLst>
              </a:prstGeom>
              <a:solidFill>
                <a:srgbClr val="EDA796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1542640" y="4762500"/>
                <a:ext cx="24846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b="1" dirty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rPr>
                  <a:t>03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1991106" y="4730115"/>
                <a:ext cx="154851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800" b="1" dirty="0">
                    <a:solidFill>
                      <a:srgbClr val="4B4535"/>
                    </a:solidFill>
                    <a:latin typeface="Arial"/>
                    <a:ea typeface="Malgun Gothic"/>
                    <a:cs typeface="Arial"/>
                  </a:rPr>
                  <a:t>콘텐츠 시각화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942594" y="5456872"/>
                <a:ext cx="3500681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950" b="1" dirty="0">
                    <a:solidFill>
                      <a:srgbClr val="4B4535"/>
                    </a:solidFill>
                    <a:latin typeface="Arial"/>
                    <a:ea typeface="Malgun Gothic"/>
                    <a:cs typeface="Arial"/>
                  </a:rPr>
                  <a:t>콘텐츠로 보여줄 수 있어야 함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944118" y="5917882"/>
                <a:ext cx="333792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78118" indent="-178118">
                  <a:buClr>
                    <a:srgbClr val="33332F"/>
                  </a:buClr>
                  <a:buSzTx/>
                  <a:buFontTx/>
                  <a:buChar char="•"/>
                </a:pPr>
                <a:r>
                  <a:rPr lang="ko-KR" sz="1650" dirty="0">
                    <a:solidFill>
                      <a:srgbClr val="33332F"/>
                    </a:solidFill>
                    <a:latin typeface="Arial"/>
                    <a:ea typeface="Malgun Gothic"/>
                    <a:cs typeface="Arial"/>
                  </a:rPr>
                  <a:t>숏폼, 3초 후킹 영상, 라이브 등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944118" y="6251258"/>
                <a:ext cx="357115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78118" indent="-178118">
                  <a:buClr>
                    <a:srgbClr val="33332F"/>
                  </a:buClr>
                  <a:buSzTx/>
                  <a:buFontTx/>
                  <a:buChar char="•"/>
                </a:pPr>
                <a:r>
                  <a:rPr lang="ko-KR" sz="1650" dirty="0">
                    <a:solidFill>
                      <a:srgbClr val="33332F"/>
                    </a:solidFill>
                    <a:latin typeface="Arial"/>
                    <a:ea typeface="Malgun Gothic"/>
                    <a:cs typeface="Arial"/>
                  </a:rPr>
                  <a:t>직관적으로 매력 전달 가능한 포맷</a:t>
                </a:r>
              </a:p>
            </p:txBody>
          </p:sp>
          <p:sp>
            <p:nvSpPr>
              <p:cNvPr id="34" name="Rectangle 34"/>
              <p:cNvSpPr/>
              <p:nvPr/>
            </p:nvSpPr>
            <p:spPr>
              <a:xfrm>
                <a:off x="5029200" y="4333875"/>
                <a:ext cx="4152900" cy="2524125"/>
              </a:xfrm>
              <a:prstGeom prst="roundRect">
                <a:avLst>
                  <a:gd name="adj" fmla="val 6792"/>
                </a:avLst>
              </a:prstGeom>
              <a:solidFill>
                <a:srgbClr val="FFFFFF"/>
              </a:solidFill>
              <a:ln w="14288">
                <a:solidFill>
                  <a:srgbClr val="E8DDD7"/>
                </a:solidFill>
              </a:ln>
            </p:spPr>
          </p:sp>
          <p:sp>
            <p:nvSpPr>
              <p:cNvPr id="35" name="Ellipse 35"/>
              <p:cNvSpPr/>
              <p:nvPr/>
            </p:nvSpPr>
            <p:spPr>
              <a:xfrm>
                <a:off x="5286375" y="4591050"/>
                <a:ext cx="533400" cy="533400"/>
              </a:xfrm>
              <a:prstGeom prst="ellipse">
                <a:avLst/>
              </a:prstGeom>
              <a:solidFill>
                <a:srgbClr val="FEF7E6"/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5422773" y="4739640"/>
                <a:ext cx="26060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🤖</a:t>
                </a:r>
              </a:p>
            </p:txBody>
          </p:sp>
          <p:sp>
            <p:nvSpPr>
              <p:cNvPr id="37" name="Rectangle 37"/>
              <p:cNvSpPr/>
              <p:nvPr/>
            </p:nvSpPr>
            <p:spPr>
              <a:xfrm>
                <a:off x="5934075" y="4667250"/>
                <a:ext cx="381000" cy="381000"/>
              </a:xfrm>
              <a:prstGeom prst="roundRect">
                <a:avLst>
                  <a:gd name="adj" fmla="val 50000"/>
                </a:avLst>
              </a:prstGeom>
              <a:solidFill>
                <a:srgbClr val="4B4535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6000340" y="4762500"/>
                <a:ext cx="24846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b="1" dirty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rPr>
                  <a:t>04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6448806" y="4730115"/>
                <a:ext cx="168825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800" b="1" dirty="0">
                    <a:solidFill>
                      <a:srgbClr val="4B4535"/>
                    </a:solidFill>
                    <a:latin typeface="Arial"/>
                    <a:ea typeface="Malgun Gothic"/>
                    <a:cs typeface="Arial"/>
                  </a:rPr>
                  <a:t>AI 해석 친화성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5400294" y="5456872"/>
                <a:ext cx="2383681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950" b="1" dirty="0">
                    <a:solidFill>
                      <a:srgbClr val="4B4535"/>
                    </a:solidFill>
                    <a:latin typeface="Arial"/>
                    <a:ea typeface="Malgun Gothic"/>
                    <a:cs typeface="Arial"/>
                  </a:rPr>
                  <a:t>AI가 이해하기 쉬운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5400294" y="5790248"/>
                <a:ext cx="2810283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950" b="1" dirty="0">
                    <a:solidFill>
                      <a:srgbClr val="4B4535"/>
                    </a:solidFill>
                    <a:latin typeface="Arial"/>
                    <a:ea typeface="Malgun Gothic"/>
                    <a:cs typeface="Arial"/>
                  </a:rPr>
                  <a:t>상품정보를 만들어야 함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5401818" y="6251258"/>
                <a:ext cx="387960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78118" indent="-178118">
                  <a:buClr>
                    <a:srgbClr val="33332F"/>
                  </a:buClr>
                  <a:buSzTx/>
                  <a:buFontTx/>
                  <a:buChar char="•"/>
                </a:pPr>
                <a:r>
                  <a:rPr lang="ko-KR" sz="1650" dirty="0">
                    <a:solidFill>
                      <a:srgbClr val="33332F"/>
                    </a:solidFill>
                    <a:latin typeface="Arial"/>
                    <a:ea typeface="Malgun Gothic"/>
                    <a:cs typeface="Arial"/>
                  </a:rPr>
                  <a:t>용도, 장단점, FAQ, 리뷰의 정밀성</a:t>
                </a:r>
              </a:p>
            </p:txBody>
          </p:sp>
        </p:grp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0668000" cy="7810500"/>
            <a:chOff x="0" y="0"/>
            <a:chExt cx="10668000" cy="7810500"/>
          </a:xfrm>
        </p:grpSpPr>
        <p:sp>
          <p:nvSpPr>
            <p:cNvPr id="2" name="Ellipse 2"/>
            <p:cNvSpPr/>
            <p:nvPr/>
          </p:nvSpPr>
          <p:spPr>
            <a:xfrm>
              <a:off x="6858000" y="0"/>
              <a:ext cx="3048000" cy="3048000"/>
            </a:xfrm>
            <a:prstGeom prst="ellipse">
              <a:avLst/>
            </a:prstGeom>
            <a:solidFill>
              <a:srgbClr val="FEF7E6">
                <a:alpha val="80000"/>
              </a:srgbClr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6858000" y="4000500"/>
              <a:ext cx="3810000" cy="3810000"/>
            </a:xfrm>
            <a:prstGeom prst="ellipse">
              <a:avLst/>
            </a:prstGeom>
            <a:solidFill>
              <a:srgbClr val="FBEEEC">
                <a:alpha val="70000"/>
              </a:srgbClr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0" y="5143500"/>
              <a:ext cx="2286000" cy="2286000"/>
            </a:xfrm>
            <a:prstGeom prst="ellipse">
              <a:avLst/>
            </a:prstGeom>
            <a:solidFill>
              <a:srgbClr val="FEF7E6">
                <a:alpha val="60000"/>
              </a:srgbClr>
            </a:solidFill>
            <a:ln>
              <a:noFill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762000" y="1333500"/>
            <a:ext cx="8229600" cy="4648200"/>
            <a:chOff x="762000" y="1333500"/>
            <a:chExt cx="8229600" cy="4648200"/>
          </a:xfrm>
        </p:grpSpPr>
        <p:sp>
          <p:nvSpPr>
            <p:cNvPr id="6" name="Rectangle 6"/>
            <p:cNvSpPr/>
            <p:nvPr/>
          </p:nvSpPr>
          <p:spPr>
            <a:xfrm>
              <a:off x="762000" y="1333500"/>
              <a:ext cx="8229600" cy="4648200"/>
            </a:xfrm>
            <a:prstGeom prst="roundRect">
              <a:avLst>
                <a:gd name="adj" fmla="val 4918"/>
              </a:avLst>
            </a:prstGeom>
            <a:solidFill>
              <a:srgbClr val="FFFFFF"/>
            </a:solidFill>
            <a:ln w="19050">
              <a:solidFill>
                <a:srgbClr val="E8DDD7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762000" y="1333500"/>
              <a:ext cx="8229600" cy="114300"/>
            </a:xfrm>
            <a:prstGeom prst="roundRect">
              <a:avLst>
                <a:gd name="adj" fmla="val 50000"/>
              </a:avLst>
            </a:prstGeom>
            <a:solidFill>
              <a:srgbClr val="F8DA92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1333500" y="2000250"/>
              <a:ext cx="1714500" cy="419100"/>
            </a:xfrm>
            <a:prstGeom prst="roundRect">
              <a:avLst>
                <a:gd name="adj" fmla="val 50000"/>
              </a:avLst>
            </a:prstGeom>
            <a:solidFill>
              <a:srgbClr val="4B4535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595056" y="2114550"/>
              <a:ext cx="119138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CHAPTER 02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20546" y="2820352"/>
              <a:ext cx="68195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55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AI는 커머스 가치사슬을 어떻게 바꾸는가?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333500" y="3619500"/>
              <a:ext cx="7086600" cy="952500"/>
            </a:xfrm>
            <a:prstGeom prst="roundRect">
              <a:avLst>
                <a:gd name="adj" fmla="val 16000"/>
              </a:avLst>
            </a:prstGeom>
            <a:solidFill>
              <a:srgbClr val="FDF6F4"/>
            </a:solidFill>
            <a:ln w="14288">
              <a:solidFill>
                <a:srgbClr val="E8DDD7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610487" y="4004786"/>
              <a:ext cx="731586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720" b="1" dirty="0">
                  <a:solidFill>
                    <a:srgbClr val="756E5F"/>
                  </a:solidFill>
                  <a:latin typeface="Arial"/>
                  <a:ea typeface="Malgun Gothic"/>
                  <a:cs typeface="Arial"/>
                </a:rPr>
                <a:t>시장조사부터 리뷰관리까지 전 과정의 데이터 기반 의사결정 및 자동화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1333500" y="5143500"/>
              <a:ext cx="7086600" cy="9525"/>
            </a:xfrm>
            <a:custGeom>
              <a:avLst/>
              <a:gdLst/>
              <a:ahLst/>
              <a:cxnLst/>
              <a:rect l="l" t="t" r="r" b="b"/>
              <a:pathLst>
                <a:path w="7086600" h="9525">
                  <a:moveTo>
                    <a:pt x="0" y="0"/>
                  </a:moveTo>
                  <a:lnTo>
                    <a:pt x="7086600" y="0"/>
                  </a:lnTo>
                </a:path>
              </a:pathLst>
            </a:custGeom>
            <a:noFill/>
            <a:ln w="14288">
              <a:solidFill>
                <a:srgbClr val="E8DDD7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325118" y="5346382"/>
              <a:ext cx="26089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EDA796"/>
                  </a:solidFill>
                  <a:latin typeface="Arial"/>
                  <a:ea typeface="Malgun Gothic"/>
                  <a:cs typeface="Arial"/>
                </a:rPr>
                <a:t>글로벌 AI 커머스 | 1주차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58546" y="448628"/>
            <a:ext cx="6819504" cy="498729"/>
            <a:chOff x="558546" y="448628"/>
            <a:chExt cx="6819504" cy="498729"/>
          </a:xfrm>
        </p:grpSpPr>
        <p:sp>
          <p:nvSpPr>
            <p:cNvPr id="2" name="TextBox 2"/>
            <p:cNvSpPr txBox="1"/>
            <p:nvPr/>
          </p:nvSpPr>
          <p:spPr>
            <a:xfrm>
              <a:off x="558546" y="448628"/>
              <a:ext cx="68195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55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AI는 커머스 가치사슬을 어떻게 바꾸는가?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571500" y="895350"/>
              <a:ext cx="762000" cy="38100"/>
            </a:xfrm>
            <a:prstGeom prst="roundRect">
              <a:avLst>
                <a:gd name="adj" fmla="val 50000"/>
              </a:avLst>
            </a:prstGeom>
            <a:solidFill>
              <a:srgbClr val="F8DA92"/>
            </a:solidFill>
            <a:ln>
              <a:noFill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571500" y="1333500"/>
            <a:ext cx="8610600" cy="1809750"/>
            <a:chOff x="571500" y="1333500"/>
            <a:chExt cx="8610600" cy="1809750"/>
          </a:xfrm>
        </p:grpSpPr>
        <p:sp>
          <p:nvSpPr>
            <p:cNvPr id="5" name="Rectangle 5"/>
            <p:cNvSpPr/>
            <p:nvPr/>
          </p:nvSpPr>
          <p:spPr>
            <a:xfrm>
              <a:off x="571500" y="1333500"/>
              <a:ext cx="8610600" cy="1809750"/>
            </a:xfrm>
            <a:prstGeom prst="roundRect">
              <a:avLst>
                <a:gd name="adj" fmla="val 10526"/>
              </a:avLst>
            </a:prstGeom>
            <a:solidFill>
              <a:srgbClr val="FFFFFF"/>
            </a:solidFill>
            <a:ln w="19050">
              <a:solidFill>
                <a:srgbClr val="E8DDD7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857250" y="1619250"/>
              <a:ext cx="1333500" cy="342900"/>
            </a:xfrm>
            <a:prstGeom prst="roundRect">
              <a:avLst>
                <a:gd name="adj" fmla="val 50000"/>
              </a:avLst>
            </a:prstGeom>
            <a:solidFill>
              <a:srgbClr val="4B4535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25044" y="1711642"/>
              <a:ext cx="7979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350" b="1" dirty="0">
                  <a:solidFill>
                    <a:srgbClr val="FFFFFF"/>
                  </a:solidFill>
                  <a:latin typeface="Arial"/>
                  <a:ea typeface="Malgun Gothic"/>
                  <a:cs typeface="Arial"/>
                </a:rPr>
                <a:t>핵심 명제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47344" y="2123122"/>
              <a:ext cx="603176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b="1" dirty="0">
                  <a:solidFill>
                    <a:srgbClr val="756E5F"/>
                  </a:solidFill>
                  <a:latin typeface="Arial"/>
                  <a:ea typeface="Malgun Gothic"/>
                  <a:cs typeface="Arial"/>
                </a:rPr>
                <a:t>AI는 커머스의 특정 한 부분만 바꾸는 것이 아닌,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45820" y="2519362"/>
              <a:ext cx="716361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25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 xml:space="preserve">상품기획부터 고객관리까지 </a:t>
              </a:r>
              <a:r>
                <a:rPr lang="ko-KR" sz="2250" b="1" dirty="0">
                  <a:solidFill>
                    <a:srgbClr val="EDA796"/>
                  </a:solidFill>
                  <a:latin typeface="Arial"/>
                  <a:ea typeface="Malgun Gothic"/>
                  <a:cs typeface="Arial"/>
                </a:rPr>
                <a:t>전체 흐름을 바꾸고 있음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563118" y="3393758"/>
            <a:ext cx="8618982" cy="3083242"/>
            <a:chOff x="563118" y="3393758"/>
            <a:chExt cx="8618982" cy="3083242"/>
          </a:xfrm>
        </p:grpSpPr>
        <p:sp>
          <p:nvSpPr>
            <p:cNvPr id="11" name="TextBox 11"/>
            <p:cNvSpPr txBox="1"/>
            <p:nvPr/>
          </p:nvSpPr>
          <p:spPr>
            <a:xfrm>
              <a:off x="563118" y="3393758"/>
              <a:ext cx="215580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가치사슬 전주기 혁신</a:t>
              </a:r>
            </a:p>
          </p:txBody>
        </p:sp>
        <p:grpSp>
          <p:nvGrpSpPr>
            <p:cNvPr id="43" name="Group 43"/>
            <p:cNvGrpSpPr/>
            <p:nvPr/>
          </p:nvGrpSpPr>
          <p:grpSpPr>
            <a:xfrm>
              <a:off x="571500" y="3810000"/>
              <a:ext cx="8610600" cy="2667000"/>
              <a:chOff x="571500" y="3810000"/>
              <a:chExt cx="8610600" cy="266700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571500" y="3810000"/>
                <a:ext cx="2000250" cy="2667000"/>
              </a:xfrm>
              <a:prstGeom prst="roundRect">
                <a:avLst>
                  <a:gd name="adj" fmla="val 8571"/>
                </a:avLst>
              </a:prstGeom>
              <a:solidFill>
                <a:srgbClr val="FFFFFF"/>
              </a:solidFill>
              <a:ln w="14288">
                <a:solidFill>
                  <a:srgbClr val="E8DDD7"/>
                </a:solidFill>
              </a:ln>
            </p:spPr>
          </p:sp>
          <p:sp>
            <p:nvSpPr>
              <p:cNvPr id="13" name="Ellipse 13"/>
              <p:cNvSpPr/>
              <p:nvPr/>
            </p:nvSpPr>
            <p:spPr>
              <a:xfrm>
                <a:off x="1304925" y="4019550"/>
                <a:ext cx="533400" cy="533400"/>
              </a:xfrm>
              <a:prstGeom prst="ellipse">
                <a:avLst/>
              </a:prstGeom>
              <a:solidFill>
                <a:srgbClr val="FEF7E6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1441323" y="4168140"/>
                <a:ext cx="26060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📊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984890" y="4727258"/>
                <a:ext cx="117347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650" b="1" dirty="0">
                    <a:solidFill>
                      <a:srgbClr val="4B4535"/>
                    </a:solidFill>
                    <a:latin typeface="Arial"/>
                    <a:ea typeface="Malgun Gothic"/>
                    <a:cs typeface="Arial"/>
                  </a:rPr>
                  <a:t>기획 &amp; 조사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160145" y="5172075"/>
                <a:ext cx="82296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00" dirty="0">
                    <a:solidFill>
                      <a:srgbClr val="33332F"/>
                    </a:solidFill>
                    <a:latin typeface="Arial"/>
                    <a:ea typeface="Malgun Gothic"/>
                    <a:cs typeface="Arial"/>
                  </a:rPr>
                  <a:t>시장조사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796671" y="5505450"/>
                <a:ext cx="154990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00" dirty="0">
                    <a:solidFill>
                      <a:srgbClr val="33332F"/>
                    </a:solidFill>
                    <a:latin typeface="Arial"/>
                    <a:ea typeface="Malgun Gothic"/>
                    <a:cs typeface="Arial"/>
                  </a:rPr>
                  <a:t>데이터 기반 기획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927926" y="5838825"/>
                <a:ext cx="128739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00" dirty="0">
                    <a:solidFill>
                      <a:srgbClr val="33332F"/>
                    </a:solidFill>
                    <a:latin typeface="Arial"/>
                    <a:ea typeface="Malgun Gothic"/>
                    <a:cs typeface="Arial"/>
                  </a:rPr>
                  <a:t>경쟁상품 분석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2620518" y="5013008"/>
                <a:ext cx="13893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50" dirty="0">
                    <a:solidFill>
                      <a:srgbClr val="756E5F"/>
                    </a:solidFill>
                    <a:latin typeface="Arial"/>
                    <a:ea typeface="Arial"/>
                    <a:cs typeface="Arial"/>
                  </a:rPr>
                  <a:t>→</a:t>
                </a:r>
              </a:p>
            </p:txBody>
          </p:sp>
          <p:sp>
            <p:nvSpPr>
              <p:cNvPr id="20" name="Rectangle 20"/>
              <p:cNvSpPr/>
              <p:nvPr/>
            </p:nvSpPr>
            <p:spPr>
              <a:xfrm>
                <a:off x="2771775" y="3810000"/>
                <a:ext cx="2000250" cy="2667000"/>
              </a:xfrm>
              <a:prstGeom prst="roundRect">
                <a:avLst>
                  <a:gd name="adj" fmla="val 8571"/>
                </a:avLst>
              </a:prstGeom>
              <a:solidFill>
                <a:srgbClr val="FFFFFF"/>
              </a:solidFill>
              <a:ln w="14288">
                <a:solidFill>
                  <a:srgbClr val="E8DDD7"/>
                </a:solidFill>
              </a:ln>
            </p:spPr>
          </p:sp>
          <p:sp>
            <p:nvSpPr>
              <p:cNvPr id="21" name="Ellipse 21"/>
              <p:cNvSpPr/>
              <p:nvPr/>
            </p:nvSpPr>
            <p:spPr>
              <a:xfrm>
                <a:off x="3505200" y="4019550"/>
                <a:ext cx="533400" cy="533400"/>
              </a:xfrm>
              <a:prstGeom prst="ellipse">
                <a:avLst/>
              </a:prstGeom>
              <a:solidFill>
                <a:srgbClr val="FEF7E6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3641598" y="4168140"/>
                <a:ext cx="26060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✍️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3074104" y="4727258"/>
                <a:ext cx="139559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650" b="1" dirty="0">
                    <a:solidFill>
                      <a:srgbClr val="4B4535"/>
                    </a:solidFill>
                    <a:latin typeface="Arial"/>
                    <a:ea typeface="Malgun Gothic"/>
                    <a:cs typeface="Arial"/>
                  </a:rPr>
                  <a:t>제작 &amp; 현지화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2926270" y="5172075"/>
                <a:ext cx="169125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00" dirty="0">
                    <a:solidFill>
                      <a:srgbClr val="33332F"/>
                    </a:solidFill>
                    <a:latin typeface="Arial"/>
                    <a:ea typeface="Malgun Gothic"/>
                    <a:cs typeface="Arial"/>
                  </a:rPr>
                  <a:t>생성형 상세페이지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3097911" y="5505450"/>
                <a:ext cx="134797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00" dirty="0">
                    <a:solidFill>
                      <a:srgbClr val="33332F"/>
                    </a:solidFill>
                    <a:latin typeface="Arial"/>
                    <a:ea typeface="Malgun Gothic"/>
                    <a:cs typeface="Arial"/>
                  </a:rPr>
                  <a:t>상황 맞춤 번역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3128200" y="5838825"/>
                <a:ext cx="128739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00" dirty="0">
                    <a:solidFill>
                      <a:srgbClr val="33332F"/>
                    </a:solidFill>
                    <a:latin typeface="Arial"/>
                    <a:ea typeface="Malgun Gothic"/>
                    <a:cs typeface="Arial"/>
                  </a:rPr>
                  <a:t>문화적 현지화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4820793" y="5013008"/>
                <a:ext cx="13893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50" dirty="0">
                    <a:solidFill>
                      <a:srgbClr val="756E5F"/>
                    </a:solidFill>
                    <a:latin typeface="Arial"/>
                    <a:ea typeface="Arial"/>
                    <a:cs typeface="Arial"/>
                  </a:rPr>
                  <a:t>→</a:t>
                </a:r>
              </a:p>
            </p:txBody>
          </p:sp>
          <p:sp>
            <p:nvSpPr>
              <p:cNvPr id="28" name="Rectangle 28"/>
              <p:cNvSpPr/>
              <p:nvPr/>
            </p:nvSpPr>
            <p:spPr>
              <a:xfrm>
                <a:off x="4972050" y="3810000"/>
                <a:ext cx="2000250" cy="2667000"/>
              </a:xfrm>
              <a:prstGeom prst="roundRect">
                <a:avLst>
                  <a:gd name="adj" fmla="val 8571"/>
                </a:avLst>
              </a:prstGeom>
              <a:solidFill>
                <a:srgbClr val="FFFFFF"/>
              </a:solidFill>
              <a:ln w="14288">
                <a:solidFill>
                  <a:srgbClr val="E8DDD7"/>
                </a:solidFill>
              </a:ln>
            </p:spPr>
          </p:sp>
          <p:sp>
            <p:nvSpPr>
              <p:cNvPr id="29" name="Ellipse 29"/>
              <p:cNvSpPr/>
              <p:nvPr/>
            </p:nvSpPr>
            <p:spPr>
              <a:xfrm>
                <a:off x="5705475" y="4019550"/>
                <a:ext cx="533400" cy="533400"/>
              </a:xfrm>
              <a:prstGeom prst="ellipse">
                <a:avLst/>
              </a:prstGeom>
              <a:solidFill>
                <a:srgbClr val="FEF7E6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5841873" y="4168140"/>
                <a:ext cx="26060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📢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5334514" y="4727258"/>
                <a:ext cx="127532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650" b="1" dirty="0">
                    <a:solidFill>
                      <a:srgbClr val="4B4535"/>
                    </a:solidFill>
                    <a:latin typeface="Arial"/>
                    <a:ea typeface="Malgun Gothic"/>
                    <a:cs typeface="Arial"/>
                  </a:rPr>
                  <a:t>마케팅 &amp; CS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5383149" y="5172075"/>
                <a:ext cx="117805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00" dirty="0">
                    <a:solidFill>
                      <a:srgbClr val="33332F"/>
                    </a:solidFill>
                    <a:latin typeface="Arial"/>
                    <a:ea typeface="Malgun Gothic"/>
                    <a:cs typeface="Arial"/>
                  </a:rPr>
                  <a:t>AI 숏폼 대본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5298186" y="5505450"/>
                <a:ext cx="134797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00" dirty="0">
                    <a:solidFill>
                      <a:srgbClr val="33332F"/>
                    </a:solidFill>
                    <a:latin typeface="Arial"/>
                    <a:ea typeface="Malgun Gothic"/>
                    <a:cs typeface="Arial"/>
                  </a:rPr>
                  <a:t>광고 문구 생성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5249799" y="5838825"/>
                <a:ext cx="144475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00" dirty="0">
                    <a:solidFill>
                      <a:srgbClr val="33332F"/>
                    </a:solidFill>
                    <a:latin typeface="Arial"/>
                    <a:ea typeface="Malgun Gothic"/>
                    <a:cs typeface="Arial"/>
                  </a:rPr>
                  <a:t>다국어 챗봇 CS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7021068" y="5013008"/>
                <a:ext cx="13893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50" dirty="0">
                    <a:solidFill>
                      <a:srgbClr val="756E5F"/>
                    </a:solidFill>
                    <a:latin typeface="Arial"/>
                    <a:ea typeface="Arial"/>
                    <a:cs typeface="Arial"/>
                  </a:rPr>
                  <a:t>→</a:t>
                </a:r>
              </a:p>
            </p:txBody>
          </p:sp>
          <p:sp>
            <p:nvSpPr>
              <p:cNvPr id="36" name="Rectangle 36"/>
              <p:cNvSpPr/>
              <p:nvPr/>
            </p:nvSpPr>
            <p:spPr>
              <a:xfrm>
                <a:off x="7181850" y="3810000"/>
                <a:ext cx="2000250" cy="2667000"/>
              </a:xfrm>
              <a:prstGeom prst="roundRect">
                <a:avLst>
                  <a:gd name="adj" fmla="val 8571"/>
                </a:avLst>
              </a:prstGeom>
              <a:solidFill>
                <a:srgbClr val="FFFFFF"/>
              </a:solidFill>
              <a:ln w="14288">
                <a:solidFill>
                  <a:srgbClr val="EDA796"/>
                </a:solidFill>
              </a:ln>
            </p:spPr>
          </p:sp>
          <p:sp>
            <p:nvSpPr>
              <p:cNvPr id="37" name="Ellipse 37"/>
              <p:cNvSpPr/>
              <p:nvPr/>
            </p:nvSpPr>
            <p:spPr>
              <a:xfrm>
                <a:off x="7915275" y="4019550"/>
                <a:ext cx="533400" cy="533400"/>
              </a:xfrm>
              <a:prstGeom prst="ellipse">
                <a:avLst/>
              </a:prstGeom>
              <a:solidFill>
                <a:srgbClr val="FBEEEC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8051673" y="4168140"/>
                <a:ext cx="26060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📈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7595240" y="4727258"/>
                <a:ext cx="117347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650" b="1" dirty="0">
                    <a:solidFill>
                      <a:srgbClr val="4B4535"/>
                    </a:solidFill>
                    <a:latin typeface="Arial"/>
                    <a:ea typeface="Malgun Gothic"/>
                    <a:cs typeface="Arial"/>
                  </a:rPr>
                  <a:t>운영 &amp; 분석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7376732" y="5172075"/>
                <a:ext cx="1610487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00" dirty="0">
                    <a:solidFill>
                      <a:srgbClr val="33332F"/>
                    </a:solidFill>
                    <a:latin typeface="Arial"/>
                    <a:ea typeface="Malgun Gothic"/>
                    <a:cs typeface="Arial"/>
                  </a:rPr>
                  <a:t>수요 및 재고 예측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7538276" y="5505450"/>
                <a:ext cx="128739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00" dirty="0">
                    <a:solidFill>
                      <a:srgbClr val="33332F"/>
                    </a:solidFill>
                    <a:latin typeface="Arial"/>
                    <a:ea typeface="Malgun Gothic"/>
                    <a:cs typeface="Arial"/>
                  </a:rPr>
                  <a:t>이상거래 탐지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7507986" y="5838825"/>
                <a:ext cx="134797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00" dirty="0">
                    <a:solidFill>
                      <a:srgbClr val="33332F"/>
                    </a:solidFill>
                    <a:latin typeface="Arial"/>
                    <a:ea typeface="Malgun Gothic"/>
                    <a:cs typeface="Arial"/>
                  </a:rPr>
                  <a:t>리뷰 감성 분석</a:t>
                </a:r>
              </a:p>
            </p:txBody>
          </p:sp>
        </p:grp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58546" y="372428"/>
            <a:ext cx="6904878" cy="784860"/>
            <a:chOff x="558546" y="372428"/>
            <a:chExt cx="6904878" cy="784860"/>
          </a:xfrm>
        </p:grpSpPr>
        <p:sp>
          <p:nvSpPr>
            <p:cNvPr id="2" name="TextBox 2"/>
            <p:cNvSpPr txBox="1"/>
            <p:nvPr/>
          </p:nvSpPr>
          <p:spPr>
            <a:xfrm>
              <a:off x="558546" y="372428"/>
              <a:ext cx="68195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55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AI는 커머스 가치사슬을 어떻게 바꾸는가?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62356" y="796290"/>
              <a:ext cx="69010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756E5F"/>
                  </a:solidFill>
                  <a:latin typeface="Arial"/>
                  <a:ea typeface="Malgun Gothic"/>
                  <a:cs typeface="Arial"/>
                </a:rPr>
                <a:t>AI 커머스 가치사슬: 기존 방식에서 AI 활용 방식으로의 전환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1123950"/>
              <a:ext cx="571500" cy="33338"/>
            </a:xfrm>
            <a:prstGeom prst="roundRect">
              <a:avLst>
                <a:gd name="adj" fmla="val 50000"/>
              </a:avLst>
            </a:prstGeom>
            <a:solidFill>
              <a:srgbClr val="F8DA92"/>
            </a:solidFill>
            <a:ln>
              <a:noFill/>
            </a:ln>
          </p:spPr>
        </p:sp>
      </p:grpSp>
      <p:grpSp>
        <p:nvGrpSpPr>
          <p:cNvPr id="58" name="Group 58"/>
          <p:cNvGrpSpPr/>
          <p:nvPr/>
        </p:nvGrpSpPr>
        <p:grpSpPr>
          <a:xfrm>
            <a:off x="571500" y="1333500"/>
            <a:ext cx="9214485" cy="4714875"/>
            <a:chOff x="571500" y="1333500"/>
            <a:chExt cx="9214485" cy="4714875"/>
          </a:xfrm>
        </p:grpSpPr>
        <p:sp>
          <p:nvSpPr>
            <p:cNvPr id="6" name="Rectangle 6"/>
            <p:cNvSpPr/>
            <p:nvPr/>
          </p:nvSpPr>
          <p:spPr>
            <a:xfrm>
              <a:off x="571500" y="1333500"/>
              <a:ext cx="8610600" cy="4714875"/>
            </a:xfrm>
            <a:prstGeom prst="roundRect">
              <a:avLst>
                <a:gd name="adj" fmla="val 3232"/>
              </a:avLst>
            </a:prstGeom>
            <a:solidFill>
              <a:srgbClr val="FFFFFF"/>
            </a:solidFill>
            <a:ln w="14288">
              <a:solidFill>
                <a:srgbClr val="E8DDD7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571500" y="1333500"/>
              <a:ext cx="8610600" cy="428625"/>
            </a:xfrm>
            <a:prstGeom prst="roundRect">
              <a:avLst>
                <a:gd name="adj" fmla="val 35556"/>
              </a:avLst>
            </a:prstGeom>
            <a:solidFill>
              <a:srgbClr val="4B4535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571625"/>
              <a:ext cx="8610600" cy="190500"/>
            </a:xfrm>
            <a:prstGeom prst="rect">
              <a:avLst/>
            </a:prstGeom>
            <a:solidFill>
              <a:srgbClr val="4B4535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40130" y="145732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b="1" dirty="0">
                  <a:solidFill>
                    <a:srgbClr val="FFFFFF"/>
                  </a:solidFill>
                  <a:latin typeface="Arial"/>
                  <a:ea typeface="Malgun Gothic"/>
                  <a:cs typeface="Arial"/>
                </a:rPr>
                <a:t>단계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040380" y="1457325"/>
              <a:ext cx="8865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b="1" dirty="0">
                  <a:solidFill>
                    <a:srgbClr val="FFFFFF"/>
                  </a:solidFill>
                  <a:latin typeface="Arial"/>
                  <a:ea typeface="Malgun Gothic"/>
                  <a:cs typeface="Arial"/>
                </a:rPr>
                <a:t>기존 방식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69380" y="1457325"/>
              <a:ext cx="119352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b="1" dirty="0">
                  <a:solidFill>
                    <a:srgbClr val="F8DA92"/>
                  </a:solidFill>
                  <a:latin typeface="Arial"/>
                  <a:ea typeface="Malgun Gothic"/>
                  <a:cs typeface="Arial"/>
                </a:rPr>
                <a:t>AI 활용 방식</a:t>
              </a:r>
            </a:p>
          </p:txBody>
        </p:sp>
        <p:grpSp>
          <p:nvGrpSpPr>
            <p:cNvPr id="57" name="Group 57"/>
            <p:cNvGrpSpPr/>
            <p:nvPr/>
          </p:nvGrpSpPr>
          <p:grpSpPr>
            <a:xfrm>
              <a:off x="571500" y="1762125"/>
              <a:ext cx="9214485" cy="4286250"/>
              <a:chOff x="571500" y="1762125"/>
              <a:chExt cx="9214485" cy="428625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571500" y="1762125"/>
                <a:ext cx="8610600" cy="457200"/>
              </a:xfrm>
              <a:prstGeom prst="rect">
                <a:avLst/>
              </a:prstGeom>
              <a:solidFill>
                <a:srgbClr val="FDF6F4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849630" y="1905000"/>
                <a:ext cx="1119797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b="1" dirty="0">
                    <a:solidFill>
                      <a:srgbClr val="33332F"/>
                    </a:solidFill>
                    <a:latin typeface="Arial"/>
                    <a:ea typeface="Malgun Gothic"/>
                    <a:cs typeface="Arial"/>
                  </a:rPr>
                  <a:t>1. 시장조사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2468880" y="1905000"/>
                <a:ext cx="2418207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dirty="0">
                    <a:solidFill>
                      <a:srgbClr val="33332F"/>
                    </a:solidFill>
                    <a:latin typeface="Arial"/>
                    <a:ea typeface="Malgun Gothic"/>
                    <a:cs typeface="Arial"/>
                  </a:rPr>
                  <a:t>사람이 검색하고 자료 수집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5516880" y="1905000"/>
                <a:ext cx="328124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b="1" dirty="0">
                    <a:solidFill>
                      <a:srgbClr val="4B4535"/>
                    </a:solidFill>
                    <a:latin typeface="Arial"/>
                    <a:ea typeface="Malgun Gothic"/>
                    <a:cs typeface="Arial"/>
                  </a:rPr>
                  <a:t>AI로 트렌드, 경쟁상품, 리뷰 요약</a:t>
                </a:r>
              </a:p>
            </p:txBody>
          </p:sp>
          <p:sp>
            <p:nvSpPr>
              <p:cNvPr id="16" name="Line 16"/>
              <p:cNvSpPr/>
              <p:nvPr/>
            </p:nvSpPr>
            <p:spPr>
              <a:xfrm>
                <a:off x="571500" y="2219325"/>
                <a:ext cx="8610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610600" h="9525">
                    <a:moveTo>
                      <a:pt x="0" y="0"/>
                    </a:moveTo>
                    <a:lnTo>
                      <a:pt x="8610600" y="0"/>
                    </a:lnTo>
                  </a:path>
                </a:pathLst>
              </a:custGeom>
              <a:noFill/>
              <a:ln w="9525">
                <a:solidFill>
                  <a:srgbClr val="E8DDD7"/>
                </a:solidFill>
              </a:ln>
            </p:spPr>
          </p:sp>
          <p:sp>
            <p:nvSpPr>
              <p:cNvPr id="17" name="Rectangle 17"/>
              <p:cNvSpPr/>
              <p:nvPr/>
            </p:nvSpPr>
            <p:spPr>
              <a:xfrm>
                <a:off x="571500" y="2219325"/>
                <a:ext cx="8610600" cy="4572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849630" y="2362200"/>
                <a:ext cx="1119797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b="1" dirty="0">
                    <a:solidFill>
                      <a:srgbClr val="33332F"/>
                    </a:solidFill>
                    <a:latin typeface="Arial"/>
                    <a:ea typeface="Malgun Gothic"/>
                    <a:cs typeface="Arial"/>
                  </a:rPr>
                  <a:t>2. 상품기획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2468880" y="2362200"/>
                <a:ext cx="154990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dirty="0">
                    <a:solidFill>
                      <a:srgbClr val="33332F"/>
                    </a:solidFill>
                    <a:latin typeface="Arial"/>
                    <a:ea typeface="Malgun Gothic"/>
                    <a:cs typeface="Arial"/>
                  </a:rPr>
                  <a:t>경험과 감에 의존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5516880" y="2362200"/>
                <a:ext cx="316030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b="1" dirty="0">
                    <a:solidFill>
                      <a:srgbClr val="4B4535"/>
                    </a:solidFill>
                    <a:latin typeface="Arial"/>
                    <a:ea typeface="Malgun Gothic"/>
                    <a:cs typeface="Arial"/>
                  </a:rPr>
                  <a:t>고객 데이터와 리뷰 분석 기반 기획</a:t>
                </a:r>
              </a:p>
            </p:txBody>
          </p:sp>
          <p:sp>
            <p:nvSpPr>
              <p:cNvPr id="21" name="Line 21"/>
              <p:cNvSpPr/>
              <p:nvPr/>
            </p:nvSpPr>
            <p:spPr>
              <a:xfrm>
                <a:off x="571500" y="2676525"/>
                <a:ext cx="8610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610600" h="9525">
                    <a:moveTo>
                      <a:pt x="0" y="0"/>
                    </a:moveTo>
                    <a:lnTo>
                      <a:pt x="8610600" y="0"/>
                    </a:lnTo>
                  </a:path>
                </a:pathLst>
              </a:custGeom>
              <a:noFill/>
              <a:ln w="9525">
                <a:solidFill>
                  <a:srgbClr val="E8DDD7"/>
                </a:solidFill>
              </a:ln>
            </p:spPr>
          </p:sp>
          <p:sp>
            <p:nvSpPr>
              <p:cNvPr id="22" name="Rectangle 22"/>
              <p:cNvSpPr/>
              <p:nvPr/>
            </p:nvSpPr>
            <p:spPr>
              <a:xfrm>
                <a:off x="571500" y="2676525"/>
                <a:ext cx="8610600" cy="457200"/>
              </a:xfrm>
              <a:prstGeom prst="rect">
                <a:avLst/>
              </a:prstGeom>
              <a:solidFill>
                <a:srgbClr val="FDF6F4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849630" y="2819400"/>
                <a:ext cx="1321727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b="1" dirty="0">
                    <a:solidFill>
                      <a:srgbClr val="33332F"/>
                    </a:solidFill>
                    <a:latin typeface="Arial"/>
                    <a:ea typeface="Malgun Gothic"/>
                    <a:cs typeface="Arial"/>
                  </a:rPr>
                  <a:t>3. 상품페이지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2468880" y="2819400"/>
                <a:ext cx="154990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dirty="0">
                    <a:solidFill>
                      <a:srgbClr val="33332F"/>
                    </a:solidFill>
                    <a:latin typeface="Arial"/>
                    <a:ea typeface="Malgun Gothic"/>
                    <a:cs typeface="Arial"/>
                  </a:rPr>
                  <a:t>사람이 직접 작성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5516880" y="2819400"/>
                <a:ext cx="3830117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b="1" dirty="0">
                    <a:solidFill>
                      <a:srgbClr val="4B4535"/>
                    </a:solidFill>
                    <a:latin typeface="Arial"/>
                    <a:ea typeface="Malgun Gothic"/>
                    <a:cs typeface="Arial"/>
                  </a:rPr>
                  <a:t>생성형 AI로 제목, 설명, FAQ 초안 작성</a:t>
                </a:r>
              </a:p>
            </p:txBody>
          </p:sp>
          <p:sp>
            <p:nvSpPr>
              <p:cNvPr id="26" name="Line 26"/>
              <p:cNvSpPr/>
              <p:nvPr/>
            </p:nvSpPr>
            <p:spPr>
              <a:xfrm>
                <a:off x="571500" y="3133725"/>
                <a:ext cx="8610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610600" h="9525">
                    <a:moveTo>
                      <a:pt x="0" y="0"/>
                    </a:moveTo>
                    <a:lnTo>
                      <a:pt x="8610600" y="0"/>
                    </a:lnTo>
                  </a:path>
                </a:pathLst>
              </a:custGeom>
              <a:noFill/>
              <a:ln w="9525">
                <a:solidFill>
                  <a:srgbClr val="E8DDD7"/>
                </a:solidFill>
              </a:ln>
            </p:spPr>
          </p:sp>
          <p:sp>
            <p:nvSpPr>
              <p:cNvPr id="27" name="Rectangle 27"/>
              <p:cNvSpPr/>
              <p:nvPr/>
            </p:nvSpPr>
            <p:spPr>
              <a:xfrm>
                <a:off x="571500" y="3133725"/>
                <a:ext cx="8610600" cy="4572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849630" y="3276600"/>
                <a:ext cx="143834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b="1" dirty="0">
                    <a:solidFill>
                      <a:srgbClr val="33332F"/>
                    </a:solidFill>
                    <a:latin typeface="Arial"/>
                    <a:ea typeface="Malgun Gothic"/>
                    <a:cs typeface="Arial"/>
                  </a:rPr>
                  <a:t>4. 번역·현지화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2468880" y="3276600"/>
                <a:ext cx="88353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dirty="0">
                    <a:solidFill>
                      <a:srgbClr val="33332F"/>
                    </a:solidFill>
                    <a:latin typeface="Arial"/>
                    <a:ea typeface="Malgun Gothic"/>
                    <a:cs typeface="Arial"/>
                  </a:rPr>
                  <a:t>단순 번역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5516880" y="3276600"/>
                <a:ext cx="289476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b="1" dirty="0">
                    <a:solidFill>
                      <a:srgbClr val="4B4535"/>
                    </a:solidFill>
                    <a:latin typeface="Arial"/>
                    <a:ea typeface="Malgun Gothic"/>
                    <a:cs typeface="Arial"/>
                  </a:rPr>
                  <a:t>문화와 사용 장면에 맞춘 현지화</a:t>
                </a:r>
              </a:p>
            </p:txBody>
          </p:sp>
          <p:sp>
            <p:nvSpPr>
              <p:cNvPr id="31" name="Line 31"/>
              <p:cNvSpPr/>
              <p:nvPr/>
            </p:nvSpPr>
            <p:spPr>
              <a:xfrm>
                <a:off x="571500" y="3590925"/>
                <a:ext cx="8610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610600" h="9525">
                    <a:moveTo>
                      <a:pt x="0" y="0"/>
                    </a:moveTo>
                    <a:lnTo>
                      <a:pt x="8610600" y="0"/>
                    </a:lnTo>
                  </a:path>
                </a:pathLst>
              </a:custGeom>
              <a:noFill/>
              <a:ln w="9525">
                <a:solidFill>
                  <a:srgbClr val="E8DDD7"/>
                </a:solidFill>
              </a:ln>
            </p:spPr>
          </p:sp>
          <p:sp>
            <p:nvSpPr>
              <p:cNvPr id="32" name="Rectangle 32"/>
              <p:cNvSpPr/>
              <p:nvPr/>
            </p:nvSpPr>
            <p:spPr>
              <a:xfrm>
                <a:off x="571500" y="3590925"/>
                <a:ext cx="8610600" cy="457200"/>
              </a:xfrm>
              <a:prstGeom prst="rect">
                <a:avLst/>
              </a:prstGeom>
              <a:solidFill>
                <a:srgbClr val="FDF6F4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849630" y="3733800"/>
                <a:ext cx="143834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b="1" dirty="0">
                    <a:solidFill>
                      <a:srgbClr val="33332F"/>
                    </a:solidFill>
                    <a:latin typeface="Arial"/>
                    <a:ea typeface="Malgun Gothic"/>
                    <a:cs typeface="Arial"/>
                  </a:rPr>
                  <a:t>5. 광고·콘텐츠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2468880" y="3733800"/>
                <a:ext cx="195376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dirty="0">
                    <a:solidFill>
                      <a:srgbClr val="33332F"/>
                    </a:solidFill>
                    <a:latin typeface="Arial"/>
                    <a:ea typeface="Malgun Gothic"/>
                    <a:cs typeface="Arial"/>
                  </a:rPr>
                  <a:t>사람이 광고문구 작성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5516880" y="3733800"/>
                <a:ext cx="426910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b="1" dirty="0">
                    <a:solidFill>
                      <a:srgbClr val="4B4535"/>
                    </a:solidFill>
                    <a:latin typeface="Arial"/>
                    <a:ea typeface="Malgun Gothic"/>
                    <a:cs typeface="Arial"/>
                  </a:rPr>
                  <a:t>AI로 숏폼 대본, 광고문구, 이미지 문구 생성</a:t>
                </a:r>
              </a:p>
            </p:txBody>
          </p:sp>
          <p:sp>
            <p:nvSpPr>
              <p:cNvPr id="36" name="Line 36"/>
              <p:cNvSpPr/>
              <p:nvPr/>
            </p:nvSpPr>
            <p:spPr>
              <a:xfrm>
                <a:off x="571500" y="4048125"/>
                <a:ext cx="8610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610600" h="9525">
                    <a:moveTo>
                      <a:pt x="0" y="0"/>
                    </a:moveTo>
                    <a:lnTo>
                      <a:pt x="8610600" y="0"/>
                    </a:lnTo>
                  </a:path>
                </a:pathLst>
              </a:custGeom>
              <a:noFill/>
              <a:ln w="9525">
                <a:solidFill>
                  <a:srgbClr val="E8DDD7"/>
                </a:solidFill>
              </a:ln>
            </p:spPr>
          </p:sp>
          <p:sp>
            <p:nvSpPr>
              <p:cNvPr id="37" name="Rectangle 37"/>
              <p:cNvSpPr/>
              <p:nvPr/>
            </p:nvSpPr>
            <p:spPr>
              <a:xfrm>
                <a:off x="571500" y="4048125"/>
                <a:ext cx="8610600" cy="4572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849630" y="4191000"/>
                <a:ext cx="1119797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b="1" dirty="0">
                    <a:solidFill>
                      <a:srgbClr val="33332F"/>
                    </a:solidFill>
                    <a:latin typeface="Arial"/>
                    <a:ea typeface="Malgun Gothic"/>
                    <a:cs typeface="Arial"/>
                  </a:rPr>
                  <a:t>6. 고객응대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2468880" y="4191000"/>
                <a:ext cx="2014347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dirty="0">
                    <a:solidFill>
                      <a:srgbClr val="33332F"/>
                    </a:solidFill>
                    <a:latin typeface="Arial"/>
                    <a:ea typeface="Malgun Gothic"/>
                    <a:cs typeface="Arial"/>
                  </a:rPr>
                  <a:t>사람이 반복 문의 처리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5516880" y="4191000"/>
                <a:ext cx="2629967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b="1" dirty="0">
                    <a:solidFill>
                      <a:srgbClr val="4B4535"/>
                    </a:solidFill>
                    <a:latin typeface="Arial"/>
                    <a:ea typeface="Malgun Gothic"/>
                    <a:cs typeface="Arial"/>
                  </a:rPr>
                  <a:t>챗봇, 자동응답, 다국어 CS</a:t>
                </a:r>
              </a:p>
            </p:txBody>
          </p:sp>
          <p:sp>
            <p:nvSpPr>
              <p:cNvPr id="41" name="Line 41"/>
              <p:cNvSpPr/>
              <p:nvPr/>
            </p:nvSpPr>
            <p:spPr>
              <a:xfrm>
                <a:off x="571500" y="4505325"/>
                <a:ext cx="8610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610600" h="9525">
                    <a:moveTo>
                      <a:pt x="0" y="0"/>
                    </a:moveTo>
                    <a:lnTo>
                      <a:pt x="8610600" y="0"/>
                    </a:lnTo>
                  </a:path>
                </a:pathLst>
              </a:custGeom>
              <a:noFill/>
              <a:ln w="9525">
                <a:solidFill>
                  <a:srgbClr val="E8DDD7"/>
                </a:solidFill>
              </a:ln>
            </p:spPr>
          </p:sp>
          <p:sp>
            <p:nvSpPr>
              <p:cNvPr id="42" name="Rectangle 42"/>
              <p:cNvSpPr/>
              <p:nvPr/>
            </p:nvSpPr>
            <p:spPr>
              <a:xfrm>
                <a:off x="571500" y="4505325"/>
                <a:ext cx="8610600" cy="457200"/>
              </a:xfrm>
              <a:prstGeom prst="rect">
                <a:avLst/>
              </a:prstGeom>
              <a:solidFill>
                <a:srgbClr val="FDF6F4"/>
              </a:soli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849630" y="4648200"/>
                <a:ext cx="123641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b="1" dirty="0">
                    <a:solidFill>
                      <a:srgbClr val="33332F"/>
                    </a:solidFill>
                    <a:latin typeface="Arial"/>
                    <a:ea typeface="Malgun Gothic"/>
                    <a:cs typeface="Arial"/>
                  </a:rPr>
                  <a:t>7. 물류·재고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2468880" y="4648200"/>
                <a:ext cx="134797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dirty="0">
                    <a:solidFill>
                      <a:srgbClr val="33332F"/>
                    </a:solidFill>
                    <a:latin typeface="Arial"/>
                    <a:ea typeface="Malgun Gothic"/>
                    <a:cs typeface="Arial"/>
                  </a:rPr>
                  <a:t>경험 기반 예측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5516880" y="4648200"/>
                <a:ext cx="234197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b="1" dirty="0">
                    <a:solidFill>
                      <a:srgbClr val="4B4535"/>
                    </a:solidFill>
                    <a:latin typeface="Arial"/>
                    <a:ea typeface="Malgun Gothic"/>
                    <a:cs typeface="Arial"/>
                  </a:rPr>
                  <a:t>수요예측, 재고 부족 예측</a:t>
                </a:r>
              </a:p>
            </p:txBody>
          </p:sp>
          <p:sp>
            <p:nvSpPr>
              <p:cNvPr id="46" name="Line 46"/>
              <p:cNvSpPr/>
              <p:nvPr/>
            </p:nvSpPr>
            <p:spPr>
              <a:xfrm>
                <a:off x="571500" y="4962525"/>
                <a:ext cx="8610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610600" h="9525">
                    <a:moveTo>
                      <a:pt x="0" y="0"/>
                    </a:moveTo>
                    <a:lnTo>
                      <a:pt x="8610600" y="0"/>
                    </a:lnTo>
                  </a:path>
                </a:pathLst>
              </a:custGeom>
              <a:noFill/>
              <a:ln w="9525">
                <a:solidFill>
                  <a:srgbClr val="E8DDD7"/>
                </a:solidFill>
              </a:ln>
            </p:spPr>
          </p:sp>
          <p:sp>
            <p:nvSpPr>
              <p:cNvPr id="47" name="Rectangle 47"/>
              <p:cNvSpPr/>
              <p:nvPr/>
            </p:nvSpPr>
            <p:spPr>
              <a:xfrm>
                <a:off x="571500" y="4962525"/>
                <a:ext cx="8610600" cy="4572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849630" y="5105400"/>
                <a:ext cx="123641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b="1" dirty="0">
                    <a:solidFill>
                      <a:srgbClr val="33332F"/>
                    </a:solidFill>
                    <a:latin typeface="Arial"/>
                    <a:ea typeface="Malgun Gothic"/>
                    <a:cs typeface="Arial"/>
                  </a:rPr>
                  <a:t>8. 결제·보안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2468880" y="5105400"/>
                <a:ext cx="128739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dirty="0">
                    <a:solidFill>
                      <a:srgbClr val="33332F"/>
                    </a:solidFill>
                    <a:latin typeface="Arial"/>
                    <a:ea typeface="Malgun Gothic"/>
                    <a:cs typeface="Arial"/>
                  </a:rPr>
                  <a:t>수동 모니터링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5516880" y="5105400"/>
                <a:ext cx="234197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b="1" dirty="0">
                    <a:solidFill>
                      <a:srgbClr val="4B4535"/>
                    </a:solidFill>
                    <a:latin typeface="Arial"/>
                    <a:ea typeface="Malgun Gothic"/>
                    <a:cs typeface="Arial"/>
                  </a:rPr>
                  <a:t>이상거래 탐지, 사기 방지</a:t>
                </a:r>
              </a:p>
            </p:txBody>
          </p:sp>
          <p:sp>
            <p:nvSpPr>
              <p:cNvPr id="51" name="Line 51"/>
              <p:cNvSpPr/>
              <p:nvPr/>
            </p:nvSpPr>
            <p:spPr>
              <a:xfrm>
                <a:off x="571500" y="5419725"/>
                <a:ext cx="8610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610600" h="9525">
                    <a:moveTo>
                      <a:pt x="0" y="0"/>
                    </a:moveTo>
                    <a:lnTo>
                      <a:pt x="8610600" y="0"/>
                    </a:lnTo>
                  </a:path>
                </a:pathLst>
              </a:custGeom>
              <a:noFill/>
              <a:ln w="9525">
                <a:solidFill>
                  <a:srgbClr val="E8DDD7"/>
                </a:solidFill>
              </a:ln>
            </p:spPr>
          </p:sp>
          <p:sp>
            <p:nvSpPr>
              <p:cNvPr id="52" name="Rectangle 52"/>
              <p:cNvSpPr/>
              <p:nvPr/>
            </p:nvSpPr>
            <p:spPr>
              <a:xfrm>
                <a:off x="571500" y="5419725"/>
                <a:ext cx="8610600" cy="628650"/>
              </a:xfrm>
              <a:prstGeom prst="roundRect">
                <a:avLst>
                  <a:gd name="adj" fmla="val 24242"/>
                </a:avLst>
              </a:prstGeom>
              <a:solidFill>
                <a:srgbClr val="FDF6F4"/>
              </a:solidFill>
              <a:ln>
                <a:noFill/>
              </a:ln>
            </p:spPr>
          </p:sp>
          <p:sp>
            <p:nvSpPr>
              <p:cNvPr id="53" name="Rectangle 53"/>
              <p:cNvSpPr/>
              <p:nvPr/>
            </p:nvSpPr>
            <p:spPr>
              <a:xfrm>
                <a:off x="571500" y="5419725"/>
                <a:ext cx="8610600" cy="190500"/>
              </a:xfrm>
              <a:prstGeom prst="rect">
                <a:avLst/>
              </a:prstGeom>
              <a:solidFill>
                <a:srgbClr val="FDF6F4"/>
              </a:solidFill>
              <a:ln>
                <a:noFill/>
              </a:ln>
            </p:spPr>
          </p:sp>
          <p:sp>
            <p:nvSpPr>
              <p:cNvPr id="54" name="TextBox 54"/>
              <p:cNvSpPr txBox="1"/>
              <p:nvPr/>
            </p:nvSpPr>
            <p:spPr>
              <a:xfrm>
                <a:off x="849630" y="5600700"/>
                <a:ext cx="1119797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b="1" dirty="0">
                    <a:solidFill>
                      <a:srgbClr val="33332F"/>
                    </a:solidFill>
                    <a:latin typeface="Arial"/>
                    <a:ea typeface="Malgun Gothic"/>
                    <a:cs typeface="Arial"/>
                  </a:rPr>
                  <a:t>9. 리뷰관리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2468880" y="5600700"/>
                <a:ext cx="134797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dirty="0">
                    <a:solidFill>
                      <a:srgbClr val="33332F"/>
                    </a:solidFill>
                    <a:latin typeface="Arial"/>
                    <a:ea typeface="Malgun Gothic"/>
                    <a:cs typeface="Arial"/>
                  </a:rPr>
                  <a:t>개별 리뷰 확인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5516880" y="5600700"/>
                <a:ext cx="274583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b="1" dirty="0">
                    <a:solidFill>
                      <a:srgbClr val="4B4535"/>
                    </a:solidFill>
                    <a:latin typeface="Arial"/>
                    <a:ea typeface="Malgun Gothic"/>
                    <a:cs typeface="Arial"/>
                  </a:rPr>
                  <a:t>리뷰 감성분석, 불만요인 분석</a:t>
                </a:r>
              </a:p>
            </p:txBody>
          </p:sp>
        </p:grpSp>
      </p:grpSp>
      <p:grpSp>
        <p:nvGrpSpPr>
          <p:cNvPr id="63" name="Group 63"/>
          <p:cNvGrpSpPr/>
          <p:nvPr/>
        </p:nvGrpSpPr>
        <p:grpSpPr>
          <a:xfrm>
            <a:off x="571500" y="6143625"/>
            <a:ext cx="8610600" cy="809625"/>
            <a:chOff x="571500" y="6143625"/>
            <a:chExt cx="8610600" cy="809625"/>
          </a:xfrm>
        </p:grpSpPr>
        <p:sp>
          <p:nvSpPr>
            <p:cNvPr id="59" name="Rectangle 59"/>
            <p:cNvSpPr/>
            <p:nvPr/>
          </p:nvSpPr>
          <p:spPr>
            <a:xfrm>
              <a:off x="571500" y="6143625"/>
              <a:ext cx="8610600" cy="809625"/>
            </a:xfrm>
            <a:prstGeom prst="roundRect">
              <a:avLst>
                <a:gd name="adj" fmla="val 16471"/>
              </a:avLst>
            </a:prstGeom>
            <a:solidFill>
              <a:srgbClr val="4B4535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849630" y="6315075"/>
              <a:ext cx="12051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b="1" dirty="0">
                  <a:solidFill>
                    <a:srgbClr val="F8DA92"/>
                  </a:solidFill>
                  <a:latin typeface="Arial"/>
                  <a:ea typeface="Malgun Gothic"/>
                  <a:cs typeface="Arial"/>
                </a:rPr>
                <a:t>핵심 메시지: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897380" y="6315075"/>
              <a:ext cx="502226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b="1" dirty="0">
                  <a:solidFill>
                    <a:srgbClr val="FFFFFF"/>
                  </a:solidFill>
                  <a:latin typeface="Arial"/>
                  <a:ea typeface="Malgun Gothic"/>
                  <a:cs typeface="Arial"/>
                </a:rPr>
                <a:t>AI 커머스는 시장조사부터 리뷰관리까지 전 과정에서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897380" y="6600825"/>
              <a:ext cx="40210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b="1" dirty="0">
                  <a:solidFill>
                    <a:srgbClr val="FFFFFF"/>
                  </a:solidFill>
                  <a:latin typeface="Arial"/>
                  <a:ea typeface="Malgun Gothic"/>
                  <a:cs typeface="Arial"/>
                </a:rPr>
                <a:t>데이터 기반 의사결정과 자동화를 강화한다.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58546" y="372428"/>
            <a:ext cx="6819504" cy="784860"/>
            <a:chOff x="558546" y="372428"/>
            <a:chExt cx="6819504" cy="784860"/>
          </a:xfrm>
        </p:grpSpPr>
        <p:sp>
          <p:nvSpPr>
            <p:cNvPr id="2" name="TextBox 2"/>
            <p:cNvSpPr txBox="1"/>
            <p:nvPr/>
          </p:nvSpPr>
          <p:spPr>
            <a:xfrm>
              <a:off x="558546" y="372428"/>
              <a:ext cx="68195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55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AI는 커머스 가치사슬을 어떻게 바꾸는가?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62356" y="796290"/>
              <a:ext cx="304906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756E5F"/>
                  </a:solidFill>
                  <a:latin typeface="Arial"/>
                  <a:ea typeface="Malgun Gothic"/>
                  <a:cs typeface="Arial"/>
                </a:rPr>
                <a:t>AI가 판매자에게 주는 기회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1123950"/>
              <a:ext cx="571500" cy="33338"/>
            </a:xfrm>
            <a:prstGeom prst="roundRect">
              <a:avLst>
                <a:gd name="adj" fmla="val 50000"/>
              </a:avLst>
            </a:prstGeom>
            <a:solidFill>
              <a:srgbClr val="F8DA92"/>
            </a:solidFill>
            <a:ln>
              <a:noFill/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563118" y="1203008"/>
            <a:ext cx="8618982" cy="4797742"/>
            <a:chOff x="563118" y="1203008"/>
            <a:chExt cx="8618982" cy="4797742"/>
          </a:xfrm>
        </p:grpSpPr>
        <p:sp>
          <p:nvSpPr>
            <p:cNvPr id="6" name="TextBox 6"/>
            <p:cNvSpPr txBox="1"/>
            <p:nvPr/>
          </p:nvSpPr>
          <p:spPr>
            <a:xfrm>
              <a:off x="563118" y="1203008"/>
              <a:ext cx="68569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756E5F"/>
                  </a:solidFill>
                  <a:latin typeface="Arial"/>
                  <a:ea typeface="Malgun Gothic"/>
                  <a:cs typeface="Arial"/>
                </a:rPr>
                <a:t>AI는 특히 소규모 판매자, 1인 창업자, 성인학습자에게 기회를 줌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571500" y="1571625"/>
              <a:ext cx="8610600" cy="4429125"/>
            </a:xfrm>
            <a:prstGeom prst="roundRect">
              <a:avLst>
                <a:gd name="adj" fmla="val 3871"/>
              </a:avLst>
            </a:prstGeom>
            <a:solidFill>
              <a:srgbClr val="FFFFFF"/>
            </a:solidFill>
            <a:ln w="19050">
              <a:solidFill>
                <a:srgbClr val="E8DDD7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571625"/>
              <a:ext cx="8610600" cy="523875"/>
            </a:xfrm>
            <a:prstGeom prst="roundRect">
              <a:avLst>
                <a:gd name="adj" fmla="val 32727"/>
              </a:avLst>
            </a:prstGeom>
            <a:solidFill>
              <a:srgbClr val="4B4535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571500" y="1857375"/>
              <a:ext cx="8610600" cy="238125"/>
            </a:xfrm>
            <a:prstGeom prst="rect">
              <a:avLst/>
            </a:prstGeom>
            <a:solidFill>
              <a:srgbClr val="4B4535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325118" y="172688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FFFFFF"/>
                  </a:solidFill>
                  <a:latin typeface="Arial"/>
                  <a:ea typeface="Malgun Gothic"/>
                  <a:cs typeface="Arial"/>
                </a:rPr>
                <a:t>기회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563618" y="172688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FFFFFF"/>
                  </a:solidFill>
                  <a:latin typeface="Arial"/>
                  <a:ea typeface="Malgun Gothic"/>
                  <a:cs typeface="Arial"/>
                </a:rPr>
                <a:t>설명</a:t>
              </a:r>
            </a:p>
          </p:txBody>
        </p:sp>
        <p:grpSp>
          <p:nvGrpSpPr>
            <p:cNvPr id="32" name="Group 32"/>
            <p:cNvGrpSpPr/>
            <p:nvPr/>
          </p:nvGrpSpPr>
          <p:grpSpPr>
            <a:xfrm>
              <a:off x="571500" y="2095500"/>
              <a:ext cx="8610600" cy="3905250"/>
              <a:chOff x="571500" y="2095500"/>
              <a:chExt cx="8610600" cy="390525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571500" y="2095500"/>
                <a:ext cx="8610600" cy="762000"/>
              </a:xfrm>
              <a:prstGeom prst="rect">
                <a:avLst/>
              </a:prstGeom>
              <a:solidFill>
                <a:srgbClr val="FDF6F4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944118" y="2374582"/>
                <a:ext cx="193368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b="1" dirty="0">
                    <a:solidFill>
                      <a:srgbClr val="4B4535"/>
                    </a:solidFill>
                    <a:latin typeface="Arial"/>
                    <a:ea typeface="Malgun Gothic"/>
                    <a:cs typeface="Arial"/>
                  </a:rPr>
                  <a:t>시장조사 시간 단축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3610737" y="2366486"/>
                <a:ext cx="3709533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720" b="1" dirty="0">
                    <a:solidFill>
                      <a:srgbClr val="33332F"/>
                    </a:solidFill>
                    <a:latin typeface="Arial"/>
                    <a:ea typeface="Malgun Gothic"/>
                    <a:cs typeface="Arial"/>
                  </a:rPr>
                  <a:t>해외시장과 경쟁상품을 빠르게 파악</a:t>
                </a:r>
              </a:p>
            </p:txBody>
          </p:sp>
          <p:sp>
            <p:nvSpPr>
              <p:cNvPr id="15" name="Line 15"/>
              <p:cNvSpPr/>
              <p:nvPr/>
            </p:nvSpPr>
            <p:spPr>
              <a:xfrm>
                <a:off x="571500" y="2857500"/>
                <a:ext cx="8610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610600" h="9525">
                    <a:moveTo>
                      <a:pt x="0" y="0"/>
                    </a:moveTo>
                    <a:lnTo>
                      <a:pt x="8610600" y="0"/>
                    </a:lnTo>
                  </a:path>
                </a:pathLst>
              </a:custGeom>
              <a:noFill/>
              <a:ln w="9525">
                <a:solidFill>
                  <a:srgbClr val="E8DDD7"/>
                </a:solidFill>
              </a:ln>
            </p:spPr>
          </p:sp>
          <p:sp>
            <p:nvSpPr>
              <p:cNvPr id="16" name="Rectangle 16"/>
              <p:cNvSpPr/>
              <p:nvPr/>
            </p:nvSpPr>
            <p:spPr>
              <a:xfrm>
                <a:off x="571500" y="2857500"/>
                <a:ext cx="8610600" cy="7620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944118" y="3136582"/>
                <a:ext cx="193368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b="1" dirty="0">
                    <a:solidFill>
                      <a:srgbClr val="4B4535"/>
                    </a:solidFill>
                    <a:latin typeface="Arial"/>
                    <a:ea typeface="Malgun Gothic"/>
                    <a:cs typeface="Arial"/>
                  </a:rPr>
                  <a:t>콘텐츠 제작 효율화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3610737" y="3128486"/>
                <a:ext cx="4256562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720" b="1" dirty="0">
                    <a:solidFill>
                      <a:srgbClr val="33332F"/>
                    </a:solidFill>
                    <a:latin typeface="Arial"/>
                    <a:ea typeface="Malgun Gothic"/>
                    <a:cs typeface="Arial"/>
                  </a:rPr>
                  <a:t>상품명, 설명, 광고문구, 숏폼 대본 작성</a:t>
                </a:r>
              </a:p>
            </p:txBody>
          </p:sp>
          <p:sp>
            <p:nvSpPr>
              <p:cNvPr id="19" name="Line 19"/>
              <p:cNvSpPr/>
              <p:nvPr/>
            </p:nvSpPr>
            <p:spPr>
              <a:xfrm>
                <a:off x="571500" y="3619500"/>
                <a:ext cx="8610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610600" h="9525">
                    <a:moveTo>
                      <a:pt x="0" y="0"/>
                    </a:moveTo>
                    <a:lnTo>
                      <a:pt x="8610600" y="0"/>
                    </a:lnTo>
                  </a:path>
                </a:pathLst>
              </a:custGeom>
              <a:noFill/>
              <a:ln w="9525">
                <a:solidFill>
                  <a:srgbClr val="E8DDD7"/>
                </a:solidFill>
              </a:ln>
            </p:spPr>
          </p:sp>
          <p:sp>
            <p:nvSpPr>
              <p:cNvPr id="20" name="Rectangle 20"/>
              <p:cNvSpPr/>
              <p:nvPr/>
            </p:nvSpPr>
            <p:spPr>
              <a:xfrm>
                <a:off x="571500" y="3619500"/>
                <a:ext cx="8610600" cy="762000"/>
              </a:xfrm>
              <a:prstGeom prst="rect">
                <a:avLst/>
              </a:prstGeom>
              <a:solidFill>
                <a:srgbClr val="FDF6F4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944118" y="3898582"/>
                <a:ext cx="148943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b="1" dirty="0">
                    <a:solidFill>
                      <a:srgbClr val="4B4535"/>
                    </a:solidFill>
                    <a:latin typeface="Arial"/>
                    <a:ea typeface="Malgun Gothic"/>
                    <a:cs typeface="Arial"/>
                  </a:rPr>
                  <a:t>언어 장벽 완화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3610737" y="3890486"/>
                <a:ext cx="4427327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720" b="1" dirty="0">
                    <a:solidFill>
                      <a:srgbClr val="33332F"/>
                    </a:solidFill>
                    <a:latin typeface="Arial"/>
                    <a:ea typeface="Malgun Gothic"/>
                    <a:cs typeface="Arial"/>
                  </a:rPr>
                  <a:t>영어, 일본어, 중국어 등 다국어 초안 작성</a:t>
                </a:r>
              </a:p>
            </p:txBody>
          </p:sp>
          <p:sp>
            <p:nvSpPr>
              <p:cNvPr id="23" name="Line 23"/>
              <p:cNvSpPr/>
              <p:nvPr/>
            </p:nvSpPr>
            <p:spPr>
              <a:xfrm>
                <a:off x="571500" y="4381500"/>
                <a:ext cx="8610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610600" h="9525">
                    <a:moveTo>
                      <a:pt x="0" y="0"/>
                    </a:moveTo>
                    <a:lnTo>
                      <a:pt x="8610600" y="0"/>
                    </a:lnTo>
                  </a:path>
                </a:pathLst>
              </a:custGeom>
              <a:noFill/>
              <a:ln w="9525">
                <a:solidFill>
                  <a:srgbClr val="E8DDD7"/>
                </a:solidFill>
              </a:ln>
            </p:spPr>
          </p:sp>
          <p:sp>
            <p:nvSpPr>
              <p:cNvPr id="24" name="Rectangle 24"/>
              <p:cNvSpPr/>
              <p:nvPr/>
            </p:nvSpPr>
            <p:spPr>
              <a:xfrm>
                <a:off x="571500" y="4381500"/>
                <a:ext cx="8610600" cy="7620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944118" y="4660582"/>
                <a:ext cx="1641594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b="1" dirty="0">
                    <a:solidFill>
                      <a:srgbClr val="4B4535"/>
                    </a:solidFill>
                    <a:latin typeface="Arial"/>
                    <a:ea typeface="Malgun Gothic"/>
                    <a:cs typeface="Arial"/>
                  </a:rPr>
                  <a:t>고객응대 자동화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3610737" y="4652486"/>
                <a:ext cx="2551801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720" b="1" dirty="0">
                    <a:solidFill>
                      <a:srgbClr val="33332F"/>
                    </a:solidFill>
                    <a:latin typeface="Arial"/>
                    <a:ea typeface="Malgun Gothic"/>
                    <a:cs typeface="Arial"/>
                  </a:rPr>
                  <a:t>반복 문의에 빠르게 대응</a:t>
                </a:r>
              </a:p>
            </p:txBody>
          </p:sp>
          <p:sp>
            <p:nvSpPr>
              <p:cNvPr id="27" name="Line 27"/>
              <p:cNvSpPr/>
              <p:nvPr/>
            </p:nvSpPr>
            <p:spPr>
              <a:xfrm>
                <a:off x="571500" y="5143500"/>
                <a:ext cx="8610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610600" h="9525">
                    <a:moveTo>
                      <a:pt x="0" y="0"/>
                    </a:moveTo>
                    <a:lnTo>
                      <a:pt x="8610600" y="0"/>
                    </a:lnTo>
                  </a:path>
                </a:pathLst>
              </a:custGeom>
              <a:noFill/>
              <a:ln w="9525">
                <a:solidFill>
                  <a:srgbClr val="E8DDD7"/>
                </a:solidFill>
              </a:ln>
            </p:spPr>
          </p:sp>
          <p:sp>
            <p:nvSpPr>
              <p:cNvPr id="28" name="Rectangle 28"/>
              <p:cNvSpPr/>
              <p:nvPr/>
            </p:nvSpPr>
            <p:spPr>
              <a:xfrm>
                <a:off x="571500" y="5143500"/>
                <a:ext cx="8610600" cy="857250"/>
              </a:xfrm>
              <a:prstGeom prst="roundRect">
                <a:avLst>
                  <a:gd name="adj" fmla="val 20000"/>
                </a:avLst>
              </a:prstGeom>
              <a:solidFill>
                <a:srgbClr val="FDF6F4"/>
              </a:solidFill>
              <a:ln>
                <a:noFill/>
              </a:ln>
            </p:spPr>
          </p:sp>
          <p:sp>
            <p:nvSpPr>
              <p:cNvPr id="29" name="Rectangle 29"/>
              <p:cNvSpPr/>
              <p:nvPr/>
            </p:nvSpPr>
            <p:spPr>
              <a:xfrm>
                <a:off x="571500" y="5143500"/>
                <a:ext cx="8610600" cy="285750"/>
              </a:xfrm>
              <a:prstGeom prst="rect">
                <a:avLst/>
              </a:prstGeom>
              <a:solidFill>
                <a:srgbClr val="FDF6F4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944118" y="5460682"/>
                <a:ext cx="215580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b="1" dirty="0">
                    <a:solidFill>
                      <a:srgbClr val="4B4535"/>
                    </a:solidFill>
                    <a:latin typeface="Arial"/>
                    <a:ea typeface="Malgun Gothic"/>
                    <a:cs typeface="Arial"/>
                  </a:rPr>
                  <a:t>데이터 기반 의사결정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3610737" y="5452586"/>
                <a:ext cx="4086954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720" b="1" dirty="0">
                    <a:solidFill>
                      <a:srgbClr val="33332F"/>
                    </a:solidFill>
                    <a:latin typeface="Arial"/>
                    <a:ea typeface="Malgun Gothic"/>
                    <a:cs typeface="Arial"/>
                  </a:rPr>
                  <a:t>감이 아니라 근거를 바탕으로 상품 개선</a:t>
                </a:r>
              </a:p>
            </p:txBody>
          </p:sp>
        </p:grpSp>
      </p:grpSp>
      <p:grpSp>
        <p:nvGrpSpPr>
          <p:cNvPr id="36" name="Group 36"/>
          <p:cNvGrpSpPr/>
          <p:nvPr/>
        </p:nvGrpSpPr>
        <p:grpSpPr>
          <a:xfrm>
            <a:off x="571500" y="6143625"/>
            <a:ext cx="8610600" cy="714375"/>
            <a:chOff x="571500" y="6143625"/>
            <a:chExt cx="8610600" cy="714375"/>
          </a:xfrm>
        </p:grpSpPr>
        <p:sp>
          <p:nvSpPr>
            <p:cNvPr id="34" name="Rectangle 34"/>
            <p:cNvSpPr/>
            <p:nvPr/>
          </p:nvSpPr>
          <p:spPr>
            <a:xfrm>
              <a:off x="571500" y="6143625"/>
              <a:ext cx="8610600" cy="714375"/>
            </a:xfrm>
            <a:prstGeom prst="roundRect">
              <a:avLst>
                <a:gd name="adj" fmla="val 18667"/>
              </a:avLst>
            </a:prstGeom>
            <a:solidFill>
              <a:srgbClr val="FEF7E6"/>
            </a:solidFill>
            <a:ln w="14288">
              <a:solidFill>
                <a:srgbClr val="F8DA92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48868" y="6394132"/>
              <a:ext cx="780808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* AI는 업무를 지원하는 도구이며, 최종 검토와 판단은 사람이 수행해야 함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58546" y="372428"/>
            <a:ext cx="6819504" cy="784860"/>
            <a:chOff x="558546" y="372428"/>
            <a:chExt cx="6819504" cy="784860"/>
          </a:xfrm>
        </p:grpSpPr>
        <p:sp>
          <p:nvSpPr>
            <p:cNvPr id="2" name="TextBox 2"/>
            <p:cNvSpPr txBox="1"/>
            <p:nvPr/>
          </p:nvSpPr>
          <p:spPr>
            <a:xfrm>
              <a:off x="558546" y="372428"/>
              <a:ext cx="68195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55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AI는 커머스 가치사슬을 어떻게 바꾸는가?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62356" y="796290"/>
              <a:ext cx="168825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756E5F"/>
                  </a:solidFill>
                  <a:latin typeface="Arial"/>
                  <a:ea typeface="Malgun Gothic"/>
                  <a:cs typeface="Arial"/>
                </a:rPr>
                <a:t>AI 활용의 위험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1123950"/>
              <a:ext cx="571500" cy="33338"/>
            </a:xfrm>
            <a:prstGeom prst="roundRect">
              <a:avLst>
                <a:gd name="adj" fmla="val 50000"/>
              </a:avLst>
            </a:prstGeom>
            <a:solidFill>
              <a:srgbClr val="F8DA92"/>
            </a:solidFill>
            <a:ln>
              <a:noFill/>
            </a:ln>
          </p:spPr>
        </p:sp>
      </p:grpSp>
      <p:grpSp>
        <p:nvGrpSpPr>
          <p:cNvPr id="44" name="Group 44"/>
          <p:cNvGrpSpPr/>
          <p:nvPr/>
        </p:nvGrpSpPr>
        <p:grpSpPr>
          <a:xfrm>
            <a:off x="563118" y="1203008"/>
            <a:ext cx="8618982" cy="5607367"/>
            <a:chOff x="563118" y="1203008"/>
            <a:chExt cx="8618982" cy="5607367"/>
          </a:xfrm>
        </p:grpSpPr>
        <p:sp>
          <p:nvSpPr>
            <p:cNvPr id="6" name="TextBox 6"/>
            <p:cNvSpPr txBox="1"/>
            <p:nvPr/>
          </p:nvSpPr>
          <p:spPr>
            <a:xfrm>
              <a:off x="563118" y="1203008"/>
              <a:ext cx="568349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756E5F"/>
                  </a:solidFill>
                  <a:latin typeface="Arial"/>
                  <a:ea typeface="Malgun Gothic"/>
                  <a:cs typeface="Arial"/>
                </a:rPr>
                <a:t>AI 커머스에는 기회만 있는 것이 아님 (6대 위험 요인)</a:t>
              </a:r>
            </a:p>
          </p:txBody>
        </p:sp>
        <p:grpSp>
          <p:nvGrpSpPr>
            <p:cNvPr id="43" name="Group 43"/>
            <p:cNvGrpSpPr/>
            <p:nvPr/>
          </p:nvGrpSpPr>
          <p:grpSpPr>
            <a:xfrm>
              <a:off x="571500" y="1571625"/>
              <a:ext cx="8610600" cy="5238750"/>
              <a:chOff x="571500" y="1571625"/>
              <a:chExt cx="8610600" cy="5238750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571500" y="1571625"/>
                <a:ext cx="4152900" cy="1619250"/>
              </a:xfrm>
              <a:prstGeom prst="roundRect">
                <a:avLst>
                  <a:gd name="adj" fmla="val 9412"/>
                </a:avLst>
              </a:prstGeom>
              <a:solidFill>
                <a:srgbClr val="FFFFFF"/>
              </a:solidFill>
              <a:ln w="14288">
                <a:solidFill>
                  <a:srgbClr val="E8DDD7"/>
                </a:solidFill>
              </a:ln>
            </p:spPr>
          </p:sp>
          <p:sp>
            <p:nvSpPr>
              <p:cNvPr id="8" name="Ellipse 8"/>
              <p:cNvSpPr/>
              <p:nvPr/>
            </p:nvSpPr>
            <p:spPr>
              <a:xfrm>
                <a:off x="790575" y="1790700"/>
                <a:ext cx="419100" cy="419100"/>
              </a:xfrm>
              <a:prstGeom prst="ellipse">
                <a:avLst/>
              </a:prstGeom>
              <a:solidFill>
                <a:srgbClr val="FBEEEC"/>
              </a:solidFill>
              <a:ln>
                <a:noFill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891540" y="1905000"/>
                <a:ext cx="21717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⚠️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324737" y="1880711"/>
                <a:ext cx="1248195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720" b="1" dirty="0">
                    <a:solidFill>
                      <a:srgbClr val="4B4535"/>
                    </a:solidFill>
                    <a:latin typeface="Arial"/>
                    <a:ea typeface="Malgun Gothic"/>
                    <a:cs typeface="Arial"/>
                  </a:rPr>
                  <a:t>잘못된 정보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896874" y="2401729"/>
                <a:ext cx="2156081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b="1" dirty="0">
                    <a:solidFill>
                      <a:srgbClr val="4B4535"/>
                    </a:solidFill>
                    <a:latin typeface="Arial"/>
                    <a:ea typeface="Malgun Gothic"/>
                    <a:cs typeface="Arial"/>
                  </a:rPr>
                  <a:t>AI가 틀린 시장정보나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896874" y="2716054"/>
                <a:ext cx="2836399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b="1" dirty="0">
                    <a:solidFill>
                      <a:srgbClr val="4B4535"/>
                    </a:solidFill>
                    <a:latin typeface="Arial"/>
                    <a:ea typeface="Malgun Gothic"/>
                    <a:cs typeface="Arial"/>
                  </a:rPr>
                  <a:t>허위 데이터를 제시할 수 있음</a:t>
                </a:r>
              </a:p>
            </p:txBody>
          </p:sp>
          <p:sp>
            <p:nvSpPr>
              <p:cNvPr id="13" name="Rectangle 13"/>
              <p:cNvSpPr/>
              <p:nvPr/>
            </p:nvSpPr>
            <p:spPr>
              <a:xfrm>
                <a:off x="5029200" y="1571625"/>
                <a:ext cx="4152900" cy="1619250"/>
              </a:xfrm>
              <a:prstGeom prst="roundRect">
                <a:avLst>
                  <a:gd name="adj" fmla="val 9412"/>
                </a:avLst>
              </a:prstGeom>
              <a:solidFill>
                <a:srgbClr val="FFFFFF"/>
              </a:solidFill>
              <a:ln w="14288">
                <a:solidFill>
                  <a:srgbClr val="E8DDD7"/>
                </a:solidFill>
              </a:ln>
            </p:spPr>
          </p:sp>
          <p:sp>
            <p:nvSpPr>
              <p:cNvPr id="14" name="Ellipse 14"/>
              <p:cNvSpPr/>
              <p:nvPr/>
            </p:nvSpPr>
            <p:spPr>
              <a:xfrm>
                <a:off x="5248275" y="1790700"/>
                <a:ext cx="419100" cy="419100"/>
              </a:xfrm>
              <a:prstGeom prst="ellipse">
                <a:avLst/>
              </a:prstGeom>
              <a:solidFill>
                <a:srgbClr val="FBEEEC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5349240" y="1905000"/>
                <a:ext cx="21717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📢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5782437" y="1880711"/>
                <a:ext cx="943712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720" b="1" dirty="0">
                    <a:solidFill>
                      <a:srgbClr val="4B4535"/>
                    </a:solidFill>
                    <a:latin typeface="Arial"/>
                    <a:ea typeface="Malgun Gothic"/>
                    <a:cs typeface="Arial"/>
                  </a:rPr>
                  <a:t>과장광고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5354574" y="2401729"/>
                <a:ext cx="1146500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b="1" dirty="0">
                    <a:solidFill>
                      <a:srgbClr val="4B4535"/>
                    </a:solidFill>
                    <a:latin typeface="Arial"/>
                    <a:ea typeface="Malgun Gothic"/>
                    <a:cs typeface="Arial"/>
                  </a:rPr>
                  <a:t>상품 효능을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5354574" y="2716054"/>
                <a:ext cx="2064299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b="1" dirty="0">
                    <a:solidFill>
                      <a:srgbClr val="4B4535"/>
                    </a:solidFill>
                    <a:latin typeface="Arial"/>
                    <a:ea typeface="Malgun Gothic"/>
                    <a:cs typeface="Arial"/>
                  </a:rPr>
                  <a:t>지나치게 부풀릴 위험</a:t>
                </a:r>
              </a:p>
            </p:txBody>
          </p:sp>
          <p:sp>
            <p:nvSpPr>
              <p:cNvPr id="19" name="Rectangle 19"/>
              <p:cNvSpPr/>
              <p:nvPr/>
            </p:nvSpPr>
            <p:spPr>
              <a:xfrm>
                <a:off x="571500" y="3381375"/>
                <a:ext cx="4152900" cy="1619250"/>
              </a:xfrm>
              <a:prstGeom prst="roundRect">
                <a:avLst>
                  <a:gd name="adj" fmla="val 9412"/>
                </a:avLst>
              </a:prstGeom>
              <a:solidFill>
                <a:srgbClr val="FFFFFF"/>
              </a:solidFill>
              <a:ln w="14288">
                <a:solidFill>
                  <a:srgbClr val="E8DDD7"/>
                </a:solidFill>
              </a:ln>
            </p:spPr>
          </p:sp>
          <p:sp>
            <p:nvSpPr>
              <p:cNvPr id="20" name="Ellipse 20"/>
              <p:cNvSpPr/>
              <p:nvPr/>
            </p:nvSpPr>
            <p:spPr>
              <a:xfrm>
                <a:off x="790575" y="3600450"/>
                <a:ext cx="419100" cy="419100"/>
              </a:xfrm>
              <a:prstGeom prst="ellipse">
                <a:avLst/>
              </a:prstGeom>
              <a:solidFill>
                <a:srgbClr val="FBEEEC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891540" y="3714750"/>
                <a:ext cx="21717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❌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324737" y="3690461"/>
                <a:ext cx="1016649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720" b="1" dirty="0">
                    <a:solidFill>
                      <a:srgbClr val="4B4535"/>
                    </a:solidFill>
                    <a:latin typeface="Arial"/>
                    <a:ea typeface="Malgun Gothic"/>
                    <a:cs typeface="Arial"/>
                  </a:rPr>
                  <a:t>가짜 리뷰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896874" y="4211479"/>
                <a:ext cx="1706603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b="1" dirty="0">
                    <a:solidFill>
                      <a:srgbClr val="4B4535"/>
                    </a:solidFill>
                    <a:latin typeface="Arial"/>
                    <a:ea typeface="Malgun Gothic"/>
                    <a:cs typeface="Arial"/>
                  </a:rPr>
                  <a:t>AI로 허위 리뷰를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896874" y="4525804"/>
                <a:ext cx="1213501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b="1" dirty="0">
                    <a:solidFill>
                      <a:srgbClr val="4B4535"/>
                    </a:solidFill>
                    <a:latin typeface="Arial"/>
                    <a:ea typeface="Malgun Gothic"/>
                    <a:cs typeface="Arial"/>
                  </a:rPr>
                  <a:t>만들 수 있음</a:t>
                </a:r>
              </a:p>
            </p:txBody>
          </p:sp>
          <p:sp>
            <p:nvSpPr>
              <p:cNvPr id="25" name="Rectangle 25"/>
              <p:cNvSpPr/>
              <p:nvPr/>
            </p:nvSpPr>
            <p:spPr>
              <a:xfrm>
                <a:off x="5029200" y="3381375"/>
                <a:ext cx="4152900" cy="1619250"/>
              </a:xfrm>
              <a:prstGeom prst="roundRect">
                <a:avLst>
                  <a:gd name="adj" fmla="val 9412"/>
                </a:avLst>
              </a:prstGeom>
              <a:solidFill>
                <a:srgbClr val="FFFFFF"/>
              </a:solidFill>
              <a:ln w="14288">
                <a:solidFill>
                  <a:srgbClr val="E8DDD7"/>
                </a:solidFill>
              </a:ln>
            </p:spPr>
          </p:sp>
          <p:sp>
            <p:nvSpPr>
              <p:cNvPr id="26" name="Ellipse 26"/>
              <p:cNvSpPr/>
              <p:nvPr/>
            </p:nvSpPr>
            <p:spPr>
              <a:xfrm>
                <a:off x="5248275" y="3600450"/>
                <a:ext cx="419100" cy="419100"/>
              </a:xfrm>
              <a:prstGeom prst="ellipse">
                <a:avLst/>
              </a:prstGeom>
              <a:solidFill>
                <a:srgbClr val="FBEEEC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5349240" y="3714750"/>
                <a:ext cx="21717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⚖️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5782437" y="3690461"/>
                <a:ext cx="1248195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720" b="1" dirty="0">
                    <a:solidFill>
                      <a:srgbClr val="4B4535"/>
                    </a:solidFill>
                    <a:latin typeface="Arial"/>
                    <a:ea typeface="Malgun Gothic"/>
                    <a:cs typeface="Arial"/>
                  </a:rPr>
                  <a:t>저작권 문제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5354574" y="4211479"/>
                <a:ext cx="2097268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b="1" dirty="0">
                    <a:solidFill>
                      <a:srgbClr val="4B4535"/>
                    </a:solidFill>
                    <a:latin typeface="Arial"/>
                    <a:ea typeface="Malgun Gothic"/>
                    <a:cs typeface="Arial"/>
                  </a:rPr>
                  <a:t>이미지, 문구, 디자인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5354574" y="4525804"/>
                <a:ext cx="1146500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b="1" dirty="0">
                    <a:solidFill>
                      <a:srgbClr val="4B4535"/>
                    </a:solidFill>
                    <a:latin typeface="Arial"/>
                    <a:ea typeface="Malgun Gothic"/>
                    <a:cs typeface="Arial"/>
                  </a:rPr>
                  <a:t>침해 가능성</a:t>
                </a:r>
              </a:p>
            </p:txBody>
          </p:sp>
          <p:sp>
            <p:nvSpPr>
              <p:cNvPr id="31" name="Rectangle 31"/>
              <p:cNvSpPr/>
              <p:nvPr/>
            </p:nvSpPr>
            <p:spPr>
              <a:xfrm>
                <a:off x="571500" y="5191125"/>
                <a:ext cx="4152900" cy="1619250"/>
              </a:xfrm>
              <a:prstGeom prst="roundRect">
                <a:avLst>
                  <a:gd name="adj" fmla="val 9412"/>
                </a:avLst>
              </a:prstGeom>
              <a:solidFill>
                <a:srgbClr val="FFFFFF"/>
              </a:solidFill>
              <a:ln w="14288">
                <a:solidFill>
                  <a:srgbClr val="E8DDD7"/>
                </a:solidFill>
              </a:ln>
            </p:spPr>
          </p:sp>
          <p:sp>
            <p:nvSpPr>
              <p:cNvPr id="32" name="Ellipse 32"/>
              <p:cNvSpPr/>
              <p:nvPr/>
            </p:nvSpPr>
            <p:spPr>
              <a:xfrm>
                <a:off x="790575" y="5410200"/>
                <a:ext cx="419100" cy="419100"/>
              </a:xfrm>
              <a:prstGeom prst="ellipse">
                <a:avLst/>
              </a:prstGeom>
              <a:solidFill>
                <a:srgbClr val="FBEEEC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891540" y="5524500"/>
                <a:ext cx="21717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🔒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1324737" y="5500211"/>
                <a:ext cx="1479742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720" b="1" dirty="0">
                    <a:solidFill>
                      <a:srgbClr val="4B4535"/>
                    </a:solidFill>
                    <a:latin typeface="Arial"/>
                    <a:ea typeface="Malgun Gothic"/>
                    <a:cs typeface="Arial"/>
                  </a:rPr>
                  <a:t>개인정보 문제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96874" y="6021229"/>
                <a:ext cx="2556699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b="1" dirty="0">
                    <a:solidFill>
                      <a:srgbClr val="4B4535"/>
                    </a:solidFill>
                    <a:latin typeface="Arial"/>
                    <a:ea typeface="Malgun Gothic"/>
                    <a:cs typeface="Arial"/>
                  </a:rPr>
                  <a:t>고객 데이터 수집과 활용의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896874" y="6335554"/>
                <a:ext cx="933801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b="1" dirty="0">
                    <a:solidFill>
                      <a:srgbClr val="4B4535"/>
                    </a:solidFill>
                    <a:latin typeface="Arial"/>
                    <a:ea typeface="Malgun Gothic"/>
                    <a:cs typeface="Arial"/>
                  </a:rPr>
                  <a:t>윤리 문제</a:t>
                </a:r>
              </a:p>
            </p:txBody>
          </p:sp>
          <p:sp>
            <p:nvSpPr>
              <p:cNvPr id="37" name="Rectangle 37"/>
              <p:cNvSpPr/>
              <p:nvPr/>
            </p:nvSpPr>
            <p:spPr>
              <a:xfrm>
                <a:off x="5029200" y="5191125"/>
                <a:ext cx="4152900" cy="1619250"/>
              </a:xfrm>
              <a:prstGeom prst="roundRect">
                <a:avLst>
                  <a:gd name="adj" fmla="val 9412"/>
                </a:avLst>
              </a:prstGeom>
              <a:solidFill>
                <a:srgbClr val="FFFFFF"/>
              </a:solidFill>
              <a:ln w="14288">
                <a:solidFill>
                  <a:srgbClr val="E8DDD7"/>
                </a:solidFill>
              </a:ln>
            </p:spPr>
          </p:sp>
          <p:sp>
            <p:nvSpPr>
              <p:cNvPr id="38" name="Ellipse 38"/>
              <p:cNvSpPr/>
              <p:nvPr/>
            </p:nvSpPr>
            <p:spPr>
              <a:xfrm>
                <a:off x="5248275" y="5410200"/>
                <a:ext cx="419100" cy="419100"/>
              </a:xfrm>
              <a:prstGeom prst="ellipse">
                <a:avLst/>
              </a:prstGeom>
              <a:solidFill>
                <a:srgbClr val="FBEEEC"/>
              </a:solidFill>
              <a:ln>
                <a:noFill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5349240" y="5524500"/>
                <a:ext cx="21717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📉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5782437" y="5500211"/>
                <a:ext cx="1248195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720" b="1" dirty="0">
                    <a:solidFill>
                      <a:srgbClr val="4B4535"/>
                    </a:solidFill>
                    <a:latin typeface="Arial"/>
                    <a:ea typeface="Malgun Gothic"/>
                    <a:cs typeface="Arial"/>
                  </a:rPr>
                  <a:t>플랫폼 의존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5354574" y="6021229"/>
                <a:ext cx="1571900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b="1" dirty="0">
                    <a:solidFill>
                      <a:srgbClr val="4B4535"/>
                    </a:solidFill>
                    <a:latin typeface="Arial"/>
                    <a:ea typeface="Malgun Gothic"/>
                    <a:cs typeface="Arial"/>
                  </a:rPr>
                  <a:t>알고리즘 변화와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5354574" y="6335554"/>
                <a:ext cx="1426200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b="1" dirty="0">
                    <a:solidFill>
                      <a:srgbClr val="4B4535"/>
                    </a:solidFill>
                    <a:latin typeface="Arial"/>
                    <a:ea typeface="Malgun Gothic"/>
                    <a:cs typeface="Arial"/>
                  </a:rPr>
                  <a:t>계정 정지 위험</a:t>
                </a:r>
              </a:p>
            </p:txBody>
          </p:sp>
        </p:grp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58546" y="372428"/>
            <a:ext cx="6819504" cy="784860"/>
            <a:chOff x="558546" y="372428"/>
            <a:chExt cx="6819504" cy="784860"/>
          </a:xfrm>
        </p:grpSpPr>
        <p:sp>
          <p:nvSpPr>
            <p:cNvPr id="2" name="TextBox 2"/>
            <p:cNvSpPr txBox="1"/>
            <p:nvPr/>
          </p:nvSpPr>
          <p:spPr>
            <a:xfrm>
              <a:off x="558546" y="372428"/>
              <a:ext cx="68195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55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AI는 커머스 가치사슬을 어떻게 바꾸는가?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62356" y="796290"/>
              <a:ext cx="168825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756E5F"/>
                  </a:solidFill>
                  <a:latin typeface="Arial"/>
                  <a:ea typeface="Malgun Gothic"/>
                  <a:cs typeface="Arial"/>
                </a:rPr>
                <a:t>AI 활용의 위험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1123950"/>
              <a:ext cx="571500" cy="33338"/>
            </a:xfrm>
            <a:prstGeom prst="roundRect">
              <a:avLst>
                <a:gd name="adj" fmla="val 50000"/>
              </a:avLst>
            </a:prstGeom>
            <a:solidFill>
              <a:srgbClr val="F8DA92"/>
            </a:solidFill>
            <a:ln>
              <a:noFill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571500" y="1428750"/>
            <a:ext cx="8610600" cy="1734312"/>
            <a:chOff x="571500" y="1428750"/>
            <a:chExt cx="8610600" cy="1734312"/>
          </a:xfrm>
        </p:grpSpPr>
        <p:sp>
          <p:nvSpPr>
            <p:cNvPr id="6" name="Rectangle 6"/>
            <p:cNvSpPr/>
            <p:nvPr/>
          </p:nvSpPr>
          <p:spPr>
            <a:xfrm>
              <a:off x="571500" y="1428750"/>
              <a:ext cx="4152900" cy="17145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4288">
              <a:solidFill>
                <a:srgbClr val="E8DDD7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857250" y="1666875"/>
              <a:ext cx="476250" cy="476250"/>
            </a:xfrm>
            <a:prstGeom prst="ellipse">
              <a:avLst/>
            </a:prstGeom>
            <a:solidFill>
              <a:srgbClr val="FEF7E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65073" y="1786890"/>
              <a:ext cx="26060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⚡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467231" y="1786890"/>
              <a:ext cx="130619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속도의 관점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94207" y="2392680"/>
              <a:ext cx="266113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AI를 잘 쓰는 사람은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92683" y="2693670"/>
              <a:ext cx="67056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40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빠름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029200" y="1428750"/>
              <a:ext cx="4152900" cy="1714500"/>
            </a:xfrm>
            <a:prstGeom prst="roundRect">
              <a:avLst>
                <a:gd name="adj" fmla="val 10000"/>
              </a:avLst>
            </a:prstGeom>
            <a:solidFill>
              <a:srgbClr val="FBEEEC"/>
            </a:solidFill>
            <a:ln w="19050">
              <a:solidFill>
                <a:srgbClr val="EDA796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5314950" y="1666875"/>
              <a:ext cx="476250" cy="4762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422773" y="1786890"/>
              <a:ext cx="26060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⚠️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924931" y="1786890"/>
              <a:ext cx="130619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검증의 관점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351907" y="2392680"/>
              <a:ext cx="317863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BUT AI를 검증하지 않는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350383" y="2693670"/>
              <a:ext cx="281263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400" b="1" dirty="0">
                  <a:solidFill>
                    <a:srgbClr val="EDA796"/>
                  </a:solidFill>
                  <a:latin typeface="Arial"/>
                  <a:ea typeface="Malgun Gothic"/>
                  <a:cs typeface="Arial"/>
                </a:rPr>
                <a:t>사람은 빠르게 틀림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71500" y="3381375"/>
            <a:ext cx="8610600" cy="1905000"/>
            <a:chOff x="571500" y="3381375"/>
            <a:chExt cx="8610600" cy="1905000"/>
          </a:xfrm>
        </p:grpSpPr>
        <p:sp>
          <p:nvSpPr>
            <p:cNvPr id="19" name="Rectangle 19"/>
            <p:cNvSpPr/>
            <p:nvPr/>
          </p:nvSpPr>
          <p:spPr>
            <a:xfrm>
              <a:off x="571500" y="3381375"/>
              <a:ext cx="8610600" cy="1905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9050">
              <a:solidFill>
                <a:srgbClr val="E8DDD7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857250" y="3667125"/>
              <a:ext cx="1524000" cy="342900"/>
            </a:xfrm>
            <a:prstGeom prst="roundRect">
              <a:avLst>
                <a:gd name="adj" fmla="val 50000"/>
              </a:avLst>
            </a:prstGeom>
            <a:solidFill>
              <a:srgbClr val="4B4535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28197" y="3759518"/>
              <a:ext cx="15821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350" b="1" dirty="0">
                  <a:solidFill>
                    <a:srgbClr val="FFFFFF"/>
                  </a:solidFill>
                  <a:latin typeface="Arial"/>
                  <a:ea typeface="Malgun Gothic"/>
                  <a:cs typeface="Arial"/>
                </a:rPr>
                <a:t>글로벌 커머스 경고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47344" y="4218622"/>
              <a:ext cx="693954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글로벌 커머스에서는 한 번의 과장광고, 한 번의 허위정보,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46582" y="4631055"/>
              <a:ext cx="580424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b="1" dirty="0">
                  <a:solidFill>
                    <a:srgbClr val="EDA796"/>
                  </a:solidFill>
                  <a:latin typeface="Arial"/>
                  <a:ea typeface="Malgun Gothic"/>
                  <a:cs typeface="Arial"/>
                </a:rPr>
                <a:t>한 번의 CS 실패가 신뢰를 무너뜨릴 수 있음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71500" y="5524500"/>
            <a:ext cx="8610600" cy="1285875"/>
            <a:chOff x="571500" y="5524500"/>
            <a:chExt cx="8610600" cy="1285875"/>
          </a:xfrm>
        </p:grpSpPr>
        <p:sp>
          <p:nvSpPr>
            <p:cNvPr id="25" name="Rectangle 25"/>
            <p:cNvSpPr/>
            <p:nvPr/>
          </p:nvSpPr>
          <p:spPr>
            <a:xfrm>
              <a:off x="571500" y="5524500"/>
              <a:ext cx="8610600" cy="1285875"/>
            </a:xfrm>
            <a:prstGeom prst="roundRect">
              <a:avLst>
                <a:gd name="adj" fmla="val 13333"/>
              </a:avLst>
            </a:prstGeom>
            <a:solidFill>
              <a:srgbClr val="4B4535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097024" y="5995988"/>
              <a:ext cx="555955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2250" b="1" dirty="0">
                  <a:solidFill>
                    <a:srgbClr val="F8DA92"/>
                  </a:solidFill>
                  <a:latin typeface="Arial"/>
                  <a:ea typeface="Malgun Gothic"/>
                  <a:cs typeface="Arial"/>
                </a:rPr>
                <a:t>(AI 활용 → 신뢰 / 윤리 / 리스크 관리)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0668000" cy="7810500"/>
            <a:chOff x="0" y="0"/>
            <a:chExt cx="10668000" cy="7810500"/>
          </a:xfrm>
        </p:grpSpPr>
        <p:sp>
          <p:nvSpPr>
            <p:cNvPr id="2" name="Ellipse 2"/>
            <p:cNvSpPr/>
            <p:nvPr/>
          </p:nvSpPr>
          <p:spPr>
            <a:xfrm>
              <a:off x="6858000" y="0"/>
              <a:ext cx="3048000" cy="3048000"/>
            </a:xfrm>
            <a:prstGeom prst="ellipse">
              <a:avLst/>
            </a:prstGeom>
            <a:solidFill>
              <a:srgbClr val="FEF7E6">
                <a:alpha val="80000"/>
              </a:srgbClr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6858000" y="4000500"/>
              <a:ext cx="3810000" cy="3810000"/>
            </a:xfrm>
            <a:prstGeom prst="ellipse">
              <a:avLst/>
            </a:prstGeom>
            <a:solidFill>
              <a:srgbClr val="FBEEEC">
                <a:alpha val="70000"/>
              </a:srgbClr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0" y="5143500"/>
              <a:ext cx="2286000" cy="2286000"/>
            </a:xfrm>
            <a:prstGeom prst="ellipse">
              <a:avLst/>
            </a:prstGeom>
            <a:solidFill>
              <a:srgbClr val="FEF7E6">
                <a:alpha val="60000"/>
              </a:srgbClr>
            </a:solidFill>
            <a:ln>
              <a:noFill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762000" y="1333500"/>
            <a:ext cx="8229600" cy="4648200"/>
            <a:chOff x="762000" y="1333500"/>
            <a:chExt cx="8229600" cy="4648200"/>
          </a:xfrm>
        </p:grpSpPr>
        <p:sp>
          <p:nvSpPr>
            <p:cNvPr id="6" name="Rectangle 6"/>
            <p:cNvSpPr/>
            <p:nvPr/>
          </p:nvSpPr>
          <p:spPr>
            <a:xfrm>
              <a:off x="762000" y="1333500"/>
              <a:ext cx="8229600" cy="4648200"/>
            </a:xfrm>
            <a:prstGeom prst="roundRect">
              <a:avLst>
                <a:gd name="adj" fmla="val 4918"/>
              </a:avLst>
            </a:prstGeom>
            <a:solidFill>
              <a:srgbClr val="FFFFFF"/>
            </a:solidFill>
            <a:ln w="19050">
              <a:solidFill>
                <a:srgbClr val="E8DDD7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762000" y="1333500"/>
              <a:ext cx="8229600" cy="114300"/>
            </a:xfrm>
            <a:prstGeom prst="roundRect">
              <a:avLst>
                <a:gd name="adj" fmla="val 50000"/>
              </a:avLst>
            </a:prstGeom>
            <a:solidFill>
              <a:srgbClr val="F8DA92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1333500" y="2000250"/>
              <a:ext cx="1714500" cy="419100"/>
            </a:xfrm>
            <a:prstGeom prst="roundRect">
              <a:avLst>
                <a:gd name="adj" fmla="val 50000"/>
              </a:avLst>
            </a:prstGeom>
            <a:solidFill>
              <a:srgbClr val="4B4535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595056" y="2114550"/>
              <a:ext cx="119138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CHAPTER 03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20546" y="2820352"/>
              <a:ext cx="668530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55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사례 분석: 글로벌 AI 커머스의 주요 사례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333500" y="3619500"/>
              <a:ext cx="7086600" cy="952500"/>
            </a:xfrm>
            <a:prstGeom prst="roundRect">
              <a:avLst>
                <a:gd name="adj" fmla="val 16000"/>
              </a:avLst>
            </a:prstGeom>
            <a:solidFill>
              <a:srgbClr val="FDF6F4"/>
            </a:solidFill>
            <a:ln w="14288">
              <a:solidFill>
                <a:srgbClr val="E8DDD7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610868" y="3870008"/>
              <a:ext cx="551275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756E5F"/>
                  </a:solidFill>
                  <a:latin typeface="Arial"/>
                  <a:ea typeface="Arial"/>
                  <a:cs typeface="Arial"/>
                </a:rPr>
                <a:t>Amazon, Shopify, TikTok Shop, ChatGPT, Shopee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610868" y="4184332"/>
              <a:ext cx="36469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756E5F"/>
                  </a:solidFill>
                  <a:latin typeface="Arial"/>
                  <a:ea typeface="Malgun Gothic"/>
                  <a:cs typeface="Arial"/>
                </a:rPr>
                <a:t>플랫폼별 AI 커머스 전략 심층 분석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1333500" y="5143500"/>
              <a:ext cx="7086600" cy="9525"/>
            </a:xfrm>
            <a:custGeom>
              <a:avLst/>
              <a:gdLst/>
              <a:ahLst/>
              <a:cxnLst/>
              <a:rect l="l" t="t" r="r" b="b"/>
              <a:pathLst>
                <a:path w="7086600" h="9525">
                  <a:moveTo>
                    <a:pt x="0" y="0"/>
                  </a:moveTo>
                  <a:lnTo>
                    <a:pt x="7086600" y="0"/>
                  </a:lnTo>
                </a:path>
              </a:pathLst>
            </a:custGeom>
            <a:noFill/>
            <a:ln w="14288">
              <a:solidFill>
                <a:srgbClr val="E8DDD7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325118" y="5346382"/>
              <a:ext cx="26089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EDA796"/>
                  </a:solidFill>
                  <a:latin typeface="Arial"/>
                  <a:ea typeface="Malgun Gothic"/>
                  <a:cs typeface="Arial"/>
                </a:rPr>
                <a:t>글로벌 AI 커머스 | 1주차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58546" y="372428"/>
            <a:ext cx="6685300" cy="784860"/>
            <a:chOff x="558546" y="372428"/>
            <a:chExt cx="6685300" cy="784860"/>
          </a:xfrm>
        </p:grpSpPr>
        <p:sp>
          <p:nvSpPr>
            <p:cNvPr id="2" name="TextBox 2"/>
            <p:cNvSpPr txBox="1"/>
            <p:nvPr/>
          </p:nvSpPr>
          <p:spPr>
            <a:xfrm>
              <a:off x="558546" y="372428"/>
              <a:ext cx="668530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55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사례 분석: 글로벌 AI 커머스의 주요 사례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62356" y="796290"/>
              <a:ext cx="332347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756E5F"/>
                  </a:solidFill>
                  <a:latin typeface="Arial"/>
                  <a:ea typeface="Malgun Gothic"/>
                  <a:cs typeface="Arial"/>
                </a:rPr>
                <a:t>Amazon : 검색과 추천의 결합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1123950"/>
              <a:ext cx="571500" cy="33338"/>
            </a:xfrm>
            <a:prstGeom prst="roundRect">
              <a:avLst>
                <a:gd name="adj" fmla="val 50000"/>
              </a:avLst>
            </a:prstGeom>
            <a:solidFill>
              <a:srgbClr val="F8DA92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71500" y="1333500"/>
            <a:ext cx="8610600" cy="2000250"/>
            <a:chOff x="571500" y="1333500"/>
            <a:chExt cx="8610600" cy="2000250"/>
          </a:xfrm>
        </p:grpSpPr>
        <p:sp>
          <p:nvSpPr>
            <p:cNvPr id="6" name="Rectangle 6"/>
            <p:cNvSpPr/>
            <p:nvPr/>
          </p:nvSpPr>
          <p:spPr>
            <a:xfrm>
              <a:off x="571500" y="1333500"/>
              <a:ext cx="8610600" cy="2000250"/>
            </a:xfrm>
            <a:prstGeom prst="roundRect">
              <a:avLst>
                <a:gd name="adj" fmla="val 8571"/>
              </a:avLst>
            </a:prstGeom>
            <a:solidFill>
              <a:srgbClr val="FFFFFF"/>
            </a:solidFill>
            <a:ln w="14288">
              <a:solidFill>
                <a:srgbClr val="E8DDD7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857250" y="1619250"/>
              <a:ext cx="1714500" cy="342900"/>
            </a:xfrm>
            <a:prstGeom prst="roundRect">
              <a:avLst>
                <a:gd name="adj" fmla="val 50000"/>
              </a:avLst>
            </a:prstGeom>
            <a:solidFill>
              <a:srgbClr val="4B4535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24676" y="1711642"/>
              <a:ext cx="9796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350" b="1" dirty="0">
                  <a:solidFill>
                    <a:srgbClr val="FFFFFF"/>
                  </a:solidFill>
                  <a:latin typeface="Arial"/>
                  <a:ea typeface="Malgun Gothic"/>
                  <a:cs typeface="Arial"/>
                </a:rPr>
                <a:t>플랫폼 특성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47344" y="2123122"/>
              <a:ext cx="489591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전통적인 검색 기반 커머스의 대표 플랫폼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48106" y="2567940"/>
              <a:ext cx="76929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204026" indent="-204026">
                <a:buClr>
                  <a:srgbClr val="33332F"/>
                </a:buClr>
                <a:buSzTx/>
                <a:buFontTx/>
                <a:buChar char="•"/>
              </a:pPr>
              <a:r>
                <a:rPr lang="ko-KR" sz="1800" b="1" dirty="0">
                  <a:solidFill>
                    <a:srgbClr val="33332F"/>
                  </a:solidFill>
                  <a:latin typeface="Arial"/>
                  <a:ea typeface="Malgun Gothic"/>
                  <a:cs typeface="Arial"/>
                </a:rPr>
                <a:t>고객은 검색어를 입력하고, 상품명, 리뷰, 가격, 배송 조건을 비교함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48106" y="2901315"/>
              <a:ext cx="409502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204026" indent="-204026">
                <a:buClr>
                  <a:srgbClr val="33332F"/>
                </a:buClr>
                <a:buSzTx/>
                <a:buFontTx/>
                <a:buChar char="•"/>
              </a:pPr>
              <a:r>
                <a:rPr lang="ko-KR" sz="1800" b="1" dirty="0">
                  <a:solidFill>
                    <a:srgbClr val="33332F"/>
                  </a:solidFill>
                  <a:latin typeface="Arial"/>
                  <a:ea typeface="Malgun Gothic"/>
                  <a:cs typeface="Arial"/>
                </a:rPr>
                <a:t xml:space="preserve">Amazon은 </a:t>
              </a:r>
              <a:r>
                <a:rPr lang="ko-KR" sz="180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단순 검색 플랫폼이 아님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571500" y="3524250"/>
            <a:ext cx="8610600" cy="3333750"/>
            <a:chOff x="571500" y="3524250"/>
            <a:chExt cx="8610600" cy="3333750"/>
          </a:xfrm>
        </p:grpSpPr>
        <p:sp>
          <p:nvSpPr>
            <p:cNvPr id="13" name="Rectangle 13"/>
            <p:cNvSpPr/>
            <p:nvPr/>
          </p:nvSpPr>
          <p:spPr>
            <a:xfrm>
              <a:off x="571500" y="3524250"/>
              <a:ext cx="8610600" cy="3333750"/>
            </a:xfrm>
            <a:prstGeom prst="roundRect">
              <a:avLst>
                <a:gd name="adj" fmla="val 5714"/>
              </a:avLst>
            </a:prstGeom>
            <a:solidFill>
              <a:srgbClr val="FEF7E6"/>
            </a:solidFill>
            <a:ln w="19050">
              <a:solidFill>
                <a:srgbClr val="F8DA92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3356" y="3758565"/>
              <a:ext cx="514387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판매자와 고객을 정교하게 연결하는 4대 시스템</a:t>
              </a:r>
            </a:p>
          </p:txBody>
        </p:sp>
        <p:grpSp>
          <p:nvGrpSpPr>
            <p:cNvPr id="39" name="Group 39"/>
            <p:cNvGrpSpPr/>
            <p:nvPr/>
          </p:nvGrpSpPr>
          <p:grpSpPr>
            <a:xfrm>
              <a:off x="952500" y="4238625"/>
              <a:ext cx="7762875" cy="2190750"/>
              <a:chOff x="952500" y="4238625"/>
              <a:chExt cx="7762875" cy="2190750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952500" y="4238625"/>
                <a:ext cx="1762125" cy="2190750"/>
              </a:xfrm>
              <a:prstGeom prst="roundRect">
                <a:avLst>
                  <a:gd name="adj" fmla="val 8649"/>
                </a:avLst>
              </a:prstGeom>
              <a:solidFill>
                <a:srgbClr val="FFFFFF"/>
              </a:solidFill>
              <a:ln w="14288">
                <a:solidFill>
                  <a:srgbClr val="E8DDD7"/>
                </a:solidFill>
              </a:ln>
            </p:spPr>
          </p:sp>
          <p:sp>
            <p:nvSpPr>
              <p:cNvPr id="16" name="Ellipse 16"/>
              <p:cNvSpPr/>
              <p:nvPr/>
            </p:nvSpPr>
            <p:spPr>
              <a:xfrm>
                <a:off x="1562100" y="4448175"/>
                <a:ext cx="533400" cy="533400"/>
              </a:xfrm>
              <a:prstGeom prst="ellipse">
                <a:avLst/>
              </a:prstGeom>
              <a:solidFill>
                <a:srgbClr val="FDF6F4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698498" y="4596765"/>
                <a:ext cx="26060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🎯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119065" y="5155882"/>
                <a:ext cx="141947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650" b="1" dirty="0">
                    <a:solidFill>
                      <a:srgbClr val="4B4535"/>
                    </a:solidFill>
                    <a:latin typeface="Arial"/>
                    <a:ea typeface="Malgun Gothic"/>
                    <a:cs typeface="Arial"/>
                  </a:rPr>
                  <a:t>추천 알고리즘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154811" y="5600700"/>
                <a:ext cx="134797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00" dirty="0">
                    <a:solidFill>
                      <a:srgbClr val="33332F"/>
                    </a:solidFill>
                    <a:latin typeface="Arial"/>
                    <a:ea typeface="Malgun Gothic"/>
                    <a:cs typeface="Arial"/>
                  </a:rPr>
                  <a:t>고객 행동 기반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286065" y="5934075"/>
                <a:ext cx="108546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00" dirty="0">
                    <a:solidFill>
                      <a:srgbClr val="33332F"/>
                    </a:solidFill>
                    <a:latin typeface="Arial"/>
                    <a:ea typeface="Malgun Gothic"/>
                    <a:cs typeface="Arial"/>
                  </a:rPr>
                  <a:t>개인화 추천</a:t>
                </a:r>
              </a:p>
            </p:txBody>
          </p:sp>
          <p:sp>
            <p:nvSpPr>
              <p:cNvPr id="21" name="Rectangle 21"/>
              <p:cNvSpPr/>
              <p:nvPr/>
            </p:nvSpPr>
            <p:spPr>
              <a:xfrm>
                <a:off x="2952750" y="4238625"/>
                <a:ext cx="1762125" cy="2190750"/>
              </a:xfrm>
              <a:prstGeom prst="roundRect">
                <a:avLst>
                  <a:gd name="adj" fmla="val 8649"/>
                </a:avLst>
              </a:prstGeom>
              <a:solidFill>
                <a:srgbClr val="FFFFFF"/>
              </a:solidFill>
              <a:ln w="14288">
                <a:solidFill>
                  <a:srgbClr val="E8DDD7"/>
                </a:solidFill>
              </a:ln>
            </p:spPr>
          </p:sp>
          <p:sp>
            <p:nvSpPr>
              <p:cNvPr id="22" name="Ellipse 22"/>
              <p:cNvSpPr/>
              <p:nvPr/>
            </p:nvSpPr>
            <p:spPr>
              <a:xfrm>
                <a:off x="3562350" y="4448175"/>
                <a:ext cx="533400" cy="533400"/>
              </a:xfrm>
              <a:prstGeom prst="ellipse">
                <a:avLst/>
              </a:prstGeom>
              <a:solidFill>
                <a:srgbClr val="FDF6F4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3698748" y="4596765"/>
                <a:ext cx="26060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📝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3341438" y="5155882"/>
                <a:ext cx="97522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650" b="1" dirty="0">
                    <a:solidFill>
                      <a:srgbClr val="4B4535"/>
                    </a:solidFill>
                    <a:latin typeface="Arial"/>
                    <a:ea typeface="Malgun Gothic"/>
                    <a:cs typeface="Arial"/>
                  </a:rPr>
                  <a:t>리뷰 요약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3133344" y="5600700"/>
                <a:ext cx="139141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00" dirty="0">
                    <a:solidFill>
                      <a:srgbClr val="33332F"/>
                    </a:solidFill>
                    <a:latin typeface="Arial"/>
                    <a:ea typeface="Malgun Gothic"/>
                    <a:cs typeface="Arial"/>
                  </a:rPr>
                  <a:t>AI 기반 방대한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3084386" y="5934075"/>
                <a:ext cx="148932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00" dirty="0">
                    <a:solidFill>
                      <a:srgbClr val="33332F"/>
                    </a:solidFill>
                    <a:latin typeface="Arial"/>
                    <a:ea typeface="Malgun Gothic"/>
                    <a:cs typeface="Arial"/>
                  </a:rPr>
                  <a:t>리뷰 하이라이트</a:t>
                </a:r>
              </a:p>
            </p:txBody>
          </p:sp>
          <p:sp>
            <p:nvSpPr>
              <p:cNvPr id="27" name="Rectangle 27"/>
              <p:cNvSpPr/>
              <p:nvPr/>
            </p:nvSpPr>
            <p:spPr>
              <a:xfrm>
                <a:off x="4953000" y="4238625"/>
                <a:ext cx="1762125" cy="2190750"/>
              </a:xfrm>
              <a:prstGeom prst="roundRect">
                <a:avLst>
                  <a:gd name="adj" fmla="val 8649"/>
                </a:avLst>
              </a:prstGeom>
              <a:solidFill>
                <a:srgbClr val="FFFFFF"/>
              </a:solidFill>
              <a:ln w="14288">
                <a:solidFill>
                  <a:srgbClr val="E8DDD7"/>
                </a:solidFill>
              </a:ln>
            </p:spPr>
          </p:sp>
          <p:sp>
            <p:nvSpPr>
              <p:cNvPr id="28" name="Ellipse 28"/>
              <p:cNvSpPr/>
              <p:nvPr/>
            </p:nvSpPr>
            <p:spPr>
              <a:xfrm>
                <a:off x="5562600" y="4448175"/>
                <a:ext cx="533400" cy="533400"/>
              </a:xfrm>
              <a:prstGeom prst="ellipse">
                <a:avLst/>
              </a:prstGeom>
              <a:solidFill>
                <a:srgbClr val="FDF6F4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5698998" y="4596765"/>
                <a:ext cx="26060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📦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5345952" y="5155882"/>
                <a:ext cx="96669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650" b="1" dirty="0">
                    <a:solidFill>
                      <a:srgbClr val="4B4535"/>
                    </a:solidFill>
                    <a:latin typeface="Arial"/>
                    <a:ea typeface="Malgun Gothic"/>
                    <a:cs typeface="Arial"/>
                  </a:rPr>
                  <a:t>FBA 물류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5286566" y="5600700"/>
                <a:ext cx="108546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00" dirty="0">
                    <a:solidFill>
                      <a:srgbClr val="33332F"/>
                    </a:solidFill>
                    <a:latin typeface="Arial"/>
                    <a:ea typeface="Malgun Gothic"/>
                    <a:cs typeface="Arial"/>
                  </a:rPr>
                  <a:t>풀필먼트 및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5286566" y="5934075"/>
                <a:ext cx="108546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00" dirty="0">
                    <a:solidFill>
                      <a:srgbClr val="33332F"/>
                    </a:solidFill>
                    <a:latin typeface="Arial"/>
                    <a:ea typeface="Malgun Gothic"/>
                    <a:cs typeface="Arial"/>
                  </a:rPr>
                  <a:t>초고속 배송</a:t>
                </a:r>
              </a:p>
            </p:txBody>
          </p:sp>
          <p:sp>
            <p:nvSpPr>
              <p:cNvPr id="33" name="Rectangle 33"/>
              <p:cNvSpPr/>
              <p:nvPr/>
            </p:nvSpPr>
            <p:spPr>
              <a:xfrm>
                <a:off x="6953250" y="4238625"/>
                <a:ext cx="1762125" cy="2190750"/>
              </a:xfrm>
              <a:prstGeom prst="roundRect">
                <a:avLst>
                  <a:gd name="adj" fmla="val 8649"/>
                </a:avLst>
              </a:prstGeom>
              <a:solidFill>
                <a:srgbClr val="FFFFFF"/>
              </a:solidFill>
              <a:ln w="14288">
                <a:solidFill>
                  <a:srgbClr val="E8DDD7"/>
                </a:solidFill>
              </a:ln>
            </p:spPr>
          </p:sp>
          <p:sp>
            <p:nvSpPr>
              <p:cNvPr id="34" name="Ellipse 34"/>
              <p:cNvSpPr/>
              <p:nvPr/>
            </p:nvSpPr>
            <p:spPr>
              <a:xfrm>
                <a:off x="7562850" y="4448175"/>
                <a:ext cx="533400" cy="533400"/>
              </a:xfrm>
              <a:prstGeom prst="ellipse">
                <a:avLst/>
              </a:prstGeom>
              <a:solidFill>
                <a:srgbClr val="FDF6F4"/>
              </a:solidFill>
              <a:ln>
                <a:noFill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7699248" y="4596765"/>
                <a:ext cx="26060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📢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7230876" y="5155882"/>
                <a:ext cx="119734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650" b="1" dirty="0">
                    <a:solidFill>
                      <a:srgbClr val="4B4535"/>
                    </a:solidFill>
                    <a:latin typeface="Arial"/>
                    <a:ea typeface="Malgun Gothic"/>
                    <a:cs typeface="Arial"/>
                  </a:rPr>
                  <a:t>광고 시스템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7084886" y="5600700"/>
                <a:ext cx="148932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00" dirty="0">
                    <a:solidFill>
                      <a:srgbClr val="33332F"/>
                    </a:solidFill>
                    <a:latin typeface="Arial"/>
                    <a:ea typeface="Malgun Gothic"/>
                    <a:cs typeface="Arial"/>
                  </a:rPr>
                  <a:t>키워드 스폰서드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7286816" y="5934075"/>
                <a:ext cx="108546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00" dirty="0">
                    <a:solidFill>
                      <a:srgbClr val="33332F"/>
                    </a:solidFill>
                    <a:latin typeface="Arial"/>
                    <a:ea typeface="Malgun Gothic"/>
                    <a:cs typeface="Arial"/>
                  </a:rPr>
                  <a:t>광고 타깃팅</a:t>
                </a:r>
              </a:p>
            </p:txBody>
          </p:sp>
        </p:grp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558546" y="315278"/>
            <a:ext cx="6685300" cy="978217"/>
            <a:chOff x="558546" y="315278"/>
            <a:chExt cx="6685300" cy="978217"/>
          </a:xfrm>
        </p:grpSpPr>
        <p:sp>
          <p:nvSpPr>
            <p:cNvPr id="2" name="TextBox 2"/>
            <p:cNvSpPr txBox="1"/>
            <p:nvPr/>
          </p:nvSpPr>
          <p:spPr>
            <a:xfrm>
              <a:off x="558546" y="315278"/>
              <a:ext cx="668530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55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사례 분석: 글로벌 AI 커머스의 주요 사례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63118" y="717232"/>
              <a:ext cx="30465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756E5F"/>
                  </a:solidFill>
                  <a:latin typeface="Arial"/>
                  <a:ea typeface="Malgun Gothic"/>
                  <a:cs typeface="Arial"/>
                </a:rPr>
                <a:t>Amazon : 검색과 추천의 결합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63880" y="1000125"/>
              <a:ext cx="231959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b="1" dirty="0">
                  <a:solidFill>
                    <a:srgbClr val="EDA796"/>
                  </a:solidFill>
                  <a:latin typeface="Arial"/>
                  <a:ea typeface="Malgun Gothic"/>
                  <a:cs typeface="Arial"/>
                </a:rPr>
                <a:t>Amazon에서 중요한 요소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71500" y="1257300"/>
              <a:ext cx="571500" cy="28575"/>
            </a:xfrm>
            <a:prstGeom prst="roundRect">
              <a:avLst>
                <a:gd name="adj" fmla="val 50000"/>
              </a:avLst>
            </a:prstGeom>
            <a:solidFill>
              <a:srgbClr val="F8DA92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71500" y="1428750"/>
            <a:ext cx="8610600" cy="1510951"/>
            <a:chOff x="571500" y="1428750"/>
            <a:chExt cx="8610600" cy="1510951"/>
          </a:xfrm>
        </p:grpSpPr>
        <p:sp>
          <p:nvSpPr>
            <p:cNvPr id="7" name="Rectangle 7"/>
            <p:cNvSpPr/>
            <p:nvPr/>
          </p:nvSpPr>
          <p:spPr>
            <a:xfrm>
              <a:off x="571500" y="1428750"/>
              <a:ext cx="8610600" cy="142875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9050">
              <a:solidFill>
                <a:srgbClr val="E8DDD7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857250" y="1714500"/>
              <a:ext cx="1333500" cy="342900"/>
            </a:xfrm>
            <a:prstGeom prst="roundRect">
              <a:avLst>
                <a:gd name="adj" fmla="val 50000"/>
              </a:avLst>
            </a:prstGeom>
            <a:solidFill>
              <a:srgbClr val="4B4535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25044" y="1806892"/>
              <a:ext cx="7979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350" b="1" dirty="0">
                  <a:solidFill>
                    <a:srgbClr val="FFFFFF"/>
                  </a:solidFill>
                  <a:latin typeface="Arial"/>
                  <a:ea typeface="Malgun Gothic"/>
                  <a:cs typeface="Arial"/>
                </a:rPr>
                <a:t>핵심 원칙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46963" y="2210276"/>
              <a:ext cx="5332793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02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Amazon에서는 “좋은 상품”도 중요하지만,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46963" y="2543651"/>
              <a:ext cx="5801857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020" b="1" dirty="0">
                  <a:solidFill>
                    <a:srgbClr val="EDA796"/>
                  </a:solidFill>
                  <a:latin typeface="Arial"/>
                  <a:ea typeface="Malgun Gothic"/>
                  <a:cs typeface="Arial"/>
                </a:rPr>
                <a:t>검색되고 비교되고 신뢰받는 상품정보가 중요함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571500" y="3048000"/>
            <a:ext cx="8905685" cy="3619500"/>
            <a:chOff x="571500" y="3048000"/>
            <a:chExt cx="8905685" cy="3619500"/>
          </a:xfrm>
        </p:grpSpPr>
        <p:sp>
          <p:nvSpPr>
            <p:cNvPr id="13" name="Rectangle 13"/>
            <p:cNvSpPr/>
            <p:nvPr/>
          </p:nvSpPr>
          <p:spPr>
            <a:xfrm>
              <a:off x="571500" y="3048000"/>
              <a:ext cx="2000250" cy="1714500"/>
            </a:xfrm>
            <a:prstGeom prst="roundRect">
              <a:avLst>
                <a:gd name="adj" fmla="val 8889"/>
              </a:avLst>
            </a:prstGeom>
            <a:solidFill>
              <a:srgbClr val="FFFFFF"/>
            </a:solidFill>
            <a:ln w="14288">
              <a:solidFill>
                <a:srgbClr val="E8DDD7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781050" y="3257550"/>
              <a:ext cx="342900" cy="342900"/>
            </a:xfrm>
            <a:prstGeom prst="ellipse">
              <a:avLst/>
            </a:prstGeom>
            <a:solidFill>
              <a:srgbClr val="FEF7E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99758" y="336613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4B4535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230249" y="3325654"/>
              <a:ext cx="11465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검색 키워드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02005" y="3790950"/>
              <a:ext cx="19537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33332F"/>
                  </a:solidFill>
                  <a:latin typeface="Arial"/>
                  <a:ea typeface="Malgun Gothic"/>
                  <a:cs typeface="Arial"/>
                </a:rPr>
                <a:t>고객 의도에 부합하는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02005" y="4124325"/>
              <a:ext cx="17518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33332F"/>
                  </a:solidFill>
                  <a:latin typeface="Arial"/>
                  <a:ea typeface="Malgun Gothic"/>
                  <a:cs typeface="Arial"/>
                </a:rPr>
                <a:t>정밀 키워드 최적화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2771775" y="3048000"/>
              <a:ext cx="2000250" cy="1714500"/>
            </a:xfrm>
            <a:prstGeom prst="roundRect">
              <a:avLst>
                <a:gd name="adj" fmla="val 8889"/>
              </a:avLst>
            </a:prstGeom>
            <a:solidFill>
              <a:srgbClr val="FFFFFF"/>
            </a:solidFill>
            <a:ln w="14288">
              <a:solidFill>
                <a:srgbClr val="E8DDD7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2981325" y="3257550"/>
              <a:ext cx="342900" cy="342900"/>
            </a:xfrm>
            <a:prstGeom prst="ellipse">
              <a:avLst/>
            </a:prstGeom>
            <a:solidFill>
              <a:srgbClr val="FEF7E6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100033" y="336613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4B4535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430524" y="3325654"/>
              <a:ext cx="11465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상품명 구조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002280" y="3790950"/>
              <a:ext cx="19133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33332F"/>
                  </a:solidFill>
                  <a:latin typeface="Arial"/>
                  <a:ea typeface="Malgun Gothic"/>
                  <a:cs typeface="Arial"/>
                </a:rPr>
                <a:t>명확한 브랜드·스펙·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002280" y="4124325"/>
              <a:ext cx="17518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33332F"/>
                  </a:solidFill>
                  <a:latin typeface="Arial"/>
                  <a:ea typeface="Malgun Gothic"/>
                  <a:cs typeface="Arial"/>
                </a:rPr>
                <a:t>특장점 가독성 설계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4972050" y="3048000"/>
              <a:ext cx="2000250" cy="1714500"/>
            </a:xfrm>
            <a:prstGeom prst="roundRect">
              <a:avLst>
                <a:gd name="adj" fmla="val 8889"/>
              </a:avLst>
            </a:prstGeom>
            <a:solidFill>
              <a:srgbClr val="FFFFFF"/>
            </a:solidFill>
            <a:ln w="14288">
              <a:solidFill>
                <a:srgbClr val="E8DDD7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5181600" y="3257550"/>
              <a:ext cx="342900" cy="342900"/>
            </a:xfrm>
            <a:prstGeom prst="ellipse">
              <a:avLst/>
            </a:prstGeom>
            <a:solidFill>
              <a:srgbClr val="FEF7E6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300308" y="336613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4B4535"/>
                  </a:solidFill>
                  <a:latin typeface="Arial"/>
                  <a:ea typeface="Arial"/>
                  <a:cs typeface="Arial"/>
                </a:rPr>
                <a:t>3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630799" y="3325654"/>
              <a:ext cx="14262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리뷰 수와 평점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202555" y="3790950"/>
              <a:ext cx="181241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33332F"/>
                  </a:solidFill>
                  <a:latin typeface="Arial"/>
                  <a:ea typeface="Malgun Gothic"/>
                  <a:cs typeface="Arial"/>
                </a:rPr>
                <a:t>초기 사회적 증거 및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202555" y="4124325"/>
              <a:ext cx="15499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33332F"/>
                  </a:solidFill>
                  <a:latin typeface="Arial"/>
                  <a:ea typeface="Malgun Gothic"/>
                  <a:cs typeface="Arial"/>
                </a:rPr>
                <a:t>신뢰도 구축 관리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7181850" y="3048000"/>
              <a:ext cx="2000250" cy="1714500"/>
            </a:xfrm>
            <a:prstGeom prst="roundRect">
              <a:avLst>
                <a:gd name="adj" fmla="val 8889"/>
              </a:avLst>
            </a:prstGeom>
            <a:solidFill>
              <a:srgbClr val="FFFFFF"/>
            </a:solidFill>
            <a:ln w="14288">
              <a:solidFill>
                <a:srgbClr val="E8DDD7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7391400" y="3257550"/>
              <a:ext cx="342900" cy="342900"/>
            </a:xfrm>
            <a:prstGeom prst="ellipse">
              <a:avLst/>
            </a:prstGeom>
            <a:solidFill>
              <a:srgbClr val="FEF7E6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510108" y="336613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4B4535"/>
                  </a:solidFill>
                  <a:latin typeface="Arial"/>
                  <a:ea typeface="Arial"/>
                  <a:cs typeface="Arial"/>
                </a:rPr>
                <a:t>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840599" y="3325654"/>
              <a:ext cx="93380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배송 속도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412355" y="3790950"/>
              <a:ext cx="13487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33332F"/>
                  </a:solidFill>
                  <a:latin typeface="Arial"/>
                  <a:ea typeface="Malgun Gothic"/>
                  <a:cs typeface="Arial"/>
                </a:rPr>
                <a:t>FBA 등을 통한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412355" y="4124325"/>
              <a:ext cx="20648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33332F"/>
                  </a:solidFill>
                  <a:latin typeface="Arial"/>
                  <a:ea typeface="Malgun Gothic"/>
                  <a:cs typeface="Arial"/>
                </a:rPr>
                <a:t>신속·정확한 물류 배송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71500" y="4953000"/>
              <a:ext cx="2743200" cy="1714500"/>
            </a:xfrm>
            <a:prstGeom prst="roundRect">
              <a:avLst>
                <a:gd name="adj" fmla="val 8889"/>
              </a:avLst>
            </a:prstGeom>
            <a:solidFill>
              <a:srgbClr val="FFFFFF"/>
            </a:solidFill>
            <a:ln w="14288">
              <a:solidFill>
                <a:srgbClr val="E8DDD7"/>
              </a:solidFill>
            </a:ln>
          </p:spPr>
        </p:sp>
        <p:sp>
          <p:nvSpPr>
            <p:cNvPr id="38" name="Ellipse 38"/>
            <p:cNvSpPr/>
            <p:nvPr/>
          </p:nvSpPr>
          <p:spPr>
            <a:xfrm>
              <a:off x="781050" y="5162550"/>
              <a:ext cx="342900" cy="342900"/>
            </a:xfrm>
            <a:prstGeom prst="ellipse">
              <a:avLst/>
            </a:prstGeom>
            <a:solidFill>
              <a:srgbClr val="FEF7E6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99758" y="527113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4B4535"/>
                  </a:solidFill>
                  <a:latin typeface="Arial"/>
                  <a:ea typeface="Arial"/>
                  <a:cs typeface="Arial"/>
                </a:rPr>
                <a:t>5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230249" y="5230654"/>
              <a:ext cx="11465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가격 경쟁력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02005" y="5695950"/>
              <a:ext cx="19537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33332F"/>
                  </a:solidFill>
                  <a:latin typeface="Arial"/>
                  <a:ea typeface="Malgun Gothic"/>
                  <a:cs typeface="Arial"/>
                </a:rPr>
                <a:t>글로벌 경쟁상품 대비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02005" y="6029325"/>
              <a:ext cx="19537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33332F"/>
                  </a:solidFill>
                  <a:latin typeface="Arial"/>
                  <a:ea typeface="Malgun Gothic"/>
                  <a:cs typeface="Arial"/>
                </a:rPr>
                <a:t>합리적 가격 포지셔닝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3505200" y="4953000"/>
              <a:ext cx="2743200" cy="1714500"/>
            </a:xfrm>
            <a:prstGeom prst="roundRect">
              <a:avLst>
                <a:gd name="adj" fmla="val 8889"/>
              </a:avLst>
            </a:prstGeom>
            <a:solidFill>
              <a:srgbClr val="FFFFFF"/>
            </a:solidFill>
            <a:ln w="14288">
              <a:solidFill>
                <a:srgbClr val="E8DDD7"/>
              </a:solidFill>
            </a:ln>
          </p:spPr>
        </p:sp>
        <p:sp>
          <p:nvSpPr>
            <p:cNvPr id="44" name="Ellipse 44"/>
            <p:cNvSpPr/>
            <p:nvPr/>
          </p:nvSpPr>
          <p:spPr>
            <a:xfrm>
              <a:off x="3714750" y="5162550"/>
              <a:ext cx="342900" cy="342900"/>
            </a:xfrm>
            <a:prstGeom prst="ellipse">
              <a:avLst/>
            </a:prstGeom>
            <a:solidFill>
              <a:srgbClr val="FEF7E6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3833458" y="527113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4B4535"/>
                  </a:solidFill>
                  <a:latin typeface="Arial"/>
                  <a:ea typeface="Arial"/>
                  <a:cs typeface="Arial"/>
                </a:rPr>
                <a:t>6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163949" y="5230654"/>
              <a:ext cx="93380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광고 운영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735705" y="5695950"/>
              <a:ext cx="15499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33332F"/>
                  </a:solidFill>
                  <a:latin typeface="Arial"/>
                  <a:ea typeface="Malgun Gothic"/>
                  <a:cs typeface="Arial"/>
                </a:rPr>
                <a:t>스폰서드 광고 등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735705" y="6029325"/>
              <a:ext cx="221627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33332F"/>
                  </a:solidFill>
                  <a:latin typeface="Arial"/>
                  <a:ea typeface="Malgun Gothic"/>
                  <a:cs typeface="Arial"/>
                </a:rPr>
                <a:t>효율적 유료 트래픽 확보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438900" y="4953000"/>
              <a:ext cx="2743200" cy="1714500"/>
            </a:xfrm>
            <a:prstGeom prst="roundRect">
              <a:avLst>
                <a:gd name="adj" fmla="val 8889"/>
              </a:avLst>
            </a:prstGeom>
            <a:solidFill>
              <a:srgbClr val="FFFFFF"/>
            </a:solidFill>
            <a:ln w="19050">
              <a:solidFill>
                <a:srgbClr val="EDA796"/>
              </a:solidFill>
            </a:ln>
          </p:spPr>
        </p:sp>
        <p:sp>
          <p:nvSpPr>
            <p:cNvPr id="50" name="Ellipse 50"/>
            <p:cNvSpPr/>
            <p:nvPr/>
          </p:nvSpPr>
          <p:spPr>
            <a:xfrm>
              <a:off x="6648450" y="5162550"/>
              <a:ext cx="342900" cy="342900"/>
            </a:xfrm>
            <a:prstGeom prst="ellipse">
              <a:avLst/>
            </a:prstGeom>
            <a:solidFill>
              <a:srgbClr val="FBEEEC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767158" y="527113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EDA796"/>
                  </a:solidFill>
                  <a:latin typeface="Arial"/>
                  <a:ea typeface="Arial"/>
                  <a:cs typeface="Arial"/>
                </a:rPr>
                <a:t>7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097649" y="5230654"/>
              <a:ext cx="8668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b="1" dirty="0">
                  <a:solidFill>
                    <a:srgbClr val="EDA796"/>
                  </a:solidFill>
                  <a:latin typeface="Arial"/>
                  <a:ea typeface="Malgun Gothic"/>
                  <a:cs typeface="Arial"/>
                </a:rPr>
                <a:t>반품정책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669405" y="5695950"/>
              <a:ext cx="221627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33332F"/>
                  </a:solidFill>
                  <a:latin typeface="Arial"/>
                  <a:ea typeface="Malgun Gothic"/>
                  <a:cs typeface="Arial"/>
                </a:rPr>
                <a:t>명확하고 안심할 수 있는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669405" y="6029325"/>
              <a:ext cx="24686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33332F"/>
                  </a:solidFill>
                  <a:latin typeface="Arial"/>
                  <a:ea typeface="Malgun Gothic"/>
                  <a:cs typeface="Arial"/>
                </a:rPr>
                <a:t>글로벌 반품·교환 프로세스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58546" y="372428"/>
            <a:ext cx="6685300" cy="784860"/>
            <a:chOff x="558546" y="372428"/>
            <a:chExt cx="6685300" cy="784860"/>
          </a:xfrm>
        </p:grpSpPr>
        <p:sp>
          <p:nvSpPr>
            <p:cNvPr id="2" name="TextBox 2"/>
            <p:cNvSpPr txBox="1"/>
            <p:nvPr/>
          </p:nvSpPr>
          <p:spPr>
            <a:xfrm>
              <a:off x="558546" y="372428"/>
              <a:ext cx="668530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55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사례 분석: 글로벌 AI 커머스의 주요 사례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62356" y="796290"/>
              <a:ext cx="310685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756E5F"/>
                  </a:solidFill>
                  <a:latin typeface="Arial"/>
                  <a:ea typeface="Malgun Gothic"/>
                  <a:cs typeface="Arial"/>
                </a:rPr>
                <a:t>Shopify : 독립몰과 AI 운영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1123950"/>
              <a:ext cx="571500" cy="33338"/>
            </a:xfrm>
            <a:prstGeom prst="roundRect">
              <a:avLst>
                <a:gd name="adj" fmla="val 50000"/>
              </a:avLst>
            </a:prstGeom>
            <a:solidFill>
              <a:srgbClr val="F8DA92"/>
            </a:solidFill>
            <a:ln>
              <a:noFill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571500" y="1333500"/>
            <a:ext cx="8610600" cy="1524000"/>
            <a:chOff x="571500" y="1333500"/>
            <a:chExt cx="8610600" cy="1524000"/>
          </a:xfrm>
        </p:grpSpPr>
        <p:sp>
          <p:nvSpPr>
            <p:cNvPr id="6" name="Rectangle 6"/>
            <p:cNvSpPr/>
            <p:nvPr/>
          </p:nvSpPr>
          <p:spPr>
            <a:xfrm>
              <a:off x="571500" y="1333500"/>
              <a:ext cx="8610600" cy="1524000"/>
            </a:xfrm>
            <a:prstGeom prst="roundRect">
              <a:avLst>
                <a:gd name="adj" fmla="val 11250"/>
              </a:avLst>
            </a:prstGeom>
            <a:solidFill>
              <a:srgbClr val="FFFFFF"/>
            </a:solidFill>
            <a:ln w="19050">
              <a:solidFill>
                <a:srgbClr val="E8DDD7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857250" y="1619250"/>
              <a:ext cx="1524000" cy="342900"/>
            </a:xfrm>
            <a:prstGeom prst="roundRect">
              <a:avLst>
                <a:gd name="adj" fmla="val 50000"/>
              </a:avLst>
            </a:prstGeom>
            <a:solidFill>
              <a:srgbClr val="4B4535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29426" y="1711642"/>
              <a:ext cx="9796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350" b="1" dirty="0">
                  <a:solidFill>
                    <a:srgbClr val="FFFFFF"/>
                  </a:solidFill>
                  <a:latin typeface="Arial"/>
                  <a:ea typeface="Malgun Gothic"/>
                  <a:cs typeface="Arial"/>
                </a:rPr>
                <a:t>플랫폼 정의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46582" y="2106930"/>
              <a:ext cx="686413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판매자가 자기 브랜드몰을 만들 수 있게 해주는 플랫폼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71500" y="3048000"/>
            <a:ext cx="8713536" cy="3714750"/>
            <a:chOff x="571500" y="3048000"/>
            <a:chExt cx="8713536" cy="3714750"/>
          </a:xfrm>
        </p:grpSpPr>
        <p:sp>
          <p:nvSpPr>
            <p:cNvPr id="11" name="Rectangle 11"/>
            <p:cNvSpPr/>
            <p:nvPr/>
          </p:nvSpPr>
          <p:spPr>
            <a:xfrm>
              <a:off x="571500" y="3048000"/>
              <a:ext cx="4152900" cy="3714750"/>
            </a:xfrm>
            <a:prstGeom prst="roundRect">
              <a:avLst>
                <a:gd name="adj" fmla="val 4615"/>
              </a:avLst>
            </a:prstGeom>
            <a:solidFill>
              <a:srgbClr val="FFFFFF"/>
            </a:solidFill>
            <a:ln w="14288">
              <a:solidFill>
                <a:srgbClr val="E8DDD7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2314575" y="3286125"/>
              <a:ext cx="666750" cy="666750"/>
            </a:xfrm>
            <a:prstGeom prst="ellipse">
              <a:avLst/>
            </a:prstGeom>
            <a:solidFill>
              <a:srgbClr val="FDF6F4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474214" y="345567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🛒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906223" y="4091940"/>
              <a:ext cx="148345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80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Amazon 방식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904875" y="4619625"/>
              <a:ext cx="3486150" cy="952500"/>
            </a:xfrm>
            <a:prstGeom prst="roundRect">
              <a:avLst>
                <a:gd name="adj" fmla="val 12000"/>
              </a:avLst>
            </a:prstGeom>
            <a:solidFill>
              <a:srgbClr val="FDF6F4"/>
            </a:solidFill>
            <a:ln w="9525">
              <a:solidFill>
                <a:srgbClr val="E8DDD7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458984" y="4870132"/>
              <a:ext cx="237793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650" b="1" dirty="0">
                  <a:solidFill>
                    <a:srgbClr val="33332F"/>
                  </a:solidFill>
                  <a:latin typeface="Arial"/>
                  <a:ea typeface="Malgun Gothic"/>
                  <a:cs typeface="Arial"/>
                </a:rPr>
                <a:t>거대한 오픈마켓 안에서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938215" y="5174932"/>
              <a:ext cx="14194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65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경쟁하는 방식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39749" y="5783104"/>
              <a:ext cx="396198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70561" indent="-170561">
                <a:buClr>
                  <a:srgbClr val="33332F"/>
                </a:buClr>
                <a:buSzTx/>
                <a:buFontTx/>
                <a:buChar char="•"/>
              </a:pPr>
              <a:r>
                <a:rPr lang="ko-KR" sz="1580" dirty="0">
                  <a:solidFill>
                    <a:srgbClr val="33332F"/>
                  </a:solidFill>
                  <a:latin typeface="Arial"/>
                  <a:ea typeface="Malgun Gothic"/>
                  <a:cs typeface="Arial"/>
                </a:rPr>
                <a:t>수많은 경쟁 상품과의 가격·키워드 경쟁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39749" y="6164104"/>
              <a:ext cx="271768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70561" indent="-170561">
                <a:buClr>
                  <a:srgbClr val="33332F"/>
                </a:buClr>
                <a:buSzTx/>
                <a:buFontTx/>
                <a:buChar char="•"/>
              </a:pPr>
              <a:r>
                <a:rPr lang="ko-KR" sz="1580" dirty="0">
                  <a:solidFill>
                    <a:srgbClr val="33332F"/>
                  </a:solidFill>
                  <a:latin typeface="Arial"/>
                  <a:ea typeface="Malgun Gothic"/>
                  <a:cs typeface="Arial"/>
                </a:rPr>
                <a:t>플랫폼 트래픽 의존도 높음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029200" y="3048000"/>
              <a:ext cx="4152900" cy="3714750"/>
            </a:xfrm>
            <a:prstGeom prst="roundRect">
              <a:avLst>
                <a:gd name="adj" fmla="val 4615"/>
              </a:avLst>
            </a:prstGeom>
            <a:solidFill>
              <a:srgbClr val="FEF7E6"/>
            </a:solidFill>
            <a:ln w="23812">
              <a:solidFill>
                <a:srgbClr val="F8DA92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6772275" y="3286125"/>
              <a:ext cx="666750" cy="6667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931914" y="345567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🏪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352077" y="4091940"/>
              <a:ext cx="15071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80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Shopify 방식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62575" y="4619625"/>
              <a:ext cx="3486150" cy="9525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4288">
              <a:solidFill>
                <a:srgbClr val="F8DA92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805623" y="4870132"/>
              <a:ext cx="26000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650" b="1" dirty="0">
                  <a:solidFill>
                    <a:srgbClr val="33332F"/>
                  </a:solidFill>
                  <a:latin typeface="Arial"/>
                  <a:ea typeface="Malgun Gothic"/>
                  <a:cs typeface="Arial"/>
                </a:rPr>
                <a:t>자신만의 독자적인 매장을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980408" y="5174932"/>
              <a:ext cx="225048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650" b="1" dirty="0">
                  <a:solidFill>
                    <a:srgbClr val="EDA796"/>
                  </a:solidFill>
                  <a:latin typeface="Arial"/>
                  <a:ea typeface="Malgun Gothic"/>
                  <a:cs typeface="Arial"/>
                </a:rPr>
                <a:t>구축하는 방식 (D2C)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497449" y="5783104"/>
              <a:ext cx="378758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79089" indent="-179089">
                <a:buClr>
                  <a:srgbClr val="4B4535"/>
                </a:buClr>
                <a:buSzTx/>
                <a:buFontTx/>
                <a:buChar char="•"/>
              </a:pPr>
              <a:r>
                <a:rPr lang="ko-KR" sz="158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고유한 브랜드 가치 및 고객 경험 전달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497449" y="6164104"/>
              <a:ext cx="375327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79089" indent="-179089">
                <a:buClr>
                  <a:srgbClr val="4B4535"/>
                </a:buClr>
                <a:buSzTx/>
                <a:buFontTx/>
                <a:buChar char="•"/>
              </a:pPr>
              <a:r>
                <a:rPr lang="ko-KR" sz="158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자체 고객 데이터 확보 및 CRM 구축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558546" y="315278"/>
            <a:ext cx="6685300" cy="978217"/>
            <a:chOff x="558546" y="315278"/>
            <a:chExt cx="6685300" cy="978217"/>
          </a:xfrm>
        </p:grpSpPr>
        <p:sp>
          <p:nvSpPr>
            <p:cNvPr id="2" name="TextBox 2"/>
            <p:cNvSpPr txBox="1"/>
            <p:nvPr/>
          </p:nvSpPr>
          <p:spPr>
            <a:xfrm>
              <a:off x="558546" y="315278"/>
              <a:ext cx="668530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55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사례 분석: 글로벌 AI 커머스의 주요 사례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63118" y="717232"/>
              <a:ext cx="28479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756E5F"/>
                  </a:solidFill>
                  <a:latin typeface="Arial"/>
                  <a:ea typeface="Malgun Gothic"/>
                  <a:cs typeface="Arial"/>
                </a:rPr>
                <a:t>Shopify : 독립몰과 AI 운영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63880" y="1000125"/>
              <a:ext cx="119352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b="1" dirty="0">
                  <a:solidFill>
                    <a:srgbClr val="EDA796"/>
                  </a:solidFill>
                  <a:latin typeface="Arial"/>
                  <a:ea typeface="Malgun Gothic"/>
                  <a:cs typeface="Arial"/>
                </a:rPr>
                <a:t>AI 활용 영역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71500" y="1257300"/>
              <a:ext cx="571500" cy="28575"/>
            </a:xfrm>
            <a:prstGeom prst="roundRect">
              <a:avLst>
                <a:gd name="adj" fmla="val 50000"/>
              </a:avLst>
            </a:prstGeom>
            <a:solidFill>
              <a:srgbClr val="F8DA92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71500" y="1428750"/>
            <a:ext cx="8610600" cy="1428179"/>
            <a:chOff x="571500" y="1428750"/>
            <a:chExt cx="8610600" cy="1428179"/>
          </a:xfrm>
        </p:grpSpPr>
        <p:sp>
          <p:nvSpPr>
            <p:cNvPr id="7" name="Rectangle 7"/>
            <p:cNvSpPr/>
            <p:nvPr/>
          </p:nvSpPr>
          <p:spPr>
            <a:xfrm>
              <a:off x="571500" y="1428750"/>
              <a:ext cx="8610600" cy="1381125"/>
            </a:xfrm>
            <a:prstGeom prst="roundRect">
              <a:avLst>
                <a:gd name="adj" fmla="val 12414"/>
              </a:avLst>
            </a:prstGeom>
            <a:solidFill>
              <a:srgbClr val="FFFFFF"/>
            </a:solidFill>
            <a:ln w="19050">
              <a:solidFill>
                <a:srgbClr val="E8DDD7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857250" y="1666875"/>
              <a:ext cx="1524000" cy="342900"/>
            </a:xfrm>
            <a:prstGeom prst="roundRect">
              <a:avLst>
                <a:gd name="adj" fmla="val 50000"/>
              </a:avLst>
            </a:prstGeom>
            <a:solidFill>
              <a:srgbClr val="4B4535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09934" y="1759268"/>
              <a:ext cx="12186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350" b="1" dirty="0">
                  <a:solidFill>
                    <a:srgbClr val="FFFFFF"/>
                  </a:solidFill>
                  <a:latin typeface="Arial"/>
                  <a:ea typeface="Malgun Gothic"/>
                  <a:cs typeface="Arial"/>
                </a:rPr>
                <a:t>핵심 운영 철학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47344" y="2170748"/>
              <a:ext cx="471040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Shopify형 커머스에서는 단순 판매보다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47344" y="2475548"/>
              <a:ext cx="511642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b="1" dirty="0">
                  <a:solidFill>
                    <a:srgbClr val="EDA796"/>
                  </a:solidFill>
                  <a:latin typeface="Arial"/>
                  <a:ea typeface="Malgun Gothic"/>
                  <a:cs typeface="Arial"/>
                </a:rPr>
                <a:t>브랜드 스토리, 고객관계, 재구매가 중요함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571500" y="3000375"/>
            <a:ext cx="8610600" cy="3667125"/>
            <a:chOff x="571500" y="3000375"/>
            <a:chExt cx="8610600" cy="3667125"/>
          </a:xfrm>
        </p:grpSpPr>
        <p:sp>
          <p:nvSpPr>
            <p:cNvPr id="13" name="Rectangle 13"/>
            <p:cNvSpPr/>
            <p:nvPr/>
          </p:nvSpPr>
          <p:spPr>
            <a:xfrm>
              <a:off x="571500" y="3000375"/>
              <a:ext cx="2743200" cy="1762125"/>
            </a:xfrm>
            <a:prstGeom prst="roundRect">
              <a:avLst>
                <a:gd name="adj" fmla="val 8649"/>
              </a:avLst>
            </a:prstGeom>
            <a:solidFill>
              <a:srgbClr val="FFFFFF"/>
            </a:solidFill>
            <a:ln w="14288">
              <a:solidFill>
                <a:srgbClr val="E8DDD7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790575" y="3219450"/>
              <a:ext cx="419100" cy="419100"/>
            </a:xfrm>
            <a:prstGeom prst="ellipse">
              <a:avLst/>
            </a:prstGeom>
            <a:solidFill>
              <a:srgbClr val="FEF7E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91540" y="3333750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✍️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325118" y="3317558"/>
              <a:ext cx="14894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상품 설명 작성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01624" y="3830479"/>
              <a:ext cx="169030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dirty="0">
                  <a:solidFill>
                    <a:srgbClr val="33332F"/>
                  </a:solidFill>
                  <a:latin typeface="Arial"/>
                  <a:ea typeface="Malgun Gothic"/>
                  <a:cs typeface="Arial"/>
                </a:rPr>
                <a:t>AI 기반 매력적인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01624" y="4163854"/>
              <a:ext cx="248331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dirty="0">
                  <a:solidFill>
                    <a:srgbClr val="33332F"/>
                  </a:solidFill>
                  <a:latin typeface="Arial"/>
                  <a:ea typeface="Malgun Gothic"/>
                  <a:cs typeface="Arial"/>
                </a:rPr>
                <a:t>브랜드 스토리 카피라이팅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3505200" y="3000375"/>
              <a:ext cx="2743200" cy="1762125"/>
            </a:xfrm>
            <a:prstGeom prst="roundRect">
              <a:avLst>
                <a:gd name="adj" fmla="val 8649"/>
              </a:avLst>
            </a:prstGeom>
            <a:solidFill>
              <a:srgbClr val="FFFFFF"/>
            </a:solidFill>
            <a:ln w="14288">
              <a:solidFill>
                <a:srgbClr val="E8DDD7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3724275" y="3219450"/>
              <a:ext cx="419100" cy="419100"/>
            </a:xfrm>
            <a:prstGeom prst="ellipse">
              <a:avLst/>
            </a:prstGeom>
            <a:solidFill>
              <a:srgbClr val="FEF7E6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825240" y="3333750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✉️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258818" y="3317558"/>
              <a:ext cx="14194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이메일 마케팅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735324" y="3830479"/>
              <a:ext cx="205791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dirty="0">
                  <a:solidFill>
                    <a:srgbClr val="33332F"/>
                  </a:solidFill>
                  <a:latin typeface="Arial"/>
                  <a:ea typeface="Malgun Gothic"/>
                  <a:cs typeface="Arial"/>
                </a:rPr>
                <a:t>개인화된 뉴스레터 및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735324" y="4163854"/>
              <a:ext cx="233442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dirty="0">
                  <a:solidFill>
                    <a:srgbClr val="33332F"/>
                  </a:solidFill>
                  <a:latin typeface="Arial"/>
                  <a:ea typeface="Malgun Gothic"/>
                  <a:cs typeface="Arial"/>
                </a:rPr>
                <a:t>구매 유도 이메일 자동화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438900" y="3000375"/>
              <a:ext cx="2743200" cy="1762125"/>
            </a:xfrm>
            <a:prstGeom prst="roundRect">
              <a:avLst>
                <a:gd name="adj" fmla="val 8649"/>
              </a:avLst>
            </a:prstGeom>
            <a:solidFill>
              <a:srgbClr val="FFFFFF"/>
            </a:solidFill>
            <a:ln w="14288">
              <a:solidFill>
                <a:srgbClr val="E8DDD7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6657975" y="3219450"/>
              <a:ext cx="419100" cy="419100"/>
            </a:xfrm>
            <a:prstGeom prst="ellipse">
              <a:avLst/>
            </a:prstGeom>
            <a:solidFill>
              <a:srgbClr val="FEF7E6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758940" y="3333750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👥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192518" y="3317558"/>
              <a:ext cx="11973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고객 세분화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669024" y="3830479"/>
              <a:ext cx="163251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dirty="0">
                  <a:solidFill>
                    <a:srgbClr val="33332F"/>
                  </a:solidFill>
                  <a:latin typeface="Arial"/>
                  <a:ea typeface="Malgun Gothic"/>
                  <a:cs typeface="Arial"/>
                </a:rPr>
                <a:t>행동 데이터 기반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669024" y="4163854"/>
              <a:ext cx="212172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dirty="0">
                  <a:solidFill>
                    <a:srgbClr val="33332F"/>
                  </a:solidFill>
                  <a:latin typeface="Arial"/>
                  <a:ea typeface="Malgun Gothic"/>
                  <a:cs typeface="Arial"/>
                </a:rPr>
                <a:t>정밀 고객 타깃팅 분류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71500" y="4905375"/>
              <a:ext cx="2743200" cy="1762125"/>
            </a:xfrm>
            <a:prstGeom prst="roundRect">
              <a:avLst>
                <a:gd name="adj" fmla="val 8649"/>
              </a:avLst>
            </a:prstGeom>
            <a:solidFill>
              <a:srgbClr val="FFFFFF"/>
            </a:solidFill>
            <a:ln w="14288">
              <a:solidFill>
                <a:srgbClr val="E8DDD7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790575" y="5124450"/>
              <a:ext cx="419100" cy="419100"/>
            </a:xfrm>
            <a:prstGeom prst="ellipse">
              <a:avLst/>
            </a:prstGeom>
            <a:solidFill>
              <a:srgbClr val="FEF7E6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91540" y="5238750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🏷️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325118" y="5222558"/>
              <a:ext cx="11973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할인 캠페인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01624" y="5735479"/>
              <a:ext cx="204989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dirty="0">
                  <a:solidFill>
                    <a:srgbClr val="33332F"/>
                  </a:solidFill>
                  <a:latin typeface="Arial"/>
                  <a:ea typeface="Malgun Gothic"/>
                  <a:cs typeface="Arial"/>
                </a:rPr>
                <a:t>AI 기반 동적 할인 및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01624" y="6068854"/>
              <a:ext cx="205791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dirty="0">
                  <a:solidFill>
                    <a:srgbClr val="33332F"/>
                  </a:solidFill>
                  <a:latin typeface="Arial"/>
                  <a:ea typeface="Malgun Gothic"/>
                  <a:cs typeface="Arial"/>
                </a:rPr>
                <a:t>프로모션 시점 최적화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3505200" y="4905375"/>
              <a:ext cx="2743200" cy="1762125"/>
            </a:xfrm>
            <a:prstGeom prst="roundRect">
              <a:avLst>
                <a:gd name="adj" fmla="val 8649"/>
              </a:avLst>
            </a:prstGeom>
            <a:solidFill>
              <a:srgbClr val="FFFFFF"/>
            </a:solidFill>
            <a:ln w="14288">
              <a:solidFill>
                <a:srgbClr val="E8DDD7"/>
              </a:solidFill>
            </a:ln>
          </p:spPr>
        </p:sp>
        <p:sp>
          <p:nvSpPr>
            <p:cNvPr id="38" name="Ellipse 38"/>
            <p:cNvSpPr/>
            <p:nvPr/>
          </p:nvSpPr>
          <p:spPr>
            <a:xfrm>
              <a:off x="3724275" y="5124450"/>
              <a:ext cx="419100" cy="419100"/>
            </a:xfrm>
            <a:prstGeom prst="ellipse">
              <a:avLst/>
            </a:prstGeom>
            <a:solidFill>
              <a:srgbClr val="FEF7E6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3825240" y="5238750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💬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258818" y="5222558"/>
              <a:ext cx="12506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FAQ 자동화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735324" y="5735479"/>
              <a:ext cx="216426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dirty="0">
                  <a:solidFill>
                    <a:srgbClr val="33332F"/>
                  </a:solidFill>
                  <a:latin typeface="Arial"/>
                  <a:ea typeface="Malgun Gothic"/>
                  <a:cs typeface="Arial"/>
                </a:rPr>
                <a:t>24/7 글로벌 고객 문의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735324" y="6068854"/>
              <a:ext cx="212172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dirty="0">
                  <a:solidFill>
                    <a:srgbClr val="33332F"/>
                  </a:solidFill>
                  <a:latin typeface="Arial"/>
                  <a:ea typeface="Malgun Gothic"/>
                  <a:cs typeface="Arial"/>
                </a:rPr>
                <a:t>실시간 챗봇 자동 응대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438900" y="4905375"/>
              <a:ext cx="2743200" cy="1762125"/>
            </a:xfrm>
            <a:prstGeom prst="roundRect">
              <a:avLst>
                <a:gd name="adj" fmla="val 8649"/>
              </a:avLst>
            </a:prstGeom>
            <a:solidFill>
              <a:srgbClr val="FFFFFF"/>
            </a:solidFill>
            <a:ln w="19050">
              <a:solidFill>
                <a:srgbClr val="EDA796"/>
              </a:solidFill>
            </a:ln>
          </p:spPr>
        </p:sp>
        <p:sp>
          <p:nvSpPr>
            <p:cNvPr id="44" name="Ellipse 44"/>
            <p:cNvSpPr/>
            <p:nvPr/>
          </p:nvSpPr>
          <p:spPr>
            <a:xfrm>
              <a:off x="6657975" y="5124450"/>
              <a:ext cx="419100" cy="419100"/>
            </a:xfrm>
            <a:prstGeom prst="ellipse">
              <a:avLst/>
            </a:prstGeom>
            <a:solidFill>
              <a:srgbClr val="FBEEEC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758940" y="5238750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🔁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192518" y="5222558"/>
              <a:ext cx="171156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EDA796"/>
                  </a:solidFill>
                  <a:latin typeface="Arial"/>
                  <a:ea typeface="Malgun Gothic"/>
                  <a:cs typeface="Arial"/>
                </a:rPr>
                <a:t>고객 재구매 유도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669024" y="5735479"/>
              <a:ext cx="241099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개인 맞춤 리오더 제안 및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669024" y="6068854"/>
              <a:ext cx="21313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충성 고객 리텐션 강화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58546" y="372428"/>
            <a:ext cx="6685300" cy="784860"/>
            <a:chOff x="558546" y="372428"/>
            <a:chExt cx="6685300" cy="784860"/>
          </a:xfrm>
        </p:grpSpPr>
        <p:sp>
          <p:nvSpPr>
            <p:cNvPr id="2" name="TextBox 2"/>
            <p:cNvSpPr txBox="1"/>
            <p:nvPr/>
          </p:nvSpPr>
          <p:spPr>
            <a:xfrm>
              <a:off x="558546" y="372428"/>
              <a:ext cx="668530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55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사례 분석: 글로벌 AI 커머스의 주요 사례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62356" y="796290"/>
              <a:ext cx="469554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756E5F"/>
                  </a:solidFill>
                  <a:latin typeface="Arial"/>
                  <a:ea typeface="Malgun Gothic"/>
                  <a:cs typeface="Arial"/>
                </a:rPr>
                <a:t>TikTok Shop : 콘텐츠가 매장이 되는 구조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1123950"/>
              <a:ext cx="571500" cy="33338"/>
            </a:xfrm>
            <a:prstGeom prst="roundRect">
              <a:avLst>
                <a:gd name="adj" fmla="val 50000"/>
              </a:avLst>
            </a:prstGeom>
            <a:solidFill>
              <a:srgbClr val="F8DA92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71500" y="1333500"/>
            <a:ext cx="8610600" cy="1980629"/>
            <a:chOff x="571500" y="1333500"/>
            <a:chExt cx="8610600" cy="1980629"/>
          </a:xfrm>
        </p:grpSpPr>
        <p:sp>
          <p:nvSpPr>
            <p:cNvPr id="6" name="Rectangle 6"/>
            <p:cNvSpPr/>
            <p:nvPr/>
          </p:nvSpPr>
          <p:spPr>
            <a:xfrm>
              <a:off x="571500" y="1333500"/>
              <a:ext cx="8610600" cy="1905000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19050">
              <a:solidFill>
                <a:srgbClr val="E8DDD7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857250" y="1619250"/>
              <a:ext cx="1524000" cy="342900"/>
            </a:xfrm>
            <a:prstGeom prst="roundRect">
              <a:avLst>
                <a:gd name="adj" fmla="val 50000"/>
              </a:avLst>
            </a:prstGeom>
            <a:solidFill>
              <a:srgbClr val="4B4535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29426" y="1711642"/>
              <a:ext cx="9796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350" b="1" dirty="0">
                  <a:solidFill>
                    <a:srgbClr val="FFFFFF"/>
                  </a:solidFill>
                  <a:latin typeface="Arial"/>
                  <a:ea typeface="Malgun Gothic"/>
                  <a:cs typeface="Arial"/>
                </a:rPr>
                <a:t>커머스 유형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46582" y="2106930"/>
              <a:ext cx="368091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콘텐츠형 커머스의 대표 사례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47344" y="2599372"/>
              <a:ext cx="461962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b="1" dirty="0">
                  <a:solidFill>
                    <a:srgbClr val="EDA796"/>
                  </a:solidFill>
                  <a:latin typeface="Arial"/>
                  <a:ea typeface="Malgun Gothic"/>
                  <a:cs typeface="Arial"/>
                </a:rPr>
                <a:t>고객이 상품을 검색해서 들어오기보다,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47344" y="2932748"/>
              <a:ext cx="402569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영상을 보다가 흥미를 느끼고 구매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71500" y="3476625"/>
            <a:ext cx="8610600" cy="3381375"/>
            <a:chOff x="571500" y="3476625"/>
            <a:chExt cx="8610600" cy="3381375"/>
          </a:xfrm>
        </p:grpSpPr>
        <p:sp>
          <p:nvSpPr>
            <p:cNvPr id="13" name="Rectangle 13"/>
            <p:cNvSpPr/>
            <p:nvPr/>
          </p:nvSpPr>
          <p:spPr>
            <a:xfrm>
              <a:off x="571500" y="3476625"/>
              <a:ext cx="8610600" cy="3381375"/>
            </a:xfrm>
            <a:prstGeom prst="roundRect">
              <a:avLst>
                <a:gd name="adj" fmla="val 5634"/>
              </a:avLst>
            </a:prstGeom>
            <a:solidFill>
              <a:srgbClr val="FEF7E6"/>
            </a:solidFill>
            <a:ln w="19050">
              <a:solidFill>
                <a:srgbClr val="F8DA92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514856" y="3710940"/>
              <a:ext cx="53471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콘텐츠 기반 즉시 구매 여정 (Impulse Journey)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952500" y="4238625"/>
              <a:ext cx="2333625" cy="2238375"/>
            </a:xfrm>
            <a:prstGeom prst="roundRect">
              <a:avLst>
                <a:gd name="adj" fmla="val 6809"/>
              </a:avLst>
            </a:prstGeom>
            <a:solidFill>
              <a:srgbClr val="FFFFFF"/>
            </a:solidFill>
            <a:ln w="14288">
              <a:solidFill>
                <a:srgbClr val="E8DDD7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1828800" y="4429125"/>
              <a:ext cx="571500" cy="571500"/>
            </a:xfrm>
            <a:prstGeom prst="ellipse">
              <a:avLst/>
            </a:prstGeom>
            <a:solidFill>
              <a:srgbClr val="FDF6F4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973390" y="4599622"/>
              <a:ext cx="28232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🎬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69830" y="5155882"/>
              <a:ext cx="14894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65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숏폼 영상 시청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268920" y="5600700"/>
              <a:ext cx="169125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500" dirty="0">
                  <a:solidFill>
                    <a:srgbClr val="33332F"/>
                  </a:solidFill>
                  <a:latin typeface="Arial"/>
                  <a:ea typeface="Malgun Gothic"/>
                  <a:cs typeface="Arial"/>
                </a:rPr>
                <a:t>알고리즘 피드에서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36701" y="5934075"/>
              <a:ext cx="21556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500" dirty="0">
                  <a:solidFill>
                    <a:srgbClr val="33332F"/>
                  </a:solidFill>
                  <a:latin typeface="Arial"/>
                  <a:ea typeface="Malgun Gothic"/>
                  <a:cs typeface="Arial"/>
                </a:rPr>
                <a:t>자연스러운 콘텐츠 노출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418332" y="5154930"/>
              <a:ext cx="1768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dirty="0">
                  <a:solidFill>
                    <a:srgbClr val="756E5F"/>
                  </a:solidFill>
                  <a:latin typeface="Arial"/>
                  <a:ea typeface="Arial"/>
                  <a:cs typeface="Arial"/>
                </a:rPr>
                <a:t>→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3714750" y="4238625"/>
              <a:ext cx="2333625" cy="2238375"/>
            </a:xfrm>
            <a:prstGeom prst="roundRect">
              <a:avLst>
                <a:gd name="adj" fmla="val 6809"/>
              </a:avLst>
            </a:prstGeom>
            <a:solidFill>
              <a:srgbClr val="FFFFFF"/>
            </a:solidFill>
            <a:ln w="14288">
              <a:solidFill>
                <a:srgbClr val="E8DDD7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4591050" y="4429125"/>
              <a:ext cx="571500" cy="571500"/>
            </a:xfrm>
            <a:prstGeom prst="ellipse">
              <a:avLst/>
            </a:prstGeom>
            <a:solidFill>
              <a:srgbClr val="FDF6F4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735640" y="4599622"/>
              <a:ext cx="28232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💡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032958" y="5155882"/>
              <a:ext cx="168768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65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흥미 &amp; 공감 유발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071556" y="5600700"/>
              <a:ext cx="161048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500" dirty="0">
                  <a:solidFill>
                    <a:srgbClr val="33332F"/>
                  </a:solidFill>
                  <a:latin typeface="Arial"/>
                  <a:ea typeface="Malgun Gothic"/>
                  <a:cs typeface="Arial"/>
                </a:rPr>
                <a:t>사용 상황 공감 및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101846" y="5934075"/>
              <a:ext cx="15499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500" dirty="0">
                  <a:solidFill>
                    <a:srgbClr val="33332F"/>
                  </a:solidFill>
                  <a:latin typeface="Arial"/>
                  <a:ea typeface="Malgun Gothic"/>
                  <a:cs typeface="Arial"/>
                </a:rPr>
                <a:t>시각적 효능 체험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180582" y="5154930"/>
              <a:ext cx="1768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dirty="0">
                  <a:solidFill>
                    <a:srgbClr val="756E5F"/>
                  </a:solidFill>
                  <a:latin typeface="Arial"/>
                  <a:ea typeface="Arial"/>
                  <a:cs typeface="Arial"/>
                </a:rPr>
                <a:t>→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477000" y="4238625"/>
              <a:ext cx="2333625" cy="2238375"/>
            </a:xfrm>
            <a:prstGeom prst="roundRect">
              <a:avLst>
                <a:gd name="adj" fmla="val 6809"/>
              </a:avLst>
            </a:prstGeom>
            <a:solidFill>
              <a:srgbClr val="FFFFFF"/>
            </a:solidFill>
            <a:ln w="19050">
              <a:solidFill>
                <a:srgbClr val="EDA796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7353300" y="4429125"/>
              <a:ext cx="571500" cy="571500"/>
            </a:xfrm>
            <a:prstGeom prst="ellipse">
              <a:avLst/>
            </a:prstGeom>
            <a:solidFill>
              <a:srgbClr val="FBEEEC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497890" y="4599622"/>
              <a:ext cx="28232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🛍️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783269" y="5155882"/>
              <a:ext cx="171156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650" b="1" dirty="0">
                  <a:solidFill>
                    <a:srgbClr val="EDA796"/>
                  </a:solidFill>
                  <a:latin typeface="Arial"/>
                  <a:ea typeface="Malgun Gothic"/>
                  <a:cs typeface="Arial"/>
                </a:rPr>
                <a:t>원클릭 인앱 구매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062997" y="5600700"/>
              <a:ext cx="11521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50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앱 이탈 없이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627333" y="5934075"/>
              <a:ext cx="20234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50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영상 내에서 즉시 결제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558546" y="315278"/>
            <a:ext cx="6685300" cy="978217"/>
            <a:chOff x="558546" y="315278"/>
            <a:chExt cx="6685300" cy="978217"/>
          </a:xfrm>
        </p:grpSpPr>
        <p:sp>
          <p:nvSpPr>
            <p:cNvPr id="2" name="TextBox 2"/>
            <p:cNvSpPr txBox="1"/>
            <p:nvPr/>
          </p:nvSpPr>
          <p:spPr>
            <a:xfrm>
              <a:off x="558546" y="315278"/>
              <a:ext cx="668530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55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사례 분석: 글로벌 AI 커머스의 주요 사례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63118" y="717232"/>
              <a:ext cx="430424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756E5F"/>
                  </a:solidFill>
                  <a:latin typeface="Arial"/>
                  <a:ea typeface="Malgun Gothic"/>
                  <a:cs typeface="Arial"/>
                </a:rPr>
                <a:t>TikTok Shop : 콘텐츠가 매장이 되는 구조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63880" y="1000125"/>
              <a:ext cx="18927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b="1" dirty="0">
                  <a:solidFill>
                    <a:srgbClr val="EDA796"/>
                  </a:solidFill>
                  <a:latin typeface="Arial"/>
                  <a:ea typeface="Malgun Gothic"/>
                  <a:cs typeface="Arial"/>
                </a:rPr>
                <a:t>TikTok Shop의 특징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71500" y="1257300"/>
              <a:ext cx="571500" cy="28575"/>
            </a:xfrm>
            <a:prstGeom prst="roundRect">
              <a:avLst>
                <a:gd name="adj" fmla="val 50000"/>
              </a:avLst>
            </a:prstGeom>
            <a:solidFill>
              <a:srgbClr val="F8DA92"/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571500" y="1428750"/>
            <a:ext cx="9027003" cy="1428750"/>
            <a:chOff x="571500" y="1428750"/>
            <a:chExt cx="9027003" cy="1428750"/>
          </a:xfrm>
        </p:grpSpPr>
        <p:sp>
          <p:nvSpPr>
            <p:cNvPr id="7" name="Rectangle 7"/>
            <p:cNvSpPr/>
            <p:nvPr/>
          </p:nvSpPr>
          <p:spPr>
            <a:xfrm>
              <a:off x="571500" y="1428750"/>
              <a:ext cx="8610600" cy="1428750"/>
            </a:xfrm>
            <a:prstGeom prst="roundRect">
              <a:avLst>
                <a:gd name="adj" fmla="val 12000"/>
              </a:avLst>
            </a:prstGeom>
            <a:solidFill>
              <a:srgbClr val="4B4535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49249" y="1639729"/>
              <a:ext cx="265666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b="1" dirty="0">
                  <a:solidFill>
                    <a:srgbClr val="F8DA92"/>
                  </a:solidFill>
                  <a:latin typeface="Arial"/>
                  <a:ea typeface="Malgun Gothic"/>
                  <a:cs typeface="Arial"/>
                </a:rPr>
                <a:t>3초의 법칙 &amp; 매장의 재정의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47725" y="2035969"/>
              <a:ext cx="8750778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80" b="1" dirty="0">
                  <a:solidFill>
                    <a:srgbClr val="FFFFFF"/>
                  </a:solidFill>
                  <a:latin typeface="Arial"/>
                  <a:ea typeface="Malgun Gothic"/>
                  <a:cs typeface="Arial"/>
                </a:rPr>
                <a:t>TikTok Shop에서는 상품페이지보다 처음 3초의 관심 유도가 중요할 수 있음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47344" y="2408872"/>
              <a:ext cx="459140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b="1" dirty="0">
                  <a:solidFill>
                    <a:srgbClr val="F8DA92"/>
                  </a:solidFill>
                  <a:latin typeface="Arial"/>
                  <a:ea typeface="Malgun Gothic"/>
                  <a:cs typeface="Arial"/>
                </a:rPr>
                <a:t>(이제 콘텐츠는 광고가 아니라 매장임)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571500" y="3048000"/>
            <a:ext cx="8610600" cy="3619500"/>
            <a:chOff x="571500" y="3048000"/>
            <a:chExt cx="8610600" cy="3619500"/>
          </a:xfrm>
        </p:grpSpPr>
        <p:sp>
          <p:nvSpPr>
            <p:cNvPr id="12" name="Rectangle 12"/>
            <p:cNvSpPr/>
            <p:nvPr/>
          </p:nvSpPr>
          <p:spPr>
            <a:xfrm>
              <a:off x="571500" y="3048000"/>
              <a:ext cx="2743200" cy="1714500"/>
            </a:xfrm>
            <a:prstGeom prst="roundRect">
              <a:avLst>
                <a:gd name="adj" fmla="val 8889"/>
              </a:avLst>
            </a:prstGeom>
            <a:solidFill>
              <a:srgbClr val="FFFFFF"/>
            </a:solidFill>
            <a:ln w="14288">
              <a:solidFill>
                <a:srgbClr val="E8DDD7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790575" y="3267075"/>
              <a:ext cx="419100" cy="419100"/>
            </a:xfrm>
            <a:prstGeom prst="ellipse">
              <a:avLst/>
            </a:prstGeom>
            <a:solidFill>
              <a:srgbClr val="FEF7E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91540" y="338137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📱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325118" y="3365182"/>
              <a:ext cx="14894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숏폼 영상 중심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01624" y="3878104"/>
              <a:ext cx="163251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dirty="0">
                  <a:solidFill>
                    <a:srgbClr val="33332F"/>
                  </a:solidFill>
                  <a:latin typeface="Arial"/>
                  <a:ea typeface="Malgun Gothic"/>
                  <a:cs typeface="Arial"/>
                </a:rPr>
                <a:t>짧고 몰입도 높은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01624" y="4211479"/>
              <a:ext cx="178140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dirty="0">
                  <a:solidFill>
                    <a:srgbClr val="33332F"/>
                  </a:solidFill>
                  <a:latin typeface="Arial"/>
                  <a:ea typeface="Malgun Gothic"/>
                  <a:cs typeface="Arial"/>
                </a:rPr>
                <a:t>비주얼 스토리텔링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505200" y="3048000"/>
              <a:ext cx="2743200" cy="1714500"/>
            </a:xfrm>
            <a:prstGeom prst="roundRect">
              <a:avLst>
                <a:gd name="adj" fmla="val 8889"/>
              </a:avLst>
            </a:prstGeom>
            <a:solidFill>
              <a:srgbClr val="FFFFFF"/>
            </a:solidFill>
            <a:ln w="14288">
              <a:solidFill>
                <a:srgbClr val="E8DDD7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3724275" y="3267075"/>
              <a:ext cx="419100" cy="419100"/>
            </a:xfrm>
            <a:prstGeom prst="ellipse">
              <a:avLst/>
            </a:prstGeom>
            <a:solidFill>
              <a:srgbClr val="FEF7E6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825240" y="338137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🌟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258818" y="3365182"/>
              <a:ext cx="18637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크리에이터 영향력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735324" y="3878104"/>
              <a:ext cx="220680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dirty="0">
                  <a:solidFill>
                    <a:srgbClr val="33332F"/>
                  </a:solidFill>
                  <a:latin typeface="Arial"/>
                  <a:ea typeface="Malgun Gothic"/>
                  <a:cs typeface="Arial"/>
                </a:rPr>
                <a:t>신뢰받는 인플루언서의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735324" y="4211479"/>
              <a:ext cx="163251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dirty="0">
                  <a:solidFill>
                    <a:srgbClr val="33332F"/>
                  </a:solidFill>
                  <a:latin typeface="Arial"/>
                  <a:ea typeface="Malgun Gothic"/>
                  <a:cs typeface="Arial"/>
                </a:rPr>
                <a:t>생생한 사용 후기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438900" y="3048000"/>
              <a:ext cx="2743200" cy="1714500"/>
            </a:xfrm>
            <a:prstGeom prst="roundRect">
              <a:avLst>
                <a:gd name="adj" fmla="val 8889"/>
              </a:avLst>
            </a:prstGeom>
            <a:solidFill>
              <a:srgbClr val="FFFFFF"/>
            </a:solidFill>
            <a:ln w="14288">
              <a:solidFill>
                <a:srgbClr val="E8DDD7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6657975" y="3267075"/>
              <a:ext cx="419100" cy="419100"/>
            </a:xfrm>
            <a:prstGeom prst="ellipse">
              <a:avLst/>
            </a:prstGeom>
            <a:solidFill>
              <a:srgbClr val="FEF7E6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758940" y="338137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⚡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192518" y="3365182"/>
              <a:ext cx="16415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충동구매 가능성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669024" y="3878104"/>
              <a:ext cx="233442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dirty="0">
                  <a:solidFill>
                    <a:srgbClr val="33332F"/>
                  </a:solidFill>
                  <a:latin typeface="Arial"/>
                  <a:ea typeface="Malgun Gothic"/>
                  <a:cs typeface="Arial"/>
                </a:rPr>
                <a:t>감정적 즉시 자극을 통한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669024" y="4211479"/>
              <a:ext cx="141981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dirty="0">
                  <a:solidFill>
                    <a:srgbClr val="33332F"/>
                  </a:solidFill>
                  <a:latin typeface="Arial"/>
                  <a:ea typeface="Malgun Gothic"/>
                  <a:cs typeface="Arial"/>
                </a:rPr>
                <a:t>빠른 구매 전환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71500" y="4953000"/>
              <a:ext cx="2743200" cy="1714500"/>
            </a:xfrm>
            <a:prstGeom prst="roundRect">
              <a:avLst>
                <a:gd name="adj" fmla="val 8889"/>
              </a:avLst>
            </a:prstGeom>
            <a:solidFill>
              <a:srgbClr val="FFFFFF"/>
            </a:solidFill>
            <a:ln w="14288">
              <a:solidFill>
                <a:srgbClr val="E8DDD7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790575" y="5172075"/>
              <a:ext cx="419100" cy="419100"/>
            </a:xfrm>
            <a:prstGeom prst="ellipse">
              <a:avLst/>
            </a:prstGeom>
            <a:solidFill>
              <a:srgbClr val="FEF7E6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91540" y="528637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💬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325118" y="5270182"/>
              <a:ext cx="11973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실시간 반응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01624" y="5783104"/>
              <a:ext cx="184521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dirty="0">
                  <a:solidFill>
                    <a:srgbClr val="33332F"/>
                  </a:solidFill>
                  <a:latin typeface="Arial"/>
                  <a:ea typeface="Malgun Gothic"/>
                  <a:cs typeface="Arial"/>
                </a:rPr>
                <a:t>시청자 인터랙션 및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01624" y="6116479"/>
              <a:ext cx="184521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dirty="0">
                  <a:solidFill>
                    <a:srgbClr val="33332F"/>
                  </a:solidFill>
                  <a:latin typeface="Arial"/>
                  <a:ea typeface="Malgun Gothic"/>
                  <a:cs typeface="Arial"/>
                </a:rPr>
                <a:t>즉각적인 반응 측정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3505200" y="4953000"/>
              <a:ext cx="2743200" cy="1714500"/>
            </a:xfrm>
            <a:prstGeom prst="roundRect">
              <a:avLst>
                <a:gd name="adj" fmla="val 8889"/>
              </a:avLst>
            </a:prstGeom>
            <a:solidFill>
              <a:srgbClr val="FFFFFF"/>
            </a:solidFill>
            <a:ln w="14288">
              <a:solidFill>
                <a:srgbClr val="E8DDD7"/>
              </a:solidFill>
            </a:ln>
          </p:spPr>
        </p:sp>
        <p:sp>
          <p:nvSpPr>
            <p:cNvPr id="37" name="Ellipse 37"/>
            <p:cNvSpPr/>
            <p:nvPr/>
          </p:nvSpPr>
          <p:spPr>
            <a:xfrm>
              <a:off x="3724275" y="5172075"/>
              <a:ext cx="419100" cy="419100"/>
            </a:xfrm>
            <a:prstGeom prst="ellipse">
              <a:avLst/>
            </a:prstGeom>
            <a:solidFill>
              <a:srgbClr val="FEF7E6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3825240" y="528637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🔥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258818" y="5270182"/>
              <a:ext cx="15477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댓글/리뷰 확산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735324" y="5783104"/>
              <a:ext cx="141981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dirty="0">
                  <a:solidFill>
                    <a:srgbClr val="33332F"/>
                  </a:solidFill>
                  <a:latin typeface="Arial"/>
                  <a:ea typeface="Malgun Gothic"/>
                  <a:cs typeface="Arial"/>
                </a:rPr>
                <a:t>바이럴 댓글 및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735324" y="6116479"/>
              <a:ext cx="233442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dirty="0">
                  <a:solidFill>
                    <a:srgbClr val="33332F"/>
                  </a:solidFill>
                  <a:latin typeface="Arial"/>
                  <a:ea typeface="Malgun Gothic"/>
                  <a:cs typeface="Arial"/>
                </a:rPr>
                <a:t>사용자 생성 콘텐츠 확산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438900" y="4953000"/>
              <a:ext cx="2743200" cy="1714500"/>
            </a:xfrm>
            <a:prstGeom prst="roundRect">
              <a:avLst>
                <a:gd name="adj" fmla="val 8889"/>
              </a:avLst>
            </a:prstGeom>
            <a:solidFill>
              <a:srgbClr val="FFFFFF"/>
            </a:solidFill>
            <a:ln w="19050">
              <a:solidFill>
                <a:srgbClr val="EDA796"/>
              </a:solidFill>
            </a:ln>
          </p:spPr>
        </p:sp>
        <p:sp>
          <p:nvSpPr>
            <p:cNvPr id="43" name="Ellipse 43"/>
            <p:cNvSpPr/>
            <p:nvPr/>
          </p:nvSpPr>
          <p:spPr>
            <a:xfrm>
              <a:off x="6657975" y="5172075"/>
              <a:ext cx="419100" cy="419100"/>
            </a:xfrm>
            <a:prstGeom prst="ellipse">
              <a:avLst/>
            </a:prstGeom>
            <a:solidFill>
              <a:srgbClr val="FBEEEC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758940" y="528637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📹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192518" y="5270182"/>
              <a:ext cx="18637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EDA796"/>
                  </a:solidFill>
                  <a:latin typeface="Arial"/>
                  <a:ea typeface="Malgun Gothic"/>
                  <a:cs typeface="Arial"/>
                </a:rPr>
                <a:t>라이브커머스 연계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669024" y="5783104"/>
              <a:ext cx="18516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실시간 방송을 통한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669024" y="6116479"/>
              <a:ext cx="16389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대규모 판매 유도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58546" y="372428"/>
            <a:ext cx="6685300" cy="784860"/>
            <a:chOff x="558546" y="372428"/>
            <a:chExt cx="6685300" cy="784860"/>
          </a:xfrm>
        </p:grpSpPr>
        <p:sp>
          <p:nvSpPr>
            <p:cNvPr id="2" name="TextBox 2"/>
            <p:cNvSpPr txBox="1"/>
            <p:nvPr/>
          </p:nvSpPr>
          <p:spPr>
            <a:xfrm>
              <a:off x="558546" y="372428"/>
              <a:ext cx="668530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55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사례 분석: 글로벌 AI 커머스의 주요 사례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62356" y="796290"/>
              <a:ext cx="406952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756E5F"/>
                  </a:solidFill>
                  <a:latin typeface="Arial"/>
                  <a:ea typeface="Malgun Gothic"/>
                  <a:cs typeface="Arial"/>
                </a:rPr>
                <a:t>ChatGPT형 쇼핑 : 대화형 상품 탐색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1123950"/>
              <a:ext cx="571500" cy="33338"/>
            </a:xfrm>
            <a:prstGeom prst="roundRect">
              <a:avLst>
                <a:gd name="adj" fmla="val 50000"/>
              </a:avLst>
            </a:prstGeom>
            <a:solidFill>
              <a:srgbClr val="F8DA92"/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571500" y="1333500"/>
            <a:ext cx="8610600" cy="1524000"/>
            <a:chOff x="571500" y="1333500"/>
            <a:chExt cx="8610600" cy="1524000"/>
          </a:xfrm>
        </p:grpSpPr>
        <p:sp>
          <p:nvSpPr>
            <p:cNvPr id="6" name="Rectangle 6"/>
            <p:cNvSpPr/>
            <p:nvPr/>
          </p:nvSpPr>
          <p:spPr>
            <a:xfrm>
              <a:off x="571500" y="1333500"/>
              <a:ext cx="8610600" cy="1524000"/>
            </a:xfrm>
            <a:prstGeom prst="roundRect">
              <a:avLst>
                <a:gd name="adj" fmla="val 11250"/>
              </a:avLst>
            </a:prstGeom>
            <a:solidFill>
              <a:srgbClr val="FFFFFF"/>
            </a:solidFill>
            <a:ln w="19050">
              <a:solidFill>
                <a:srgbClr val="E8DDD7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857250" y="1619250"/>
              <a:ext cx="1714500" cy="342900"/>
            </a:xfrm>
            <a:prstGeom prst="roundRect">
              <a:avLst>
                <a:gd name="adj" fmla="val 50000"/>
              </a:avLst>
            </a:prstGeom>
            <a:solidFill>
              <a:srgbClr val="4B4535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85392" y="1711642"/>
              <a:ext cx="14582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350" b="1" dirty="0">
                  <a:solidFill>
                    <a:srgbClr val="FFFFFF"/>
                  </a:solidFill>
                  <a:latin typeface="Arial"/>
                  <a:ea typeface="Malgun Gothic"/>
                  <a:cs typeface="Arial"/>
                </a:rPr>
                <a:t>AI 쇼핑 에이전트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47344" y="2123122"/>
              <a:ext cx="606158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AI 쇼핑 에이전트는 고객이 원하는 조건을 말하면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47344" y="2456498"/>
              <a:ext cx="594595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b="1" dirty="0">
                  <a:solidFill>
                    <a:srgbClr val="EDA796"/>
                  </a:solidFill>
                  <a:latin typeface="Arial"/>
                  <a:ea typeface="Malgun Gothic"/>
                  <a:cs typeface="Arial"/>
                </a:rPr>
                <a:t>상품을 비교하고 추천하는 방식으로 발전하고 있음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71500" y="3048000"/>
            <a:ext cx="9466566" cy="3810000"/>
            <a:chOff x="571500" y="3048000"/>
            <a:chExt cx="9466566" cy="3810000"/>
          </a:xfrm>
        </p:grpSpPr>
        <p:sp>
          <p:nvSpPr>
            <p:cNvPr id="12" name="Rectangle 12"/>
            <p:cNvSpPr/>
            <p:nvPr/>
          </p:nvSpPr>
          <p:spPr>
            <a:xfrm>
              <a:off x="571500" y="3048000"/>
              <a:ext cx="8610600" cy="3810000"/>
            </a:xfrm>
            <a:prstGeom prst="roundRect">
              <a:avLst>
                <a:gd name="adj" fmla="val 5000"/>
              </a:avLst>
            </a:prstGeom>
            <a:solidFill>
              <a:srgbClr val="FEF7E6"/>
            </a:solidFill>
            <a:ln w="19050">
              <a:solidFill>
                <a:srgbClr val="F8DA92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44118" y="3298508"/>
              <a:ext cx="318423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실제 대화형 상품 추천 시나리오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952500" y="3714750"/>
              <a:ext cx="7848600" cy="114300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14288">
              <a:solidFill>
                <a:srgbClr val="E8DDD7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1123950" y="3933825"/>
              <a:ext cx="419100" cy="419100"/>
            </a:xfrm>
            <a:prstGeom prst="ellipse">
              <a:avLst/>
            </a:prstGeom>
            <a:solidFill>
              <a:srgbClr val="4B4535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113765" y="4073842"/>
              <a:ext cx="4394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User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05356" y="3949065"/>
              <a:ext cx="120381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756E5F"/>
                  </a:solidFill>
                  <a:latin typeface="Arial"/>
                  <a:ea typeface="Malgun Gothic"/>
                  <a:cs typeface="Arial"/>
                </a:rPr>
                <a:t>고객 발화: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704594" y="4313872"/>
              <a:ext cx="833347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“50달러 이하의 여행용 보조가방 추천해줘. 가볍고 방수되면 좋겠어.”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952500" y="5048250"/>
              <a:ext cx="7848600" cy="1571625"/>
            </a:xfrm>
            <a:prstGeom prst="roundRect">
              <a:avLst>
                <a:gd name="adj" fmla="val 9697"/>
              </a:avLst>
            </a:prstGeom>
            <a:solidFill>
              <a:srgbClr val="FFFFFF"/>
            </a:solidFill>
            <a:ln w="19050">
              <a:solidFill>
                <a:srgbClr val="EDA796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1123950" y="5314950"/>
              <a:ext cx="419100" cy="419100"/>
            </a:xfrm>
            <a:prstGeom prst="ellipse">
              <a:avLst/>
            </a:prstGeom>
            <a:solidFill>
              <a:srgbClr val="EDA796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240951" y="5454968"/>
              <a:ext cx="1850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AI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705356" y="5282565"/>
              <a:ext cx="294089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EDA796"/>
                  </a:solidFill>
                  <a:latin typeface="Arial"/>
                  <a:ea typeface="Malgun Gothic"/>
                  <a:cs typeface="Arial"/>
                </a:rPr>
                <a:t>AI 에이전트의 작동 방식: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704975" y="5655469"/>
              <a:ext cx="6955028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8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AI는 여러 상품의 스펙·가격·리뷰 데이터를 실시간 비교해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704975" y="6036469"/>
              <a:ext cx="5638816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8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가장 적합한 상품을 조건별로 비교 추천할 수 있음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558546" y="315278"/>
            <a:ext cx="6685300" cy="978217"/>
            <a:chOff x="558546" y="315278"/>
            <a:chExt cx="6685300" cy="978217"/>
          </a:xfrm>
        </p:grpSpPr>
        <p:sp>
          <p:nvSpPr>
            <p:cNvPr id="2" name="TextBox 2"/>
            <p:cNvSpPr txBox="1"/>
            <p:nvPr/>
          </p:nvSpPr>
          <p:spPr>
            <a:xfrm>
              <a:off x="558546" y="315278"/>
              <a:ext cx="668530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55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사례 분석: 글로벌 AI 커머스의 주요 사례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63118" y="717232"/>
              <a:ext cx="373040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756E5F"/>
                  </a:solidFill>
                  <a:latin typeface="Arial"/>
                  <a:ea typeface="Malgun Gothic"/>
                  <a:cs typeface="Arial"/>
                </a:rPr>
                <a:t>ChatGPT형 쇼핑 : 대화형 상품 탐색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63880" y="1000125"/>
              <a:ext cx="239473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b="1" dirty="0">
                  <a:solidFill>
                    <a:srgbClr val="EDA796"/>
                  </a:solidFill>
                  <a:latin typeface="Arial"/>
                  <a:ea typeface="Malgun Gothic"/>
                  <a:cs typeface="Arial"/>
                </a:rPr>
                <a:t>AI 쇼핑 시대의 준비 요소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71500" y="1257300"/>
              <a:ext cx="571500" cy="28575"/>
            </a:xfrm>
            <a:prstGeom prst="roundRect">
              <a:avLst>
                <a:gd name="adj" fmla="val 50000"/>
              </a:avLst>
            </a:prstGeom>
            <a:solidFill>
              <a:srgbClr val="F8DA92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71500" y="1428750"/>
            <a:ext cx="8610600" cy="1428750"/>
            <a:chOff x="571500" y="1428750"/>
            <a:chExt cx="8610600" cy="1428750"/>
          </a:xfrm>
        </p:grpSpPr>
        <p:sp>
          <p:nvSpPr>
            <p:cNvPr id="7" name="Rectangle 7"/>
            <p:cNvSpPr/>
            <p:nvPr/>
          </p:nvSpPr>
          <p:spPr>
            <a:xfrm>
              <a:off x="571500" y="1428750"/>
              <a:ext cx="8610600" cy="142875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9050">
              <a:solidFill>
                <a:srgbClr val="E8DDD7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857250" y="1666875"/>
              <a:ext cx="1714500" cy="342900"/>
            </a:xfrm>
            <a:prstGeom prst="roundRect">
              <a:avLst>
                <a:gd name="adj" fmla="val 50000"/>
              </a:avLst>
            </a:prstGeom>
            <a:solidFill>
              <a:srgbClr val="4B4535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42939" y="1759268"/>
              <a:ext cx="13431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350" b="1" dirty="0">
                  <a:solidFill>
                    <a:srgbClr val="FFFFFF"/>
                  </a:solidFill>
                  <a:latin typeface="Arial"/>
                  <a:ea typeface="Malgun Gothic"/>
                  <a:cs typeface="Arial"/>
                </a:rPr>
                <a:t>패러다임의 변화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47344" y="2123122"/>
              <a:ext cx="779087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 xml:space="preserve">앞으로는 고객뿐 아니라 </a:t>
              </a:r>
              <a:r>
                <a:rPr lang="ko-KR" sz="1950" b="1" dirty="0">
                  <a:solidFill>
                    <a:srgbClr val="EDA796"/>
                  </a:solidFill>
                  <a:latin typeface="Arial"/>
                  <a:ea typeface="Malgun Gothic"/>
                  <a:cs typeface="Arial"/>
                </a:rPr>
                <a:t>AI도 내 상품을 이해해야 하는 시대</a:t>
              </a:r>
              <a:r>
                <a:rPr lang="ko-KR" sz="195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가 됨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48106" y="2472690"/>
              <a:ext cx="803337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756E5F"/>
                  </a:solidFill>
                  <a:latin typeface="Arial"/>
                  <a:ea typeface="Malgun Gothic"/>
                  <a:cs typeface="Arial"/>
                </a:rPr>
                <a:t>상품정보는 사람이 읽기 좋아야 하고, 동시에 AI가 해석하기 쉬워야 함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571500" y="3000375"/>
            <a:ext cx="8613011" cy="3667125"/>
            <a:chOff x="571500" y="3000375"/>
            <a:chExt cx="8613011" cy="3667125"/>
          </a:xfrm>
        </p:grpSpPr>
        <p:sp>
          <p:nvSpPr>
            <p:cNvPr id="13" name="Rectangle 13"/>
            <p:cNvSpPr/>
            <p:nvPr/>
          </p:nvSpPr>
          <p:spPr>
            <a:xfrm>
              <a:off x="571500" y="3000375"/>
              <a:ext cx="2743200" cy="1762125"/>
            </a:xfrm>
            <a:prstGeom prst="roundRect">
              <a:avLst>
                <a:gd name="adj" fmla="val 8649"/>
              </a:avLst>
            </a:prstGeom>
            <a:solidFill>
              <a:srgbClr val="FFFFFF"/>
            </a:solidFill>
            <a:ln w="14288">
              <a:solidFill>
                <a:srgbClr val="E8DDD7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790575" y="3219450"/>
              <a:ext cx="419100" cy="419100"/>
            </a:xfrm>
            <a:prstGeom prst="ellipse">
              <a:avLst/>
            </a:prstGeom>
            <a:solidFill>
              <a:srgbClr val="FEF7E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91540" y="3333750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📌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325118" y="3317558"/>
              <a:ext cx="18637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상품정보의 명확성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01624" y="3830479"/>
              <a:ext cx="196220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dirty="0">
                  <a:solidFill>
                    <a:srgbClr val="33332F"/>
                  </a:solidFill>
                  <a:latin typeface="Arial"/>
                  <a:ea typeface="Malgun Gothic"/>
                  <a:cs typeface="Arial"/>
                </a:rPr>
                <a:t>모호하지 않은 규격,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01624" y="4163854"/>
              <a:ext cx="239823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dirty="0">
                  <a:solidFill>
                    <a:srgbClr val="33332F"/>
                  </a:solidFill>
                  <a:latin typeface="Arial"/>
                  <a:ea typeface="Malgun Gothic"/>
                  <a:cs typeface="Arial"/>
                </a:rPr>
                <a:t>정확한 소재 및 용도 명시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3505200" y="3000375"/>
              <a:ext cx="2743200" cy="1762125"/>
            </a:xfrm>
            <a:prstGeom prst="roundRect">
              <a:avLst>
                <a:gd name="adj" fmla="val 8649"/>
              </a:avLst>
            </a:prstGeom>
            <a:solidFill>
              <a:srgbClr val="FFFFFF"/>
            </a:solidFill>
            <a:ln w="14288">
              <a:solidFill>
                <a:srgbClr val="E8DDD7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3724275" y="3219450"/>
              <a:ext cx="419100" cy="419100"/>
            </a:xfrm>
            <a:prstGeom prst="ellipse">
              <a:avLst/>
            </a:prstGeom>
            <a:solidFill>
              <a:srgbClr val="FEF7E6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825240" y="3333750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🎒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258818" y="3317558"/>
              <a:ext cx="14894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사용 상황 설명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735324" y="3830479"/>
              <a:ext cx="229188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dirty="0">
                  <a:solidFill>
                    <a:srgbClr val="33332F"/>
                  </a:solidFill>
                  <a:latin typeface="Arial"/>
                  <a:ea typeface="Malgun Gothic"/>
                  <a:cs typeface="Arial"/>
                </a:rPr>
                <a:t>언제, 어디서, 누구에게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735324" y="4163854"/>
              <a:ext cx="205791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dirty="0">
                  <a:solidFill>
                    <a:srgbClr val="33332F"/>
                  </a:solidFill>
                  <a:latin typeface="Arial"/>
                  <a:ea typeface="Malgun Gothic"/>
                  <a:cs typeface="Arial"/>
                </a:rPr>
                <a:t>필요한지 구체적 기술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438900" y="3000375"/>
              <a:ext cx="2743200" cy="1762125"/>
            </a:xfrm>
            <a:prstGeom prst="roundRect">
              <a:avLst>
                <a:gd name="adj" fmla="val 8649"/>
              </a:avLst>
            </a:prstGeom>
            <a:solidFill>
              <a:srgbClr val="FFFFFF"/>
            </a:solidFill>
            <a:ln w="14288">
              <a:solidFill>
                <a:srgbClr val="E8DDD7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6657975" y="3219450"/>
              <a:ext cx="419100" cy="419100"/>
            </a:xfrm>
            <a:prstGeom prst="ellipse">
              <a:avLst/>
            </a:prstGeom>
            <a:solidFill>
              <a:srgbClr val="FEF7E6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758940" y="3333750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⚖️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192518" y="3317558"/>
              <a:ext cx="19919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장점/한계의 구체성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669024" y="3830479"/>
              <a:ext cx="227061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dirty="0">
                  <a:solidFill>
                    <a:srgbClr val="33332F"/>
                  </a:solidFill>
                  <a:latin typeface="Arial"/>
                  <a:ea typeface="Malgun Gothic"/>
                  <a:cs typeface="Arial"/>
                </a:rPr>
                <a:t>장점뿐 아니라 적합하지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669024" y="4163854"/>
              <a:ext cx="233442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dirty="0">
                  <a:solidFill>
                    <a:srgbClr val="33332F"/>
                  </a:solidFill>
                  <a:latin typeface="Arial"/>
                  <a:ea typeface="Malgun Gothic"/>
                  <a:cs typeface="Arial"/>
                </a:rPr>
                <a:t>않은 조건도 솔직히 기술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71500" y="4905375"/>
              <a:ext cx="2743200" cy="1762125"/>
            </a:xfrm>
            <a:prstGeom prst="roundRect">
              <a:avLst>
                <a:gd name="adj" fmla="val 8649"/>
              </a:avLst>
            </a:prstGeom>
            <a:solidFill>
              <a:srgbClr val="FFFFFF"/>
            </a:solidFill>
            <a:ln w="14288">
              <a:solidFill>
                <a:srgbClr val="E8DDD7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790575" y="5124450"/>
              <a:ext cx="419100" cy="419100"/>
            </a:xfrm>
            <a:prstGeom prst="ellipse">
              <a:avLst/>
            </a:prstGeom>
            <a:solidFill>
              <a:srgbClr val="FEF7E6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36974" y="523875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⭐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325118" y="5222558"/>
              <a:ext cx="14194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리뷰의 신뢰성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01624" y="5735479"/>
              <a:ext cx="205791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dirty="0">
                  <a:solidFill>
                    <a:srgbClr val="33332F"/>
                  </a:solidFill>
                  <a:latin typeface="Arial"/>
                  <a:ea typeface="Malgun Gothic"/>
                  <a:cs typeface="Arial"/>
                </a:rPr>
                <a:t>실제 구매자의 생생한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01624" y="6068854"/>
              <a:ext cx="190902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dirty="0">
                  <a:solidFill>
                    <a:srgbClr val="33332F"/>
                  </a:solidFill>
                  <a:latin typeface="Arial"/>
                  <a:ea typeface="Malgun Gothic"/>
                  <a:cs typeface="Arial"/>
                </a:rPr>
                <a:t>평가 및 피드백 축적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3505200" y="4905375"/>
              <a:ext cx="2743200" cy="1762125"/>
            </a:xfrm>
            <a:prstGeom prst="roundRect">
              <a:avLst>
                <a:gd name="adj" fmla="val 8649"/>
              </a:avLst>
            </a:prstGeom>
            <a:solidFill>
              <a:srgbClr val="FFFFFF"/>
            </a:solidFill>
            <a:ln w="14288">
              <a:solidFill>
                <a:srgbClr val="E8DDD7"/>
              </a:solidFill>
            </a:ln>
          </p:spPr>
        </p:sp>
        <p:sp>
          <p:nvSpPr>
            <p:cNvPr id="38" name="Ellipse 38"/>
            <p:cNvSpPr/>
            <p:nvPr/>
          </p:nvSpPr>
          <p:spPr>
            <a:xfrm>
              <a:off x="3724275" y="5124450"/>
              <a:ext cx="419100" cy="419100"/>
            </a:xfrm>
            <a:prstGeom prst="ellipse">
              <a:avLst/>
            </a:prstGeom>
            <a:solidFill>
              <a:srgbClr val="FEF7E6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3825240" y="5238750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💳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258818" y="5222558"/>
              <a:ext cx="171156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가격과 배송 조건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735324" y="5735479"/>
              <a:ext cx="239823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dirty="0">
                  <a:solidFill>
                    <a:srgbClr val="33332F"/>
                  </a:solidFill>
                  <a:latin typeface="Arial"/>
                  <a:ea typeface="Malgun Gothic"/>
                  <a:cs typeface="Arial"/>
                </a:rPr>
                <a:t>국가별 최종 구매 비용 및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735324" y="6068854"/>
              <a:ext cx="205791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dirty="0">
                  <a:solidFill>
                    <a:srgbClr val="33332F"/>
                  </a:solidFill>
                  <a:latin typeface="Arial"/>
                  <a:ea typeface="Malgun Gothic"/>
                  <a:cs typeface="Arial"/>
                </a:rPr>
                <a:t>배송 소요기간 투명화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438900" y="4905375"/>
              <a:ext cx="2743200" cy="1762125"/>
            </a:xfrm>
            <a:prstGeom prst="roundRect">
              <a:avLst>
                <a:gd name="adj" fmla="val 8649"/>
              </a:avLst>
            </a:prstGeom>
            <a:solidFill>
              <a:srgbClr val="FFFFFF"/>
            </a:solidFill>
            <a:ln w="19050">
              <a:solidFill>
                <a:srgbClr val="EDA796"/>
              </a:solidFill>
            </a:ln>
          </p:spPr>
        </p:sp>
        <p:sp>
          <p:nvSpPr>
            <p:cNvPr id="44" name="Ellipse 44"/>
            <p:cNvSpPr/>
            <p:nvPr/>
          </p:nvSpPr>
          <p:spPr>
            <a:xfrm>
              <a:off x="6657975" y="5124450"/>
              <a:ext cx="419100" cy="419100"/>
            </a:xfrm>
            <a:prstGeom prst="ellipse">
              <a:avLst/>
            </a:prstGeom>
            <a:solidFill>
              <a:srgbClr val="FBEEEC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758940" y="5238750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💡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192518" y="5222558"/>
              <a:ext cx="179399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EDA796"/>
                  </a:solidFill>
                  <a:latin typeface="Arial"/>
                  <a:ea typeface="Malgun Gothic"/>
                  <a:cs typeface="Arial"/>
                </a:rPr>
                <a:t>FAQ와 비교 정보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669024" y="5735479"/>
              <a:ext cx="17059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자주 묻는 질문 및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669024" y="6068854"/>
              <a:ext cx="21313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타사 대비 차별점 정리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558546" y="315278"/>
            <a:ext cx="6685300" cy="978217"/>
            <a:chOff x="558546" y="315278"/>
            <a:chExt cx="6685300" cy="978217"/>
          </a:xfrm>
        </p:grpSpPr>
        <p:sp>
          <p:nvSpPr>
            <p:cNvPr id="2" name="TextBox 2"/>
            <p:cNvSpPr txBox="1"/>
            <p:nvPr/>
          </p:nvSpPr>
          <p:spPr>
            <a:xfrm>
              <a:off x="558546" y="315278"/>
              <a:ext cx="668530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55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사례 분석: 글로벌 AI 커머스의 주요 사례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63118" y="717232"/>
              <a:ext cx="373040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756E5F"/>
                  </a:solidFill>
                  <a:latin typeface="Arial"/>
                  <a:ea typeface="Malgun Gothic"/>
                  <a:cs typeface="Arial"/>
                </a:rPr>
                <a:t>ChatGPT형 쇼핑 : 대화형 상품 탐색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63880" y="1000125"/>
              <a:ext cx="29305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b="1" dirty="0">
                  <a:solidFill>
                    <a:srgbClr val="EDA796"/>
                  </a:solidFill>
                  <a:latin typeface="Arial"/>
                  <a:ea typeface="Malgun Gothic"/>
                  <a:cs typeface="Arial"/>
                </a:rPr>
                <a:t>Shopee : 동남아 모바일 커머스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71500" y="1257300"/>
              <a:ext cx="571500" cy="28575"/>
            </a:xfrm>
            <a:prstGeom prst="roundRect">
              <a:avLst>
                <a:gd name="adj" fmla="val 50000"/>
              </a:avLst>
            </a:prstGeom>
            <a:solidFill>
              <a:srgbClr val="F8DA92"/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571500" y="1428750"/>
            <a:ext cx="8610600" cy="1524000"/>
            <a:chOff x="571500" y="1428750"/>
            <a:chExt cx="8610600" cy="1524000"/>
          </a:xfrm>
        </p:grpSpPr>
        <p:sp>
          <p:nvSpPr>
            <p:cNvPr id="7" name="Rectangle 7"/>
            <p:cNvSpPr/>
            <p:nvPr/>
          </p:nvSpPr>
          <p:spPr>
            <a:xfrm>
              <a:off x="571500" y="1428750"/>
              <a:ext cx="8610600" cy="1524000"/>
            </a:xfrm>
            <a:prstGeom prst="roundRect">
              <a:avLst>
                <a:gd name="adj" fmla="val 11250"/>
              </a:avLst>
            </a:prstGeom>
            <a:solidFill>
              <a:srgbClr val="FFFFFF"/>
            </a:solidFill>
            <a:ln w="19050">
              <a:solidFill>
                <a:srgbClr val="E8DDD7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857250" y="1714500"/>
              <a:ext cx="1714500" cy="342900"/>
            </a:xfrm>
            <a:prstGeom prst="roundRect">
              <a:avLst>
                <a:gd name="adj" fmla="val 50000"/>
              </a:avLst>
            </a:prstGeom>
            <a:solidFill>
              <a:srgbClr val="4B4535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14315" y="1806892"/>
              <a:ext cx="14003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350" b="1" dirty="0">
                  <a:solidFill>
                    <a:srgbClr val="FFFFFF"/>
                  </a:solidFill>
                  <a:latin typeface="Arial"/>
                  <a:ea typeface="Malgun Gothic"/>
                  <a:cs typeface="Arial"/>
                </a:rPr>
                <a:t>지역 플랫폼 특성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46582" y="2202180"/>
              <a:ext cx="527252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동남아 시장에서 강한 모바일 중심 플랫폼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563118" y="3108008"/>
            <a:ext cx="8618982" cy="3654742"/>
            <a:chOff x="563118" y="3108008"/>
            <a:chExt cx="8618982" cy="3654742"/>
          </a:xfrm>
        </p:grpSpPr>
        <p:sp>
          <p:nvSpPr>
            <p:cNvPr id="12" name="TextBox 12"/>
            <p:cNvSpPr txBox="1"/>
            <p:nvPr/>
          </p:nvSpPr>
          <p:spPr>
            <a:xfrm>
              <a:off x="563118" y="3108008"/>
              <a:ext cx="41911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Shopee 커머스를 움직이는 5대 핵심 동력</a:t>
              </a:r>
            </a:p>
          </p:txBody>
        </p:sp>
        <p:grpSp>
          <p:nvGrpSpPr>
            <p:cNvPr id="48" name="Group 48"/>
            <p:cNvGrpSpPr/>
            <p:nvPr/>
          </p:nvGrpSpPr>
          <p:grpSpPr>
            <a:xfrm>
              <a:off x="571500" y="3524250"/>
              <a:ext cx="8610600" cy="3238500"/>
              <a:chOff x="571500" y="3524250"/>
              <a:chExt cx="8610600" cy="323850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571500" y="3524250"/>
                <a:ext cx="1600200" cy="3238500"/>
              </a:xfrm>
              <a:prstGeom prst="roundRect">
                <a:avLst>
                  <a:gd name="adj" fmla="val 9524"/>
                </a:avLst>
              </a:prstGeom>
              <a:solidFill>
                <a:srgbClr val="FFFFFF"/>
              </a:solidFill>
              <a:ln w="14288">
                <a:solidFill>
                  <a:srgbClr val="E8DDD7"/>
                </a:solidFill>
              </a:ln>
            </p:spPr>
          </p:sp>
          <p:sp>
            <p:nvSpPr>
              <p:cNvPr id="14" name="Ellipse 14"/>
              <p:cNvSpPr/>
              <p:nvPr/>
            </p:nvSpPr>
            <p:spPr>
              <a:xfrm>
                <a:off x="1104900" y="3733800"/>
                <a:ext cx="533400" cy="533400"/>
              </a:xfrm>
              <a:prstGeom prst="ellipse">
                <a:avLst/>
              </a:prstGeom>
              <a:solidFill>
                <a:srgbClr val="FDF6F4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241298" y="3882390"/>
                <a:ext cx="26060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💰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141095" y="4489132"/>
                <a:ext cx="46101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650" b="1" dirty="0">
                    <a:solidFill>
                      <a:srgbClr val="4B4535"/>
                    </a:solidFill>
                    <a:latin typeface="Arial"/>
                    <a:ea typeface="Malgun Gothic"/>
                    <a:cs typeface="Arial"/>
                  </a:rPr>
                  <a:t>가격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697611" y="5029200"/>
                <a:ext cx="134797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00" dirty="0">
                    <a:solidFill>
                      <a:srgbClr val="33332F"/>
                    </a:solidFill>
                    <a:latin typeface="Arial"/>
                    <a:ea typeface="Malgun Gothic"/>
                    <a:cs typeface="Arial"/>
                  </a:rPr>
                  <a:t>현지 소득 수준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626935" y="5362575"/>
                <a:ext cx="148932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00" dirty="0">
                    <a:solidFill>
                      <a:srgbClr val="33332F"/>
                    </a:solidFill>
                    <a:latin typeface="Arial"/>
                    <a:ea typeface="Malgun Gothic"/>
                    <a:cs typeface="Arial"/>
                  </a:rPr>
                  <a:t>맞춤형 초가성비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929830" y="5695950"/>
                <a:ext cx="88353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00" dirty="0">
                    <a:solidFill>
                      <a:srgbClr val="33332F"/>
                    </a:solidFill>
                    <a:latin typeface="Arial"/>
                    <a:ea typeface="Malgun Gothic"/>
                    <a:cs typeface="Arial"/>
                  </a:rPr>
                  <a:t>가격 정책</a:t>
                </a:r>
              </a:p>
            </p:txBody>
          </p:sp>
          <p:sp>
            <p:nvSpPr>
              <p:cNvPr id="20" name="Rectangle 20"/>
              <p:cNvSpPr/>
              <p:nvPr/>
            </p:nvSpPr>
            <p:spPr>
              <a:xfrm>
                <a:off x="2324100" y="3524250"/>
                <a:ext cx="1600200" cy="3238500"/>
              </a:xfrm>
              <a:prstGeom prst="roundRect">
                <a:avLst>
                  <a:gd name="adj" fmla="val 9524"/>
                </a:avLst>
              </a:prstGeom>
              <a:solidFill>
                <a:srgbClr val="FFFFFF"/>
              </a:solidFill>
              <a:ln w="14288">
                <a:solidFill>
                  <a:srgbClr val="E8DDD7"/>
                </a:solidFill>
              </a:ln>
            </p:spPr>
          </p:sp>
          <p:sp>
            <p:nvSpPr>
              <p:cNvPr id="21" name="Ellipse 21"/>
              <p:cNvSpPr/>
              <p:nvPr/>
            </p:nvSpPr>
            <p:spPr>
              <a:xfrm>
                <a:off x="2857500" y="3733800"/>
                <a:ext cx="533400" cy="533400"/>
              </a:xfrm>
              <a:prstGeom prst="ellipse">
                <a:avLst/>
              </a:prstGeom>
              <a:solidFill>
                <a:srgbClr val="FDF6F4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2993898" y="3882390"/>
                <a:ext cx="26060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🎟️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2893695" y="4489132"/>
                <a:ext cx="46101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650" b="1" dirty="0">
                    <a:solidFill>
                      <a:srgbClr val="4B4535"/>
                    </a:solidFill>
                    <a:latin typeface="Arial"/>
                    <a:ea typeface="Malgun Gothic"/>
                    <a:cs typeface="Arial"/>
                  </a:rPr>
                  <a:t>쿠폰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2581466" y="5029200"/>
                <a:ext cx="108546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00" dirty="0">
                    <a:solidFill>
                      <a:srgbClr val="33332F"/>
                    </a:solidFill>
                    <a:latin typeface="Arial"/>
                    <a:ea typeface="Malgun Gothic"/>
                    <a:cs typeface="Arial"/>
                  </a:rPr>
                  <a:t>플랫폼 차원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2581466" y="5362575"/>
                <a:ext cx="108546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00" dirty="0">
                    <a:solidFill>
                      <a:srgbClr val="33332F"/>
                    </a:solidFill>
                    <a:latin typeface="Arial"/>
                    <a:ea typeface="Malgun Gothic"/>
                    <a:cs typeface="Arial"/>
                  </a:rPr>
                  <a:t>대규모 할인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2581466" y="5695950"/>
                <a:ext cx="108546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00" dirty="0">
                    <a:solidFill>
                      <a:srgbClr val="33332F"/>
                    </a:solidFill>
                    <a:latin typeface="Arial"/>
                    <a:ea typeface="Malgun Gothic"/>
                    <a:cs typeface="Arial"/>
                  </a:rPr>
                  <a:t>바우처 활용</a:t>
                </a:r>
              </a:p>
            </p:txBody>
          </p:sp>
          <p:sp>
            <p:nvSpPr>
              <p:cNvPr id="27" name="Rectangle 27"/>
              <p:cNvSpPr/>
              <p:nvPr/>
            </p:nvSpPr>
            <p:spPr>
              <a:xfrm>
                <a:off x="4076700" y="3524250"/>
                <a:ext cx="1600200" cy="3238500"/>
              </a:xfrm>
              <a:prstGeom prst="roundRect">
                <a:avLst>
                  <a:gd name="adj" fmla="val 9524"/>
                </a:avLst>
              </a:prstGeom>
              <a:solidFill>
                <a:srgbClr val="FFFFFF"/>
              </a:solidFill>
              <a:ln w="14288">
                <a:solidFill>
                  <a:srgbClr val="E8DDD7"/>
                </a:solidFill>
              </a:ln>
            </p:spPr>
          </p:sp>
          <p:sp>
            <p:nvSpPr>
              <p:cNvPr id="28" name="Ellipse 28"/>
              <p:cNvSpPr/>
              <p:nvPr/>
            </p:nvSpPr>
            <p:spPr>
              <a:xfrm>
                <a:off x="4610100" y="3733800"/>
                <a:ext cx="533400" cy="533400"/>
              </a:xfrm>
              <a:prstGeom prst="ellipse">
                <a:avLst/>
              </a:prstGeom>
              <a:solidFill>
                <a:srgbClr val="FDF6F4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4746498" y="3882390"/>
                <a:ext cx="26060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🚚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4424172" y="4489132"/>
                <a:ext cx="90525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650" b="1" dirty="0">
                    <a:solidFill>
                      <a:srgbClr val="4B4535"/>
                    </a:solidFill>
                    <a:latin typeface="Arial"/>
                    <a:ea typeface="Malgun Gothic"/>
                    <a:cs typeface="Arial"/>
                  </a:rPr>
                  <a:t>무료배송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233100" y="5029200"/>
                <a:ext cx="128739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00" dirty="0">
                    <a:solidFill>
                      <a:srgbClr val="33332F"/>
                    </a:solidFill>
                    <a:latin typeface="Arial"/>
                    <a:ea typeface="Malgun Gothic"/>
                    <a:cs typeface="Arial"/>
                  </a:rPr>
                  <a:t>무료배송 쿠폰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4334066" y="5362575"/>
                <a:ext cx="108546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00" dirty="0">
                    <a:solidFill>
                      <a:srgbClr val="33332F"/>
                    </a:solidFill>
                    <a:latin typeface="Arial"/>
                    <a:ea typeface="Malgun Gothic"/>
                    <a:cs typeface="Arial"/>
                  </a:rPr>
                  <a:t>연계를 통한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4202811" y="5695950"/>
                <a:ext cx="134797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00" dirty="0">
                    <a:solidFill>
                      <a:srgbClr val="33332F"/>
                    </a:solidFill>
                    <a:latin typeface="Arial"/>
                    <a:ea typeface="Malgun Gothic"/>
                    <a:cs typeface="Arial"/>
                  </a:rPr>
                  <a:t>구매 장벽 제거</a:t>
                </a:r>
              </a:p>
            </p:txBody>
          </p:sp>
          <p:sp>
            <p:nvSpPr>
              <p:cNvPr id="34" name="Rectangle 34"/>
              <p:cNvSpPr/>
              <p:nvPr/>
            </p:nvSpPr>
            <p:spPr>
              <a:xfrm>
                <a:off x="5829300" y="3524250"/>
                <a:ext cx="1600200" cy="3238500"/>
              </a:xfrm>
              <a:prstGeom prst="roundRect">
                <a:avLst>
                  <a:gd name="adj" fmla="val 9524"/>
                </a:avLst>
              </a:prstGeom>
              <a:solidFill>
                <a:srgbClr val="FFFFFF"/>
              </a:solidFill>
              <a:ln w="14288">
                <a:solidFill>
                  <a:srgbClr val="E8DDD7"/>
                </a:solidFill>
              </a:ln>
            </p:spPr>
          </p:sp>
          <p:sp>
            <p:nvSpPr>
              <p:cNvPr id="35" name="Ellipse 35"/>
              <p:cNvSpPr/>
              <p:nvPr/>
            </p:nvSpPr>
            <p:spPr>
              <a:xfrm>
                <a:off x="6362700" y="3733800"/>
                <a:ext cx="533400" cy="533400"/>
              </a:xfrm>
              <a:prstGeom prst="ellipse">
                <a:avLst/>
              </a:prstGeom>
              <a:solidFill>
                <a:srgbClr val="FDF6F4"/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6499098" y="3882390"/>
                <a:ext cx="26060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📱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6030726" y="4489132"/>
                <a:ext cx="119734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650" b="1" dirty="0">
                    <a:solidFill>
                      <a:srgbClr val="4B4535"/>
                    </a:solidFill>
                    <a:latin typeface="Arial"/>
                    <a:ea typeface="Malgun Gothic"/>
                    <a:cs typeface="Arial"/>
                  </a:rPr>
                  <a:t>모바일 결제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5982811" y="5029200"/>
                <a:ext cx="129317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00" dirty="0">
                    <a:solidFill>
                      <a:srgbClr val="33332F"/>
                    </a:solidFill>
                    <a:latin typeface="Arial"/>
                    <a:ea typeface="Malgun Gothic"/>
                    <a:cs typeface="Arial"/>
                  </a:rPr>
                  <a:t>ShopeePay 등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5985701" y="5362575"/>
                <a:ext cx="128739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00" dirty="0">
                    <a:solidFill>
                      <a:srgbClr val="33332F"/>
                    </a:solidFill>
                    <a:latin typeface="Arial"/>
                    <a:ea typeface="Malgun Gothic"/>
                    <a:cs typeface="Arial"/>
                  </a:rPr>
                  <a:t>간편 전자지갑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6086666" y="5695950"/>
                <a:ext cx="108546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00" dirty="0">
                    <a:solidFill>
                      <a:srgbClr val="33332F"/>
                    </a:solidFill>
                    <a:latin typeface="Arial"/>
                    <a:ea typeface="Malgun Gothic"/>
                    <a:cs typeface="Arial"/>
                  </a:rPr>
                  <a:t>결제 생태계</a:t>
                </a:r>
              </a:p>
            </p:txBody>
          </p:sp>
          <p:sp>
            <p:nvSpPr>
              <p:cNvPr id="41" name="Rectangle 41"/>
              <p:cNvSpPr/>
              <p:nvPr/>
            </p:nvSpPr>
            <p:spPr>
              <a:xfrm>
                <a:off x="7581900" y="3524250"/>
                <a:ext cx="1600200" cy="3238500"/>
              </a:xfrm>
              <a:prstGeom prst="roundRect">
                <a:avLst>
                  <a:gd name="adj" fmla="val 9524"/>
                </a:avLst>
              </a:prstGeom>
              <a:solidFill>
                <a:srgbClr val="FFFFFF"/>
              </a:solidFill>
              <a:ln w="19050">
                <a:solidFill>
                  <a:srgbClr val="EDA796"/>
                </a:solidFill>
              </a:ln>
            </p:spPr>
          </p:sp>
          <p:sp>
            <p:nvSpPr>
              <p:cNvPr id="42" name="Ellipse 42"/>
              <p:cNvSpPr/>
              <p:nvPr/>
            </p:nvSpPr>
            <p:spPr>
              <a:xfrm>
                <a:off x="8115300" y="3733800"/>
                <a:ext cx="533400" cy="533400"/>
              </a:xfrm>
              <a:prstGeom prst="ellipse">
                <a:avLst/>
              </a:prstGeom>
              <a:solidFill>
                <a:srgbClr val="FBEEEC"/>
              </a:soli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8251698" y="3882390"/>
                <a:ext cx="26060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📹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8040434" y="4489132"/>
                <a:ext cx="68313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650" b="1" dirty="0">
                    <a:solidFill>
                      <a:srgbClr val="EDA796"/>
                    </a:solidFill>
                    <a:latin typeface="Arial"/>
                    <a:ea typeface="Malgun Gothic"/>
                    <a:cs typeface="Arial"/>
                  </a:rPr>
                  <a:t>라이브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7677238" y="5029200"/>
                <a:ext cx="140952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00" b="1" dirty="0">
                    <a:solidFill>
                      <a:srgbClr val="4B4535"/>
                    </a:solidFill>
                    <a:latin typeface="Arial"/>
                    <a:ea typeface="Malgun Gothic"/>
                    <a:cs typeface="Arial"/>
                  </a:rPr>
                  <a:t>Shopee Live를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7604017" y="5362575"/>
                <a:ext cx="155596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00" b="1" dirty="0">
                    <a:solidFill>
                      <a:srgbClr val="4B4535"/>
                    </a:solidFill>
                    <a:latin typeface="Arial"/>
                    <a:ea typeface="Malgun Gothic"/>
                    <a:cs typeface="Arial"/>
                  </a:rPr>
                  <a:t>통한 실시간 소통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7805947" y="5695950"/>
                <a:ext cx="115210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00" b="1" dirty="0">
                    <a:solidFill>
                      <a:srgbClr val="4B4535"/>
                    </a:solidFill>
                    <a:latin typeface="Arial"/>
                    <a:ea typeface="Malgun Gothic"/>
                    <a:cs typeface="Arial"/>
                  </a:rPr>
                  <a:t>및 즉시 판매</a:t>
                </a:r>
              </a:p>
            </p:txBody>
          </p:sp>
        </p:grp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558546" y="315278"/>
            <a:ext cx="6685300" cy="978217"/>
            <a:chOff x="558546" y="315278"/>
            <a:chExt cx="6685300" cy="978217"/>
          </a:xfrm>
        </p:grpSpPr>
        <p:sp>
          <p:nvSpPr>
            <p:cNvPr id="2" name="TextBox 2"/>
            <p:cNvSpPr txBox="1"/>
            <p:nvPr/>
          </p:nvSpPr>
          <p:spPr>
            <a:xfrm>
              <a:off x="558546" y="315278"/>
              <a:ext cx="668530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55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사례 분석: 글로벌 AI 커머스의 주요 사례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63118" y="717232"/>
              <a:ext cx="373040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756E5F"/>
                  </a:solidFill>
                  <a:latin typeface="Arial"/>
                  <a:ea typeface="Malgun Gothic"/>
                  <a:cs typeface="Arial"/>
                </a:rPr>
                <a:t>ChatGPT형 쇼핑 : 대화형 상품 탐색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63880" y="1000125"/>
              <a:ext cx="22767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b="1" dirty="0">
                  <a:solidFill>
                    <a:srgbClr val="EDA796"/>
                  </a:solidFill>
                  <a:latin typeface="Arial"/>
                  <a:ea typeface="Malgun Gothic"/>
                  <a:cs typeface="Arial"/>
                </a:rPr>
                <a:t>Shopee에서 중요한 요소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71500" y="1257300"/>
              <a:ext cx="571500" cy="28575"/>
            </a:xfrm>
            <a:prstGeom prst="roundRect">
              <a:avLst>
                <a:gd name="adj" fmla="val 50000"/>
              </a:avLst>
            </a:prstGeom>
            <a:solidFill>
              <a:srgbClr val="F8DA92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71500" y="1428750"/>
            <a:ext cx="8610600" cy="1428750"/>
            <a:chOff x="571500" y="1428750"/>
            <a:chExt cx="8610600" cy="1428750"/>
          </a:xfrm>
        </p:grpSpPr>
        <p:sp>
          <p:nvSpPr>
            <p:cNvPr id="7" name="Rectangle 7"/>
            <p:cNvSpPr/>
            <p:nvPr/>
          </p:nvSpPr>
          <p:spPr>
            <a:xfrm>
              <a:off x="571500" y="1428750"/>
              <a:ext cx="8610600" cy="142875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9050">
              <a:solidFill>
                <a:srgbClr val="E8DDD7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857250" y="1666875"/>
              <a:ext cx="1714500" cy="342900"/>
            </a:xfrm>
            <a:prstGeom prst="roundRect">
              <a:avLst>
                <a:gd name="adj" fmla="val 50000"/>
              </a:avLst>
            </a:prstGeom>
            <a:solidFill>
              <a:srgbClr val="4B4535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33807" y="1759268"/>
              <a:ext cx="11613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350" b="1" dirty="0">
                  <a:solidFill>
                    <a:srgbClr val="FFFFFF"/>
                  </a:solidFill>
                  <a:latin typeface="Arial"/>
                  <a:ea typeface="Malgun Gothic"/>
                  <a:cs typeface="Arial"/>
                </a:rPr>
                <a:t>국가별 다양성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47344" y="2123122"/>
              <a:ext cx="368050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글로벌 커머스는 국가마다 다름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48106" y="2472690"/>
              <a:ext cx="68382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EDA796"/>
                  </a:solidFill>
                  <a:latin typeface="Arial"/>
                  <a:ea typeface="Malgun Gothic"/>
                  <a:cs typeface="Arial"/>
                </a:rPr>
                <a:t>(미국 고객, 일본 고객, 동남아 고객은 같은 상품도 다르게 봄)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571500" y="3000375"/>
            <a:ext cx="8655286" cy="3667125"/>
            <a:chOff x="571500" y="3000375"/>
            <a:chExt cx="8655286" cy="3667125"/>
          </a:xfrm>
        </p:grpSpPr>
        <p:sp>
          <p:nvSpPr>
            <p:cNvPr id="13" name="Rectangle 13"/>
            <p:cNvSpPr/>
            <p:nvPr/>
          </p:nvSpPr>
          <p:spPr>
            <a:xfrm>
              <a:off x="571500" y="3000375"/>
              <a:ext cx="2743200" cy="1762125"/>
            </a:xfrm>
            <a:prstGeom prst="roundRect">
              <a:avLst>
                <a:gd name="adj" fmla="val 8649"/>
              </a:avLst>
            </a:prstGeom>
            <a:solidFill>
              <a:srgbClr val="FFFFFF"/>
            </a:solidFill>
            <a:ln w="14288">
              <a:solidFill>
                <a:srgbClr val="E8DDD7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790575" y="3219450"/>
              <a:ext cx="419100" cy="419100"/>
            </a:xfrm>
            <a:prstGeom prst="ellipse">
              <a:avLst/>
            </a:prstGeom>
            <a:solidFill>
              <a:srgbClr val="FEF7E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91540" y="3333750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💰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325118" y="3317558"/>
              <a:ext cx="11973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가격 경쟁력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01624" y="3830479"/>
              <a:ext cx="163251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dirty="0">
                  <a:solidFill>
                    <a:srgbClr val="33332F"/>
                  </a:solidFill>
                  <a:latin typeface="Arial"/>
                  <a:ea typeface="Malgun Gothic"/>
                  <a:cs typeface="Arial"/>
                </a:rPr>
                <a:t>현지 시장 맞춤형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01624" y="4163854"/>
              <a:ext cx="212172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dirty="0">
                  <a:solidFill>
                    <a:srgbClr val="33332F"/>
                  </a:solidFill>
                  <a:latin typeface="Arial"/>
                  <a:ea typeface="Malgun Gothic"/>
                  <a:cs typeface="Arial"/>
                </a:rPr>
                <a:t>가성비 중심 가격 책정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3505200" y="3000375"/>
              <a:ext cx="2743200" cy="1762125"/>
            </a:xfrm>
            <a:prstGeom prst="roundRect">
              <a:avLst>
                <a:gd name="adj" fmla="val 8649"/>
              </a:avLst>
            </a:prstGeom>
            <a:solidFill>
              <a:srgbClr val="FFFFFF"/>
            </a:solidFill>
            <a:ln w="14288">
              <a:solidFill>
                <a:srgbClr val="E8DDD7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3724275" y="3219450"/>
              <a:ext cx="419100" cy="419100"/>
            </a:xfrm>
            <a:prstGeom prst="ellipse">
              <a:avLst/>
            </a:prstGeom>
            <a:solidFill>
              <a:srgbClr val="FEF7E6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825240" y="3333750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🚚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258818" y="3317558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배송비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735324" y="3830479"/>
              <a:ext cx="205791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dirty="0">
                  <a:solidFill>
                    <a:srgbClr val="33332F"/>
                  </a:solidFill>
                  <a:latin typeface="Arial"/>
                  <a:ea typeface="Malgun Gothic"/>
                  <a:cs typeface="Arial"/>
                </a:rPr>
                <a:t>국가별 물류비 최적화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735324" y="4163854"/>
              <a:ext cx="190902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dirty="0">
                  <a:solidFill>
                    <a:srgbClr val="33332F"/>
                  </a:solidFill>
                  <a:latin typeface="Arial"/>
                  <a:ea typeface="Malgun Gothic"/>
                  <a:cs typeface="Arial"/>
                </a:rPr>
                <a:t>및 배송비 지원 전략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438900" y="3000375"/>
              <a:ext cx="2743200" cy="1762125"/>
            </a:xfrm>
            <a:prstGeom prst="roundRect">
              <a:avLst>
                <a:gd name="adj" fmla="val 8649"/>
              </a:avLst>
            </a:prstGeom>
            <a:solidFill>
              <a:srgbClr val="FFFFFF"/>
            </a:solidFill>
            <a:ln w="14288">
              <a:solidFill>
                <a:srgbClr val="E8DDD7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6657975" y="3219450"/>
              <a:ext cx="419100" cy="419100"/>
            </a:xfrm>
            <a:prstGeom prst="ellipse">
              <a:avLst/>
            </a:prstGeom>
            <a:solidFill>
              <a:srgbClr val="FEF7E6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758940" y="3333750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🎟️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192518" y="3317558"/>
              <a:ext cx="16415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쿠폰과 프로모션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669024" y="3830479"/>
              <a:ext cx="255776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dirty="0">
                  <a:solidFill>
                    <a:srgbClr val="33332F"/>
                  </a:solidFill>
                  <a:latin typeface="Arial"/>
                  <a:ea typeface="Malgun Gothic"/>
                  <a:cs typeface="Arial"/>
                </a:rPr>
                <a:t>메가 세일(9.9, 11.11 등)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669024" y="4163854"/>
              <a:ext cx="184521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dirty="0">
                  <a:solidFill>
                    <a:srgbClr val="33332F"/>
                  </a:solidFill>
                  <a:latin typeface="Arial"/>
                  <a:ea typeface="Malgun Gothic"/>
                  <a:cs typeface="Arial"/>
                </a:rPr>
                <a:t>프로모션 적극 참여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71500" y="4905375"/>
              <a:ext cx="2743200" cy="1762125"/>
            </a:xfrm>
            <a:prstGeom prst="roundRect">
              <a:avLst>
                <a:gd name="adj" fmla="val 8649"/>
              </a:avLst>
            </a:prstGeom>
            <a:solidFill>
              <a:srgbClr val="FFFFFF"/>
            </a:solidFill>
            <a:ln w="14288">
              <a:solidFill>
                <a:srgbClr val="E8DDD7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790575" y="5124450"/>
              <a:ext cx="419100" cy="419100"/>
            </a:xfrm>
            <a:prstGeom prst="ellipse">
              <a:avLst/>
            </a:prstGeom>
            <a:solidFill>
              <a:srgbClr val="FEF7E6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91540" y="5238750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📱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325118" y="5222558"/>
              <a:ext cx="14194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모바일 친화성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01624" y="5735479"/>
              <a:ext cx="184521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dirty="0">
                  <a:solidFill>
                    <a:srgbClr val="33332F"/>
                  </a:solidFill>
                  <a:latin typeface="Arial"/>
                  <a:ea typeface="Malgun Gothic"/>
                  <a:cs typeface="Arial"/>
                </a:rPr>
                <a:t>모바일 화면 최적화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01624" y="6068854"/>
              <a:ext cx="212172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dirty="0">
                  <a:solidFill>
                    <a:srgbClr val="33332F"/>
                  </a:solidFill>
                  <a:latin typeface="Arial"/>
                  <a:ea typeface="Malgun Gothic"/>
                  <a:cs typeface="Arial"/>
                </a:rPr>
                <a:t>이미지 및 텍스트 구성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3505200" y="4905375"/>
              <a:ext cx="2743200" cy="1762125"/>
            </a:xfrm>
            <a:prstGeom prst="roundRect">
              <a:avLst>
                <a:gd name="adj" fmla="val 8649"/>
              </a:avLst>
            </a:prstGeom>
            <a:solidFill>
              <a:srgbClr val="FFFFFF"/>
            </a:solidFill>
            <a:ln w="14288">
              <a:solidFill>
                <a:srgbClr val="E8DDD7"/>
              </a:solidFill>
            </a:ln>
          </p:spPr>
        </p:sp>
        <p:sp>
          <p:nvSpPr>
            <p:cNvPr id="38" name="Ellipse 38"/>
            <p:cNvSpPr/>
            <p:nvPr/>
          </p:nvSpPr>
          <p:spPr>
            <a:xfrm>
              <a:off x="3724275" y="5124450"/>
              <a:ext cx="419100" cy="419100"/>
            </a:xfrm>
            <a:prstGeom prst="ellipse">
              <a:avLst/>
            </a:prstGeom>
            <a:solidFill>
              <a:srgbClr val="FEF7E6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3825240" y="5238750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📹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258818" y="5222558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라이브커머스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735324" y="5735479"/>
              <a:ext cx="205791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dirty="0">
                  <a:solidFill>
                    <a:srgbClr val="33332F"/>
                  </a:solidFill>
                  <a:latin typeface="Arial"/>
                  <a:ea typeface="Malgun Gothic"/>
                  <a:cs typeface="Arial"/>
                </a:rPr>
                <a:t>현지 인플루언서 연계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735324" y="6068854"/>
              <a:ext cx="163251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dirty="0">
                  <a:solidFill>
                    <a:srgbClr val="33332F"/>
                  </a:solidFill>
                  <a:latin typeface="Arial"/>
                  <a:ea typeface="Malgun Gothic"/>
                  <a:cs typeface="Arial"/>
                </a:rPr>
                <a:t>라이브 방송 활용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438900" y="4905375"/>
              <a:ext cx="2743200" cy="1762125"/>
            </a:xfrm>
            <a:prstGeom prst="roundRect">
              <a:avLst>
                <a:gd name="adj" fmla="val 8649"/>
              </a:avLst>
            </a:prstGeom>
            <a:solidFill>
              <a:srgbClr val="FFFFFF"/>
            </a:solidFill>
            <a:ln w="19050">
              <a:solidFill>
                <a:srgbClr val="EDA796"/>
              </a:solidFill>
            </a:ln>
          </p:spPr>
        </p:sp>
        <p:sp>
          <p:nvSpPr>
            <p:cNvPr id="44" name="Ellipse 44"/>
            <p:cNvSpPr/>
            <p:nvPr/>
          </p:nvSpPr>
          <p:spPr>
            <a:xfrm>
              <a:off x="6657975" y="5124450"/>
              <a:ext cx="419100" cy="419100"/>
            </a:xfrm>
            <a:prstGeom prst="ellipse">
              <a:avLst/>
            </a:prstGeom>
            <a:solidFill>
              <a:srgbClr val="FBEEEC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758940" y="5238750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🌏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192518" y="5222558"/>
              <a:ext cx="171156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EDA796"/>
                  </a:solidFill>
                  <a:latin typeface="Arial"/>
                  <a:ea typeface="Malgun Gothic"/>
                  <a:cs typeface="Arial"/>
                </a:rPr>
                <a:t>현지 언어와 문화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669024" y="5735479"/>
              <a:ext cx="181756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국가별 종교·문화·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669024" y="6068854"/>
              <a:ext cx="18516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언어 맞춤형 현지화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0668000" cy="7810500"/>
            <a:chOff x="0" y="0"/>
            <a:chExt cx="10668000" cy="7810500"/>
          </a:xfrm>
        </p:grpSpPr>
        <p:sp>
          <p:nvSpPr>
            <p:cNvPr id="2" name="Ellipse 2"/>
            <p:cNvSpPr/>
            <p:nvPr/>
          </p:nvSpPr>
          <p:spPr>
            <a:xfrm>
              <a:off x="6858000" y="0"/>
              <a:ext cx="3048000" cy="3048000"/>
            </a:xfrm>
            <a:prstGeom prst="ellipse">
              <a:avLst/>
            </a:prstGeom>
            <a:solidFill>
              <a:srgbClr val="FEF7E6">
                <a:alpha val="80000"/>
              </a:srgbClr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6858000" y="4000500"/>
              <a:ext cx="3810000" cy="3810000"/>
            </a:xfrm>
            <a:prstGeom prst="ellipse">
              <a:avLst/>
            </a:prstGeom>
            <a:solidFill>
              <a:srgbClr val="FBEEEC">
                <a:alpha val="70000"/>
              </a:srgbClr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0" y="5143500"/>
              <a:ext cx="2286000" cy="2286000"/>
            </a:xfrm>
            <a:prstGeom prst="ellipse">
              <a:avLst/>
            </a:prstGeom>
            <a:solidFill>
              <a:srgbClr val="FEF7E6">
                <a:alpha val="60000"/>
              </a:srgbClr>
            </a:solidFill>
            <a:ln>
              <a:noFill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762000" y="1333500"/>
            <a:ext cx="8229600" cy="4648200"/>
            <a:chOff x="762000" y="1333500"/>
            <a:chExt cx="8229600" cy="4648200"/>
          </a:xfrm>
        </p:grpSpPr>
        <p:sp>
          <p:nvSpPr>
            <p:cNvPr id="6" name="Rectangle 6"/>
            <p:cNvSpPr/>
            <p:nvPr/>
          </p:nvSpPr>
          <p:spPr>
            <a:xfrm>
              <a:off x="762000" y="1333500"/>
              <a:ext cx="8229600" cy="4648200"/>
            </a:xfrm>
            <a:prstGeom prst="roundRect">
              <a:avLst>
                <a:gd name="adj" fmla="val 4918"/>
              </a:avLst>
            </a:prstGeom>
            <a:solidFill>
              <a:srgbClr val="FFFFFF"/>
            </a:solidFill>
            <a:ln w="19050">
              <a:solidFill>
                <a:srgbClr val="E8DDD7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762000" y="1333500"/>
              <a:ext cx="8229600" cy="114300"/>
            </a:xfrm>
            <a:prstGeom prst="roundRect">
              <a:avLst>
                <a:gd name="adj" fmla="val 50000"/>
              </a:avLst>
            </a:prstGeom>
            <a:solidFill>
              <a:srgbClr val="F8DA92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1333500" y="2000250"/>
              <a:ext cx="1714500" cy="419100"/>
            </a:xfrm>
            <a:prstGeom prst="roundRect">
              <a:avLst>
                <a:gd name="adj" fmla="val 50000"/>
              </a:avLst>
            </a:prstGeom>
            <a:solidFill>
              <a:srgbClr val="4B4535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595056" y="2114550"/>
              <a:ext cx="119138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CHAPTER 04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20546" y="2820352"/>
              <a:ext cx="716014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55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실습: 해외에 팔고 싶은 상품 또는 서비스 선정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333500" y="3619500"/>
              <a:ext cx="7086600" cy="952500"/>
            </a:xfrm>
            <a:prstGeom prst="roundRect">
              <a:avLst>
                <a:gd name="adj" fmla="val 16000"/>
              </a:avLst>
            </a:prstGeom>
            <a:solidFill>
              <a:srgbClr val="FDF6F4"/>
            </a:solidFill>
            <a:ln w="14288">
              <a:solidFill>
                <a:srgbClr val="E8DDD7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610487" y="4004786"/>
              <a:ext cx="6473618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720" b="1" dirty="0">
                  <a:solidFill>
                    <a:srgbClr val="756E5F"/>
                  </a:solidFill>
                  <a:latin typeface="Arial"/>
                  <a:ea typeface="Malgun Gothic"/>
                  <a:cs typeface="Arial"/>
                </a:rPr>
                <a:t>15주 분석 과제 아이템 발굴, 예시 탐색 및 실습 워크시트 작성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1333500" y="5143500"/>
              <a:ext cx="7086600" cy="9525"/>
            </a:xfrm>
            <a:custGeom>
              <a:avLst/>
              <a:gdLst/>
              <a:ahLst/>
              <a:cxnLst/>
              <a:rect l="l" t="t" r="r" b="b"/>
              <a:pathLst>
                <a:path w="7086600" h="9525">
                  <a:moveTo>
                    <a:pt x="0" y="0"/>
                  </a:moveTo>
                  <a:lnTo>
                    <a:pt x="7086600" y="0"/>
                  </a:lnTo>
                </a:path>
              </a:pathLst>
            </a:custGeom>
            <a:noFill/>
            <a:ln w="14288">
              <a:solidFill>
                <a:srgbClr val="E8DDD7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325118" y="5346382"/>
              <a:ext cx="26089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EDA796"/>
                  </a:solidFill>
                  <a:latin typeface="Arial"/>
                  <a:ea typeface="Malgun Gothic"/>
                  <a:cs typeface="Arial"/>
                </a:rPr>
                <a:t>글로벌 AI 커머스 | 1주차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58546" y="372428"/>
            <a:ext cx="7160145" cy="784860"/>
            <a:chOff x="558546" y="372428"/>
            <a:chExt cx="7160145" cy="784860"/>
          </a:xfrm>
        </p:grpSpPr>
        <p:sp>
          <p:nvSpPr>
            <p:cNvPr id="2" name="TextBox 2"/>
            <p:cNvSpPr txBox="1"/>
            <p:nvPr/>
          </p:nvSpPr>
          <p:spPr>
            <a:xfrm>
              <a:off x="558546" y="372428"/>
              <a:ext cx="716014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55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실습: 해외에 팔고 싶은 상품 또는 서비스 선정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62356" y="796290"/>
              <a:ext cx="39784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756E5F"/>
                  </a:solidFill>
                  <a:latin typeface="Arial"/>
                  <a:ea typeface="Malgun Gothic"/>
                  <a:cs typeface="Arial"/>
                </a:rPr>
                <a:t>나의 글로벌 AI 커머스 아이템 찾기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1123950"/>
              <a:ext cx="571500" cy="33338"/>
            </a:xfrm>
            <a:prstGeom prst="roundRect">
              <a:avLst>
                <a:gd name="adj" fmla="val 50000"/>
              </a:avLst>
            </a:prstGeom>
            <a:solidFill>
              <a:srgbClr val="F8DA92"/>
            </a:solidFill>
            <a:ln>
              <a:noFill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571500" y="1333500"/>
            <a:ext cx="8610600" cy="1333500"/>
            <a:chOff x="571500" y="1333500"/>
            <a:chExt cx="8610600" cy="1333500"/>
          </a:xfrm>
        </p:grpSpPr>
        <p:sp>
          <p:nvSpPr>
            <p:cNvPr id="6" name="Rectangle 6"/>
            <p:cNvSpPr/>
            <p:nvPr/>
          </p:nvSpPr>
          <p:spPr>
            <a:xfrm>
              <a:off x="571500" y="1333500"/>
              <a:ext cx="8610600" cy="1333500"/>
            </a:xfrm>
            <a:prstGeom prst="roundRect">
              <a:avLst>
                <a:gd name="adj" fmla="val 12857"/>
              </a:avLst>
            </a:prstGeom>
            <a:solidFill>
              <a:srgbClr val="FFFFFF"/>
            </a:solidFill>
            <a:ln w="19050">
              <a:solidFill>
                <a:srgbClr val="E8DDD7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857250" y="1571625"/>
              <a:ext cx="1524000" cy="342900"/>
            </a:xfrm>
            <a:prstGeom prst="roundRect">
              <a:avLst>
                <a:gd name="adj" fmla="val 50000"/>
              </a:avLst>
            </a:prstGeom>
            <a:solidFill>
              <a:srgbClr val="4B4535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95849" y="1664018"/>
              <a:ext cx="12468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350" b="1" dirty="0">
                  <a:solidFill>
                    <a:srgbClr val="FFFFFF"/>
                  </a:solidFill>
                  <a:latin typeface="Arial"/>
                  <a:ea typeface="Malgun Gothic"/>
                  <a:cs typeface="Arial"/>
                </a:rPr>
                <a:t>15주 실습 과제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46963" y="2067401"/>
              <a:ext cx="7002438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02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앞으로 15주 동안 분석할 상품 또는 서비스를 하나 선정함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63118" y="2822258"/>
            <a:ext cx="8618982" cy="3892867"/>
            <a:chOff x="563118" y="2822258"/>
            <a:chExt cx="8618982" cy="3892867"/>
          </a:xfrm>
        </p:grpSpPr>
        <p:sp>
          <p:nvSpPr>
            <p:cNvPr id="11" name="TextBox 11"/>
            <p:cNvSpPr txBox="1"/>
            <p:nvPr/>
          </p:nvSpPr>
          <p:spPr>
            <a:xfrm>
              <a:off x="563118" y="2822258"/>
              <a:ext cx="328863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다음 중 하나를 선택 (선택 기준)</a:t>
              </a:r>
            </a:p>
          </p:txBody>
        </p:sp>
        <p:grpSp>
          <p:nvGrpSpPr>
            <p:cNvPr id="40" name="Group 40"/>
            <p:cNvGrpSpPr/>
            <p:nvPr/>
          </p:nvGrpSpPr>
          <p:grpSpPr>
            <a:xfrm>
              <a:off x="571500" y="3190875"/>
              <a:ext cx="8610600" cy="3524250"/>
              <a:chOff x="571500" y="3190875"/>
              <a:chExt cx="8610600" cy="352425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571500" y="3190875"/>
                <a:ext cx="4152900" cy="809625"/>
              </a:xfrm>
              <a:prstGeom prst="roundRect">
                <a:avLst>
                  <a:gd name="adj" fmla="val 16471"/>
                </a:avLst>
              </a:prstGeom>
              <a:solidFill>
                <a:srgbClr val="FFFFFF"/>
              </a:solidFill>
              <a:ln w="14288">
                <a:solidFill>
                  <a:srgbClr val="E8DDD7"/>
                </a:solidFill>
              </a:ln>
            </p:spPr>
          </p:sp>
          <p:sp>
            <p:nvSpPr>
              <p:cNvPr id="13" name="Ellipse 13"/>
              <p:cNvSpPr/>
              <p:nvPr/>
            </p:nvSpPr>
            <p:spPr>
              <a:xfrm>
                <a:off x="781050" y="3419475"/>
                <a:ext cx="342900" cy="342900"/>
              </a:xfrm>
              <a:prstGeom prst="ellipse">
                <a:avLst/>
              </a:prstGeom>
              <a:solidFill>
                <a:srgbClr val="FEF7E6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854774" y="3521392"/>
                <a:ext cx="19545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dirty="0">
                    <a:solidFill>
                      <a:srgbClr val="4B4535"/>
                    </a:solidFill>
                    <a:latin typeface="Arial"/>
                    <a:ea typeface="Arial"/>
                    <a:cs typeface="Arial"/>
                  </a:rPr>
                  <a:t>✓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277493" y="3489008"/>
                <a:ext cx="244790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b="1" dirty="0">
                    <a:solidFill>
                      <a:srgbClr val="4B4535"/>
                    </a:solidFill>
                    <a:latin typeface="Arial"/>
                    <a:ea typeface="Malgun Gothic"/>
                    <a:cs typeface="Arial"/>
                  </a:rPr>
                  <a:t>실제 판매하고 싶은 상품</a:t>
                </a:r>
              </a:p>
            </p:txBody>
          </p:sp>
          <p:sp>
            <p:nvSpPr>
              <p:cNvPr id="16" name="Rectangle 16"/>
              <p:cNvSpPr/>
              <p:nvPr/>
            </p:nvSpPr>
            <p:spPr>
              <a:xfrm>
                <a:off x="5029200" y="3190875"/>
                <a:ext cx="4152900" cy="809625"/>
              </a:xfrm>
              <a:prstGeom prst="roundRect">
                <a:avLst>
                  <a:gd name="adj" fmla="val 16471"/>
                </a:avLst>
              </a:prstGeom>
              <a:solidFill>
                <a:srgbClr val="FFFFFF"/>
              </a:solidFill>
              <a:ln w="14288">
                <a:solidFill>
                  <a:srgbClr val="E8DDD7"/>
                </a:solidFill>
              </a:ln>
            </p:spPr>
          </p:sp>
          <p:sp>
            <p:nvSpPr>
              <p:cNvPr id="17" name="Ellipse 17"/>
              <p:cNvSpPr/>
              <p:nvPr/>
            </p:nvSpPr>
            <p:spPr>
              <a:xfrm>
                <a:off x="5238750" y="3419475"/>
                <a:ext cx="342900" cy="342900"/>
              </a:xfrm>
              <a:prstGeom prst="ellipse">
                <a:avLst/>
              </a:prstGeom>
              <a:solidFill>
                <a:srgbClr val="FEF7E6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5312474" y="3521392"/>
                <a:ext cx="19545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dirty="0">
                    <a:solidFill>
                      <a:srgbClr val="4B4535"/>
                    </a:solidFill>
                    <a:latin typeface="Arial"/>
                    <a:ea typeface="Arial"/>
                    <a:cs typeface="Arial"/>
                  </a:rPr>
                  <a:t>✓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5735193" y="3489008"/>
                <a:ext cx="2003654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b="1" dirty="0">
                    <a:solidFill>
                      <a:srgbClr val="4B4535"/>
                    </a:solidFill>
                    <a:latin typeface="Arial"/>
                    <a:ea typeface="Malgun Gothic"/>
                    <a:cs typeface="Arial"/>
                  </a:rPr>
                  <a:t>현재 관심 있는 상품</a:t>
                </a:r>
              </a:p>
            </p:txBody>
          </p:sp>
          <p:sp>
            <p:nvSpPr>
              <p:cNvPr id="20" name="Rectangle 20"/>
              <p:cNvSpPr/>
              <p:nvPr/>
            </p:nvSpPr>
            <p:spPr>
              <a:xfrm>
                <a:off x="571500" y="4095750"/>
                <a:ext cx="4152900" cy="809625"/>
              </a:xfrm>
              <a:prstGeom prst="roundRect">
                <a:avLst>
                  <a:gd name="adj" fmla="val 16471"/>
                </a:avLst>
              </a:prstGeom>
              <a:solidFill>
                <a:srgbClr val="FFFFFF"/>
              </a:solidFill>
              <a:ln w="14288">
                <a:solidFill>
                  <a:srgbClr val="E8DDD7"/>
                </a:solidFill>
              </a:ln>
            </p:spPr>
          </p:sp>
          <p:sp>
            <p:nvSpPr>
              <p:cNvPr id="21" name="Ellipse 21"/>
              <p:cNvSpPr/>
              <p:nvPr/>
            </p:nvSpPr>
            <p:spPr>
              <a:xfrm>
                <a:off x="781050" y="4324350"/>
                <a:ext cx="342900" cy="342900"/>
              </a:xfrm>
              <a:prstGeom prst="ellipse">
                <a:avLst/>
              </a:prstGeom>
              <a:solidFill>
                <a:srgbClr val="FEF7E6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854774" y="4426268"/>
                <a:ext cx="19545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dirty="0">
                    <a:solidFill>
                      <a:srgbClr val="4B4535"/>
                    </a:solidFill>
                    <a:latin typeface="Arial"/>
                    <a:ea typeface="Arial"/>
                    <a:cs typeface="Arial"/>
                  </a:rPr>
                  <a:t>✓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277493" y="4393882"/>
                <a:ext cx="2003654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b="1" dirty="0">
                    <a:solidFill>
                      <a:srgbClr val="4B4535"/>
                    </a:solidFill>
                    <a:latin typeface="Arial"/>
                    <a:ea typeface="Malgun Gothic"/>
                    <a:cs typeface="Arial"/>
                  </a:rPr>
                  <a:t>내가 잘 아는 상품군</a:t>
                </a:r>
              </a:p>
            </p:txBody>
          </p:sp>
          <p:sp>
            <p:nvSpPr>
              <p:cNvPr id="24" name="Rectangle 24"/>
              <p:cNvSpPr/>
              <p:nvPr/>
            </p:nvSpPr>
            <p:spPr>
              <a:xfrm>
                <a:off x="5029200" y="4095750"/>
                <a:ext cx="4152900" cy="809625"/>
              </a:xfrm>
              <a:prstGeom prst="roundRect">
                <a:avLst>
                  <a:gd name="adj" fmla="val 16471"/>
                </a:avLst>
              </a:prstGeom>
              <a:solidFill>
                <a:srgbClr val="FFFFFF"/>
              </a:solidFill>
              <a:ln w="14288">
                <a:solidFill>
                  <a:srgbClr val="E8DDD7"/>
                </a:solidFill>
              </a:ln>
            </p:spPr>
          </p:sp>
          <p:sp>
            <p:nvSpPr>
              <p:cNvPr id="25" name="Ellipse 25"/>
              <p:cNvSpPr/>
              <p:nvPr/>
            </p:nvSpPr>
            <p:spPr>
              <a:xfrm>
                <a:off x="5238750" y="4324350"/>
                <a:ext cx="342900" cy="342900"/>
              </a:xfrm>
              <a:prstGeom prst="ellipse">
                <a:avLst/>
              </a:prstGeom>
              <a:solidFill>
                <a:srgbClr val="FEF7E6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5312474" y="4426268"/>
                <a:ext cx="19545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dirty="0">
                    <a:solidFill>
                      <a:srgbClr val="4B4535"/>
                    </a:solidFill>
                    <a:latin typeface="Arial"/>
                    <a:ea typeface="Arial"/>
                    <a:cs typeface="Arial"/>
                  </a:rPr>
                  <a:t>✓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5735193" y="4393882"/>
                <a:ext cx="244790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b="1" dirty="0">
                    <a:solidFill>
                      <a:srgbClr val="4B4535"/>
                    </a:solidFill>
                    <a:latin typeface="Arial"/>
                    <a:ea typeface="Malgun Gothic"/>
                    <a:cs typeface="Arial"/>
                  </a:rPr>
                  <a:t>한국적 특성이 있는 상품</a:t>
                </a:r>
              </a:p>
            </p:txBody>
          </p:sp>
          <p:sp>
            <p:nvSpPr>
              <p:cNvPr id="28" name="Rectangle 28"/>
              <p:cNvSpPr/>
              <p:nvPr/>
            </p:nvSpPr>
            <p:spPr>
              <a:xfrm>
                <a:off x="571500" y="5000625"/>
                <a:ext cx="4152900" cy="809625"/>
              </a:xfrm>
              <a:prstGeom prst="roundRect">
                <a:avLst>
                  <a:gd name="adj" fmla="val 16471"/>
                </a:avLst>
              </a:prstGeom>
              <a:solidFill>
                <a:srgbClr val="FFFFFF"/>
              </a:solidFill>
              <a:ln w="14288">
                <a:solidFill>
                  <a:srgbClr val="E8DDD7"/>
                </a:solidFill>
              </a:ln>
            </p:spPr>
          </p:sp>
          <p:sp>
            <p:nvSpPr>
              <p:cNvPr id="29" name="Ellipse 29"/>
              <p:cNvSpPr/>
              <p:nvPr/>
            </p:nvSpPr>
            <p:spPr>
              <a:xfrm>
                <a:off x="781050" y="5229225"/>
                <a:ext cx="342900" cy="342900"/>
              </a:xfrm>
              <a:prstGeom prst="ellipse">
                <a:avLst/>
              </a:prstGeom>
              <a:solidFill>
                <a:srgbClr val="FEF7E6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854774" y="5331142"/>
                <a:ext cx="19545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dirty="0">
                    <a:solidFill>
                      <a:srgbClr val="4B4535"/>
                    </a:solidFill>
                    <a:latin typeface="Arial"/>
                    <a:ea typeface="Arial"/>
                    <a:cs typeface="Arial"/>
                  </a:rPr>
                  <a:t>✓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1277493" y="5298758"/>
                <a:ext cx="311426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b="1" dirty="0">
                    <a:solidFill>
                      <a:srgbClr val="4B4535"/>
                    </a:solidFill>
                    <a:latin typeface="Arial"/>
                    <a:ea typeface="Malgun Gothic"/>
                    <a:cs typeface="Arial"/>
                  </a:rPr>
                  <a:t>온라인으로 판매 가능한 서비스</a:t>
                </a:r>
              </a:p>
            </p:txBody>
          </p:sp>
          <p:sp>
            <p:nvSpPr>
              <p:cNvPr id="32" name="Rectangle 32"/>
              <p:cNvSpPr/>
              <p:nvPr/>
            </p:nvSpPr>
            <p:spPr>
              <a:xfrm>
                <a:off x="5029200" y="5000625"/>
                <a:ext cx="4152900" cy="809625"/>
              </a:xfrm>
              <a:prstGeom prst="roundRect">
                <a:avLst>
                  <a:gd name="adj" fmla="val 16471"/>
                </a:avLst>
              </a:prstGeom>
              <a:solidFill>
                <a:srgbClr val="FFFFFF"/>
              </a:solidFill>
              <a:ln w="14288">
                <a:solidFill>
                  <a:srgbClr val="E8DDD7"/>
                </a:solidFill>
              </a:ln>
            </p:spPr>
          </p:sp>
          <p:sp>
            <p:nvSpPr>
              <p:cNvPr id="33" name="Ellipse 33"/>
              <p:cNvSpPr/>
              <p:nvPr/>
            </p:nvSpPr>
            <p:spPr>
              <a:xfrm>
                <a:off x="5238750" y="5229225"/>
                <a:ext cx="342900" cy="342900"/>
              </a:xfrm>
              <a:prstGeom prst="ellipse">
                <a:avLst/>
              </a:prstGeom>
              <a:solidFill>
                <a:srgbClr val="FEF7E6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5312474" y="5331142"/>
                <a:ext cx="19545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dirty="0">
                    <a:solidFill>
                      <a:srgbClr val="4B4535"/>
                    </a:solidFill>
                    <a:latin typeface="Arial"/>
                    <a:ea typeface="Arial"/>
                    <a:cs typeface="Arial"/>
                  </a:rPr>
                  <a:t>✓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5735193" y="5298758"/>
                <a:ext cx="267002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b="1" dirty="0">
                    <a:solidFill>
                      <a:srgbClr val="4B4535"/>
                    </a:solidFill>
                    <a:latin typeface="Arial"/>
                    <a:ea typeface="Malgun Gothic"/>
                    <a:cs typeface="Arial"/>
                  </a:rPr>
                  <a:t>디지털 콘텐츠 또는 템플릿</a:t>
                </a:r>
              </a:p>
            </p:txBody>
          </p:sp>
          <p:sp>
            <p:nvSpPr>
              <p:cNvPr id="36" name="Rectangle 36"/>
              <p:cNvSpPr/>
              <p:nvPr/>
            </p:nvSpPr>
            <p:spPr>
              <a:xfrm>
                <a:off x="571500" y="5905500"/>
                <a:ext cx="8610600" cy="809625"/>
              </a:xfrm>
              <a:prstGeom prst="roundRect">
                <a:avLst>
                  <a:gd name="adj" fmla="val 16471"/>
                </a:avLst>
              </a:prstGeom>
              <a:solidFill>
                <a:srgbClr val="FEF7E6"/>
              </a:solidFill>
              <a:ln w="19050">
                <a:solidFill>
                  <a:srgbClr val="F8DA92"/>
                </a:solidFill>
              </a:ln>
            </p:spPr>
          </p:sp>
          <p:sp>
            <p:nvSpPr>
              <p:cNvPr id="37" name="Ellipse 37"/>
              <p:cNvSpPr/>
              <p:nvPr/>
            </p:nvSpPr>
            <p:spPr>
              <a:xfrm>
                <a:off x="781050" y="6134100"/>
                <a:ext cx="342900" cy="3429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854774" y="6236018"/>
                <a:ext cx="19545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dirty="0">
                    <a:solidFill>
                      <a:srgbClr val="4B4535"/>
                    </a:solidFill>
                    <a:latin typeface="Arial"/>
                    <a:ea typeface="Arial"/>
                    <a:cs typeface="Arial"/>
                  </a:rPr>
                  <a:t>✓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1277493" y="6203632"/>
                <a:ext cx="542768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b="1" dirty="0">
                    <a:solidFill>
                      <a:srgbClr val="4B4535"/>
                    </a:solidFill>
                    <a:latin typeface="Arial"/>
                    <a:ea typeface="Malgun Gothic"/>
                    <a:cs typeface="Arial"/>
                  </a:rPr>
                  <a:t>창업 아이디어 수준의 상품 (초기 단계 아이템도 가능)</a:t>
                </a:r>
              </a:p>
            </p:txBody>
          </p:sp>
        </p:grp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58546" y="372428"/>
            <a:ext cx="7160145" cy="784860"/>
            <a:chOff x="558546" y="372428"/>
            <a:chExt cx="7160145" cy="784860"/>
          </a:xfrm>
        </p:grpSpPr>
        <p:sp>
          <p:nvSpPr>
            <p:cNvPr id="2" name="TextBox 2"/>
            <p:cNvSpPr txBox="1"/>
            <p:nvPr/>
          </p:nvSpPr>
          <p:spPr>
            <a:xfrm>
              <a:off x="558546" y="372428"/>
              <a:ext cx="716014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55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실습: 해외에 팔고 싶은 상품 또는 서비스 선정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62356" y="796290"/>
              <a:ext cx="106388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756E5F"/>
                  </a:solidFill>
                  <a:latin typeface="Arial"/>
                  <a:ea typeface="Malgun Gothic"/>
                  <a:cs typeface="Arial"/>
                </a:rPr>
                <a:t>예시 상품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1123950"/>
              <a:ext cx="571500" cy="33338"/>
            </a:xfrm>
            <a:prstGeom prst="roundRect">
              <a:avLst>
                <a:gd name="adj" fmla="val 50000"/>
              </a:avLst>
            </a:prstGeom>
            <a:solidFill>
              <a:srgbClr val="F8DA92"/>
            </a:solidFill>
            <a:ln>
              <a:noFill/>
            </a:ln>
          </p:spPr>
        </p:sp>
      </p:grpSp>
      <p:grpSp>
        <p:nvGrpSpPr>
          <p:cNvPr id="42" name="Group 42"/>
          <p:cNvGrpSpPr/>
          <p:nvPr/>
        </p:nvGrpSpPr>
        <p:grpSpPr>
          <a:xfrm>
            <a:off x="571500" y="1428750"/>
            <a:ext cx="9419742" cy="5381625"/>
            <a:chOff x="571500" y="1428750"/>
            <a:chExt cx="9419742" cy="5381625"/>
          </a:xfrm>
        </p:grpSpPr>
        <p:sp>
          <p:nvSpPr>
            <p:cNvPr id="6" name="Rectangle 6"/>
            <p:cNvSpPr/>
            <p:nvPr/>
          </p:nvSpPr>
          <p:spPr>
            <a:xfrm>
              <a:off x="571500" y="1428750"/>
              <a:ext cx="4152900" cy="1666875"/>
            </a:xfrm>
            <a:prstGeom prst="roundRect">
              <a:avLst>
                <a:gd name="adj" fmla="val 10286"/>
              </a:avLst>
            </a:prstGeom>
            <a:solidFill>
              <a:srgbClr val="FFFFFF"/>
            </a:solidFill>
            <a:ln w="14288">
              <a:solidFill>
                <a:srgbClr val="E8DDD7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809625" y="1666875"/>
              <a:ext cx="476250" cy="476250"/>
            </a:xfrm>
            <a:prstGeom prst="ellipse">
              <a:avLst/>
            </a:prstGeom>
            <a:solidFill>
              <a:srgbClr val="FEF7E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28307" y="1803082"/>
              <a:ext cx="2388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💄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419606" y="1786890"/>
              <a:ext cx="82606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K-뷰티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43737" y="2337911"/>
              <a:ext cx="3745423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72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마스크팩, 선크림, 저자극 스킨케어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44499" y="2687479"/>
              <a:ext cx="429126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dirty="0">
                  <a:solidFill>
                    <a:srgbClr val="756E5F"/>
                  </a:solidFill>
                  <a:latin typeface="Arial"/>
                  <a:ea typeface="Malgun Gothic"/>
                  <a:cs typeface="Arial"/>
                </a:rPr>
                <a:t>글로벌 인지도 및 수요가 가장 높은 대표 품목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029200" y="1428750"/>
              <a:ext cx="4152900" cy="1666875"/>
            </a:xfrm>
            <a:prstGeom prst="roundRect">
              <a:avLst>
                <a:gd name="adj" fmla="val 10286"/>
              </a:avLst>
            </a:prstGeom>
            <a:solidFill>
              <a:srgbClr val="FFFFFF"/>
            </a:solidFill>
            <a:ln w="14288">
              <a:solidFill>
                <a:srgbClr val="E8DDD7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5267325" y="1666875"/>
              <a:ext cx="476250" cy="476250"/>
            </a:xfrm>
            <a:prstGeom prst="ellipse">
              <a:avLst/>
            </a:prstGeom>
            <a:solidFill>
              <a:srgbClr val="FEF7E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386006" y="1803082"/>
              <a:ext cx="2388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🍵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877306" y="178689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식품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401437" y="2337911"/>
              <a:ext cx="2819237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72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김부각, 전통차, 건강 간식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402199" y="2687479"/>
              <a:ext cx="395303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dirty="0">
                  <a:solidFill>
                    <a:srgbClr val="756E5F"/>
                  </a:solidFill>
                  <a:latin typeface="Arial"/>
                  <a:ea typeface="Malgun Gothic"/>
                  <a:cs typeface="Arial"/>
                </a:rPr>
                <a:t>K-Food 트렌드 및 고유한 맛과 건강 가치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71500" y="3286125"/>
              <a:ext cx="4152900" cy="1666875"/>
            </a:xfrm>
            <a:prstGeom prst="roundRect">
              <a:avLst>
                <a:gd name="adj" fmla="val 10286"/>
              </a:avLst>
            </a:prstGeom>
            <a:solidFill>
              <a:srgbClr val="FFFFFF"/>
            </a:solidFill>
            <a:ln w="14288">
              <a:solidFill>
                <a:srgbClr val="E8DDD7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809625" y="3524250"/>
              <a:ext cx="476250" cy="476250"/>
            </a:xfrm>
            <a:prstGeom prst="ellipse">
              <a:avLst/>
            </a:prstGeom>
            <a:solidFill>
              <a:srgbClr val="FEF7E6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28307" y="3660458"/>
              <a:ext cx="2388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🏠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419606" y="3644265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생활용품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3737" y="4195286"/>
              <a:ext cx="2977847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72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텀블러, 주방용품, 수납용품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4499" y="4544854"/>
              <a:ext cx="397221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dirty="0">
                  <a:solidFill>
                    <a:srgbClr val="756E5F"/>
                  </a:solidFill>
                  <a:latin typeface="Arial"/>
                  <a:ea typeface="Malgun Gothic"/>
                  <a:cs typeface="Arial"/>
                </a:rPr>
                <a:t>우수한 품질, 실용적 디자인, 일상 필수재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029200" y="3286125"/>
              <a:ext cx="4152900" cy="1666875"/>
            </a:xfrm>
            <a:prstGeom prst="roundRect">
              <a:avLst>
                <a:gd name="adj" fmla="val 10286"/>
              </a:avLst>
            </a:prstGeom>
            <a:solidFill>
              <a:srgbClr val="FFFFFF"/>
            </a:solidFill>
            <a:ln w="14288">
              <a:solidFill>
                <a:srgbClr val="E8DDD7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5267325" y="3524250"/>
              <a:ext cx="476250" cy="476250"/>
            </a:xfrm>
            <a:prstGeom prst="ellipse">
              <a:avLst/>
            </a:prstGeom>
            <a:solidFill>
              <a:srgbClr val="FEF7E6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386006" y="3660458"/>
              <a:ext cx="2388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🐾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877306" y="3644265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반려동물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401437" y="4195286"/>
              <a:ext cx="268551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72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강아지 의류, 펫케어 용품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402199" y="4544854"/>
              <a:ext cx="395094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dirty="0">
                  <a:solidFill>
                    <a:srgbClr val="756E5F"/>
                  </a:solidFill>
                  <a:latin typeface="Arial"/>
                  <a:ea typeface="Malgun Gothic"/>
                  <a:cs typeface="Arial"/>
                </a:rPr>
                <a:t>반려동물 프리미엄 케어 시장의 빠른 성장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71500" y="5143500"/>
              <a:ext cx="4152900" cy="1666875"/>
            </a:xfrm>
            <a:prstGeom prst="roundRect">
              <a:avLst>
                <a:gd name="adj" fmla="val 10286"/>
              </a:avLst>
            </a:prstGeom>
            <a:solidFill>
              <a:srgbClr val="FFFFFF"/>
            </a:solidFill>
            <a:ln w="14288">
              <a:solidFill>
                <a:srgbClr val="E8DDD7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809625" y="5381625"/>
              <a:ext cx="476250" cy="476250"/>
            </a:xfrm>
            <a:prstGeom prst="ellipse">
              <a:avLst/>
            </a:prstGeom>
            <a:solidFill>
              <a:srgbClr val="FBEEEC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28307" y="5517832"/>
              <a:ext cx="2388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⛺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419606" y="550164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캠핑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43737" y="6052661"/>
              <a:ext cx="2917066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72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캠핑 소품, 차량용 정리용품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44499" y="6402229"/>
              <a:ext cx="380205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dirty="0">
                  <a:solidFill>
                    <a:srgbClr val="756E5F"/>
                  </a:solidFill>
                  <a:latin typeface="Arial"/>
                  <a:ea typeface="Malgun Gothic"/>
                  <a:cs typeface="Arial"/>
                </a:rPr>
                <a:t>감성 캠핑 소품 및 아웃도어 편의 아이템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029200" y="5143500"/>
              <a:ext cx="4152900" cy="1666875"/>
            </a:xfrm>
            <a:prstGeom prst="roundRect">
              <a:avLst>
                <a:gd name="adj" fmla="val 10286"/>
              </a:avLst>
            </a:prstGeom>
            <a:solidFill>
              <a:srgbClr val="FFFFFF"/>
            </a:solidFill>
            <a:ln w="14288">
              <a:solidFill>
                <a:srgbClr val="EDA796"/>
              </a:solidFill>
            </a:ln>
          </p:spPr>
        </p:sp>
        <p:sp>
          <p:nvSpPr>
            <p:cNvPr id="37" name="Ellipse 37"/>
            <p:cNvSpPr/>
            <p:nvPr/>
          </p:nvSpPr>
          <p:spPr>
            <a:xfrm>
              <a:off x="5267325" y="5381625"/>
              <a:ext cx="476250" cy="476250"/>
            </a:xfrm>
            <a:prstGeom prst="ellipse">
              <a:avLst/>
            </a:prstGeom>
            <a:solidFill>
              <a:srgbClr val="FBEEEC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386006" y="5517832"/>
              <a:ext cx="2388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👗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877306" y="550164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패션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401437" y="6052661"/>
              <a:ext cx="2381036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72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기능성 의류, 액세서리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402199" y="6402229"/>
              <a:ext cx="458904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dirty="0">
                  <a:solidFill>
                    <a:srgbClr val="756E5F"/>
                  </a:solidFill>
                  <a:latin typeface="Arial"/>
                  <a:ea typeface="Malgun Gothic"/>
                  <a:cs typeface="Arial"/>
                </a:rPr>
                <a:t>K-Fashion 트렌드 및 기능성 라이프스타일 웨어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58546" y="372428"/>
            <a:ext cx="7160145" cy="784860"/>
            <a:chOff x="558546" y="372428"/>
            <a:chExt cx="7160145" cy="784860"/>
          </a:xfrm>
        </p:grpSpPr>
        <p:sp>
          <p:nvSpPr>
            <p:cNvPr id="2" name="TextBox 2"/>
            <p:cNvSpPr txBox="1"/>
            <p:nvPr/>
          </p:nvSpPr>
          <p:spPr>
            <a:xfrm>
              <a:off x="558546" y="372428"/>
              <a:ext cx="716014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55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실습: 해외에 팔고 싶은 상품 또는 서비스 선정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62356" y="796290"/>
              <a:ext cx="154851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756E5F"/>
                  </a:solidFill>
                  <a:latin typeface="Arial"/>
                  <a:ea typeface="Malgun Gothic"/>
                  <a:cs typeface="Arial"/>
                </a:rPr>
                <a:t>실습 워크시트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1123950"/>
              <a:ext cx="571500" cy="33338"/>
            </a:xfrm>
            <a:prstGeom prst="roundRect">
              <a:avLst>
                <a:gd name="adj" fmla="val 50000"/>
              </a:avLst>
            </a:prstGeom>
            <a:solidFill>
              <a:srgbClr val="F8DA92"/>
            </a:solidFill>
            <a:ln>
              <a:noFill/>
            </a:ln>
          </p:spPr>
        </p:sp>
      </p:grpSp>
      <p:grpSp>
        <p:nvGrpSpPr>
          <p:cNvPr id="47" name="Group 47"/>
          <p:cNvGrpSpPr/>
          <p:nvPr/>
        </p:nvGrpSpPr>
        <p:grpSpPr>
          <a:xfrm>
            <a:off x="571500" y="1333500"/>
            <a:ext cx="9350264" cy="5476875"/>
            <a:chOff x="571500" y="1333500"/>
            <a:chExt cx="9350264" cy="5476875"/>
          </a:xfrm>
        </p:grpSpPr>
        <p:sp>
          <p:nvSpPr>
            <p:cNvPr id="6" name="Rectangle 6"/>
            <p:cNvSpPr/>
            <p:nvPr/>
          </p:nvSpPr>
          <p:spPr>
            <a:xfrm>
              <a:off x="571500" y="1333500"/>
              <a:ext cx="8610600" cy="5476875"/>
            </a:xfrm>
            <a:prstGeom prst="roundRect">
              <a:avLst>
                <a:gd name="adj" fmla="val 3130"/>
              </a:avLst>
            </a:prstGeom>
            <a:solidFill>
              <a:srgbClr val="FFFFFF"/>
            </a:solidFill>
            <a:ln w="19050">
              <a:solidFill>
                <a:srgbClr val="E8DDD7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571500" y="1333500"/>
              <a:ext cx="8610600" cy="476250"/>
            </a:xfrm>
            <a:prstGeom prst="roundRect">
              <a:avLst>
                <a:gd name="adj" fmla="val 36000"/>
              </a:avLst>
            </a:prstGeom>
            <a:solidFill>
              <a:srgbClr val="4B4535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619250"/>
              <a:ext cx="8610600" cy="190500"/>
            </a:xfrm>
            <a:prstGeom prst="rect">
              <a:avLst/>
            </a:prstGeom>
            <a:solidFill>
              <a:srgbClr val="4B4535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325118" y="146018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FFFFFF"/>
                  </a:solidFill>
                  <a:latin typeface="Arial"/>
                  <a:ea typeface="Malgun Gothic"/>
                  <a:cs typeface="Arial"/>
                </a:rPr>
                <a:t>항목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325618" y="1460182"/>
              <a:ext cx="196811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FFFFFF"/>
                  </a:solidFill>
                  <a:latin typeface="Arial"/>
                  <a:ea typeface="Malgun Gothic"/>
                  <a:cs typeface="Arial"/>
                </a:rPr>
                <a:t>작성 내용 (가이드)</a:t>
              </a:r>
            </a:p>
          </p:txBody>
        </p:sp>
        <p:grpSp>
          <p:nvGrpSpPr>
            <p:cNvPr id="46" name="Group 46"/>
            <p:cNvGrpSpPr/>
            <p:nvPr/>
          </p:nvGrpSpPr>
          <p:grpSpPr>
            <a:xfrm>
              <a:off x="571500" y="1809750"/>
              <a:ext cx="9350264" cy="5000625"/>
              <a:chOff x="571500" y="1809750"/>
              <a:chExt cx="9350264" cy="5000625"/>
            </a:xfrm>
          </p:grpSpPr>
          <p:sp>
            <p:nvSpPr>
              <p:cNvPr id="11" name="Rectangle 11"/>
              <p:cNvSpPr/>
              <p:nvPr/>
            </p:nvSpPr>
            <p:spPr>
              <a:xfrm>
                <a:off x="571500" y="1809750"/>
                <a:ext cx="8610600" cy="714375"/>
              </a:xfrm>
              <a:prstGeom prst="rect">
                <a:avLst/>
              </a:prstGeom>
              <a:solidFill>
                <a:srgbClr val="FDF6F4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849249" y="2068354"/>
                <a:ext cx="3149067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b="1" dirty="0">
                    <a:solidFill>
                      <a:srgbClr val="4B4535"/>
                    </a:solidFill>
                    <a:latin typeface="Arial"/>
                    <a:ea typeface="Malgun Gothic"/>
                    <a:cs typeface="Arial"/>
                  </a:rPr>
                  <a:t>1. 내가 선택한 상품 또는 서비스</a:t>
                </a:r>
              </a:p>
            </p:txBody>
          </p:sp>
          <p:sp>
            <p:nvSpPr>
              <p:cNvPr id="13" name="Rectangle 13"/>
              <p:cNvSpPr/>
              <p:nvPr/>
            </p:nvSpPr>
            <p:spPr>
              <a:xfrm>
                <a:off x="4572000" y="1924050"/>
                <a:ext cx="4381500" cy="476250"/>
              </a:xfrm>
              <a:prstGeom prst="roundRect">
                <a:avLst>
                  <a:gd name="adj" fmla="val 16000"/>
                </a:avLst>
              </a:prstGeom>
              <a:solidFill>
                <a:srgbClr val="FFFFFF"/>
              </a:solidFill>
              <a:ln w="9525">
                <a:solidFill>
                  <a:srgbClr val="E8DDD7"/>
                </a:solidFill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4754880" y="2066925"/>
                <a:ext cx="329660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dirty="0">
                    <a:solidFill>
                      <a:srgbClr val="756E5F"/>
                    </a:solidFill>
                    <a:latin typeface="Arial"/>
                    <a:ea typeface="Malgun Gothic"/>
                    <a:cs typeface="Arial"/>
                  </a:rPr>
                  <a:t>[상품/서비스명을 구체적으로 작성]</a:t>
                </a:r>
              </a:p>
            </p:txBody>
          </p:sp>
          <p:sp>
            <p:nvSpPr>
              <p:cNvPr id="15" name="Line 15"/>
              <p:cNvSpPr/>
              <p:nvPr/>
            </p:nvSpPr>
            <p:spPr>
              <a:xfrm>
                <a:off x="571500" y="2524125"/>
                <a:ext cx="8610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610600" h="9525">
                    <a:moveTo>
                      <a:pt x="0" y="0"/>
                    </a:moveTo>
                    <a:lnTo>
                      <a:pt x="8610600" y="0"/>
                    </a:lnTo>
                  </a:path>
                </a:pathLst>
              </a:custGeom>
              <a:noFill/>
              <a:ln w="9525">
                <a:solidFill>
                  <a:srgbClr val="E8DDD7"/>
                </a:solidFill>
              </a:ln>
            </p:spPr>
          </p:sp>
          <p:sp>
            <p:nvSpPr>
              <p:cNvPr id="16" name="Rectangle 16"/>
              <p:cNvSpPr/>
              <p:nvPr/>
            </p:nvSpPr>
            <p:spPr>
              <a:xfrm>
                <a:off x="571500" y="2524125"/>
                <a:ext cx="8610600" cy="71437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849249" y="2782729"/>
                <a:ext cx="2443968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b="1" dirty="0">
                    <a:solidFill>
                      <a:srgbClr val="4B4535"/>
                    </a:solidFill>
                    <a:latin typeface="Arial"/>
                    <a:ea typeface="Malgun Gothic"/>
                    <a:cs typeface="Arial"/>
                  </a:rPr>
                  <a:t>2. 이 상품을 선택한 이유</a:t>
                </a:r>
              </a:p>
            </p:txBody>
          </p:sp>
          <p:sp>
            <p:nvSpPr>
              <p:cNvPr id="18" name="Rectangle 18"/>
              <p:cNvSpPr/>
              <p:nvPr/>
            </p:nvSpPr>
            <p:spPr>
              <a:xfrm>
                <a:off x="4572000" y="2638425"/>
                <a:ext cx="4381500" cy="476250"/>
              </a:xfrm>
              <a:prstGeom prst="roundRect">
                <a:avLst>
                  <a:gd name="adj" fmla="val 16000"/>
                </a:avLst>
              </a:prstGeom>
              <a:solidFill>
                <a:srgbClr val="FDF6F4"/>
              </a:solidFill>
              <a:ln w="9525">
                <a:solidFill>
                  <a:srgbClr val="E8DDD7"/>
                </a:solidFill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4754880" y="2781300"/>
                <a:ext cx="249897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dirty="0">
                    <a:solidFill>
                      <a:srgbClr val="756E5F"/>
                    </a:solidFill>
                    <a:latin typeface="Arial"/>
                    <a:ea typeface="Malgun Gothic"/>
                    <a:cs typeface="Arial"/>
                  </a:rPr>
                  <a:t>[선정 배경 및 관심도 작성]</a:t>
                </a:r>
              </a:p>
            </p:txBody>
          </p:sp>
          <p:sp>
            <p:nvSpPr>
              <p:cNvPr id="20" name="Line 20"/>
              <p:cNvSpPr/>
              <p:nvPr/>
            </p:nvSpPr>
            <p:spPr>
              <a:xfrm>
                <a:off x="571500" y="3238500"/>
                <a:ext cx="8610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610600" h="9525">
                    <a:moveTo>
                      <a:pt x="0" y="0"/>
                    </a:moveTo>
                    <a:lnTo>
                      <a:pt x="8610600" y="0"/>
                    </a:lnTo>
                  </a:path>
                </a:pathLst>
              </a:custGeom>
              <a:noFill/>
              <a:ln w="9525">
                <a:solidFill>
                  <a:srgbClr val="E8DDD7"/>
                </a:solidFill>
              </a:ln>
            </p:spPr>
          </p:sp>
          <p:sp>
            <p:nvSpPr>
              <p:cNvPr id="21" name="Rectangle 21"/>
              <p:cNvSpPr/>
              <p:nvPr/>
            </p:nvSpPr>
            <p:spPr>
              <a:xfrm>
                <a:off x="571500" y="3238500"/>
                <a:ext cx="8610600" cy="714375"/>
              </a:xfrm>
              <a:prstGeom prst="rect">
                <a:avLst/>
              </a:prstGeom>
              <a:solidFill>
                <a:srgbClr val="FDF6F4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849249" y="3497104"/>
                <a:ext cx="3361767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b="1" dirty="0">
                    <a:solidFill>
                      <a:srgbClr val="4B4535"/>
                    </a:solidFill>
                    <a:latin typeface="Arial"/>
                    <a:ea typeface="Malgun Gothic"/>
                    <a:cs typeface="Arial"/>
                  </a:rPr>
                  <a:t>3. 해외에서 관심을 가질 만한 고객</a:t>
                </a:r>
              </a:p>
            </p:txBody>
          </p:sp>
          <p:sp>
            <p:nvSpPr>
              <p:cNvPr id="23" name="Rectangle 23"/>
              <p:cNvSpPr/>
              <p:nvPr/>
            </p:nvSpPr>
            <p:spPr>
              <a:xfrm>
                <a:off x="4572000" y="3352800"/>
                <a:ext cx="4381500" cy="476250"/>
              </a:xfrm>
              <a:prstGeom prst="roundRect">
                <a:avLst>
                  <a:gd name="adj" fmla="val 16000"/>
                </a:avLst>
              </a:prstGeom>
              <a:solidFill>
                <a:srgbClr val="FFFFFF"/>
              </a:solidFill>
              <a:ln w="9525">
                <a:solidFill>
                  <a:srgbClr val="E8DDD7"/>
                </a:solidFill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4754880" y="3495675"/>
                <a:ext cx="264033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dirty="0">
                    <a:solidFill>
                      <a:srgbClr val="756E5F"/>
                    </a:solidFill>
                    <a:latin typeface="Arial"/>
                    <a:ea typeface="Malgun Gothic"/>
                    <a:cs typeface="Arial"/>
                  </a:rPr>
                  <a:t>[목표 타깃 고객군 페르소나]</a:t>
                </a:r>
              </a:p>
            </p:txBody>
          </p:sp>
          <p:sp>
            <p:nvSpPr>
              <p:cNvPr id="25" name="Line 25"/>
              <p:cNvSpPr/>
              <p:nvPr/>
            </p:nvSpPr>
            <p:spPr>
              <a:xfrm>
                <a:off x="571500" y="3952875"/>
                <a:ext cx="8610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610600" h="9525">
                    <a:moveTo>
                      <a:pt x="0" y="0"/>
                    </a:moveTo>
                    <a:lnTo>
                      <a:pt x="8610600" y="0"/>
                    </a:lnTo>
                  </a:path>
                </a:pathLst>
              </a:custGeom>
              <a:noFill/>
              <a:ln w="9525">
                <a:solidFill>
                  <a:srgbClr val="E8DDD7"/>
                </a:solidFill>
              </a:ln>
            </p:spPr>
          </p:sp>
          <p:sp>
            <p:nvSpPr>
              <p:cNvPr id="26" name="Rectangle 26"/>
              <p:cNvSpPr/>
              <p:nvPr/>
            </p:nvSpPr>
            <p:spPr>
              <a:xfrm>
                <a:off x="571500" y="3952875"/>
                <a:ext cx="8610600" cy="71437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849249" y="4211479"/>
                <a:ext cx="3361767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b="1" dirty="0">
                    <a:solidFill>
                      <a:srgbClr val="4B4535"/>
                    </a:solidFill>
                    <a:latin typeface="Arial"/>
                    <a:ea typeface="Malgun Gothic"/>
                    <a:cs typeface="Arial"/>
                  </a:rPr>
                  <a:t>4. 판매해보고 싶은 국가 또는 지역</a:t>
                </a:r>
              </a:p>
            </p:txBody>
          </p:sp>
          <p:sp>
            <p:nvSpPr>
              <p:cNvPr id="28" name="Rectangle 28"/>
              <p:cNvSpPr/>
              <p:nvPr/>
            </p:nvSpPr>
            <p:spPr>
              <a:xfrm>
                <a:off x="4572000" y="4067175"/>
                <a:ext cx="4381500" cy="476250"/>
              </a:xfrm>
              <a:prstGeom prst="roundRect">
                <a:avLst>
                  <a:gd name="adj" fmla="val 16000"/>
                </a:avLst>
              </a:prstGeom>
              <a:solidFill>
                <a:srgbClr val="FDF6F4"/>
              </a:solidFill>
              <a:ln w="9525">
                <a:solidFill>
                  <a:srgbClr val="E8DDD7"/>
                </a:solidFill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4754880" y="4210050"/>
                <a:ext cx="283216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dirty="0">
                    <a:solidFill>
                      <a:srgbClr val="756E5F"/>
                    </a:solidFill>
                    <a:latin typeface="Arial"/>
                    <a:ea typeface="Malgun Gothic"/>
                    <a:cs typeface="Arial"/>
                  </a:rPr>
                  <a:t>[미국, 동남아, 일본, 유럽 등]</a:t>
                </a:r>
              </a:p>
            </p:txBody>
          </p:sp>
          <p:sp>
            <p:nvSpPr>
              <p:cNvPr id="30" name="Line 30"/>
              <p:cNvSpPr/>
              <p:nvPr/>
            </p:nvSpPr>
            <p:spPr>
              <a:xfrm>
                <a:off x="571500" y="4667250"/>
                <a:ext cx="8610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610600" h="9525">
                    <a:moveTo>
                      <a:pt x="0" y="0"/>
                    </a:moveTo>
                    <a:lnTo>
                      <a:pt x="8610600" y="0"/>
                    </a:lnTo>
                  </a:path>
                </a:pathLst>
              </a:custGeom>
              <a:noFill/>
              <a:ln w="9525">
                <a:solidFill>
                  <a:srgbClr val="E8DDD7"/>
                </a:solidFill>
              </a:ln>
            </p:spPr>
          </p:sp>
          <p:sp>
            <p:nvSpPr>
              <p:cNvPr id="31" name="Rectangle 31"/>
              <p:cNvSpPr/>
              <p:nvPr/>
            </p:nvSpPr>
            <p:spPr>
              <a:xfrm>
                <a:off x="571500" y="4667250"/>
                <a:ext cx="8610600" cy="714375"/>
              </a:xfrm>
              <a:prstGeom prst="rect">
                <a:avLst/>
              </a:prstGeom>
              <a:solidFill>
                <a:srgbClr val="FDF6F4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849249" y="4925854"/>
                <a:ext cx="1738869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b="1" dirty="0">
                    <a:solidFill>
                      <a:srgbClr val="4B4535"/>
                    </a:solidFill>
                    <a:latin typeface="Arial"/>
                    <a:ea typeface="Malgun Gothic"/>
                    <a:cs typeface="Arial"/>
                  </a:rPr>
                  <a:t>5. 이 상품의 장점</a:t>
                </a:r>
              </a:p>
            </p:txBody>
          </p:sp>
          <p:sp>
            <p:nvSpPr>
              <p:cNvPr id="33" name="Rectangle 33"/>
              <p:cNvSpPr/>
              <p:nvPr/>
            </p:nvSpPr>
            <p:spPr>
              <a:xfrm>
                <a:off x="4572000" y="4781550"/>
                <a:ext cx="4381500" cy="476250"/>
              </a:xfrm>
              <a:prstGeom prst="roundRect">
                <a:avLst>
                  <a:gd name="adj" fmla="val 16000"/>
                </a:avLst>
              </a:prstGeom>
              <a:solidFill>
                <a:srgbClr val="FFFFFF"/>
              </a:solidFill>
              <a:ln w="9525">
                <a:solidFill>
                  <a:srgbClr val="E8DDD7"/>
                </a:solidFill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4754880" y="4924425"/>
                <a:ext cx="290283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dirty="0">
                    <a:solidFill>
                      <a:srgbClr val="756E5F"/>
                    </a:solidFill>
                    <a:latin typeface="Arial"/>
                    <a:ea typeface="Malgun Gothic"/>
                    <a:cs typeface="Arial"/>
                  </a:rPr>
                  <a:t>[차별화 포인트 및 핵심 경쟁력]</a:t>
                </a:r>
              </a:p>
            </p:txBody>
          </p:sp>
          <p:sp>
            <p:nvSpPr>
              <p:cNvPr id="35" name="Line 35"/>
              <p:cNvSpPr/>
              <p:nvPr/>
            </p:nvSpPr>
            <p:spPr>
              <a:xfrm>
                <a:off x="571500" y="5381625"/>
                <a:ext cx="8610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610600" h="9525">
                    <a:moveTo>
                      <a:pt x="0" y="0"/>
                    </a:moveTo>
                    <a:lnTo>
                      <a:pt x="8610600" y="0"/>
                    </a:lnTo>
                  </a:path>
                </a:pathLst>
              </a:custGeom>
              <a:noFill/>
              <a:ln w="9525">
                <a:solidFill>
                  <a:srgbClr val="E8DDD7"/>
                </a:solidFill>
              </a:ln>
            </p:spPr>
          </p:sp>
          <p:sp>
            <p:nvSpPr>
              <p:cNvPr id="36" name="Rectangle 36"/>
              <p:cNvSpPr/>
              <p:nvPr/>
            </p:nvSpPr>
            <p:spPr>
              <a:xfrm>
                <a:off x="571500" y="5381625"/>
                <a:ext cx="8610600" cy="71437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849249" y="5640229"/>
                <a:ext cx="2723668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b="1" dirty="0">
                    <a:solidFill>
                      <a:srgbClr val="4B4535"/>
                    </a:solidFill>
                    <a:latin typeface="Arial"/>
                    <a:ea typeface="Malgun Gothic"/>
                    <a:cs typeface="Arial"/>
                  </a:rPr>
                  <a:t>6. 해외 판매 시 걱정되는 점</a:t>
                </a:r>
              </a:p>
            </p:txBody>
          </p:sp>
          <p:sp>
            <p:nvSpPr>
              <p:cNvPr id="38" name="Rectangle 38"/>
              <p:cNvSpPr/>
              <p:nvPr/>
            </p:nvSpPr>
            <p:spPr>
              <a:xfrm>
                <a:off x="4572000" y="5495925"/>
                <a:ext cx="4381500" cy="476250"/>
              </a:xfrm>
              <a:prstGeom prst="roundRect">
                <a:avLst>
                  <a:gd name="adj" fmla="val 16000"/>
                </a:avLst>
              </a:prstGeom>
              <a:solidFill>
                <a:srgbClr val="FDF6F4"/>
              </a:solidFill>
              <a:ln w="9525">
                <a:solidFill>
                  <a:srgbClr val="E8DDD7"/>
                </a:solidFill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4754880" y="5638800"/>
                <a:ext cx="329031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dirty="0">
                    <a:solidFill>
                      <a:srgbClr val="756E5F"/>
                    </a:solidFill>
                    <a:latin typeface="Arial"/>
                    <a:ea typeface="Malgun Gothic"/>
                    <a:cs typeface="Arial"/>
                  </a:rPr>
                  <a:t>[물류, 인증, CS, 언어 등 리스크]</a:t>
                </a:r>
              </a:p>
            </p:txBody>
          </p:sp>
          <p:sp>
            <p:nvSpPr>
              <p:cNvPr id="40" name="Line 40"/>
              <p:cNvSpPr/>
              <p:nvPr/>
            </p:nvSpPr>
            <p:spPr>
              <a:xfrm>
                <a:off x="571500" y="6096000"/>
                <a:ext cx="8610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610600" h="9525">
                    <a:moveTo>
                      <a:pt x="0" y="0"/>
                    </a:moveTo>
                    <a:lnTo>
                      <a:pt x="8610600" y="0"/>
                    </a:lnTo>
                  </a:path>
                </a:pathLst>
              </a:custGeom>
              <a:noFill/>
              <a:ln w="9525">
                <a:solidFill>
                  <a:srgbClr val="E8DDD7"/>
                </a:solidFill>
              </a:ln>
            </p:spPr>
          </p:sp>
          <p:sp>
            <p:nvSpPr>
              <p:cNvPr id="41" name="Rectangle 41"/>
              <p:cNvSpPr/>
              <p:nvPr/>
            </p:nvSpPr>
            <p:spPr>
              <a:xfrm>
                <a:off x="571500" y="6096000"/>
                <a:ext cx="8610600" cy="714375"/>
              </a:xfrm>
              <a:prstGeom prst="roundRect">
                <a:avLst>
                  <a:gd name="adj" fmla="val 24000"/>
                </a:avLst>
              </a:prstGeom>
              <a:solidFill>
                <a:srgbClr val="FEF7E6"/>
              </a:solidFill>
              <a:ln>
                <a:noFill/>
              </a:ln>
            </p:spPr>
          </p:sp>
          <p:sp>
            <p:nvSpPr>
              <p:cNvPr id="42" name="Rectangle 42"/>
              <p:cNvSpPr/>
              <p:nvPr/>
            </p:nvSpPr>
            <p:spPr>
              <a:xfrm>
                <a:off x="571500" y="6096000"/>
                <a:ext cx="8610600" cy="190500"/>
              </a:xfrm>
              <a:prstGeom prst="rect">
                <a:avLst/>
              </a:prstGeom>
              <a:solidFill>
                <a:srgbClr val="FEF7E6"/>
              </a:soli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849249" y="6354604"/>
                <a:ext cx="3006719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b="1" dirty="0">
                    <a:solidFill>
                      <a:srgbClr val="4B4535"/>
                    </a:solidFill>
                    <a:latin typeface="Arial"/>
                    <a:ea typeface="Malgun Gothic"/>
                    <a:cs typeface="Arial"/>
                  </a:rPr>
                  <a:t>7. AI를 활용해보고 싶은 부분</a:t>
                </a:r>
              </a:p>
            </p:txBody>
          </p:sp>
          <p:sp>
            <p:nvSpPr>
              <p:cNvPr id="44" name="Rectangle 44"/>
              <p:cNvSpPr/>
              <p:nvPr/>
            </p:nvSpPr>
            <p:spPr>
              <a:xfrm>
                <a:off x="4572000" y="6210300"/>
                <a:ext cx="4381500" cy="476250"/>
              </a:xfrm>
              <a:prstGeom prst="roundRect">
                <a:avLst>
                  <a:gd name="adj" fmla="val 16000"/>
                </a:avLst>
              </a:prstGeom>
              <a:solidFill>
                <a:srgbClr val="FFFFFF"/>
              </a:solidFill>
              <a:ln w="14288">
                <a:solidFill>
                  <a:srgbClr val="F8DA92"/>
                </a:solidFill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4755261" y="6361271"/>
                <a:ext cx="5166503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420" b="1" dirty="0">
                    <a:solidFill>
                      <a:srgbClr val="4B4535"/>
                    </a:solidFill>
                    <a:latin typeface="Arial"/>
                    <a:ea typeface="Malgun Gothic"/>
                    <a:cs typeface="Arial"/>
                  </a:rPr>
                  <a:t>시장조사 / 번역 / 상품페이지 / 광고 / CS / 리뷰분석 등</a:t>
                </a:r>
              </a:p>
            </p:txBody>
          </p:sp>
        </p:grp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58546" y="372428"/>
            <a:ext cx="7160145" cy="784860"/>
            <a:chOff x="558546" y="372428"/>
            <a:chExt cx="7160145" cy="784860"/>
          </a:xfrm>
        </p:grpSpPr>
        <p:sp>
          <p:nvSpPr>
            <p:cNvPr id="2" name="TextBox 2"/>
            <p:cNvSpPr txBox="1"/>
            <p:nvPr/>
          </p:nvSpPr>
          <p:spPr>
            <a:xfrm>
              <a:off x="558546" y="372428"/>
              <a:ext cx="716014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55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실습: 해외에 팔고 싶은 상품 또는 서비스 선정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62356" y="796290"/>
              <a:ext cx="106388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756E5F"/>
                  </a:solidFill>
                  <a:latin typeface="Arial"/>
                  <a:ea typeface="Malgun Gothic"/>
                  <a:cs typeface="Arial"/>
                </a:rPr>
                <a:t>실습 예시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1123950"/>
              <a:ext cx="571500" cy="33338"/>
            </a:xfrm>
            <a:prstGeom prst="roundRect">
              <a:avLst>
                <a:gd name="adj" fmla="val 50000"/>
              </a:avLst>
            </a:prstGeom>
            <a:solidFill>
              <a:srgbClr val="F8DA92"/>
            </a:solidFill>
            <a:ln>
              <a:noFill/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571500" y="1333500"/>
            <a:ext cx="9893648" cy="5476875"/>
            <a:chOff x="571500" y="1333500"/>
            <a:chExt cx="9893648" cy="5476875"/>
          </a:xfrm>
        </p:grpSpPr>
        <p:sp>
          <p:nvSpPr>
            <p:cNvPr id="6" name="Rectangle 6"/>
            <p:cNvSpPr/>
            <p:nvPr/>
          </p:nvSpPr>
          <p:spPr>
            <a:xfrm>
              <a:off x="571500" y="1333500"/>
              <a:ext cx="8610600" cy="5476875"/>
            </a:xfrm>
            <a:prstGeom prst="roundRect">
              <a:avLst>
                <a:gd name="adj" fmla="val 3130"/>
              </a:avLst>
            </a:prstGeom>
            <a:solidFill>
              <a:srgbClr val="FFFFFF"/>
            </a:solidFill>
            <a:ln w="19050">
              <a:solidFill>
                <a:srgbClr val="E8DDD7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571500" y="1333500"/>
              <a:ext cx="8610600" cy="476250"/>
            </a:xfrm>
            <a:prstGeom prst="roundRect">
              <a:avLst>
                <a:gd name="adj" fmla="val 36000"/>
              </a:avLst>
            </a:prstGeom>
            <a:solidFill>
              <a:srgbClr val="4B4535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619250"/>
              <a:ext cx="8610600" cy="190500"/>
            </a:xfrm>
            <a:prstGeom prst="rect">
              <a:avLst/>
            </a:prstGeom>
            <a:solidFill>
              <a:srgbClr val="4B4535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325118" y="146018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FFFFFF"/>
                  </a:solidFill>
                  <a:latin typeface="Arial"/>
                  <a:ea typeface="Malgun Gothic"/>
                  <a:cs typeface="Arial"/>
                </a:rPr>
                <a:t>구분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325618" y="1460182"/>
              <a:ext cx="20036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FFFFFF"/>
                  </a:solidFill>
                  <a:latin typeface="Arial"/>
                  <a:ea typeface="Malgun Gothic"/>
                  <a:cs typeface="Arial"/>
                </a:rPr>
                <a:t>키워드 및 작성 내용</a:t>
              </a:r>
            </a:p>
          </p:txBody>
        </p:sp>
        <p:grpSp>
          <p:nvGrpSpPr>
            <p:cNvPr id="39" name="Group 39"/>
            <p:cNvGrpSpPr/>
            <p:nvPr/>
          </p:nvGrpSpPr>
          <p:grpSpPr>
            <a:xfrm>
              <a:off x="571500" y="1809750"/>
              <a:ext cx="9893648" cy="5000625"/>
              <a:chOff x="571500" y="1809750"/>
              <a:chExt cx="9893648" cy="5000625"/>
            </a:xfrm>
          </p:grpSpPr>
          <p:sp>
            <p:nvSpPr>
              <p:cNvPr id="11" name="Rectangle 11"/>
              <p:cNvSpPr/>
              <p:nvPr/>
            </p:nvSpPr>
            <p:spPr>
              <a:xfrm>
                <a:off x="571500" y="1809750"/>
                <a:ext cx="8610600" cy="714375"/>
              </a:xfrm>
              <a:prstGeom prst="rect">
                <a:avLst/>
              </a:prstGeom>
              <a:solidFill>
                <a:srgbClr val="FDF6F4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849249" y="2068354"/>
                <a:ext cx="441401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b="1" dirty="0">
                    <a:solidFill>
                      <a:srgbClr val="4B4535"/>
                    </a:solidFill>
                    <a:latin typeface="Arial"/>
                    <a:ea typeface="Malgun Gothic"/>
                    <a:cs typeface="Arial"/>
                  </a:rPr>
                  <a:t>상품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3039237" y="2052161"/>
                <a:ext cx="2247318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720" b="1" dirty="0">
                    <a:solidFill>
                      <a:srgbClr val="4B4535"/>
                    </a:solidFill>
                    <a:latin typeface="Arial"/>
                    <a:ea typeface="Malgun Gothic"/>
                    <a:cs typeface="Arial"/>
                  </a:rPr>
                  <a:t>한국 저자극 마스크팩</a:t>
                </a:r>
              </a:p>
            </p:txBody>
          </p:sp>
          <p:sp>
            <p:nvSpPr>
              <p:cNvPr id="14" name="Line 14"/>
              <p:cNvSpPr/>
              <p:nvPr/>
            </p:nvSpPr>
            <p:spPr>
              <a:xfrm>
                <a:off x="571500" y="2524125"/>
                <a:ext cx="8610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610600" h="9525">
                    <a:moveTo>
                      <a:pt x="0" y="0"/>
                    </a:moveTo>
                    <a:lnTo>
                      <a:pt x="8610600" y="0"/>
                    </a:lnTo>
                  </a:path>
                </a:pathLst>
              </a:custGeom>
              <a:noFill/>
              <a:ln w="9525">
                <a:solidFill>
                  <a:srgbClr val="E8DDD7"/>
                </a:solidFill>
              </a:ln>
            </p:spPr>
          </p:sp>
          <p:sp>
            <p:nvSpPr>
              <p:cNvPr id="15" name="Rectangle 15"/>
              <p:cNvSpPr/>
              <p:nvPr/>
            </p:nvSpPr>
            <p:spPr>
              <a:xfrm>
                <a:off x="571500" y="2524125"/>
                <a:ext cx="8610600" cy="71437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849249" y="2782729"/>
                <a:ext cx="933801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b="1" dirty="0">
                    <a:solidFill>
                      <a:srgbClr val="4B4535"/>
                    </a:solidFill>
                    <a:latin typeface="Arial"/>
                    <a:ea typeface="Malgun Gothic"/>
                    <a:cs typeface="Arial"/>
                  </a:rPr>
                  <a:t>선택 이유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3039618" y="2774632"/>
                <a:ext cx="742553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b="1" dirty="0">
                    <a:solidFill>
                      <a:srgbClr val="33332F"/>
                    </a:solidFill>
                    <a:latin typeface="Arial"/>
                    <a:ea typeface="Malgun Gothic"/>
                    <a:cs typeface="Arial"/>
                  </a:rPr>
                  <a:t>K-뷰티에 대한 해외 관심이 높고, 비교적 소형 상품이라 배송이 가능함</a:t>
                </a:r>
              </a:p>
            </p:txBody>
          </p:sp>
          <p:sp>
            <p:nvSpPr>
              <p:cNvPr id="18" name="Line 18"/>
              <p:cNvSpPr/>
              <p:nvPr/>
            </p:nvSpPr>
            <p:spPr>
              <a:xfrm>
                <a:off x="571500" y="3238500"/>
                <a:ext cx="8610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610600" h="9525">
                    <a:moveTo>
                      <a:pt x="0" y="0"/>
                    </a:moveTo>
                    <a:lnTo>
                      <a:pt x="8610600" y="0"/>
                    </a:lnTo>
                  </a:path>
                </a:pathLst>
              </a:custGeom>
              <a:noFill/>
              <a:ln w="9525">
                <a:solidFill>
                  <a:srgbClr val="E8DDD7"/>
                </a:solidFill>
              </a:ln>
            </p:spPr>
          </p:sp>
          <p:sp>
            <p:nvSpPr>
              <p:cNvPr id="19" name="Rectangle 19"/>
              <p:cNvSpPr/>
              <p:nvPr/>
            </p:nvSpPr>
            <p:spPr>
              <a:xfrm>
                <a:off x="571500" y="3238500"/>
                <a:ext cx="8610600" cy="714375"/>
              </a:xfrm>
              <a:prstGeom prst="rect">
                <a:avLst/>
              </a:prstGeom>
              <a:solidFill>
                <a:srgbClr val="FDF6F4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849249" y="3497104"/>
                <a:ext cx="933801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b="1" dirty="0">
                    <a:solidFill>
                      <a:srgbClr val="4B4535"/>
                    </a:solidFill>
                    <a:latin typeface="Arial"/>
                    <a:ea typeface="Malgun Gothic"/>
                    <a:cs typeface="Arial"/>
                  </a:rPr>
                  <a:t>예상 고객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3039618" y="3489008"/>
                <a:ext cx="338137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b="1" dirty="0">
                    <a:solidFill>
                      <a:srgbClr val="33332F"/>
                    </a:solidFill>
                    <a:latin typeface="Arial"/>
                    <a:ea typeface="Malgun Gothic"/>
                    <a:cs typeface="Arial"/>
                  </a:rPr>
                  <a:t>민감성 피부를 가진 20~40대 여성</a:t>
                </a:r>
              </a:p>
            </p:txBody>
          </p:sp>
          <p:sp>
            <p:nvSpPr>
              <p:cNvPr id="22" name="Line 22"/>
              <p:cNvSpPr/>
              <p:nvPr/>
            </p:nvSpPr>
            <p:spPr>
              <a:xfrm>
                <a:off x="571500" y="3952875"/>
                <a:ext cx="8610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610600" h="9525">
                    <a:moveTo>
                      <a:pt x="0" y="0"/>
                    </a:moveTo>
                    <a:lnTo>
                      <a:pt x="8610600" y="0"/>
                    </a:lnTo>
                  </a:path>
                </a:pathLst>
              </a:custGeom>
              <a:noFill/>
              <a:ln w="9525">
                <a:solidFill>
                  <a:srgbClr val="E8DDD7"/>
                </a:solidFill>
              </a:ln>
            </p:spPr>
          </p:sp>
          <p:sp>
            <p:nvSpPr>
              <p:cNvPr id="23" name="Rectangle 23"/>
              <p:cNvSpPr/>
              <p:nvPr/>
            </p:nvSpPr>
            <p:spPr>
              <a:xfrm>
                <a:off x="571500" y="3952875"/>
                <a:ext cx="8610600" cy="71437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849249" y="4211479"/>
                <a:ext cx="933801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b="1" dirty="0">
                    <a:solidFill>
                      <a:srgbClr val="4B4535"/>
                    </a:solidFill>
                    <a:latin typeface="Arial"/>
                    <a:ea typeface="Malgun Gothic"/>
                    <a:cs typeface="Arial"/>
                  </a:rPr>
                  <a:t>타깃 국가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3039237" y="4195286"/>
                <a:ext cx="480619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720" b="1" dirty="0">
                    <a:solidFill>
                      <a:srgbClr val="4B4535"/>
                    </a:solidFill>
                    <a:latin typeface="Arial"/>
                    <a:ea typeface="Malgun Gothic"/>
                    <a:cs typeface="Arial"/>
                  </a:rPr>
                  <a:t>미국</a:t>
                </a:r>
              </a:p>
            </p:txBody>
          </p:sp>
          <p:sp>
            <p:nvSpPr>
              <p:cNvPr id="26" name="Line 26"/>
              <p:cNvSpPr/>
              <p:nvPr/>
            </p:nvSpPr>
            <p:spPr>
              <a:xfrm>
                <a:off x="571500" y="4667250"/>
                <a:ext cx="8610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610600" h="9525">
                    <a:moveTo>
                      <a:pt x="0" y="0"/>
                    </a:moveTo>
                    <a:lnTo>
                      <a:pt x="8610600" y="0"/>
                    </a:lnTo>
                  </a:path>
                </a:pathLst>
              </a:custGeom>
              <a:noFill/>
              <a:ln w="9525">
                <a:solidFill>
                  <a:srgbClr val="E8DDD7"/>
                </a:solidFill>
              </a:ln>
            </p:spPr>
          </p:sp>
          <p:sp>
            <p:nvSpPr>
              <p:cNvPr id="27" name="Rectangle 27"/>
              <p:cNvSpPr/>
              <p:nvPr/>
            </p:nvSpPr>
            <p:spPr>
              <a:xfrm>
                <a:off x="571500" y="4667250"/>
                <a:ext cx="8610600" cy="714375"/>
              </a:xfrm>
              <a:prstGeom prst="rect">
                <a:avLst/>
              </a:prstGeom>
              <a:solidFill>
                <a:srgbClr val="FDF6F4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849249" y="4925854"/>
                <a:ext cx="441401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b="1" dirty="0">
                    <a:solidFill>
                      <a:srgbClr val="4B4535"/>
                    </a:solidFill>
                    <a:latin typeface="Arial"/>
                    <a:ea typeface="Malgun Gothic"/>
                    <a:cs typeface="Arial"/>
                  </a:rPr>
                  <a:t>장점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3039618" y="4917758"/>
                <a:ext cx="469134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b="1" dirty="0">
                    <a:solidFill>
                      <a:srgbClr val="33332F"/>
                    </a:solidFill>
                    <a:latin typeface="Arial"/>
                    <a:ea typeface="Malgun Gothic"/>
                    <a:cs typeface="Arial"/>
                  </a:rPr>
                  <a:t>한국 화장품 이미지, 사용 편의성, 선물 가능성</a:t>
                </a:r>
              </a:p>
            </p:txBody>
          </p:sp>
          <p:sp>
            <p:nvSpPr>
              <p:cNvPr id="30" name="Line 30"/>
              <p:cNvSpPr/>
              <p:nvPr/>
            </p:nvSpPr>
            <p:spPr>
              <a:xfrm>
                <a:off x="571500" y="5381625"/>
                <a:ext cx="8610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610600" h="9525">
                    <a:moveTo>
                      <a:pt x="0" y="0"/>
                    </a:moveTo>
                    <a:lnTo>
                      <a:pt x="8610600" y="0"/>
                    </a:lnTo>
                  </a:path>
                </a:pathLst>
              </a:custGeom>
              <a:noFill/>
              <a:ln w="9525">
                <a:solidFill>
                  <a:srgbClr val="E8DDD7"/>
                </a:solidFill>
              </a:ln>
            </p:spPr>
          </p:sp>
          <p:sp>
            <p:nvSpPr>
              <p:cNvPr id="31" name="Rectangle 31"/>
              <p:cNvSpPr/>
              <p:nvPr/>
            </p:nvSpPr>
            <p:spPr>
              <a:xfrm>
                <a:off x="571500" y="5381625"/>
                <a:ext cx="8610600" cy="71437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849249" y="5640229"/>
                <a:ext cx="1146500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b="1" dirty="0">
                    <a:solidFill>
                      <a:srgbClr val="4B4535"/>
                    </a:solidFill>
                    <a:latin typeface="Arial"/>
                    <a:ea typeface="Malgun Gothic"/>
                    <a:cs typeface="Arial"/>
                  </a:rPr>
                  <a:t>걱정되는 점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3039618" y="5632132"/>
                <a:ext cx="386115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b="1" dirty="0">
                    <a:solidFill>
                      <a:srgbClr val="EDA796"/>
                    </a:solidFill>
                    <a:latin typeface="Arial"/>
                    <a:ea typeface="Malgun Gothic"/>
                    <a:cs typeface="Arial"/>
                  </a:rPr>
                  <a:t>인증, 성분표기, 리뷰 부족, 경쟁 심화</a:t>
                </a:r>
              </a:p>
            </p:txBody>
          </p:sp>
          <p:sp>
            <p:nvSpPr>
              <p:cNvPr id="34" name="Line 34"/>
              <p:cNvSpPr/>
              <p:nvPr/>
            </p:nvSpPr>
            <p:spPr>
              <a:xfrm>
                <a:off x="571500" y="6096000"/>
                <a:ext cx="8610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610600" h="9525">
                    <a:moveTo>
                      <a:pt x="0" y="0"/>
                    </a:moveTo>
                    <a:lnTo>
                      <a:pt x="8610600" y="0"/>
                    </a:lnTo>
                  </a:path>
                </a:pathLst>
              </a:custGeom>
              <a:noFill/>
              <a:ln w="9525">
                <a:solidFill>
                  <a:srgbClr val="E8DDD7"/>
                </a:solidFill>
              </a:ln>
            </p:spPr>
          </p:sp>
          <p:sp>
            <p:nvSpPr>
              <p:cNvPr id="35" name="Rectangle 35"/>
              <p:cNvSpPr/>
              <p:nvPr/>
            </p:nvSpPr>
            <p:spPr>
              <a:xfrm>
                <a:off x="571500" y="6096000"/>
                <a:ext cx="8610600" cy="714375"/>
              </a:xfrm>
              <a:prstGeom prst="roundRect">
                <a:avLst>
                  <a:gd name="adj" fmla="val 24000"/>
                </a:avLst>
              </a:prstGeom>
              <a:solidFill>
                <a:srgbClr val="FEF7E6"/>
              </a:solidFill>
              <a:ln>
                <a:noFill/>
              </a:ln>
            </p:spPr>
          </p:sp>
          <p:sp>
            <p:nvSpPr>
              <p:cNvPr id="36" name="Rectangle 36"/>
              <p:cNvSpPr/>
              <p:nvPr/>
            </p:nvSpPr>
            <p:spPr>
              <a:xfrm>
                <a:off x="571500" y="6096000"/>
                <a:ext cx="8610600" cy="190500"/>
              </a:xfrm>
              <a:prstGeom prst="rect">
                <a:avLst/>
              </a:prstGeom>
              <a:solidFill>
                <a:srgbClr val="FEF7E6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849249" y="6354604"/>
                <a:ext cx="736853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b="1" dirty="0">
                    <a:solidFill>
                      <a:srgbClr val="4B4535"/>
                    </a:solidFill>
                    <a:latin typeface="Arial"/>
                    <a:ea typeface="Malgun Gothic"/>
                    <a:cs typeface="Arial"/>
                  </a:rPr>
                  <a:t>AI 활용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3039618" y="6346508"/>
                <a:ext cx="519389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b="1" dirty="0">
                    <a:solidFill>
                      <a:srgbClr val="4B4535"/>
                    </a:solidFill>
                    <a:latin typeface="Arial"/>
                    <a:ea typeface="Malgun Gothic"/>
                    <a:cs typeface="Arial"/>
                  </a:rPr>
                  <a:t>시장조사, 상품명 작성, 영문 상세페이지, 광고문구</a:t>
                </a:r>
              </a:p>
            </p:txBody>
          </p:sp>
        </p:grp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58546" y="372428"/>
            <a:ext cx="7160145" cy="784860"/>
            <a:chOff x="558546" y="372428"/>
            <a:chExt cx="7160145" cy="784860"/>
          </a:xfrm>
        </p:grpSpPr>
        <p:sp>
          <p:nvSpPr>
            <p:cNvPr id="2" name="TextBox 2"/>
            <p:cNvSpPr txBox="1"/>
            <p:nvPr/>
          </p:nvSpPr>
          <p:spPr>
            <a:xfrm>
              <a:off x="558546" y="372428"/>
              <a:ext cx="716014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55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실습: 해외에 팔고 싶은 상품 또는 서비스 선정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62356" y="79629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756E5F"/>
                  </a:solidFill>
                  <a:latin typeface="Arial"/>
                  <a:ea typeface="Malgun Gothic"/>
                  <a:cs typeface="Arial"/>
                </a:rPr>
                <a:t>결언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1123950"/>
              <a:ext cx="571500" cy="33338"/>
            </a:xfrm>
            <a:prstGeom prst="roundRect">
              <a:avLst>
                <a:gd name="adj" fmla="val 50000"/>
              </a:avLst>
            </a:prstGeom>
            <a:solidFill>
              <a:srgbClr val="F8DA92"/>
            </a:solidFill>
            <a:ln>
              <a:noFill/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571500" y="1428750"/>
            <a:ext cx="8610600" cy="5095875"/>
            <a:chOff x="571500" y="1428750"/>
            <a:chExt cx="8610600" cy="5095875"/>
          </a:xfrm>
        </p:grpSpPr>
        <p:sp>
          <p:nvSpPr>
            <p:cNvPr id="6" name="Rectangle 6"/>
            <p:cNvSpPr/>
            <p:nvPr/>
          </p:nvSpPr>
          <p:spPr>
            <a:xfrm>
              <a:off x="571500" y="1428750"/>
              <a:ext cx="8610600" cy="1571625"/>
            </a:xfrm>
            <a:prstGeom prst="roundRect">
              <a:avLst>
                <a:gd name="adj" fmla="val 10909"/>
              </a:avLst>
            </a:prstGeom>
            <a:solidFill>
              <a:srgbClr val="4B4535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838200" y="1647825"/>
              <a:ext cx="419100" cy="419100"/>
            </a:xfrm>
            <a:prstGeom prst="ellipse">
              <a:avLst/>
            </a:prstGeom>
            <a:solidFill>
              <a:srgbClr val="F8DA9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39165" y="176212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💡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71981" y="1729740"/>
              <a:ext cx="106388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F8DA92"/>
                  </a:solidFill>
                  <a:latin typeface="Arial"/>
                  <a:ea typeface="Malgun Gothic"/>
                  <a:cs typeface="Arial"/>
                </a:rPr>
                <a:t>학습 핵심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42594" y="2265998"/>
              <a:ext cx="428018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b="1" dirty="0">
                  <a:solidFill>
                    <a:srgbClr val="FFFFFF"/>
                  </a:solidFill>
                  <a:latin typeface="Arial"/>
                  <a:ea typeface="Malgun Gothic"/>
                  <a:cs typeface="Arial"/>
                </a:rPr>
                <a:t>AI로 고객 이해 및 판매 구조 설계,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42594" y="2599372"/>
              <a:ext cx="376319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b="1" dirty="0">
                  <a:solidFill>
                    <a:srgbClr val="FFFFFF"/>
                  </a:solidFill>
                  <a:latin typeface="Arial"/>
                  <a:ea typeface="Malgun Gothic"/>
                  <a:cs typeface="Arial"/>
                </a:rPr>
                <a:t>신뢰 기반의 글로벌 커머스 구축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71500" y="3190875"/>
              <a:ext cx="8610600" cy="1571625"/>
            </a:xfrm>
            <a:prstGeom prst="roundRect">
              <a:avLst>
                <a:gd name="adj" fmla="val 10909"/>
              </a:avLst>
            </a:prstGeom>
            <a:solidFill>
              <a:srgbClr val="FFFFFF"/>
            </a:solidFill>
            <a:ln w="19050">
              <a:solidFill>
                <a:srgbClr val="E8DDD7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838200" y="3409950"/>
              <a:ext cx="419100" cy="419100"/>
            </a:xfrm>
            <a:prstGeom prst="ellipse">
              <a:avLst/>
            </a:prstGeom>
            <a:solidFill>
              <a:srgbClr val="FEF7E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39165" y="3524250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📝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371981" y="3491865"/>
              <a:ext cx="22233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이번 주 학습 (과제)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2594" y="4028122"/>
              <a:ext cx="304457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해외에 판매할 상품 선정,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2594" y="4361498"/>
              <a:ext cx="254777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상품 아이디어 구체화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71500" y="4953000"/>
              <a:ext cx="8610600" cy="1571625"/>
            </a:xfrm>
            <a:prstGeom prst="roundRect">
              <a:avLst>
                <a:gd name="adj" fmla="val 10909"/>
              </a:avLst>
            </a:prstGeom>
            <a:solidFill>
              <a:srgbClr val="FBEEEC"/>
            </a:solidFill>
            <a:ln w="19050">
              <a:solidFill>
                <a:srgbClr val="EDA796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838200" y="5172075"/>
              <a:ext cx="419100" cy="4191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39165" y="528637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🚀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371981" y="5253990"/>
              <a:ext cx="22233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다음 주 학습 (예고)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2594" y="5790248"/>
              <a:ext cx="278206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b="1" dirty="0">
                  <a:solidFill>
                    <a:srgbClr val="4B4535"/>
                  </a:solidFill>
                  <a:latin typeface="Arial"/>
                  <a:ea typeface="Malgun Gothic"/>
                  <a:cs typeface="Arial"/>
                </a:rPr>
                <a:t>국가별 목표 고객 분석,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2594" y="6123622"/>
              <a:ext cx="289297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b="1" dirty="0">
                  <a:solidFill>
                    <a:srgbClr val="EDA796"/>
                  </a:solidFill>
                  <a:latin typeface="Arial"/>
                  <a:ea typeface="Malgun Gothic"/>
                  <a:cs typeface="Arial"/>
                </a:rPr>
                <a:t>글로벌 소비자 특성 이해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global-ai-commerce-w01">
  <a:themeElements>
    <a:clrScheme name="global-ai-commerce-w0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global-ai-commerce-w01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lobal-ai-commerce-w0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40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2026-08-29T15:20:00Z</dcterms:created>
  <dcterms:modified xsi:type="dcterms:W3CDTF">2026-08-29T15:20:00Z</dcterms:modified>
  <cp:category/>
  <cp:contentStatus/>
</cp:coreProperties>
</file>